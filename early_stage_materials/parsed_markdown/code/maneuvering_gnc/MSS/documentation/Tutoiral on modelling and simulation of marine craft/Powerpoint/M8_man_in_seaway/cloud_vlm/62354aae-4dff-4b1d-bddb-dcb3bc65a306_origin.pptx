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27.wmf" ContentType="image/x-wmf"/>
  <Override PartName="/ppt/media/image26.wmf" ContentType="image/x-wmf"/>
  <Override PartName="/ppt/media/image25.wmf" ContentType="image/x-wmf"/>
  <Override PartName="/ppt/media/image24.wmf" ContentType="image/x-wmf"/>
  <Override PartName="/ppt/media/image23.wmf" ContentType="image/x-wmf"/>
  <Override PartName="/ppt/media/image22.wmf" ContentType="image/x-wmf"/>
  <Override PartName="/ppt/media/image21.wmf" ContentType="image/x-wmf"/>
  <Override PartName="/ppt/media/image19.wmf" ContentType="image/x-wmf"/>
  <Override PartName="/ppt/media/image17.wmf" ContentType="image/x-wmf"/>
  <Override PartName="/ppt/media/image15.wmf" ContentType="image/x-wmf"/>
  <Override PartName="/ppt/media/image28.wmf" ContentType="image/x-wmf"/>
  <Override PartName="/ppt/media/image1.png" ContentType="image/png"/>
  <Override PartName="/ppt/media/image29.wmf" ContentType="image/x-wmf"/>
  <Override PartName="/ppt/media/image2.png" ContentType="image/png"/>
  <Override PartName="/ppt/media/image4.png" ContentType="image/png"/>
  <Override PartName="/ppt/media/image14.wmf" ContentType="image/x-wmf"/>
  <Override PartName="/ppt/media/image5.wmf" ContentType="image/x-wmf"/>
  <Override PartName="/ppt/media/image6.png" ContentType="image/png"/>
  <Override PartName="/ppt/media/image38.png" ContentType="image/png"/>
  <Override PartName="/ppt/media/image16.wmf" ContentType="image/x-wmf"/>
  <Override PartName="/ppt/media/image7.wmf" ContentType="image/x-wmf"/>
  <Override PartName="/ppt/media/image39.wmf" ContentType="image/x-wmf"/>
  <Override PartName="/ppt/media/image41.png" ContentType="image/png"/>
  <Override PartName="/ppt/media/image8.png" ContentType="image/png"/>
  <Override PartName="/ppt/media/image43.wmf" ContentType="image/x-wmf"/>
  <Override PartName="/ppt/media/image36.wmf" ContentType="image/x-wmf"/>
  <Override PartName="/ppt/media/image37.png" ContentType="image/png"/>
  <Override PartName="/ppt/media/image40.wmf" ContentType="image/x-wmf"/>
  <Override PartName="/ppt/media/image44.wmf" ContentType="image/x-wmf"/>
  <Override PartName="/ppt/media/image45.png" ContentType="image/png"/>
  <Override PartName="/ppt/media/image30.wmf" ContentType="image/x-wmf"/>
  <Override PartName="/ppt/media/image34.wmf" ContentType="image/x-wmf"/>
  <Override PartName="/ppt/media/image46.wmf" ContentType="image/x-wmf"/>
  <Override PartName="/ppt/media/image35.wmf" ContentType="image/x-wmf"/>
  <Override PartName="/ppt/media/image33.wmf" ContentType="image/x-wmf"/>
  <Override PartName="/ppt/media/image11.wmf" ContentType="image/x-wmf"/>
  <Override PartName="/ppt/media/image50.png" ContentType="image/png"/>
  <Override PartName="/ppt/media/image48.png" ContentType="image/png"/>
  <Override PartName="/ppt/media/image51.wmf" ContentType="image/x-wmf"/>
  <Override PartName="/ppt/media/image53.wmf" ContentType="image/x-wmf"/>
  <Override PartName="/ppt/media/image42.wmf" ContentType="image/x-wmf"/>
  <Override PartName="/ppt/media/image54.wmf" ContentType="image/x-wmf"/>
  <Override PartName="/ppt/media/image32.wmf" ContentType="image/x-wmf"/>
  <Override PartName="/ppt/media/image3.png" ContentType="image/png"/>
  <Override PartName="/ppt/media/image31.wmf" ContentType="image/x-wmf"/>
  <Override PartName="/ppt/media/image47.wmf" ContentType="image/x-wmf"/>
  <Override PartName="/ppt/media/image10.wmf" ContentType="image/x-wmf"/>
  <Override PartName="/ppt/media/image13.wmf" ContentType="image/x-wmf"/>
  <Override PartName="/ppt/media/image9.wmf" ContentType="image/x-wmf"/>
  <Override PartName="/ppt/media/image18.wmf" ContentType="image/x-wmf"/>
  <Override PartName="/ppt/media/image20.wmf" ContentType="image/x-wmf"/>
  <Override PartName="/ppt/media/image49.png" ContentType="image/png"/>
  <Override PartName="/ppt/media/image12.png" ContentType="image/png"/>
  <Override PartName="/ppt/media/image52.wmf" ContentType="image/x-wmf"/>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8"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move the slide</a:t>
            </a:r>
            <a:endParaRPr b="0" lang="en-US" sz="4200" spc="-1" strike="noStrike">
              <a:solidFill>
                <a:srgbClr val="006633"/>
              </a:solidFill>
              <a:latin typeface="Tahoma"/>
            </a:endParaRPr>
          </a:p>
        </p:txBody>
      </p:sp>
      <p:sp>
        <p:nvSpPr>
          <p:cNvPr id="20"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1"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2"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34CCA0-8F57-4252-8619-0E585B60BFC4}" type="slidenum">
              <a:rPr b="0" lang="en-AU"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27E9F9-6191-46A5-A4BE-A1E61C50752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0" name="PlaceHolder 1"/>
          <p:cNvSpPr>
            <a:spLocks noGrp="1"/>
          </p:cNvSpPr>
          <p:nvPr>
            <p:ph type="sldImg"/>
          </p:nvPr>
        </p:nvSpPr>
        <p:spPr>
          <a:xfrm>
            <a:off x="1143000" y="685800"/>
            <a:ext cx="4572000" cy="3429000"/>
          </a:xfrm>
          <a:prstGeom prst="rect">
            <a:avLst/>
          </a:prstGeom>
          <a:ln w="0">
            <a:noFill/>
          </a:ln>
        </p:spPr>
      </p:sp>
      <p:sp>
        <p:nvSpPr>
          <p:cNvPr id="20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9896476-C235-4962-857B-8D5A6A4B1AC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3" name="PlaceHolder 1"/>
          <p:cNvSpPr>
            <a:spLocks noGrp="1"/>
          </p:cNvSpPr>
          <p:nvPr>
            <p:ph type="sldImg"/>
          </p:nvPr>
        </p:nvSpPr>
        <p:spPr>
          <a:xfrm>
            <a:off x="1143000" y="685800"/>
            <a:ext cx="4572000" cy="3429000"/>
          </a:xfrm>
          <a:prstGeom prst="rect">
            <a:avLst/>
          </a:prstGeom>
          <a:ln w="0">
            <a:noFill/>
          </a:ln>
        </p:spPr>
      </p:sp>
      <p:sp>
        <p:nvSpPr>
          <p:cNvPr id="20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FAD797-C6DE-49CD-87B7-28ABD81195E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6" name="PlaceHolder 1"/>
          <p:cNvSpPr>
            <a:spLocks noGrp="1"/>
          </p:cNvSpPr>
          <p:nvPr>
            <p:ph type="sldImg"/>
          </p:nvPr>
        </p:nvSpPr>
        <p:spPr>
          <a:xfrm>
            <a:off x="1143000" y="685800"/>
            <a:ext cx="4572000" cy="3429000"/>
          </a:xfrm>
          <a:prstGeom prst="rect">
            <a:avLst/>
          </a:prstGeom>
          <a:ln w="0">
            <a:noFill/>
          </a:ln>
        </p:spPr>
      </p:sp>
      <p:sp>
        <p:nvSpPr>
          <p:cNvPr id="20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D38FB9-C83B-4CA2-B50E-4E00B2CD504F}"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9" name="PlaceHolder 1"/>
          <p:cNvSpPr>
            <a:spLocks noGrp="1"/>
          </p:cNvSpPr>
          <p:nvPr>
            <p:ph type="sldImg"/>
          </p:nvPr>
        </p:nvSpPr>
        <p:spPr>
          <a:xfrm>
            <a:off x="1143000" y="685800"/>
            <a:ext cx="4572000" cy="3429000"/>
          </a:xfrm>
          <a:prstGeom prst="rect">
            <a:avLst/>
          </a:prstGeom>
          <a:ln w="0">
            <a:noFill/>
          </a:ln>
        </p:spPr>
      </p:sp>
      <p:sp>
        <p:nvSpPr>
          <p:cNvPr id="21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CECBF8D-7C4B-42A8-AF77-2F396ABE509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2" name="PlaceHolder 1"/>
          <p:cNvSpPr>
            <a:spLocks noGrp="1"/>
          </p:cNvSpPr>
          <p:nvPr>
            <p:ph type="sldImg"/>
          </p:nvPr>
        </p:nvSpPr>
        <p:spPr>
          <a:xfrm>
            <a:off x="1143000" y="685800"/>
            <a:ext cx="4572000" cy="3429000"/>
          </a:xfrm>
          <a:prstGeom prst="rect">
            <a:avLst/>
          </a:prstGeom>
          <a:ln w="0">
            <a:noFill/>
          </a:ln>
        </p:spPr>
      </p:sp>
      <p:sp>
        <p:nvSpPr>
          <p:cNvPr id="21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572FB5-2752-4910-8F1A-B71865D13C4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5" name="PlaceHolder 1"/>
          <p:cNvSpPr>
            <a:spLocks noGrp="1"/>
          </p:cNvSpPr>
          <p:nvPr>
            <p:ph type="sldImg"/>
          </p:nvPr>
        </p:nvSpPr>
        <p:spPr>
          <a:xfrm>
            <a:off x="1143000" y="685800"/>
            <a:ext cx="4572000" cy="3429000"/>
          </a:xfrm>
          <a:prstGeom prst="rect">
            <a:avLst/>
          </a:prstGeom>
          <a:ln w="0">
            <a:noFill/>
          </a:ln>
        </p:spPr>
      </p:sp>
      <p:sp>
        <p:nvSpPr>
          <p:cNvPr id="21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9094C9-2CA1-415C-B132-A5DABC728DD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8" name="PlaceHolder 1"/>
          <p:cNvSpPr>
            <a:spLocks noGrp="1"/>
          </p:cNvSpPr>
          <p:nvPr>
            <p:ph type="sldImg"/>
          </p:nvPr>
        </p:nvSpPr>
        <p:spPr>
          <a:xfrm>
            <a:off x="1143000" y="685800"/>
            <a:ext cx="4572000" cy="3429000"/>
          </a:xfrm>
          <a:prstGeom prst="rect">
            <a:avLst/>
          </a:prstGeom>
          <a:ln w="0">
            <a:noFill/>
          </a:ln>
        </p:spPr>
      </p:sp>
      <p:sp>
        <p:nvSpPr>
          <p:cNvPr id="21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3A57D5-B89C-4643-B873-2A464A4A896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1" name="PlaceHolder 1"/>
          <p:cNvSpPr>
            <a:spLocks noGrp="1"/>
          </p:cNvSpPr>
          <p:nvPr>
            <p:ph type="sldImg"/>
          </p:nvPr>
        </p:nvSpPr>
        <p:spPr>
          <a:xfrm>
            <a:off x="1143000" y="685800"/>
            <a:ext cx="4572000" cy="3429000"/>
          </a:xfrm>
          <a:prstGeom prst="rect">
            <a:avLst/>
          </a:prstGeom>
          <a:ln w="0">
            <a:noFill/>
          </a:ln>
        </p:spPr>
      </p:sp>
      <p:sp>
        <p:nvSpPr>
          <p:cNvPr id="22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D531CA-F096-4231-8B7B-4BB100D3980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4" name="PlaceHolder 1"/>
          <p:cNvSpPr>
            <a:spLocks noGrp="1"/>
          </p:cNvSpPr>
          <p:nvPr>
            <p:ph type="sldImg"/>
          </p:nvPr>
        </p:nvSpPr>
        <p:spPr>
          <a:xfrm>
            <a:off x="1143000" y="685800"/>
            <a:ext cx="4572000" cy="3429000"/>
          </a:xfrm>
          <a:prstGeom prst="rect">
            <a:avLst/>
          </a:prstGeom>
          <a:ln w="0">
            <a:noFill/>
          </a:ln>
        </p:spPr>
      </p:sp>
      <p:sp>
        <p:nvSpPr>
          <p:cNvPr id="22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DCF2A5-3229-49C1-B888-6A0DAE356ED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7" name="PlaceHolder 1"/>
          <p:cNvSpPr>
            <a:spLocks noGrp="1"/>
          </p:cNvSpPr>
          <p:nvPr>
            <p:ph type="sldImg"/>
          </p:nvPr>
        </p:nvSpPr>
        <p:spPr>
          <a:xfrm>
            <a:off x="1143000" y="685800"/>
            <a:ext cx="4572000" cy="3429000"/>
          </a:xfrm>
          <a:prstGeom prst="rect">
            <a:avLst/>
          </a:prstGeom>
          <a:ln w="0">
            <a:noFill/>
          </a:ln>
        </p:spPr>
      </p:sp>
      <p:sp>
        <p:nvSpPr>
          <p:cNvPr id="22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0EB464-7437-4CDE-95F8-6549414EB21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0" name="PlaceHolder 1"/>
          <p:cNvSpPr>
            <a:spLocks noGrp="1"/>
          </p:cNvSpPr>
          <p:nvPr>
            <p:ph type="sldImg"/>
          </p:nvPr>
        </p:nvSpPr>
        <p:spPr>
          <a:xfrm>
            <a:off x="1143000" y="685800"/>
            <a:ext cx="4572000" cy="3429000"/>
          </a:xfrm>
          <a:prstGeom prst="rect">
            <a:avLst/>
          </a:prstGeom>
          <a:ln w="0">
            <a:noFill/>
          </a:ln>
        </p:spPr>
      </p:sp>
      <p:sp>
        <p:nvSpPr>
          <p:cNvPr id="23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D83012-6775-411F-BFB5-B8217F14253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3" name="PlaceHolder 1"/>
          <p:cNvSpPr>
            <a:spLocks noGrp="1"/>
          </p:cNvSpPr>
          <p:nvPr>
            <p:ph type="sldImg"/>
          </p:nvPr>
        </p:nvSpPr>
        <p:spPr>
          <a:xfrm>
            <a:off x="1143000" y="685800"/>
            <a:ext cx="4572000" cy="3429000"/>
          </a:xfrm>
          <a:prstGeom prst="rect">
            <a:avLst/>
          </a:prstGeom>
          <a:ln w="0">
            <a:noFill/>
          </a:ln>
        </p:spPr>
      </p:sp>
      <p:sp>
        <p:nvSpPr>
          <p:cNvPr id="23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3C8B45-450A-4719-851F-AC322408EA0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6" name="PlaceHolder 1"/>
          <p:cNvSpPr>
            <a:spLocks noGrp="1"/>
          </p:cNvSpPr>
          <p:nvPr>
            <p:ph type="sldImg"/>
          </p:nvPr>
        </p:nvSpPr>
        <p:spPr>
          <a:xfrm>
            <a:off x="1143000" y="685800"/>
            <a:ext cx="4572000" cy="3429000"/>
          </a:xfrm>
          <a:prstGeom prst="rect">
            <a:avLst/>
          </a:prstGeom>
          <a:ln w="0">
            <a:noFill/>
          </a:ln>
        </p:spPr>
      </p:sp>
      <p:sp>
        <p:nvSpPr>
          <p:cNvPr id="23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9490CF-7E52-4398-9677-1059AA273B9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9" name="PlaceHolder 1"/>
          <p:cNvSpPr>
            <a:spLocks noGrp="1"/>
          </p:cNvSpPr>
          <p:nvPr>
            <p:ph type="sldImg"/>
          </p:nvPr>
        </p:nvSpPr>
        <p:spPr>
          <a:xfrm>
            <a:off x="1143000" y="685800"/>
            <a:ext cx="4572000" cy="3429000"/>
          </a:xfrm>
          <a:prstGeom prst="rect">
            <a:avLst/>
          </a:prstGeom>
          <a:ln w="0">
            <a:noFill/>
          </a:ln>
        </p:spPr>
      </p:sp>
      <p:sp>
        <p:nvSpPr>
          <p:cNvPr id="24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5B7FF4-CB22-463B-B252-28E306D60EB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2" name="PlaceHolder 1"/>
          <p:cNvSpPr>
            <a:spLocks noGrp="1"/>
          </p:cNvSpPr>
          <p:nvPr>
            <p:ph type="sldImg"/>
          </p:nvPr>
        </p:nvSpPr>
        <p:spPr>
          <a:xfrm>
            <a:off x="1143000" y="685800"/>
            <a:ext cx="4572000" cy="3429000"/>
          </a:xfrm>
          <a:prstGeom prst="rect">
            <a:avLst/>
          </a:prstGeom>
          <a:ln w="0">
            <a:noFill/>
          </a:ln>
        </p:spPr>
      </p:sp>
      <p:sp>
        <p:nvSpPr>
          <p:cNvPr id="24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929AD55-8F5C-46ED-AFF4-BCA42D3E102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5" name="PlaceHolder 1"/>
          <p:cNvSpPr>
            <a:spLocks noGrp="1"/>
          </p:cNvSpPr>
          <p:nvPr>
            <p:ph type="sldImg"/>
          </p:nvPr>
        </p:nvSpPr>
        <p:spPr>
          <a:xfrm>
            <a:off x="1143000" y="685800"/>
            <a:ext cx="4572000" cy="3429000"/>
          </a:xfrm>
          <a:prstGeom prst="rect">
            <a:avLst/>
          </a:prstGeom>
          <a:ln w="0">
            <a:noFill/>
          </a:ln>
        </p:spPr>
      </p:sp>
      <p:sp>
        <p:nvSpPr>
          <p:cNvPr id="24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EB8563A-CDE7-4C08-B898-7D43DC60412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8" name="PlaceHolder 1"/>
          <p:cNvSpPr>
            <a:spLocks noGrp="1"/>
          </p:cNvSpPr>
          <p:nvPr>
            <p:ph type="sldImg"/>
          </p:nvPr>
        </p:nvSpPr>
        <p:spPr>
          <a:xfrm>
            <a:off x="1143000" y="685800"/>
            <a:ext cx="4572000" cy="3429000"/>
          </a:xfrm>
          <a:prstGeom prst="rect">
            <a:avLst/>
          </a:prstGeom>
          <a:ln w="0">
            <a:noFill/>
          </a:ln>
        </p:spPr>
      </p:sp>
      <p:sp>
        <p:nvSpPr>
          <p:cNvPr id="24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2153DC-8C98-4213-83C9-F9A075557FF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51" name="PlaceHolder 1"/>
          <p:cNvSpPr>
            <a:spLocks noGrp="1"/>
          </p:cNvSpPr>
          <p:nvPr>
            <p:ph type="sldImg"/>
          </p:nvPr>
        </p:nvSpPr>
        <p:spPr>
          <a:xfrm>
            <a:off x="1143000" y="685800"/>
            <a:ext cx="4572000" cy="3429000"/>
          </a:xfrm>
          <a:prstGeom prst="rect">
            <a:avLst/>
          </a:prstGeom>
          <a:ln w="0">
            <a:noFill/>
          </a:ln>
        </p:spPr>
      </p:sp>
      <p:sp>
        <p:nvSpPr>
          <p:cNvPr id="25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B44400-013C-48AB-B03F-176404F845A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54" name="PlaceHolder 1"/>
          <p:cNvSpPr>
            <a:spLocks noGrp="1"/>
          </p:cNvSpPr>
          <p:nvPr>
            <p:ph type="sldImg"/>
          </p:nvPr>
        </p:nvSpPr>
        <p:spPr>
          <a:xfrm>
            <a:off x="1143000" y="685800"/>
            <a:ext cx="4572000" cy="3429000"/>
          </a:xfrm>
          <a:prstGeom prst="rect">
            <a:avLst/>
          </a:prstGeom>
          <a:ln w="0">
            <a:noFill/>
          </a:ln>
        </p:spPr>
      </p:sp>
      <p:sp>
        <p:nvSpPr>
          <p:cNvPr id="25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D858285-F814-41D1-A404-AC2A7B47FEFD}"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CDE921C-993E-48D8-A78A-4E7FC0BE5967}" type="slidenum">
              <a:t>&lt;#&gt;</a:t>
            </a:fld>
          </a:p>
        </p:txBody>
      </p:sp>
      <p:sp>
        <p:nvSpPr>
          <p:cNvPr id="4" name="PlaceHolder 3"/>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2" name="PlaceHolder 3"/>
          <p:cNvSpPr>
            <a:spLocks noGrp="1"/>
          </p:cNvSpPr>
          <p:nvPr>
            <p:ph type="dt" idx="1"/>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C16E014-BE33-45E1-BC87-C2476ED8976F}"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3" name="PlaceHolder 4"/>
          <p:cNvSpPr>
            <a:spLocks noGrp="1"/>
          </p:cNvSpPr>
          <p:nvPr>
            <p:ph type="ftr" idx="2"/>
          </p:nvPr>
        </p:nvSpPr>
        <p:spPr>
          <a:xfrm>
            <a:off x="2842920" y="6248520"/>
            <a:ext cx="360036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294824C-D0C5-43E4-AE07-7921EE578267}"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
        <p:nvSpPr>
          <p:cNvPr id="5" name="Freeform 7"/>
          <p:cNvSpPr/>
          <p:nvPr/>
        </p:nvSpPr>
        <p:spPr>
          <a:xfrm>
            <a:off x="380880" y="228600"/>
            <a:ext cx="8229600" cy="609480"/>
          </a:xfrm>
          <a:prstGeom prst="pie">
            <a:avLst/>
          </a:prstGeom>
          <a:noFill/>
          <a:ln w="19080">
            <a:solidFill>
              <a:srgbClr val="cc9900"/>
            </a:solidFill>
            <a:miter/>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 name="Line 8"/>
          <p:cNvSpPr/>
          <p:nvPr/>
        </p:nvSpPr>
        <p:spPr>
          <a:xfrm>
            <a:off x="457200" y="6172200"/>
            <a:ext cx="822960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7" name="Picture 10" descr=""/>
          <p:cNvPicPr/>
          <p:nvPr/>
        </p:nvPicPr>
        <p:blipFill>
          <a:blip r:embed="rId2"/>
          <a:stretch/>
        </p:blipFill>
        <p:spPr>
          <a:xfrm>
            <a:off x="1979640" y="6237360"/>
            <a:ext cx="1276200" cy="498240"/>
          </a:xfrm>
          <a:prstGeom prst="rect">
            <a:avLst/>
          </a:prstGeom>
          <a:ln w="0">
            <a:noFill/>
          </a:ln>
        </p:spPr>
      </p:pic>
      <p:pic>
        <p:nvPicPr>
          <p:cNvPr id="8" name="Picture 12" descr=""/>
          <p:cNvPicPr/>
          <p:nvPr/>
        </p:nvPicPr>
        <p:blipFill>
          <a:blip r:embed="rId3"/>
          <a:stretch/>
        </p:blipFill>
        <p:spPr>
          <a:xfrm>
            <a:off x="6084720" y="6237360"/>
            <a:ext cx="1644840" cy="479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Freeform 7"/>
          <p:cNvSpPr/>
          <p:nvPr/>
        </p:nvSpPr>
        <p:spPr>
          <a:xfrm>
            <a:off x="609480" y="1219320"/>
            <a:ext cx="7925040" cy="914400"/>
          </a:xfrm>
          <a:prstGeom prst="pie">
            <a:avLst/>
          </a:prstGeom>
          <a:noFill/>
          <a:ln w="25560">
            <a:solidFill>
              <a:srgbClr val="cc99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0" name="Line 8"/>
          <p:cNvSpPr/>
          <p:nvPr/>
        </p:nvSpPr>
        <p:spPr>
          <a:xfrm>
            <a:off x="1981080" y="3962520"/>
            <a:ext cx="651204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2"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3" name="PlaceHolder 3"/>
          <p:cNvSpPr>
            <a:spLocks noGrp="1"/>
          </p:cNvSpPr>
          <p:nvPr>
            <p:ph type="dt" idx="4"/>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B38D780-CD52-459F-A0AE-DAF361BCD1C1}"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14" name="PlaceHolder 4"/>
          <p:cNvSpPr>
            <a:spLocks noGrp="1"/>
          </p:cNvSpPr>
          <p:nvPr>
            <p:ph type="ftr" idx="5"/>
          </p:nvPr>
        </p:nvSpPr>
        <p:spPr>
          <a:xfrm>
            <a:off x="2771640" y="6243480"/>
            <a:ext cx="360072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15" name="PlaceHolder 5"/>
          <p:cNvSpPr>
            <a:spLocks noGrp="1"/>
          </p:cNvSpPr>
          <p:nvPr>
            <p:ph type="sldNum" idx="6"/>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03B389-A6C9-4126-A5E9-C9C441C3FA29}"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wmf"/><Relationship Id="rId3" Type="http://schemas.openxmlformats.org/officeDocument/2006/relationships/image" Target="../media/image11.wmf"/><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2.png"/><Relationship Id="rId3" Type="http://schemas.openxmlformats.org/officeDocument/2006/relationships/image" Target="../media/image13.wmf"/><Relationship Id="rId4" Type="http://schemas.openxmlformats.org/officeDocument/2006/relationships/image" Target="../media/image14.wmf"/><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5.wmf"/><Relationship Id="rId2" Type="http://schemas.openxmlformats.org/officeDocument/2006/relationships/image" Target="../media/image16.wmf"/><Relationship Id="rId3" Type="http://schemas.openxmlformats.org/officeDocument/2006/relationships/image" Target="../media/image17.wmf"/><Relationship Id="rId4" Type="http://schemas.openxmlformats.org/officeDocument/2006/relationships/image" Target="../media/image18.wmf"/><Relationship Id="rId5" Type="http://schemas.openxmlformats.org/officeDocument/2006/relationships/image" Target="../media/image19.wmf"/><Relationship Id="rId6" Type="http://schemas.openxmlformats.org/officeDocument/2006/relationships/image" Target="../media/image20.wmf"/><Relationship Id="rId7" Type="http://schemas.openxmlformats.org/officeDocument/2006/relationships/image" Target="../media/image21.wmf"/><Relationship Id="rId8" Type="http://schemas.openxmlformats.org/officeDocument/2006/relationships/image" Target="../media/image22.wmf"/><Relationship Id="rId9" Type="http://schemas.openxmlformats.org/officeDocument/2006/relationships/image" Target="../media/image23.wmf"/><Relationship Id="rId10" Type="http://schemas.openxmlformats.org/officeDocument/2006/relationships/slideLayout" Target="../slideLayouts/slideLayout1.xml"/><Relationship Id="rId11"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 Id="rId3" Type="http://schemas.openxmlformats.org/officeDocument/2006/relationships/image" Target="../media/image26.wmf"/><Relationship Id="rId4" Type="http://schemas.openxmlformats.org/officeDocument/2006/relationships/image" Target="../media/image27.wmf"/><Relationship Id="rId5" Type="http://schemas.openxmlformats.org/officeDocument/2006/relationships/image" Target="../media/image28.wmf"/><Relationship Id="rId6" Type="http://schemas.openxmlformats.org/officeDocument/2006/relationships/image" Target="../media/image29.wmf"/><Relationship Id="rId7" Type="http://schemas.openxmlformats.org/officeDocument/2006/relationships/slideLayout" Target="../slideLayouts/slideLayout1.xml"/><Relationship Id="rId8"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0.wmf"/><Relationship Id="rId2" Type="http://schemas.openxmlformats.org/officeDocument/2006/relationships/image" Target="../media/image31.wmf"/><Relationship Id="rId3" Type="http://schemas.openxmlformats.org/officeDocument/2006/relationships/image" Target="../media/image32.wmf"/><Relationship Id="rId4" Type="http://schemas.openxmlformats.org/officeDocument/2006/relationships/image" Target="../media/image33.wmf"/><Relationship Id="rId5" Type="http://schemas.openxmlformats.org/officeDocument/2006/relationships/image" Target="../media/image34.wmf"/><Relationship Id="rId6" Type="http://schemas.openxmlformats.org/officeDocument/2006/relationships/image" Target="../media/image35.wmf"/><Relationship Id="rId7" Type="http://schemas.openxmlformats.org/officeDocument/2006/relationships/slideLayout" Target="../slideLayouts/slideLayout1.xml"/><Relationship Id="rId8"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6.wmf"/><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wmf"/><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image" Target="../media/image40.wmf"/><Relationship Id="rId3"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2.wmf"/><Relationship Id="rId2" Type="http://schemas.openxmlformats.org/officeDocument/2006/relationships/image" Target="../media/image43.wmf"/><Relationship Id="rId3" Type="http://schemas.openxmlformats.org/officeDocument/2006/relationships/image" Target="../media/image44.wmf"/><Relationship Id="rId4" Type="http://schemas.openxmlformats.org/officeDocument/2006/relationships/image" Target="../media/image45.png"/><Relationship Id="rId5" Type="http://schemas.openxmlformats.org/officeDocument/2006/relationships/image" Target="../media/image46.wmf"/><Relationship Id="rId6" Type="http://schemas.openxmlformats.org/officeDocument/2006/relationships/image" Target="../media/image47.wmf"/><Relationship Id="rId7" Type="http://schemas.openxmlformats.org/officeDocument/2006/relationships/slideLayout" Target="../slideLayouts/slideLayout1.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7.wmf"/><Relationship Id="rId2" Type="http://schemas.openxmlformats.org/officeDocument/2006/relationships/image" Target="../media/image48.png"/><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wmf"/><Relationship Id="rId4" Type="http://schemas.openxmlformats.org/officeDocument/2006/relationships/image" Target="../media/image52.wmf"/><Relationship Id="rId5" Type="http://schemas.openxmlformats.org/officeDocument/2006/relationships/image" Target="../media/image48.png"/><Relationship Id="rId6" Type="http://schemas.openxmlformats.org/officeDocument/2006/relationships/slideLayout" Target="../slideLayouts/slideLayout1.xml"/><Relationship Id="rId7"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3.wmf"/><Relationship Id="rId2" Type="http://schemas.openxmlformats.org/officeDocument/2006/relationships/image" Target="../media/image54.wmf"/><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F5B104-E2FF-47D9-9B5D-25F40EBF0A4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BA1CEC-5B76-4E56-B6F2-45E4B0F60B2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 name="PlaceHolder 1"/>
          <p:cNvSpPr>
            <a:spLocks noGrp="1"/>
          </p:cNvSpPr>
          <p:nvPr>
            <p:ph type="title"/>
          </p:nvPr>
        </p:nvSpPr>
        <p:spPr>
          <a:xfrm>
            <a:off x="755640" y="1341000"/>
            <a:ext cx="7694640" cy="25923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5000" spc="-1" strike="noStrike">
                <a:solidFill>
                  <a:srgbClr val="006633"/>
                </a:solidFill>
                <a:latin typeface="Tahoma"/>
              </a:rPr>
              <a:t>Manoeuvring in a Seaway</a:t>
            </a:r>
            <a:br>
              <a:rPr sz="3800"/>
            </a:br>
            <a:br>
              <a:rPr sz="3800"/>
            </a:br>
            <a:r>
              <a:rPr b="0" lang="en-AU" sz="3800" spc="-1" strike="noStrike">
                <a:solidFill>
                  <a:srgbClr val="006633"/>
                </a:solidFill>
                <a:latin typeface="Tahoma"/>
              </a:rPr>
              <a:t>(Module 8)</a:t>
            </a:r>
            <a:endParaRPr b="0" lang="en-US" sz="3800" spc="-1" strike="noStrike">
              <a:solidFill>
                <a:srgbClr val="006633"/>
              </a:solidFill>
              <a:latin typeface="Tahoma"/>
            </a:endParaRPr>
          </a:p>
        </p:txBody>
      </p:sp>
      <p:pic>
        <p:nvPicPr>
          <p:cNvPr id="27" name="Picture 5" descr=""/>
          <p:cNvPicPr/>
          <p:nvPr/>
        </p:nvPicPr>
        <p:blipFill>
          <a:blip r:embed="rId1"/>
          <a:stretch/>
        </p:blipFill>
        <p:spPr>
          <a:xfrm>
            <a:off x="1692360" y="5229360"/>
            <a:ext cx="2320920" cy="890280"/>
          </a:xfrm>
          <a:prstGeom prst="rect">
            <a:avLst/>
          </a:prstGeom>
          <a:ln w="0">
            <a:noFill/>
          </a:ln>
        </p:spPr>
      </p:pic>
      <p:sp>
        <p:nvSpPr>
          <p:cNvPr id="28" name="Rectangle 7"/>
          <p:cNvSpPr/>
          <p:nvPr/>
        </p:nvSpPr>
        <p:spPr>
          <a:xfrm>
            <a:off x="1403280" y="4005360"/>
            <a:ext cx="324180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Dr Tristan Perez </a:t>
            </a:r>
            <a:r>
              <a:rPr b="0" lang="en-AU" sz="2800" spc="-1" strike="noStrike">
                <a:solidFill>
                  <a:srgbClr val="000000"/>
                </a:solidFill>
                <a:latin typeface="Arial"/>
              </a:rPr>
              <a:t>	</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Centre for Complex Dynamic Systems and Control (CDSC)</a:t>
            </a:r>
            <a:endParaRPr b="0" lang="en-US" sz="1800" spc="-1" strike="noStrike">
              <a:solidFill>
                <a:srgbClr val="000000"/>
              </a:solidFill>
              <a:latin typeface="Arial"/>
            </a:endParaRPr>
          </a:p>
        </p:txBody>
      </p:sp>
      <p:sp>
        <p:nvSpPr>
          <p:cNvPr id="29" name="Rectangle 11"/>
          <p:cNvSpPr/>
          <p:nvPr/>
        </p:nvSpPr>
        <p:spPr>
          <a:xfrm>
            <a:off x="4932360" y="4005360"/>
            <a:ext cx="374508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Prof. Thor I Fossen</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Department of Engineering Cybernetics</a:t>
            </a:r>
            <a:endParaRPr b="0" lang="en-US" sz="1800" spc="-1" strike="noStrike">
              <a:solidFill>
                <a:srgbClr val="000000"/>
              </a:solidFill>
              <a:latin typeface="Arial"/>
            </a:endParaRPr>
          </a:p>
        </p:txBody>
      </p:sp>
      <p:pic>
        <p:nvPicPr>
          <p:cNvPr id="30" name="Picture 12" descr=""/>
          <p:cNvPicPr/>
          <p:nvPr/>
        </p:nvPicPr>
        <p:blipFill>
          <a:blip r:embed="rId2"/>
          <a:stretch/>
        </p:blipFill>
        <p:spPr>
          <a:xfrm>
            <a:off x="5651640" y="5445000"/>
            <a:ext cx="2436840" cy="709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554756-5B22-4967-9887-AAA5E580012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B055267-E905-4506-822B-B76FDCD3ADF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State of the art</a:t>
            </a:r>
            <a:endParaRPr b="0" lang="en-US" sz="4200" spc="-1" strike="noStrike">
              <a:solidFill>
                <a:srgbClr val="006633"/>
              </a:solidFill>
              <a:latin typeface="Tahoma"/>
            </a:endParaRPr>
          </a:p>
        </p:txBody>
      </p:sp>
      <p:sp>
        <p:nvSpPr>
          <p:cNvPr id="35" name="PlaceHolder 2"/>
          <p:cNvSpPr>
            <a:spLocks noGrp="1"/>
          </p:cNvSpPr>
          <p:nvPr>
            <p:ph/>
          </p:nvPr>
        </p:nvSpPr>
        <p:spPr>
          <a:xfrm>
            <a:off x="468360" y="1412640"/>
            <a:ext cx="8229600" cy="453060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Manoeuvres are generally performed in calm waters close to ports, but some times are also performed at sea in higher sea states.</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requires models which can handle manoeuvring and seakeeping.</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hydrodynamic problem is very complex, and we may still be a long time away from a solution.</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state of the art uses a combination of manoeuvring and seakeeping models via either</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lvl="1" marL="669960" indent="-325440">
              <a:lnSpc>
                <a:spcPct val="80000"/>
              </a:lnSpc>
              <a:spcBef>
                <a:spcPts val="499"/>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Motion superposition</a:t>
            </a:r>
            <a:endParaRPr b="0" lang="en-US" sz="2000" spc="-1" strike="noStrike">
              <a:solidFill>
                <a:srgbClr val="000000"/>
              </a:solidFill>
              <a:latin typeface="Arial"/>
            </a:endParaRPr>
          </a:p>
          <a:p>
            <a:pPr lvl="1" marL="669960" indent="-325440">
              <a:lnSpc>
                <a:spcPct val="80000"/>
              </a:lnSpc>
              <a:spcBef>
                <a:spcPts val="499"/>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Force superposition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8D9B6B2-7FA4-45A9-8D94-68CF8A49EE8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A91971-8395-45C2-8642-22096E1A6C7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400" spc="-1" strike="noStrike">
                <a:solidFill>
                  <a:srgbClr val="006633"/>
                </a:solidFill>
                <a:latin typeface="Tahoma"/>
              </a:rPr>
              <a:t>Frequency-domain seakeeping models</a:t>
            </a:r>
            <a:endParaRPr b="0" lang="en-US" sz="3400" spc="-1" strike="noStrike">
              <a:solidFill>
                <a:srgbClr val="006633"/>
              </a:solidFill>
              <a:latin typeface="Tahoma"/>
            </a:endParaRPr>
          </a:p>
        </p:txBody>
      </p:sp>
      <p:pic>
        <p:nvPicPr>
          <p:cNvPr id="40" name="Picture 4" descr=""/>
          <p:cNvPicPr/>
          <p:nvPr/>
        </p:nvPicPr>
        <p:blipFill>
          <a:blip r:embed="rId1"/>
          <a:stretch/>
        </p:blipFill>
        <p:spPr>
          <a:xfrm>
            <a:off x="1258920" y="2852640"/>
            <a:ext cx="6602400" cy="2546280"/>
          </a:xfrm>
          <a:prstGeom prst="rect">
            <a:avLst/>
          </a:prstGeom>
          <a:ln w="0">
            <a:noFill/>
          </a:ln>
        </p:spPr>
      </p:pic>
      <p:sp>
        <p:nvSpPr>
          <p:cNvPr id="41" name="Text Box 6"/>
          <p:cNvSpPr/>
          <p:nvPr/>
        </p:nvSpPr>
        <p:spPr>
          <a:xfrm>
            <a:off x="900000" y="1341360"/>
            <a:ext cx="633600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These models can be used to simulate wave-induced ship motion time series: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E6029A-FD0D-4567-9C98-DFF553EE8EC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560116-E3BE-431E-AE78-3FC6A7C6E9E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superposition model</a:t>
            </a:r>
            <a:endParaRPr b="0" lang="en-US" sz="4200" spc="-1" strike="noStrike">
              <a:solidFill>
                <a:srgbClr val="006633"/>
              </a:solidFill>
              <a:latin typeface="Tahoma"/>
            </a:endParaRPr>
          </a:p>
        </p:txBody>
      </p:sp>
      <p:pic>
        <p:nvPicPr>
          <p:cNvPr id="46" name="Picture 4" descr=""/>
          <p:cNvPicPr/>
          <p:nvPr/>
        </p:nvPicPr>
        <p:blipFill>
          <a:blip r:embed="rId1"/>
          <a:stretch/>
        </p:blipFill>
        <p:spPr>
          <a:xfrm>
            <a:off x="1476360" y="1125360"/>
            <a:ext cx="6253200" cy="42278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7C8EC0-DB74-4DCE-BA5F-3A6CC7805D5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F5F5602-ABB1-439D-8A5D-18E8A1BF5A6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superposition model</a:t>
            </a:r>
            <a:endParaRPr b="0" lang="en-US" sz="4200" spc="-1" strike="noStrike">
              <a:solidFill>
                <a:srgbClr val="006633"/>
              </a:solidFill>
              <a:latin typeface="Tahoma"/>
            </a:endParaRPr>
          </a:p>
        </p:txBody>
      </p:sp>
      <p:sp>
        <p:nvSpPr>
          <p:cNvPr id="51"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Commonly used in control applications: autopilot, manoeuvring, formation control, rudder roll stabilisation. </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rationale behind this is that a wave filter rejects the 1</a:t>
            </a:r>
            <a:r>
              <a:rPr b="0" lang="en-AU" sz="2600" spc="-1" strike="noStrike" baseline="30000">
                <a:solidFill>
                  <a:srgbClr val="000000"/>
                </a:solidFill>
                <a:latin typeface="Arial"/>
              </a:rPr>
              <a:t>st</a:t>
            </a:r>
            <a:r>
              <a:rPr b="0" lang="en-AU" sz="2600" spc="-1" strike="noStrike">
                <a:solidFill>
                  <a:srgbClr val="000000"/>
                </a:solidFill>
                <a:latin typeface="Arial"/>
              </a:rPr>
              <a:t> order wave induced motion, and no memory effects are then considered. </a:t>
            </a:r>
            <a:endParaRPr b="0" lang="en-US" sz="2600" spc="-1" strike="noStrike">
              <a:solidFill>
                <a:srgbClr val="000000"/>
              </a:solidFill>
              <a:latin typeface="Arial"/>
            </a:endParaRPr>
          </a:p>
          <a:p>
            <a:pPr marL="34308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It can be a good assumption in lower sea states. </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1F61766-AB30-4CB3-A59C-53C01497408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0603F4-6DDF-465C-9D36-E177890EC5F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superposition model</a:t>
            </a:r>
            <a:endParaRPr b="0" lang="en-US" sz="4200" spc="-1" strike="noStrike">
              <a:solidFill>
                <a:srgbClr val="006633"/>
              </a:solidFill>
              <a:latin typeface="Tahoma"/>
            </a:endParaRPr>
          </a:p>
        </p:txBody>
      </p:sp>
      <p:pic>
        <p:nvPicPr>
          <p:cNvPr id="56" name="Picture 4" descr=""/>
          <p:cNvPicPr/>
          <p:nvPr/>
        </p:nvPicPr>
        <p:blipFill>
          <a:blip r:embed="rId1"/>
          <a:stretch/>
        </p:blipFill>
        <p:spPr>
          <a:xfrm>
            <a:off x="1258920" y="1197000"/>
            <a:ext cx="5580000" cy="4094280"/>
          </a:xfrm>
          <a:prstGeom prst="rect">
            <a:avLst/>
          </a:prstGeom>
          <a:ln w="0">
            <a:noFill/>
          </a:ln>
        </p:spPr>
      </p:pic>
      <p:pic>
        <p:nvPicPr>
          <p:cNvPr id="57" name="Picture 5" descr=""/>
          <p:cNvPicPr/>
          <p:nvPr/>
        </p:nvPicPr>
        <p:blipFill>
          <a:blip r:embed="rId2"/>
          <a:stretch/>
        </p:blipFill>
        <p:spPr>
          <a:xfrm>
            <a:off x="6804000" y="3357720"/>
            <a:ext cx="790560" cy="579240"/>
          </a:xfrm>
          <a:prstGeom prst="rect">
            <a:avLst/>
          </a:prstGeom>
          <a:ln w="0">
            <a:noFill/>
          </a:ln>
        </p:spPr>
      </p:pic>
      <p:sp>
        <p:nvSpPr>
          <p:cNvPr id="58" name="Text Box 6"/>
          <p:cNvSpPr/>
          <p:nvPr/>
        </p:nvSpPr>
        <p:spPr>
          <a:xfrm>
            <a:off x="1258920" y="5516640"/>
            <a:ext cx="63356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Time-domain SK model + nonlinearities.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C2841D-E923-4110-9300-7221ED7A21A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6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6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2A20D8-E7E3-44E6-AB9F-587370FBBDF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6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superposition model</a:t>
            </a:r>
            <a:endParaRPr b="0" lang="en-US" sz="4200" spc="-1" strike="noStrike">
              <a:solidFill>
                <a:srgbClr val="006633"/>
              </a:solidFill>
              <a:latin typeface="Tahoma"/>
            </a:endParaRPr>
          </a:p>
        </p:txBody>
      </p:sp>
      <p:sp>
        <p:nvSpPr>
          <p:cNvPr id="63"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is an attempt to obtain a unified model for manoeuvring in a seaway.</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Fluid memory effects are incorporated, together with other non-linear effects characteristic of manoeuvring: lift-drag, cross-flow drag.</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These models are based on the Cummins Equation expressed in terms of body-fixed coordinates, and the nonlinear effects are added.</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Centripetal-Coriollis terms still remain an issue.</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model is valid provided that the vessel manoeuvres slowly—because part of the model is based on a seakeeping model.</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4945D6-B44B-48CB-8125-E4606F30CB6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6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6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A13379-0441-44DF-9F7F-9EAA8D9139F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6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68" name="PlaceHolder 2"/>
          <p:cNvSpPr>
            <a:spLocks noGrp="1"/>
          </p:cNvSpPr>
          <p:nvPr>
            <p:ph/>
          </p:nvPr>
        </p:nvSpPr>
        <p:spPr>
          <a:xfrm>
            <a:off x="468360" y="1197000"/>
            <a:ext cx="8229600" cy="67608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Following Perez &amp; Fossen (2007)</a:t>
            </a:r>
            <a:endParaRPr b="0" lang="en-US" sz="3000" spc="-1" strike="noStrike">
              <a:solidFill>
                <a:srgbClr val="000000"/>
              </a:solidFill>
              <a:latin typeface="Arial"/>
            </a:endParaRPr>
          </a:p>
        </p:txBody>
      </p:sp>
      <p:pic>
        <p:nvPicPr>
          <p:cNvPr id="69" name="Picture 4" descr=""/>
          <p:cNvPicPr/>
          <p:nvPr/>
        </p:nvPicPr>
        <p:blipFill>
          <a:blip r:embed="rId1"/>
          <a:stretch/>
        </p:blipFill>
        <p:spPr>
          <a:xfrm>
            <a:off x="5076720" y="2421000"/>
            <a:ext cx="3310200" cy="2565360"/>
          </a:xfrm>
          <a:prstGeom prst="rect">
            <a:avLst/>
          </a:prstGeom>
          <a:ln w="0">
            <a:noFill/>
          </a:ln>
        </p:spPr>
      </p:pic>
      <p:pic>
        <p:nvPicPr>
          <p:cNvPr id="70" name="Picture 5" descr=""/>
          <p:cNvPicPr/>
          <p:nvPr/>
        </p:nvPicPr>
        <p:blipFill>
          <a:blip r:embed="rId2"/>
          <a:stretch/>
        </p:blipFill>
        <p:spPr>
          <a:xfrm>
            <a:off x="1116000" y="2637000"/>
            <a:ext cx="2344680" cy="803160"/>
          </a:xfrm>
          <a:prstGeom prst="rect">
            <a:avLst/>
          </a:prstGeom>
          <a:ln w="0">
            <a:noFill/>
          </a:ln>
        </p:spPr>
      </p:pic>
      <p:pic>
        <p:nvPicPr>
          <p:cNvPr id="71" name="Picture 6" descr=""/>
          <p:cNvPicPr/>
          <p:nvPr/>
        </p:nvPicPr>
        <p:blipFill>
          <a:blip r:embed="rId3"/>
          <a:stretch/>
        </p:blipFill>
        <p:spPr>
          <a:xfrm>
            <a:off x="1116000" y="4581360"/>
            <a:ext cx="2617920" cy="685800"/>
          </a:xfrm>
          <a:prstGeom prst="rect">
            <a:avLst/>
          </a:prstGeom>
          <a:ln w="0">
            <a:noFill/>
          </a:ln>
        </p:spPr>
      </p:pic>
      <p:sp>
        <p:nvSpPr>
          <p:cNvPr id="72" name="Text Box 7"/>
          <p:cNvSpPr/>
          <p:nvPr/>
        </p:nvSpPr>
        <p:spPr>
          <a:xfrm>
            <a:off x="826920" y="3789360"/>
            <a:ext cx="1297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In {n},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72C8E39-4117-4B1F-BEAC-3D534D15C75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7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7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01147C-1BA5-4187-BC99-96BBD901E5B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pic>
        <p:nvPicPr>
          <p:cNvPr id="77" name="Picture 4" descr=""/>
          <p:cNvPicPr/>
          <p:nvPr/>
        </p:nvPicPr>
        <p:blipFill>
          <a:blip r:embed="rId1"/>
          <a:stretch/>
        </p:blipFill>
        <p:spPr>
          <a:xfrm>
            <a:off x="5076720" y="2421000"/>
            <a:ext cx="3310200" cy="2565360"/>
          </a:xfrm>
          <a:prstGeom prst="rect">
            <a:avLst/>
          </a:prstGeom>
          <a:ln w="0">
            <a:noFill/>
          </a:ln>
        </p:spPr>
      </p:pic>
      <p:sp>
        <p:nvSpPr>
          <p:cNvPr id="78" name="Text Box 7"/>
          <p:cNvSpPr/>
          <p:nvPr/>
        </p:nvSpPr>
        <p:spPr>
          <a:xfrm>
            <a:off x="539640" y="1268280"/>
            <a:ext cx="39610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the time-derivative</a:t>
            </a:r>
            <a:endParaRPr b="0" lang="en-US" sz="2400" spc="-1" strike="noStrike">
              <a:solidFill>
                <a:srgbClr val="000000"/>
              </a:solidFill>
              <a:latin typeface="Arial"/>
            </a:endParaRPr>
          </a:p>
        </p:txBody>
      </p:sp>
      <p:pic>
        <p:nvPicPr>
          <p:cNvPr id="79" name="Picture 9" descr=""/>
          <p:cNvPicPr/>
          <p:nvPr/>
        </p:nvPicPr>
        <p:blipFill>
          <a:blip r:embed="rId2"/>
          <a:stretch/>
        </p:blipFill>
        <p:spPr>
          <a:xfrm>
            <a:off x="1332000" y="1916280"/>
            <a:ext cx="2568600" cy="580680"/>
          </a:xfrm>
          <a:prstGeom prst="rect">
            <a:avLst/>
          </a:prstGeom>
          <a:ln w="0">
            <a:noFill/>
          </a:ln>
        </p:spPr>
      </p:pic>
      <p:pic>
        <p:nvPicPr>
          <p:cNvPr id="80" name="Picture 10" descr=""/>
          <p:cNvPicPr/>
          <p:nvPr/>
        </p:nvPicPr>
        <p:blipFill>
          <a:blip r:embed="rId3"/>
          <a:stretch/>
        </p:blipFill>
        <p:spPr>
          <a:xfrm>
            <a:off x="1116000" y="2637000"/>
            <a:ext cx="3162240" cy="1123920"/>
          </a:xfrm>
          <a:prstGeom prst="rect">
            <a:avLst/>
          </a:prstGeom>
          <a:ln w="0">
            <a:noFill/>
          </a:ln>
        </p:spPr>
      </p:pic>
      <p:pic>
        <p:nvPicPr>
          <p:cNvPr id="81" name="Picture 11" descr=""/>
          <p:cNvPicPr/>
          <p:nvPr/>
        </p:nvPicPr>
        <p:blipFill>
          <a:blip r:embed="rId4"/>
          <a:stretch/>
        </p:blipFill>
        <p:spPr>
          <a:xfrm>
            <a:off x="971640" y="4724280"/>
            <a:ext cx="4078080" cy="1198800"/>
          </a:xfrm>
          <a:prstGeom prst="rect">
            <a:avLst/>
          </a:prstGeom>
          <a:ln w="0">
            <a:noFill/>
          </a:ln>
        </p:spPr>
      </p:pic>
      <p:sp>
        <p:nvSpPr>
          <p:cNvPr id="82" name="Text Box 12"/>
          <p:cNvSpPr/>
          <p:nvPr/>
        </p:nvSpPr>
        <p:spPr>
          <a:xfrm>
            <a:off x="468360" y="4076640"/>
            <a:ext cx="3960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it to {b},</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04E079-34E7-4208-9105-301EFDA5AD7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8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8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815A91-70B6-403B-9C66-C045C2F9B07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8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87" name="Text Box 4"/>
          <p:cNvSpPr/>
          <p:nvPr/>
        </p:nvSpPr>
        <p:spPr>
          <a:xfrm>
            <a:off x="539640" y="1268280"/>
            <a:ext cx="3240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Let</a:t>
            </a:r>
            <a:endParaRPr b="0" lang="en-US" sz="2400" spc="-1" strike="noStrike">
              <a:solidFill>
                <a:srgbClr val="000000"/>
              </a:solidFill>
              <a:latin typeface="Arial"/>
            </a:endParaRPr>
          </a:p>
        </p:txBody>
      </p:sp>
      <p:sp>
        <p:nvSpPr>
          <p:cNvPr id="88" name="Text Box 8"/>
          <p:cNvSpPr/>
          <p:nvPr/>
        </p:nvSpPr>
        <p:spPr>
          <a:xfrm>
            <a:off x="468360" y="4076640"/>
            <a:ext cx="32400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Then</a:t>
            </a:r>
            <a:endParaRPr b="0" lang="en-US" sz="2400" spc="-1" strike="noStrike">
              <a:solidFill>
                <a:srgbClr val="000000"/>
              </a:solidFill>
              <a:latin typeface="Arial"/>
            </a:endParaRPr>
          </a:p>
        </p:txBody>
      </p:sp>
      <p:pic>
        <p:nvPicPr>
          <p:cNvPr id="89" name="Picture 9" descr=""/>
          <p:cNvPicPr/>
          <p:nvPr/>
        </p:nvPicPr>
        <p:blipFill>
          <a:blip r:embed="rId1"/>
          <a:stretch/>
        </p:blipFill>
        <p:spPr>
          <a:xfrm>
            <a:off x="2411280" y="1484280"/>
            <a:ext cx="3434040" cy="1001880"/>
          </a:xfrm>
          <a:prstGeom prst="rect">
            <a:avLst/>
          </a:prstGeom>
          <a:ln w="0">
            <a:noFill/>
          </a:ln>
        </p:spPr>
      </p:pic>
      <p:pic>
        <p:nvPicPr>
          <p:cNvPr id="90" name="Picture 11" descr=""/>
          <p:cNvPicPr/>
          <p:nvPr/>
        </p:nvPicPr>
        <p:blipFill>
          <a:blip r:embed="rId2"/>
          <a:stretch/>
        </p:blipFill>
        <p:spPr>
          <a:xfrm>
            <a:off x="1619280" y="2925720"/>
            <a:ext cx="2444760" cy="382680"/>
          </a:xfrm>
          <a:prstGeom prst="rect">
            <a:avLst/>
          </a:prstGeom>
          <a:ln w="0">
            <a:noFill/>
          </a:ln>
        </p:spPr>
      </p:pic>
      <p:pic>
        <p:nvPicPr>
          <p:cNvPr id="91" name="Picture 12" descr=""/>
          <p:cNvPicPr/>
          <p:nvPr/>
        </p:nvPicPr>
        <p:blipFill>
          <a:blip r:embed="rId3"/>
          <a:stretch/>
        </p:blipFill>
        <p:spPr>
          <a:xfrm>
            <a:off x="1619280" y="3357720"/>
            <a:ext cx="2320920" cy="382320"/>
          </a:xfrm>
          <a:prstGeom prst="rect">
            <a:avLst/>
          </a:prstGeom>
          <a:ln w="0">
            <a:noFill/>
          </a:ln>
        </p:spPr>
      </p:pic>
      <p:pic>
        <p:nvPicPr>
          <p:cNvPr id="92" name="Picture 13" descr=""/>
          <p:cNvPicPr/>
          <p:nvPr/>
        </p:nvPicPr>
        <p:blipFill>
          <a:blip r:embed="rId4"/>
          <a:stretch/>
        </p:blipFill>
        <p:spPr>
          <a:xfrm>
            <a:off x="4643280" y="3286080"/>
            <a:ext cx="2494080" cy="414360"/>
          </a:xfrm>
          <a:prstGeom prst="rect">
            <a:avLst/>
          </a:prstGeom>
          <a:ln w="0">
            <a:noFill/>
          </a:ln>
        </p:spPr>
      </p:pic>
      <p:pic>
        <p:nvPicPr>
          <p:cNvPr id="93" name="Picture 15" descr=""/>
          <p:cNvPicPr/>
          <p:nvPr/>
        </p:nvPicPr>
        <p:blipFill>
          <a:blip r:embed="rId5"/>
          <a:stretch/>
        </p:blipFill>
        <p:spPr>
          <a:xfrm>
            <a:off x="5583240" y="2854440"/>
            <a:ext cx="1725480" cy="420480"/>
          </a:xfrm>
          <a:prstGeom prst="rect">
            <a:avLst/>
          </a:prstGeom>
          <a:ln w="0">
            <a:noFill/>
          </a:ln>
        </p:spPr>
      </p:pic>
      <p:pic>
        <p:nvPicPr>
          <p:cNvPr id="94" name="Picture 16" descr=""/>
          <p:cNvPicPr/>
          <p:nvPr/>
        </p:nvPicPr>
        <p:blipFill>
          <a:blip r:embed="rId6"/>
          <a:stretch/>
        </p:blipFill>
        <p:spPr>
          <a:xfrm>
            <a:off x="4643280" y="2781360"/>
            <a:ext cx="613080" cy="519120"/>
          </a:xfrm>
          <a:prstGeom prst="rect">
            <a:avLst/>
          </a:prstGeom>
          <a:ln w="0">
            <a:noFill/>
          </a:ln>
        </p:spPr>
      </p:pic>
      <p:pic>
        <p:nvPicPr>
          <p:cNvPr id="95" name="Picture 17" descr=""/>
          <p:cNvPicPr/>
          <p:nvPr/>
        </p:nvPicPr>
        <p:blipFill>
          <a:blip r:embed="rId7"/>
          <a:stretch/>
        </p:blipFill>
        <p:spPr>
          <a:xfrm>
            <a:off x="5219640" y="2925720"/>
            <a:ext cx="339840" cy="241200"/>
          </a:xfrm>
          <a:prstGeom prst="rect">
            <a:avLst/>
          </a:prstGeom>
          <a:ln w="0">
            <a:noFill/>
          </a:ln>
        </p:spPr>
      </p:pic>
      <p:pic>
        <p:nvPicPr>
          <p:cNvPr id="96" name="Picture 18" descr=""/>
          <p:cNvPicPr/>
          <p:nvPr/>
        </p:nvPicPr>
        <p:blipFill>
          <a:blip r:embed="rId8"/>
          <a:stretch/>
        </p:blipFill>
        <p:spPr>
          <a:xfrm>
            <a:off x="3059280" y="4221000"/>
            <a:ext cx="2097000" cy="489240"/>
          </a:xfrm>
          <a:prstGeom prst="rect">
            <a:avLst/>
          </a:prstGeom>
          <a:ln w="0">
            <a:noFill/>
          </a:ln>
        </p:spPr>
      </p:pic>
      <p:pic>
        <p:nvPicPr>
          <p:cNvPr id="97" name="Picture 19" descr=""/>
          <p:cNvPicPr/>
          <p:nvPr/>
        </p:nvPicPr>
        <p:blipFill>
          <a:blip r:embed="rId9"/>
          <a:stretch/>
        </p:blipFill>
        <p:spPr>
          <a:xfrm>
            <a:off x="2195640" y="4724280"/>
            <a:ext cx="4275000" cy="14144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A17DCE3-B08E-4B5B-A704-E20ECD96DED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0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F30F5D-BA5A-4F02-927D-AC41D6F8143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0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02"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 angular velocities are related by</a:t>
            </a:r>
            <a:endParaRPr b="0" lang="en-US" sz="2400" spc="-1" strike="noStrike">
              <a:solidFill>
                <a:srgbClr val="000000"/>
              </a:solidFill>
              <a:latin typeface="Arial"/>
            </a:endParaRPr>
          </a:p>
        </p:txBody>
      </p:sp>
      <p:sp>
        <p:nvSpPr>
          <p:cNvPr id="103" name="Text Box 4"/>
          <p:cNvSpPr/>
          <p:nvPr/>
        </p:nvSpPr>
        <p:spPr>
          <a:xfrm>
            <a:off x="539640" y="2565360"/>
            <a:ext cx="3240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In {b}</a:t>
            </a:r>
            <a:endParaRPr b="0" lang="en-US" sz="2400" spc="-1" strike="noStrike">
              <a:solidFill>
                <a:srgbClr val="000000"/>
              </a:solidFill>
              <a:latin typeface="Arial"/>
            </a:endParaRPr>
          </a:p>
        </p:txBody>
      </p:sp>
      <p:pic>
        <p:nvPicPr>
          <p:cNvPr id="104" name="Picture 14" descr=""/>
          <p:cNvPicPr/>
          <p:nvPr/>
        </p:nvPicPr>
        <p:blipFill>
          <a:blip r:embed="rId1"/>
          <a:stretch/>
        </p:blipFill>
        <p:spPr>
          <a:xfrm>
            <a:off x="1692360" y="1781280"/>
            <a:ext cx="2344680" cy="568080"/>
          </a:xfrm>
          <a:prstGeom prst="rect">
            <a:avLst/>
          </a:prstGeom>
          <a:ln w="0">
            <a:noFill/>
          </a:ln>
        </p:spPr>
      </p:pic>
      <p:pic>
        <p:nvPicPr>
          <p:cNvPr id="105" name="Picture 15" descr=""/>
          <p:cNvPicPr/>
          <p:nvPr/>
        </p:nvPicPr>
        <p:blipFill>
          <a:blip r:embed="rId2"/>
          <a:stretch/>
        </p:blipFill>
        <p:spPr>
          <a:xfrm>
            <a:off x="5724360" y="1781280"/>
            <a:ext cx="1454400" cy="531720"/>
          </a:xfrm>
          <a:prstGeom prst="rect">
            <a:avLst/>
          </a:prstGeom>
          <a:ln w="0">
            <a:noFill/>
          </a:ln>
        </p:spPr>
      </p:pic>
      <mc:AlternateContent>
        <mc:Choice xmlns:a14="http://schemas.microsoft.com/office/drawing/2010/main" Requires="a14">
          <p:sp>
            <p:nvSpPr>
              <p:cNvPr id="106" name="Object 16"/>
              <p:cNvSpPr txBox="1"/>
              <p:nvPr/>
            </p:nvSpPr>
            <p:spPr>
              <a:xfrm>
                <a:off x="4572000" y="1854360"/>
                <a:ext cx="622440" cy="466560"/>
              </a:xfrm>
              <a:prstGeom prst="rect">
                <a:avLst/>
              </a:prstGeom>
            </p:spPr>
            <p:txBody>
              <a:bodyPr/>
              <a:p>
                <a14:m>
                  <m:oMath xmlns:m="http://schemas.openxmlformats.org/officeDocument/2006/math">
                    <m:r>
                      <m:t xml:space="preserve">⇔</m:t>
                    </m:r>
                  </m:oMath>
                </a14:m>
              </a:p>
            </p:txBody>
          </p:sp>
        </mc:Choice>
        <mc:Fallback/>
      </mc:AlternateContent>
      <p:pic>
        <p:nvPicPr>
          <p:cNvPr id="107" name="Picture 18" descr=""/>
          <p:cNvPicPr/>
          <p:nvPr/>
        </p:nvPicPr>
        <p:blipFill>
          <a:blip r:embed="rId3"/>
          <a:stretch/>
        </p:blipFill>
        <p:spPr>
          <a:xfrm>
            <a:off x="2771640" y="2924280"/>
            <a:ext cx="3235320" cy="561960"/>
          </a:xfrm>
          <a:prstGeom prst="rect">
            <a:avLst/>
          </a:prstGeom>
          <a:ln w="0">
            <a:noFill/>
          </a:ln>
        </p:spPr>
      </p:pic>
      <p:sp>
        <p:nvSpPr>
          <p:cNvPr id="108" name="Text Box 19"/>
          <p:cNvSpPr/>
          <p:nvPr/>
        </p:nvSpPr>
        <p:spPr>
          <a:xfrm>
            <a:off x="468360" y="3789360"/>
            <a:ext cx="32400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Combining results</a:t>
            </a:r>
            <a:endParaRPr b="0" lang="en-US" sz="2400" spc="-1" strike="noStrike">
              <a:solidFill>
                <a:srgbClr val="000000"/>
              </a:solidFill>
              <a:latin typeface="Arial"/>
            </a:endParaRPr>
          </a:p>
        </p:txBody>
      </p:sp>
      <p:pic>
        <p:nvPicPr>
          <p:cNvPr id="109" name="Picture 20" descr=""/>
          <p:cNvPicPr/>
          <p:nvPr/>
        </p:nvPicPr>
        <p:blipFill>
          <a:blip r:embed="rId4"/>
          <a:stretch/>
        </p:blipFill>
        <p:spPr>
          <a:xfrm>
            <a:off x="971640" y="4653000"/>
            <a:ext cx="1701720" cy="555480"/>
          </a:xfrm>
          <a:prstGeom prst="rect">
            <a:avLst/>
          </a:prstGeom>
          <a:ln w="0">
            <a:noFill/>
          </a:ln>
        </p:spPr>
      </p:pic>
      <p:pic>
        <p:nvPicPr>
          <p:cNvPr id="110" name="Picture 21" descr=""/>
          <p:cNvPicPr/>
          <p:nvPr/>
        </p:nvPicPr>
        <p:blipFill>
          <a:blip r:embed="rId5"/>
          <a:stretch/>
        </p:blipFill>
        <p:spPr>
          <a:xfrm>
            <a:off x="900000" y="5445000"/>
            <a:ext cx="2221200" cy="463680"/>
          </a:xfrm>
          <a:prstGeom prst="rect">
            <a:avLst/>
          </a:prstGeom>
          <a:ln w="0">
            <a:noFill/>
          </a:ln>
        </p:spPr>
      </p:pic>
      <p:pic>
        <p:nvPicPr>
          <p:cNvPr id="111" name="Picture 22" descr=""/>
          <p:cNvPicPr/>
          <p:nvPr/>
        </p:nvPicPr>
        <p:blipFill>
          <a:blip r:embed="rId6"/>
          <a:stretch/>
        </p:blipFill>
        <p:spPr>
          <a:xfrm>
            <a:off x="3924360" y="4149720"/>
            <a:ext cx="4324320" cy="1866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EE2790-6688-42E7-AC4F-0B088925C1D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1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1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D16851D-A160-46B5-BA18-EFDCE95EEFA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1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16"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small angle approximations</a:t>
            </a:r>
            <a:endParaRPr b="0" lang="en-US" sz="2400" spc="-1" strike="noStrike">
              <a:solidFill>
                <a:srgbClr val="000000"/>
              </a:solidFill>
              <a:latin typeface="Arial"/>
            </a:endParaRPr>
          </a:p>
        </p:txBody>
      </p:sp>
      <p:sp>
        <p:nvSpPr>
          <p:cNvPr id="117" name="Text Box 4"/>
          <p:cNvSpPr/>
          <p:nvPr/>
        </p:nvSpPr>
        <p:spPr>
          <a:xfrm>
            <a:off x="395280" y="3213000"/>
            <a:ext cx="460836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Hence, we obtain the sought transformation:</a:t>
            </a:r>
            <a:endParaRPr b="0" lang="en-US" sz="2400" spc="-1" strike="noStrike">
              <a:solidFill>
                <a:srgbClr val="000000"/>
              </a:solidFill>
              <a:latin typeface="Arial"/>
            </a:endParaRPr>
          </a:p>
        </p:txBody>
      </p:sp>
      <p:pic>
        <p:nvPicPr>
          <p:cNvPr id="118" name="Picture 13" descr=""/>
          <p:cNvPicPr/>
          <p:nvPr/>
        </p:nvPicPr>
        <p:blipFill>
          <a:blip r:embed="rId1"/>
          <a:stretch/>
        </p:blipFill>
        <p:spPr>
          <a:xfrm>
            <a:off x="5940360" y="1844640"/>
            <a:ext cx="2295720" cy="1247760"/>
          </a:xfrm>
          <a:prstGeom prst="rect">
            <a:avLst/>
          </a:prstGeom>
          <a:ln w="0">
            <a:noFill/>
          </a:ln>
        </p:spPr>
      </p:pic>
      <p:pic>
        <p:nvPicPr>
          <p:cNvPr id="119" name="Picture 15" descr=""/>
          <p:cNvPicPr/>
          <p:nvPr/>
        </p:nvPicPr>
        <p:blipFill>
          <a:blip r:embed="rId2"/>
          <a:stretch/>
        </p:blipFill>
        <p:spPr>
          <a:xfrm>
            <a:off x="1187280" y="1844640"/>
            <a:ext cx="3854520" cy="1236600"/>
          </a:xfrm>
          <a:prstGeom prst="rect">
            <a:avLst/>
          </a:prstGeom>
          <a:ln w="0">
            <a:noFill/>
          </a:ln>
        </p:spPr>
      </p:pic>
      <p:pic>
        <p:nvPicPr>
          <p:cNvPr id="120" name="Picture 16" descr=""/>
          <p:cNvPicPr/>
          <p:nvPr/>
        </p:nvPicPr>
        <p:blipFill>
          <a:blip r:embed="rId3"/>
          <a:stretch/>
        </p:blipFill>
        <p:spPr>
          <a:xfrm>
            <a:off x="755640" y="2133720"/>
            <a:ext cx="538200" cy="476280"/>
          </a:xfrm>
          <a:prstGeom prst="rect">
            <a:avLst/>
          </a:prstGeom>
          <a:ln w="0">
            <a:noFill/>
          </a:ln>
        </p:spPr>
      </p:pic>
      <mc:AlternateContent>
        <mc:Choice xmlns:a14="http://schemas.microsoft.com/office/drawing/2010/main" Requires="a14">
          <p:sp>
            <p:nvSpPr>
              <p:cNvPr id="121" name="Object 17"/>
              <p:cNvSpPr txBox="1"/>
              <p:nvPr/>
            </p:nvSpPr>
            <p:spPr>
              <a:xfrm>
                <a:off x="5238720" y="2276640"/>
                <a:ext cx="584280" cy="466560"/>
              </a:xfrm>
              <a:prstGeom prst="rect">
                <a:avLst/>
              </a:prstGeom>
            </p:spPr>
            <p:txBody>
              <a:bodyPr/>
              <a:p>
                <a14:m>
                  <m:oMath xmlns:m="http://schemas.openxmlformats.org/officeDocument/2006/math">
                    <m:r>
                      <m:t xml:space="preserve">⇒</m:t>
                    </m:r>
                  </m:oMath>
                </a14:m>
              </a:p>
            </p:txBody>
          </p:sp>
        </mc:Choice>
        <mc:Fallback/>
      </mc:AlternateContent>
      <p:pic>
        <p:nvPicPr>
          <p:cNvPr id="122" name="Picture 18" descr=""/>
          <p:cNvPicPr/>
          <p:nvPr/>
        </p:nvPicPr>
        <p:blipFill>
          <a:blip r:embed="rId4"/>
          <a:stretch/>
        </p:blipFill>
        <p:spPr>
          <a:xfrm>
            <a:off x="2843280" y="3789360"/>
            <a:ext cx="3583080" cy="655560"/>
          </a:xfrm>
          <a:prstGeom prst="rect">
            <a:avLst/>
          </a:prstGeom>
          <a:ln w="0">
            <a:noFill/>
          </a:ln>
        </p:spPr>
      </p:pic>
      <p:pic>
        <p:nvPicPr>
          <p:cNvPr id="123" name="Picture 19" descr=""/>
          <p:cNvPicPr/>
          <p:nvPr/>
        </p:nvPicPr>
        <p:blipFill>
          <a:blip r:embed="rId5"/>
          <a:stretch/>
        </p:blipFill>
        <p:spPr>
          <a:xfrm>
            <a:off x="1116000" y="4869000"/>
            <a:ext cx="2592360" cy="963360"/>
          </a:xfrm>
          <a:prstGeom prst="rect">
            <a:avLst/>
          </a:prstGeom>
          <a:ln w="0">
            <a:noFill/>
          </a:ln>
        </p:spPr>
      </p:pic>
      <p:pic>
        <p:nvPicPr>
          <p:cNvPr id="124" name="Picture 20" descr=""/>
          <p:cNvPicPr/>
          <p:nvPr/>
        </p:nvPicPr>
        <p:blipFill>
          <a:blip r:embed="rId6"/>
          <a:stretch/>
        </p:blipFill>
        <p:spPr>
          <a:xfrm>
            <a:off x="4932360" y="4578480"/>
            <a:ext cx="2087640" cy="14158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22235A-A748-40B4-B14E-D79BD7E8653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2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2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AE01ACE-6711-4807-8F2F-4BDC8A75E1A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2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29"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To relate the accelerations</a:t>
            </a:r>
            <a:endParaRPr b="0" lang="en-US" sz="2400" spc="-1" strike="noStrike">
              <a:solidFill>
                <a:srgbClr val="000000"/>
              </a:solidFill>
              <a:latin typeface="Arial"/>
            </a:endParaRPr>
          </a:p>
        </p:txBody>
      </p:sp>
      <p:sp>
        <p:nvSpPr>
          <p:cNvPr id="130" name="Text Box 4"/>
          <p:cNvSpPr/>
          <p:nvPr/>
        </p:nvSpPr>
        <p:spPr>
          <a:xfrm>
            <a:off x="539640" y="2421000"/>
            <a:ext cx="4608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where</a:t>
            </a:r>
            <a:endParaRPr b="0" lang="en-US" sz="2400" spc="-1" strike="noStrike">
              <a:solidFill>
                <a:srgbClr val="000000"/>
              </a:solidFill>
              <a:latin typeface="Arial"/>
            </a:endParaRPr>
          </a:p>
        </p:txBody>
      </p:sp>
      <p:pic>
        <p:nvPicPr>
          <p:cNvPr id="131" name="Picture 13" descr=""/>
          <p:cNvPicPr/>
          <p:nvPr/>
        </p:nvPicPr>
        <p:blipFill>
          <a:blip r:embed="rId1"/>
          <a:stretch/>
        </p:blipFill>
        <p:spPr>
          <a:xfrm>
            <a:off x="3780000" y="1628640"/>
            <a:ext cx="1776240" cy="604800"/>
          </a:xfrm>
          <a:prstGeom prst="rect">
            <a:avLst/>
          </a:prstGeom>
          <a:ln w="0">
            <a:noFill/>
          </a:ln>
        </p:spPr>
      </p:pic>
      <p:pic>
        <p:nvPicPr>
          <p:cNvPr id="132" name="Picture 14" descr=""/>
          <p:cNvPicPr/>
          <p:nvPr/>
        </p:nvPicPr>
        <p:blipFill>
          <a:blip r:embed="rId2"/>
          <a:stretch/>
        </p:blipFill>
        <p:spPr>
          <a:xfrm>
            <a:off x="2340000" y="2492280"/>
            <a:ext cx="4176720" cy="1430280"/>
          </a:xfrm>
          <a:prstGeom prst="rect">
            <a:avLst/>
          </a:prstGeom>
          <a:ln w="0">
            <a:noFill/>
          </a:ln>
        </p:spPr>
      </p:pic>
      <p:sp>
        <p:nvSpPr>
          <p:cNvPr id="133" name="Text Box 15"/>
          <p:cNvSpPr/>
          <p:nvPr/>
        </p:nvSpPr>
        <p:spPr>
          <a:xfrm>
            <a:off x="539640" y="4005360"/>
            <a:ext cx="806472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small angle approximations and considering only linear terms</a:t>
            </a:r>
            <a:endParaRPr b="0" lang="en-US" sz="2400" spc="-1" strike="noStrike">
              <a:solidFill>
                <a:srgbClr val="000000"/>
              </a:solidFill>
              <a:latin typeface="Arial"/>
            </a:endParaRPr>
          </a:p>
        </p:txBody>
      </p:sp>
      <p:pic>
        <p:nvPicPr>
          <p:cNvPr id="134" name="Picture 17" descr=""/>
          <p:cNvPicPr/>
          <p:nvPr/>
        </p:nvPicPr>
        <p:blipFill>
          <a:blip r:embed="rId3"/>
          <a:stretch/>
        </p:blipFill>
        <p:spPr>
          <a:xfrm>
            <a:off x="3132000" y="4508640"/>
            <a:ext cx="2808360" cy="1092240"/>
          </a:xfrm>
          <a:prstGeom prst="rect">
            <a:avLst/>
          </a:prstGeom>
          <a:ln w="0">
            <a:noFill/>
          </a:ln>
        </p:spPr>
      </p:pic>
      <p:sp>
        <p:nvSpPr>
          <p:cNvPr id="135" name="Text Box 18"/>
          <p:cNvSpPr/>
          <p:nvPr/>
        </p:nvSpPr>
        <p:spPr>
          <a:xfrm>
            <a:off x="684360" y="5805360"/>
            <a:ext cx="2950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Which is consistent with</a:t>
            </a:r>
            <a:endParaRPr b="0" lang="en-US" sz="1800" spc="-1" strike="noStrike">
              <a:solidFill>
                <a:srgbClr val="000000"/>
              </a:solidFill>
              <a:latin typeface="Arial"/>
            </a:endParaRPr>
          </a:p>
        </p:txBody>
      </p:sp>
      <p:pic>
        <p:nvPicPr>
          <p:cNvPr id="136" name="Picture 19" descr=""/>
          <p:cNvPicPr/>
          <p:nvPr/>
        </p:nvPicPr>
        <p:blipFill>
          <a:blip r:embed="rId4"/>
          <a:stretch/>
        </p:blipFill>
        <p:spPr>
          <a:xfrm>
            <a:off x="3348000" y="5805360"/>
            <a:ext cx="936720" cy="2779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9D47B56-1960-45FC-A06A-39720B9449D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3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A9D08AC-A09A-46B4-9003-4E9E19DABDE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4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41" name="Text Box 3"/>
          <p:cNvSpPr/>
          <p:nvPr/>
        </p:nvSpPr>
        <p:spPr>
          <a:xfrm>
            <a:off x="684360" y="170172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Velocities:</a:t>
            </a:r>
            <a:endParaRPr b="0" lang="en-US" sz="2400" spc="-1" strike="noStrike">
              <a:solidFill>
                <a:srgbClr val="000000"/>
              </a:solidFill>
              <a:latin typeface="Arial"/>
            </a:endParaRPr>
          </a:p>
        </p:txBody>
      </p:sp>
      <p:sp>
        <p:nvSpPr>
          <p:cNvPr id="142" name="Text Box 4"/>
          <p:cNvSpPr/>
          <p:nvPr/>
        </p:nvSpPr>
        <p:spPr>
          <a:xfrm>
            <a:off x="755640" y="2925720"/>
            <a:ext cx="4608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Accelerations:</a:t>
            </a:r>
            <a:endParaRPr b="0" lang="en-US" sz="2400" spc="-1" strike="noStrike">
              <a:solidFill>
                <a:srgbClr val="000000"/>
              </a:solidFill>
              <a:latin typeface="Arial"/>
            </a:endParaRPr>
          </a:p>
        </p:txBody>
      </p:sp>
      <p:pic>
        <p:nvPicPr>
          <p:cNvPr id="143" name="Picture 11" descr=""/>
          <p:cNvPicPr/>
          <p:nvPr/>
        </p:nvPicPr>
        <p:blipFill>
          <a:blip r:embed="rId1"/>
          <a:stretch/>
        </p:blipFill>
        <p:spPr>
          <a:xfrm>
            <a:off x="4067280" y="1628640"/>
            <a:ext cx="3582720" cy="655920"/>
          </a:xfrm>
          <a:prstGeom prst="rect">
            <a:avLst/>
          </a:prstGeom>
          <a:ln w="0">
            <a:noFill/>
          </a:ln>
        </p:spPr>
      </p:pic>
      <p:pic>
        <p:nvPicPr>
          <p:cNvPr id="144" name="Picture 12" descr=""/>
          <p:cNvPicPr/>
          <p:nvPr/>
        </p:nvPicPr>
        <p:blipFill>
          <a:blip r:embed="rId2"/>
          <a:stretch/>
        </p:blipFill>
        <p:spPr>
          <a:xfrm>
            <a:off x="4140360" y="2781360"/>
            <a:ext cx="2568240" cy="555480"/>
          </a:xfrm>
          <a:prstGeom prst="rect">
            <a:avLst/>
          </a:prstGeom>
          <a:ln w="0">
            <a:noFill/>
          </a:ln>
        </p:spPr>
      </p:pic>
      <p:pic>
        <p:nvPicPr>
          <p:cNvPr id="145" name="Picture 13" descr=""/>
          <p:cNvPicPr/>
          <p:nvPr/>
        </p:nvPicPr>
        <p:blipFill>
          <a:blip r:embed="rId3"/>
          <a:stretch/>
        </p:blipFill>
        <p:spPr>
          <a:xfrm>
            <a:off x="4356000" y="3933720"/>
            <a:ext cx="3657600" cy="1303560"/>
          </a:xfrm>
          <a:prstGeom prst="rect">
            <a:avLst/>
          </a:prstGeom>
          <a:ln w="0">
            <a:noFill/>
          </a:ln>
        </p:spPr>
      </p:pic>
      <p:sp>
        <p:nvSpPr>
          <p:cNvPr id="146" name="Text Box 14"/>
          <p:cNvSpPr/>
          <p:nvPr/>
        </p:nvSpPr>
        <p:spPr>
          <a:xfrm>
            <a:off x="611280" y="4365720"/>
            <a:ext cx="4608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Generalised Positions:</a:t>
            </a:r>
            <a:endParaRPr b="0" lang="en-US" sz="2400" spc="-1" strike="noStrike">
              <a:solidFill>
                <a:srgbClr val="000000"/>
              </a:solidFill>
              <a:latin typeface="Arial"/>
            </a:endParaRPr>
          </a:p>
        </p:txBody>
      </p:sp>
      <p:sp>
        <p:nvSpPr>
          <p:cNvPr id="147" name="Text Box 15"/>
          <p:cNvSpPr/>
          <p:nvPr/>
        </p:nvSpPr>
        <p:spPr>
          <a:xfrm>
            <a:off x="755640" y="5661000"/>
            <a:ext cx="6840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Now we can transform the Cummins Equation to {b}.</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2EF8AC-655E-448E-A2D0-E3B8DB64569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D3BB4C-2AF3-4DB1-A522-B96E47B20C4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5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RB seakeeping Eq. of motion in {s}</a:t>
            </a:r>
            <a:endParaRPr b="0" lang="en-US" sz="3800" spc="-1" strike="noStrike">
              <a:solidFill>
                <a:srgbClr val="006633"/>
              </a:solidFill>
              <a:latin typeface="Tahoma"/>
            </a:endParaRPr>
          </a:p>
        </p:txBody>
      </p:sp>
      <p:sp>
        <p:nvSpPr>
          <p:cNvPr id="152" name="PlaceHolder 2"/>
          <p:cNvSpPr>
            <a:spLocks noGrp="1"/>
          </p:cNvSpPr>
          <p:nvPr>
            <p:ph/>
          </p:nvPr>
        </p:nvSpPr>
        <p:spPr>
          <a:xfrm>
            <a:off x="468360" y="1341360"/>
            <a:ext cx="8229600" cy="100800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Using the body-fixed perturbation coordinates we have</a:t>
            </a:r>
            <a:endParaRPr b="0" lang="en-US" sz="3000" spc="-1" strike="noStrike">
              <a:solidFill>
                <a:srgbClr val="000000"/>
              </a:solidFill>
              <a:latin typeface="Arial"/>
            </a:endParaRPr>
          </a:p>
        </p:txBody>
      </p:sp>
      <p:pic>
        <p:nvPicPr>
          <p:cNvPr id="153" name="Picture 5" descr=""/>
          <p:cNvPicPr/>
          <p:nvPr/>
        </p:nvPicPr>
        <p:blipFill>
          <a:blip r:embed="rId1"/>
          <a:stretch/>
        </p:blipFill>
        <p:spPr>
          <a:xfrm>
            <a:off x="611280" y="3068640"/>
            <a:ext cx="4003560" cy="939960"/>
          </a:xfrm>
          <a:prstGeom prst="rect">
            <a:avLst/>
          </a:prstGeom>
          <a:ln w="0">
            <a:noFill/>
          </a:ln>
        </p:spPr>
      </p:pic>
      <p:pic>
        <p:nvPicPr>
          <p:cNvPr id="154" name="Picture 6" descr=""/>
          <p:cNvPicPr/>
          <p:nvPr/>
        </p:nvPicPr>
        <p:blipFill>
          <a:blip r:embed="rId2"/>
          <a:stretch/>
        </p:blipFill>
        <p:spPr>
          <a:xfrm>
            <a:off x="755640" y="4149720"/>
            <a:ext cx="1998720" cy="623880"/>
          </a:xfrm>
          <a:prstGeom prst="rect">
            <a:avLst/>
          </a:prstGeom>
          <a:ln w="0">
            <a:noFill/>
          </a:ln>
        </p:spPr>
      </p:pic>
      <p:pic>
        <p:nvPicPr>
          <p:cNvPr id="155" name="Picture 7" descr=""/>
          <p:cNvPicPr/>
          <p:nvPr/>
        </p:nvPicPr>
        <p:blipFill>
          <a:blip r:embed="rId3"/>
          <a:stretch/>
        </p:blipFill>
        <p:spPr>
          <a:xfrm>
            <a:off x="684360" y="4869000"/>
            <a:ext cx="2666880" cy="612720"/>
          </a:xfrm>
          <a:prstGeom prst="rect">
            <a:avLst/>
          </a:prstGeom>
          <a:ln w="0">
            <a:noFill/>
          </a:ln>
        </p:spPr>
      </p:pic>
      <p:sp>
        <p:nvSpPr>
          <p:cNvPr id="156" name="Text Box 8"/>
          <p:cNvSpPr/>
          <p:nvPr/>
        </p:nvSpPr>
        <p:spPr>
          <a:xfrm>
            <a:off x="1332000" y="2492280"/>
            <a:ext cx="2089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Non-linear</a:t>
            </a:r>
            <a:endParaRPr b="0" lang="en-US" sz="1800" spc="-1" strike="noStrike">
              <a:solidFill>
                <a:srgbClr val="000000"/>
              </a:solidFill>
              <a:latin typeface="Arial"/>
            </a:endParaRPr>
          </a:p>
        </p:txBody>
      </p:sp>
      <p:sp>
        <p:nvSpPr>
          <p:cNvPr id="157" name="Text Box 9"/>
          <p:cNvSpPr/>
          <p:nvPr/>
        </p:nvSpPr>
        <p:spPr>
          <a:xfrm>
            <a:off x="6877080" y="2276640"/>
            <a:ext cx="1079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a:t>
            </a:r>
            <a:endParaRPr b="0" lang="en-US" sz="1800" spc="-1" strike="noStrike">
              <a:solidFill>
                <a:srgbClr val="000000"/>
              </a:solidFill>
              <a:latin typeface="Arial"/>
            </a:endParaRPr>
          </a:p>
        </p:txBody>
      </p:sp>
      <p:sp>
        <p:nvSpPr>
          <p:cNvPr id="158" name="Line 10"/>
          <p:cNvSpPr/>
          <p:nvPr/>
        </p:nvSpPr>
        <p:spPr>
          <a:xfrm>
            <a:off x="5148360" y="2421000"/>
            <a:ext cx="0" cy="3384360"/>
          </a:xfrm>
          <a:prstGeom prst="line">
            <a:avLst/>
          </a:prstGeom>
          <a:ln w="57240">
            <a:solidFill>
              <a:srgbClr val="9966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159" name="Picture 11" descr=""/>
          <p:cNvPicPr/>
          <p:nvPr/>
        </p:nvPicPr>
        <p:blipFill>
          <a:blip r:embed="rId4"/>
          <a:stretch/>
        </p:blipFill>
        <p:spPr>
          <a:xfrm>
            <a:off x="6300720" y="2924280"/>
            <a:ext cx="2197080" cy="1019160"/>
          </a:xfrm>
          <a:prstGeom prst="rect">
            <a:avLst/>
          </a:prstGeom>
          <a:ln w="0">
            <a:noFill/>
          </a:ln>
        </p:spPr>
      </p:pic>
      <p:pic>
        <p:nvPicPr>
          <p:cNvPr id="160" name="Picture 12" descr=""/>
          <p:cNvPicPr/>
          <p:nvPr/>
        </p:nvPicPr>
        <p:blipFill>
          <a:blip r:embed="rId5"/>
          <a:stretch/>
        </p:blipFill>
        <p:spPr>
          <a:xfrm>
            <a:off x="6300720" y="4076640"/>
            <a:ext cx="2220840" cy="604800"/>
          </a:xfrm>
          <a:prstGeom prst="rect">
            <a:avLst/>
          </a:prstGeom>
          <a:ln w="0">
            <a:noFill/>
          </a:ln>
        </p:spPr>
      </p:pic>
      <p:pic>
        <p:nvPicPr>
          <p:cNvPr id="161" name="Picture 13" descr=""/>
          <p:cNvPicPr/>
          <p:nvPr/>
        </p:nvPicPr>
        <p:blipFill>
          <a:blip r:embed="rId6"/>
          <a:stretch/>
        </p:blipFill>
        <p:spPr>
          <a:xfrm>
            <a:off x="5651640" y="4941720"/>
            <a:ext cx="3286080" cy="8035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E001D4-19B7-4168-83DC-6B91AD6A57E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6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6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6CB161-3724-49D7-8B18-5DB1AE44E35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65" name="PlaceHolder 1"/>
          <p:cNvSpPr>
            <a:spLocks noGrp="1"/>
          </p:cNvSpPr>
          <p:nvPr>
            <p:ph/>
          </p:nvPr>
        </p:nvSpPr>
        <p:spPr>
          <a:xfrm>
            <a:off x="539640" y="1196640"/>
            <a:ext cx="8229600" cy="1655640"/>
          </a:xfrm>
          <a:prstGeom prst="rect">
            <a:avLst/>
          </a:prstGeom>
          <a:noFill/>
          <a:ln w="0">
            <a:noFill/>
          </a:ln>
        </p:spPr>
        <p:txBody>
          <a:bodyPr lIns="91440" rIns="91440" tIns="45720" bIns="45720" anchor="t">
            <a:normAutofit/>
          </a:bodyPr>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We can think the linear-seakeeping equations of motion </a:t>
            </a: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as obtained from the body-fixed perturbation equations considering</a:t>
            </a:r>
            <a:endParaRPr b="0" lang="en-US" sz="1900" spc="-1" strike="noStrike">
              <a:solidFill>
                <a:srgbClr val="000000"/>
              </a:solidFill>
              <a:latin typeface="Arial"/>
            </a:endParaRPr>
          </a:p>
        </p:txBody>
      </p:sp>
      <p:pic>
        <p:nvPicPr>
          <p:cNvPr id="166" name="Picture 16" descr=""/>
          <p:cNvPicPr/>
          <p:nvPr/>
        </p:nvPicPr>
        <p:blipFill>
          <a:blip r:embed="rId1"/>
          <a:stretch/>
        </p:blipFill>
        <p:spPr>
          <a:xfrm>
            <a:off x="2916360" y="1484280"/>
            <a:ext cx="3286080" cy="803160"/>
          </a:xfrm>
          <a:prstGeom prst="rect">
            <a:avLst/>
          </a:prstGeom>
          <a:ln w="0">
            <a:noFill/>
          </a:ln>
        </p:spPr>
      </p:pic>
      <p:sp>
        <p:nvSpPr>
          <p:cNvPr id="167" name="PlaceHolder 2"/>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RB seakeeping Eq. of motion in {s}</a:t>
            </a:r>
            <a:endParaRPr b="0" lang="en-US" sz="3800" spc="-1" strike="noStrike">
              <a:solidFill>
                <a:srgbClr val="006633"/>
              </a:solidFill>
              <a:latin typeface="Tahoma"/>
            </a:endParaRPr>
          </a:p>
        </p:txBody>
      </p:sp>
      <p:pic>
        <p:nvPicPr>
          <p:cNvPr id="168" name="Picture 13" descr=""/>
          <p:cNvPicPr/>
          <p:nvPr/>
        </p:nvPicPr>
        <p:blipFill>
          <a:blip r:embed="rId2"/>
          <a:stretch/>
        </p:blipFill>
        <p:spPr>
          <a:xfrm>
            <a:off x="3564000" y="2997360"/>
            <a:ext cx="1838160" cy="1255680"/>
          </a:xfrm>
          <a:prstGeom prst="rect">
            <a:avLst/>
          </a:prstGeom>
          <a:ln w="0">
            <a:noFill/>
          </a:ln>
        </p:spPr>
      </p:pic>
      <p:sp>
        <p:nvSpPr>
          <p:cNvPr id="169" name="Text Box 15"/>
          <p:cNvSpPr/>
          <p:nvPr/>
        </p:nvSpPr>
        <p:spPr>
          <a:xfrm>
            <a:off x="395280" y="4508640"/>
            <a:ext cx="8136000" cy="16084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NOTE: In the literature, it is commonly said that the seakeeping eq of motion is formulated in {s}, but this would imply that the inertias are time varying.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In our derivation, we formulate them in body-fixed coordinated and then ignore the nonlinear terms; this way, the inertias are constant because we are in body-fixed coordinates.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EF2D82C-42AF-43A3-A092-216811BD5B8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34063F-3DFF-44F6-8D09-1C84427E056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3" name="PlaceHolder 1"/>
          <p:cNvSpPr>
            <a:spLocks noGrp="1"/>
          </p:cNvSpPr>
          <p:nvPr>
            <p:ph type="title"/>
          </p:nvPr>
        </p:nvSpPr>
        <p:spPr>
          <a:xfrm>
            <a:off x="446040" y="26028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Cummins Equation in {b}</a:t>
            </a:r>
            <a:endParaRPr b="0" lang="en-US" sz="4200" spc="-1" strike="noStrike">
              <a:solidFill>
                <a:srgbClr val="006633"/>
              </a:solidFill>
              <a:latin typeface="Tahoma"/>
            </a:endParaRPr>
          </a:p>
        </p:txBody>
      </p:sp>
      <p:pic>
        <p:nvPicPr>
          <p:cNvPr id="174" name="Picture 4" descr=""/>
          <p:cNvPicPr/>
          <p:nvPr/>
        </p:nvPicPr>
        <p:blipFill>
          <a:blip r:embed="rId1"/>
          <a:stretch/>
        </p:blipFill>
        <p:spPr>
          <a:xfrm>
            <a:off x="755640" y="1486080"/>
            <a:ext cx="2940120" cy="544320"/>
          </a:xfrm>
          <a:prstGeom prst="rect">
            <a:avLst/>
          </a:prstGeom>
          <a:ln w="0">
            <a:noFill/>
          </a:ln>
        </p:spPr>
      </p:pic>
      <p:pic>
        <p:nvPicPr>
          <p:cNvPr id="175" name="Picture 5" descr=""/>
          <p:cNvPicPr/>
          <p:nvPr/>
        </p:nvPicPr>
        <p:blipFill>
          <a:blip r:embed="rId2"/>
          <a:stretch/>
        </p:blipFill>
        <p:spPr>
          <a:xfrm>
            <a:off x="3635280" y="1341360"/>
            <a:ext cx="4845240" cy="846360"/>
          </a:xfrm>
          <a:prstGeom prst="rect">
            <a:avLst/>
          </a:prstGeom>
          <a:ln w="0">
            <a:noFill/>
          </a:ln>
        </p:spPr>
      </p:pic>
      <p:pic>
        <p:nvPicPr>
          <p:cNvPr id="176" name="Picture 6" descr=""/>
          <p:cNvPicPr/>
          <p:nvPr/>
        </p:nvPicPr>
        <p:blipFill>
          <a:blip r:embed="rId3"/>
          <a:stretch/>
        </p:blipFill>
        <p:spPr>
          <a:xfrm>
            <a:off x="1042920" y="3573360"/>
            <a:ext cx="7072560" cy="995400"/>
          </a:xfrm>
          <a:prstGeom prst="rect">
            <a:avLst/>
          </a:prstGeom>
          <a:ln w="0">
            <a:noFill/>
          </a:ln>
        </p:spPr>
      </p:pic>
      <mc:AlternateContent>
        <mc:Choice xmlns:a14="http://schemas.microsoft.com/office/drawing/2010/main" Requires="a14">
          <p:sp>
            <p:nvSpPr>
              <p:cNvPr id="177" name="Object 7"/>
              <p:cNvSpPr txBox="1"/>
              <p:nvPr/>
            </p:nvSpPr>
            <p:spPr>
              <a:xfrm>
                <a:off x="3851280" y="2492280"/>
                <a:ext cx="711360" cy="1098720"/>
              </a:xfrm>
              <a:prstGeom prst="rect">
                <a:avLst/>
              </a:prstGeom>
            </p:spPr>
            <p:txBody>
              <a:bodyPr/>
              <a:p>
                <a14:m>
                  <m:oMath xmlns:m="http://schemas.openxmlformats.org/officeDocument/2006/math">
                    <m:r>
                      <m:t xml:space="preserve">⇕</m:t>
                    </m:r>
                  </m:oMath>
                </a14:m>
              </a:p>
            </p:txBody>
          </p:sp>
        </mc:Choice>
        <mc:Fallback/>
      </mc:AlternateContent>
      <p:pic>
        <p:nvPicPr>
          <p:cNvPr id="178" name="Picture 9" descr=""/>
          <p:cNvPicPr/>
          <p:nvPr/>
        </p:nvPicPr>
        <p:blipFill>
          <a:blip r:embed="rId4"/>
          <a:stretch/>
        </p:blipFill>
        <p:spPr>
          <a:xfrm>
            <a:off x="1042920" y="4724280"/>
            <a:ext cx="2370240" cy="389160"/>
          </a:xfrm>
          <a:prstGeom prst="rect">
            <a:avLst/>
          </a:prstGeom>
          <a:ln w="0">
            <a:noFill/>
          </a:ln>
        </p:spPr>
      </p:pic>
      <p:sp>
        <p:nvSpPr>
          <p:cNvPr id="179" name="Rectangle 10"/>
          <p:cNvSpPr/>
          <p:nvPr/>
        </p:nvSpPr>
        <p:spPr>
          <a:xfrm>
            <a:off x="468360" y="5373720"/>
            <a:ext cx="8229600" cy="64908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This model describes deviations from the equilibrium state in {b} within a linear framework and small angles.</a:t>
            </a:r>
            <a:endParaRPr b="0" lang="en-US" sz="1900" spc="-1" strike="noStrike">
              <a:solidFill>
                <a:srgbClr val="000000"/>
              </a:solidFill>
              <a:latin typeface="Arial"/>
            </a:endParaRPr>
          </a:p>
        </p:txBody>
      </p:sp>
      <p:pic>
        <p:nvPicPr>
          <p:cNvPr id="180" name="Picture 11" descr=""/>
          <p:cNvPicPr/>
          <p:nvPr/>
        </p:nvPicPr>
        <p:blipFill>
          <a:blip r:embed="rId5"/>
          <a:stretch/>
        </p:blipFill>
        <p:spPr>
          <a:xfrm>
            <a:off x="4643280" y="2421000"/>
            <a:ext cx="1838520" cy="12556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B35203-0B85-4835-8E7E-5C07739778B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8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8064402-B04F-4E67-ADC0-DE82AC7217D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8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Cummins Equation in {b}</a:t>
            </a:r>
            <a:endParaRPr b="0" lang="en-US" sz="4200" spc="-1" strike="noStrike">
              <a:solidFill>
                <a:srgbClr val="006633"/>
              </a:solidFill>
              <a:latin typeface="Tahoma"/>
            </a:endParaRPr>
          </a:p>
        </p:txBody>
      </p:sp>
      <p:sp>
        <p:nvSpPr>
          <p:cNvPr id="185" name="PlaceHolder 2"/>
          <p:cNvSpPr>
            <a:spLocks noGrp="1"/>
          </p:cNvSpPr>
          <p:nvPr>
            <p:ph/>
          </p:nvPr>
        </p:nvSpPr>
        <p:spPr>
          <a:xfrm>
            <a:off x="468360" y="1196640"/>
            <a:ext cx="8229600" cy="103644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Expressed in terms of absolute (instead of incremental) variables:</a:t>
            </a:r>
            <a:endParaRPr b="0" lang="en-US" sz="3000" spc="-1" strike="noStrike">
              <a:solidFill>
                <a:srgbClr val="000000"/>
              </a:solidFill>
              <a:latin typeface="Arial"/>
            </a:endParaRPr>
          </a:p>
        </p:txBody>
      </p:sp>
      <p:pic>
        <p:nvPicPr>
          <p:cNvPr id="186" name="Picture 4" descr=""/>
          <p:cNvPicPr/>
          <p:nvPr/>
        </p:nvPicPr>
        <p:blipFill>
          <a:blip r:embed="rId1"/>
          <a:stretch/>
        </p:blipFill>
        <p:spPr>
          <a:xfrm>
            <a:off x="468360" y="2421000"/>
            <a:ext cx="5562720" cy="2422440"/>
          </a:xfrm>
          <a:prstGeom prst="rect">
            <a:avLst/>
          </a:prstGeom>
          <a:ln w="0">
            <a:noFill/>
          </a:ln>
        </p:spPr>
      </p:pic>
      <p:pic>
        <p:nvPicPr>
          <p:cNvPr id="187" name="Picture 5" descr=""/>
          <p:cNvPicPr/>
          <p:nvPr/>
        </p:nvPicPr>
        <p:blipFill>
          <a:blip r:embed="rId2"/>
          <a:stretch/>
        </p:blipFill>
        <p:spPr>
          <a:xfrm>
            <a:off x="6227640" y="2852640"/>
            <a:ext cx="2641680" cy="1662120"/>
          </a:xfrm>
          <a:prstGeom prst="rect">
            <a:avLst/>
          </a:prstGeom>
          <a:ln w="0">
            <a:noFill/>
          </a:ln>
        </p:spPr>
      </p:pic>
      <p:sp>
        <p:nvSpPr>
          <p:cNvPr id="188" name="Rectangle 6"/>
          <p:cNvSpPr/>
          <p:nvPr/>
        </p:nvSpPr>
        <p:spPr>
          <a:xfrm>
            <a:off x="468360" y="5084640"/>
            <a:ext cx="8229600" cy="1036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NOTE: This equation valid provided the manoeuvring is very slow—because of the seakeeping assumptions under which the Cummins eq. was derived.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8E7C6D3-1D49-4A0C-9DCD-73454264149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434437-8DC8-4484-8B08-E1B234A12C4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Summary</a:t>
            </a:r>
            <a:endParaRPr b="0" lang="en-US" sz="4200" spc="-1" strike="noStrike">
              <a:solidFill>
                <a:srgbClr val="006633"/>
              </a:solidFill>
              <a:latin typeface="Tahoma"/>
            </a:endParaRPr>
          </a:p>
        </p:txBody>
      </p:sp>
      <p:sp>
        <p:nvSpPr>
          <p:cNvPr id="193"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problem of manoeuvring in a seaway is still an open problem in ship theory.</a:t>
            </a: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A step towards a unified model for manoeuvring in a sea way consists of expressing Cummins Equation in {b}. </a:t>
            </a:r>
            <a:endParaRPr b="0" lang="en-US" sz="2100" spc="-1" strike="noStrike">
              <a:solidFill>
                <a:srgbClr val="000000"/>
              </a:solidFill>
              <a:latin typeface="Arial"/>
            </a:endParaRPr>
          </a:p>
          <a:p>
            <a:pPr marL="343080" indent="0">
              <a:lnSpc>
                <a:spcPct val="9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is still a seakeeping model, which assumes a state of equilibrium from which the vessel is disturbed; and therefore, it may be use it for slow manoeuvring.</a:t>
            </a: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For slow manoeuvring, we can add Lift-Drag effects as a first approximation. </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00793E1-F657-4BDD-B023-4B43F76FB1E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92D13BF-57EA-44D1-84F8-00FFEF7AF27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References</a:t>
            </a:r>
            <a:endParaRPr b="0" lang="en-US" sz="4200" spc="-1" strike="noStrike">
              <a:solidFill>
                <a:srgbClr val="006633"/>
              </a:solidFill>
              <a:latin typeface="Tahoma"/>
            </a:endParaRPr>
          </a:p>
        </p:txBody>
      </p:sp>
      <p:sp>
        <p:nvSpPr>
          <p:cNvPr id="198" name="PlaceHolder 2"/>
          <p:cNvSpPr>
            <a:spLocks noGrp="1"/>
          </p:cNvSpPr>
          <p:nvPr>
            <p:ph/>
          </p:nvPr>
        </p:nvSpPr>
        <p:spPr>
          <a:xfrm>
            <a:off x="539640" y="1915920"/>
            <a:ext cx="8229600" cy="2260440"/>
          </a:xfrm>
          <a:prstGeom prst="rect">
            <a:avLst/>
          </a:prstGeom>
          <a:noFill/>
          <a:ln w="0">
            <a:noFill/>
          </a:ln>
        </p:spPr>
        <p:txBody>
          <a:bodyPr lIns="91440" rIns="91440" tIns="45720" bIns="45720" anchor="t">
            <a:normAutofit/>
          </a:bodyPr>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 I. Fossen (2006) “Time-domain Models of Marine Surface Vessels  Based on Seakeeping Computations.” 7th IFAC Conference on Manoeuvring and Control of Marine Vessels MCMC, Portugal, September. </a:t>
            </a:r>
            <a:endParaRPr b="0" lang="en-US" sz="1800" spc="-1" strike="noStrike">
              <a:solidFill>
                <a:srgbClr val="000000"/>
              </a:solidFill>
              <a:latin typeface="Arial"/>
            </a:endParaRPr>
          </a:p>
          <a:p>
            <a:pPr marL="343080" indent="0">
              <a:lnSpc>
                <a:spcPct val="8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 I. Fossen (2007) “Kinematic Models for Seakeeping and Manoeuvring of Marine Vessels at Zero and Forward Speed.” To appear in Modeling Identification and Control (MIC), Norwegian Research Bulletin, Trondheim. MIC Vol 28, 2007, No 1.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1961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2007-05-14T14:42:38Z</dcterms:created>
  <dc:creator> </dc:creator>
  <dc:description/>
  <dc:language>en-US</dc:language>
  <cp:lastModifiedBy>Thor I. Fossen</cp:lastModifiedBy>
  <dcterms:modified xsi:type="dcterms:W3CDTF">2007-08-08T18:07:03Z</dcterms:modified>
  <cp:revision>36</cp:revision>
  <dc:subject/>
  <dc:title>CXVXCv</dc:title>
</cp:coreProperties>
</file>