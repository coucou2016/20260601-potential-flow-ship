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_rels/presentation.xml.rels" ContentType="application/vnd.openxmlformats-package.relationships+xml"/>
  <Override PartName="/ppt/media/image27.wmf" ContentType="image/x-wmf"/>
  <Override PartName="/ppt/media/image26.wmf" ContentType="image/x-wmf"/>
  <Override PartName="/ppt/media/image24.wmf" ContentType="image/x-wmf"/>
  <Override PartName="/ppt/media/image23.png" ContentType="image/png"/>
  <Override PartName="/ppt/media/image22.wmf" ContentType="image/x-wmf"/>
  <Override PartName="/ppt/media/image21.wmf" ContentType="image/x-wmf"/>
  <Override PartName="/ppt/media/image19.wmf" ContentType="image/x-wmf"/>
  <Override PartName="/ppt/media/image1.png" ContentType="image/png"/>
  <Override PartName="/ppt/media/image33.png" ContentType="image/png"/>
  <Override PartName="/ppt/media/image29.wmf" ContentType="image/x-wmf"/>
  <Override PartName="/ppt/media/image31.png" ContentType="image/png"/>
  <Override PartName="/ppt/media/image2.png" ContentType="image/png"/>
  <Override PartName="/ppt/media/image20.wmf" ContentType="image/x-wmf"/>
  <Override PartName="/ppt/media/image9.wmf" ContentType="image/x-wmf"/>
  <Override PartName="/ppt/media/image18.wmf" ContentType="image/x-wmf"/>
  <Override PartName="/ppt/media/image28.png" ContentType="image/png"/>
  <Override PartName="/ppt/media/image13.wmf" ContentType="image/x-wmf"/>
  <Override PartName="/ppt/media/image30.png" ContentType="image/png"/>
  <Override PartName="/ppt/media/image32.png" ContentType="image/png"/>
  <Override PartName="/ppt/media/image15.wmf" ContentType="image/x-wmf"/>
  <Override PartName="/ppt/media/image34.wmf" ContentType="image/x-wmf"/>
  <Override PartName="/ppt/media/image35.wmf" ContentType="image/x-wmf"/>
  <Override PartName="/ppt/media/image8.wmf" ContentType="image/x-wmf"/>
  <Override PartName="/ppt/media/image17.wmf" ContentType="image/x-wmf"/>
  <Override PartName="/ppt/media/image36.wmf" ContentType="image/x-wmf"/>
  <Override PartName="/ppt/media/image40.wmf" ContentType="image/x-wmf"/>
  <Override PartName="/ppt/media/image6.wmf" ContentType="image/x-wmf"/>
  <Override PartName="/ppt/media/image38.wmf" ContentType="image/x-wmf"/>
  <Override PartName="/ppt/media/image41.wmf" ContentType="image/x-wmf"/>
  <Override PartName="/ppt/media/image12.png" ContentType="image/png"/>
  <Override PartName="/ppt/media/image3.png" ContentType="image/png"/>
  <Override PartName="/ppt/media/image11.wmf" ContentType="image/x-wmf"/>
  <Override PartName="/ppt/media/image39.wmf" ContentType="image/x-wmf"/>
  <Override PartName="/ppt/media/image7.wmf" ContentType="image/x-wmf"/>
  <Override PartName="/ppt/media/image16.wmf" ContentType="image/x-wmf"/>
  <Override PartName="/ppt/media/image10.wmf" ContentType="image/x-wmf"/>
  <Override PartName="/ppt/media/image25.png" ContentType="image/png"/>
  <Override PartName="/ppt/media/image37.wmf" ContentType="image/x-wmf"/>
  <Override PartName="/ppt/media/image5.wmf" ContentType="image/x-wmf"/>
  <Override PartName="/ppt/media/image14.wmf" ContentType="image/x-wmf"/>
  <Override PartName="/ppt/media/image4.png" ContentType="image/png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_rels/slide5.xml.rels" ContentType="application/vnd.openxmlformats-package.relationships+xml"/>
  <Override PartName="/ppt/slides/_rels/slide21.xml.rels" ContentType="application/vnd.openxmlformats-package.relationships+xml"/>
  <Override PartName="/ppt/slides/_rels/slide19.xml.rels" ContentType="application/vnd.openxmlformats-package.relationships+xml"/>
  <Override PartName="/ppt/slides/_rels/slide4.xml.rels" ContentType="application/vnd.openxmlformats-package.relationships+xml"/>
  <Override PartName="/ppt/slides/_rels/slide20.xml.rels" ContentType="application/vnd.openxmlformats-package.relationships+xml"/>
  <Override PartName="/ppt/slides/_rels/slide18.xml.rels" ContentType="application/vnd.openxmlformats-package.relationships+xml"/>
  <Override PartName="/ppt/slides/_rels/slide3.xml.rels" ContentType="application/vnd.openxmlformats-package.relationships+xml"/>
  <Override PartName="/ppt/slides/_rels/slide17.xml.rels" ContentType="application/vnd.openxmlformats-package.relationships+xml"/>
  <Override PartName="/ppt/slides/_rels/slide2.xml.rels" ContentType="application/vnd.openxmlformats-package.relationships+xml"/>
  <Override PartName="/ppt/slides/_rels/slide16.xml.rels" ContentType="application/vnd.openxmlformats-package.relationships+xml"/>
  <Override PartName="/ppt/slides/_rels/slide1.xml.rels" ContentType="application/vnd.openxmlformats-package.relationships+xml"/>
  <Override PartName="/ppt/slides/_rels/slide15.xml.rels" ContentType="application/vnd.openxmlformats-package.relationships+xml"/>
  <Override PartName="/ppt/slides/_rels/slide13.xml.rels" ContentType="application/vnd.openxmlformats-package.relationships+xml"/>
  <Override PartName="/ppt/slides/_rels/slide25.xml.rels" ContentType="application/vnd.openxmlformats-package.relationships+xml"/>
  <Override PartName="/ppt/slides/_rels/slide12.xml.rels" ContentType="application/vnd.openxmlformats-package.relationships+xml"/>
  <Override PartName="/ppt/slides/_rels/slide24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23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22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14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25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24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23.xml" ContentType="application/vnd.openxmlformats-officedocument.presentationml.slide+xml"/>
  <Override PartName="/ppt/slides/slide6.xml" ContentType="application/vnd.openxmlformats-officedocument.presentationml.slide+xml"/>
  <Override PartName="/ppt/slides/slide22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17.xml" ContentType="application/vnd.openxmlformats-officedocument.presentationml.slide+xml"/>
  <Override PartName="/ppt/slides/slide3.xml" ContentType="application/vnd.openxmlformats-officedocument.presentationml.slide+xml"/>
  <Override PartName="/ppt/slides/slide18.xml" ContentType="application/vnd.openxmlformats-officedocument.presentationml.slide+xml"/>
  <Override PartName="/ppt/slides/slide20.xml" ContentType="application/vnd.openxmlformats-officedocument.presentationml.slide+xml"/>
  <Override PartName="/ppt/slides/slide4.xml" ContentType="application/vnd.openxmlformats-officedocument.presentationml.slide+xml"/>
  <Override PartName="/ppt/slides/slide19.xml" ContentType="application/vnd.openxmlformats-officedocument.presentationml.slide+xml"/>
  <Override PartName="/ppt/slides/slide5.xml" ContentType="application/vnd.openxmlformats-officedocument.presentationml.slide+xml"/>
  <Override PartName="/ppt/slides/slide21.xml" ContentType="application/vnd.openxmlformats-officedocument.presentationml.slide+xml"/>
  <Override PartName="/ppt/notesSlides/_rels/notesSlide14.xml.rels" ContentType="application/vnd.openxmlformats-package.relationships+xml"/>
  <Override PartName="/ppt/notesSlides/_rels/notesSlide1.xml.rels" ContentType="application/vnd.openxmlformats-package.relationships+xml"/>
  <Override PartName="/ppt/notesSlides/_rels/notesSlide15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6.xml.rels" ContentType="application/vnd.openxmlformats-package.relationships+xml"/>
  <Override PartName="/ppt/notesSlides/_rels/notesSlide3.xml.rels" ContentType="application/vnd.openxmlformats-package.relationships+xml"/>
  <Override PartName="/ppt/notesSlides/_rels/notesSlide17.xml.rels" ContentType="application/vnd.openxmlformats-package.relationships+xml"/>
  <Override PartName="/ppt/notesSlides/_rels/notesSlide4.xml.rels" ContentType="application/vnd.openxmlformats-package.relationships+xml"/>
  <Override PartName="/ppt/notesSlides/_rels/notesSlide18.xml.rels" ContentType="application/vnd.openxmlformats-package.relationships+xml"/>
  <Override PartName="/ppt/notesSlides/_rels/notesSlide20.xml.rels" ContentType="application/vnd.openxmlformats-package.relationships+xml"/>
  <Override PartName="/ppt/notesSlides/_rels/notesSlide5.xml.rels" ContentType="application/vnd.openxmlformats-package.relationships+xml"/>
  <Override PartName="/ppt/notesSlides/_rels/notesSlide13.xml.rels" ContentType="application/vnd.openxmlformats-package.relationships+xml"/>
  <Override PartName="/ppt/notesSlides/_rels/notesSlide25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24.xml.rels" ContentType="application/vnd.openxmlformats-package.relationships+xml"/>
  <Override PartName="/ppt/notesSlides/_rels/notesSlide9.xml.rels" ContentType="application/vnd.openxmlformats-package.relationships+xml"/>
  <Override PartName="/ppt/notesSlides/_rels/notesSlide23.xml.rels" ContentType="application/vnd.openxmlformats-package.relationships+xml"/>
  <Override PartName="/ppt/notesSlides/_rels/notesSlide8.xml.rels" ContentType="application/vnd.openxmlformats-package.relationships+xml"/>
  <Override PartName="/ppt/notesSlides/_rels/notesSlide22.xml.rels" ContentType="application/vnd.openxmlformats-package.relationships+xml"/>
  <Override PartName="/ppt/notesSlides/_rels/notesSlide7.xml.rels" ContentType="application/vnd.openxmlformats-package.relationships+xml"/>
  <Override PartName="/ppt/notesSlides/_rels/notesSlide19.xml.rels" ContentType="application/vnd.openxmlformats-package.relationships+xml"/>
  <Override PartName="/ppt/notesSlides/_rels/notesSlide6.xml.rels" ContentType="application/vnd.openxmlformats-package.relationships+xml"/>
  <Override PartName="/ppt/notesSlides/_rels/notesSlide21.xml.rels" ContentType="application/vnd.openxmlformats-package.relationships+xml"/>
  <Override PartName="/ppt/notesSlides/notesSlide13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4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slide" Target="slides/slide20.xml"/><Relationship Id="rId25" Type="http://schemas.openxmlformats.org/officeDocument/2006/relationships/slide" Target="slides/slide21.xml"/><Relationship Id="rId26" Type="http://schemas.openxmlformats.org/officeDocument/2006/relationships/slide" Target="slides/slide22.xml"/><Relationship Id="rId27" Type="http://schemas.openxmlformats.org/officeDocument/2006/relationships/slide" Target="slides/slide23.xml"/><Relationship Id="rId28" Type="http://schemas.openxmlformats.org/officeDocument/2006/relationships/slide" Target="slides/slide24.xml"/><Relationship Id="rId29" Type="http://schemas.openxmlformats.org/officeDocument/2006/relationships/slide" Target="slides/slide25.xml"/><Relationship Id="rId30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3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"/>
          <p:cNvSpPr/>
          <p:nvPr/>
        </p:nvSpPr>
        <p:spPr>
          <a:xfrm>
            <a:off x="0" y="0"/>
            <a:ext cx="6858000" cy="91440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PlaceHolder 1"/>
          <p:cNvSpPr>
            <a:spLocks noGrp="1"/>
          </p:cNvSpPr>
          <p:nvPr>
            <p:ph type="hdr"/>
          </p:nvPr>
        </p:nvSpPr>
        <p:spPr>
          <a:xfrm>
            <a:off x="-360" y="0"/>
            <a:ext cx="297180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indent="0">
              <a:buNone/>
            </a:pPr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dt" idx="7"/>
          </p:nvPr>
        </p:nvSpPr>
        <p:spPr>
          <a:xfrm>
            <a:off x="3884400" y="0"/>
            <a:ext cx="297180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indent="0">
              <a:buNone/>
            </a:pPr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sldImg"/>
          </p:nvPr>
        </p:nvSpPr>
        <p:spPr>
          <a:xfrm>
            <a:off x="1143000" y="685440"/>
            <a:ext cx="4572000" cy="3429000"/>
          </a:xfrm>
          <a:prstGeom prst="rect">
            <a:avLst/>
          </a:prstGeom>
          <a:noFill/>
          <a:ln w="9360">
            <a:solidFill>
              <a:srgbClr val="000000"/>
            </a:solidFill>
            <a:miter/>
          </a:ln>
        </p:spPr>
        <p:txBody>
          <a:bodyPr lIns="90000" rIns="90000" tIns="46800" bIns="46800" anchor="ctr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200" spc="-1" strike="noStrike">
                <a:solidFill>
                  <a:srgbClr val="006633"/>
                </a:solidFill>
                <a:latin typeface="Tahoma"/>
              </a:rPr>
              <a:t>Click to move the slide</a:t>
            </a:r>
            <a:endParaRPr b="0" lang="en-US" sz="4200" spc="-1" strike="noStrike">
              <a:solidFill>
                <a:srgbClr val="006633"/>
              </a:solidFill>
              <a:latin typeface="Tahoma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ftr" idx="8"/>
          </p:nvPr>
        </p:nvSpPr>
        <p:spPr>
          <a:xfrm>
            <a:off x="-360" y="8685360"/>
            <a:ext cx="297180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p>
            <a:pPr indent="0">
              <a:buNone/>
            </a:pPr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" name="PlaceHolder 6"/>
          <p:cNvSpPr>
            <a:spLocks noGrp="1"/>
          </p:cNvSpPr>
          <p:nvPr>
            <p:ph type="sldNum" idx="9"/>
          </p:nvPr>
        </p:nvSpPr>
        <p:spPr>
          <a:xfrm>
            <a:off x="3884400" y="8685360"/>
            <a:ext cx="297180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marL="216000"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AU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marL="216000"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47D0A500-78A1-4CD0-A511-805F21DFEFE6}" type="slidenum">
              <a:rPr b="0" lang="en-AU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_rels/notesSlide20.xml.rels><?xml version="1.0" encoding="UTF-8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
</Relationships>
</file>

<file path=ppt/notesSlides/_rels/notesSlide21.xml.rels><?xml version="1.0" encoding="UTF-8"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
</Relationships>
</file>

<file path=ppt/notesSlides/_rels/notesSlide22.xml.rels><?xml version="1.0" encoding="UTF-8"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
</Relationships>
</file>

<file path=ppt/notesSlides/_rels/notesSlide23.xml.rels><?xml version="1.0" encoding="UTF-8"?>
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
</Relationships>
</file>

<file path=ppt/notesSlides/_rels/notesSlide24.xml.rels><?xml version="1.0" encoding="UTF-8"?>
<Relationships xmlns="http://schemas.openxmlformats.org/package/2006/relationships"><Relationship Id="rId1" Type="http://schemas.openxmlformats.org/officeDocument/2006/relationships/slide" Target="../slides/slide24.xml"/><Relationship Id="rId2" Type="http://schemas.openxmlformats.org/officeDocument/2006/relationships/notesMaster" Target="../notesMasters/notesMaster1.xml"/>
</Relationships>
</file>

<file path=ppt/notesSlides/_rels/notesSlide25.xml.rels><?xml version="1.0" encoding="UTF-8"?>
<Relationships xmlns="http://schemas.openxmlformats.org/package/2006/relationships"><Relationship Id="rId1" Type="http://schemas.openxmlformats.org/officeDocument/2006/relationships/slide" Target="../slides/slide25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Rectangle 7"/>
          <p:cNvSpPr/>
          <p:nvPr/>
        </p:nvSpPr>
        <p:spPr>
          <a:xfrm>
            <a:off x="3884760" y="8685360"/>
            <a:ext cx="29718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1B3AEA01-F395-4B89-8C28-7FA736651406}" type="slidenum">
              <a:rPr b="0" lang="en-AU" sz="1200" spc="-1" strike="noStrike">
                <a:solidFill>
                  <a:srgbClr val="000000"/>
                </a:solidFill>
                <a:latin typeface="Arial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5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 w="0">
            <a:noFill/>
          </a:ln>
        </p:spPr>
      </p:sp>
      <p:sp>
        <p:nvSpPr>
          <p:cNvPr id="266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Rectangle 7"/>
          <p:cNvSpPr/>
          <p:nvPr/>
        </p:nvSpPr>
        <p:spPr>
          <a:xfrm>
            <a:off x="3884760" y="8685360"/>
            <a:ext cx="29718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A77E7132-294F-4E14-A04A-47EE86325112}" type="slidenum">
              <a:rPr b="0" lang="en-AU" sz="1200" spc="-1" strike="noStrike">
                <a:solidFill>
                  <a:srgbClr val="000000"/>
                </a:solidFill>
                <a:latin typeface="Arial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8" name="PlaceHolder 1"/>
          <p:cNvSpPr>
            <a:spLocks noGrp="1"/>
          </p:cNvSpPr>
          <p:nvPr>
            <p:ph type="sldImg"/>
          </p:nvPr>
        </p:nvSpPr>
        <p:spPr>
          <a:xfrm>
            <a:off x="1295280" y="798480"/>
            <a:ext cx="4268880" cy="3202200"/>
          </a:xfrm>
          <a:prstGeom prst="rect">
            <a:avLst/>
          </a:prstGeom>
          <a:ln w="0">
            <a:noFill/>
          </a:ln>
        </p:spPr>
      </p:sp>
      <p:sp>
        <p:nvSpPr>
          <p:cNvPr id="269" name="PlaceHolder 2"/>
          <p:cNvSpPr>
            <a:spLocks noGrp="1"/>
          </p:cNvSpPr>
          <p:nvPr>
            <p:ph type="body"/>
          </p:nvPr>
        </p:nvSpPr>
        <p:spPr>
          <a:xfrm>
            <a:off x="915840" y="4346280"/>
            <a:ext cx="5026320" cy="3848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Rectangle 7"/>
          <p:cNvSpPr/>
          <p:nvPr/>
        </p:nvSpPr>
        <p:spPr>
          <a:xfrm>
            <a:off x="3884760" y="8685360"/>
            <a:ext cx="29718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7732B33D-79B4-458C-9A40-EF4F8304B02B}" type="slidenum">
              <a:rPr b="0" lang="en-AU" sz="1200" spc="-1" strike="noStrike">
                <a:solidFill>
                  <a:srgbClr val="000000"/>
                </a:solidFill>
                <a:latin typeface="Arial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1" name="PlaceHolder 1"/>
          <p:cNvSpPr>
            <a:spLocks noGrp="1"/>
          </p:cNvSpPr>
          <p:nvPr>
            <p:ph type="sldImg"/>
          </p:nvPr>
        </p:nvSpPr>
        <p:spPr>
          <a:xfrm>
            <a:off x="1295280" y="798480"/>
            <a:ext cx="4268880" cy="3202200"/>
          </a:xfrm>
          <a:prstGeom prst="rect">
            <a:avLst/>
          </a:prstGeom>
          <a:ln w="0">
            <a:noFill/>
          </a:ln>
        </p:spPr>
      </p:sp>
      <p:sp>
        <p:nvSpPr>
          <p:cNvPr id="272" name="PlaceHolder 2"/>
          <p:cNvSpPr>
            <a:spLocks noGrp="1"/>
          </p:cNvSpPr>
          <p:nvPr>
            <p:ph type="body"/>
          </p:nvPr>
        </p:nvSpPr>
        <p:spPr>
          <a:xfrm>
            <a:off x="915840" y="4346280"/>
            <a:ext cx="5026320" cy="3848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Rectangle 7"/>
          <p:cNvSpPr/>
          <p:nvPr/>
        </p:nvSpPr>
        <p:spPr>
          <a:xfrm>
            <a:off x="3884760" y="8685360"/>
            <a:ext cx="29718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744E6EDA-BE70-4981-8A75-2A4CC2483FD5}" type="slidenum">
              <a:rPr b="0" lang="en-AU" sz="1200" spc="-1" strike="noStrike">
                <a:solidFill>
                  <a:srgbClr val="000000"/>
                </a:solidFill>
                <a:latin typeface="Arial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4" name="PlaceHolder 1"/>
          <p:cNvSpPr>
            <a:spLocks noGrp="1"/>
          </p:cNvSpPr>
          <p:nvPr>
            <p:ph type="sldImg"/>
          </p:nvPr>
        </p:nvSpPr>
        <p:spPr>
          <a:xfrm>
            <a:off x="1295280" y="798480"/>
            <a:ext cx="4268880" cy="3202200"/>
          </a:xfrm>
          <a:prstGeom prst="rect">
            <a:avLst/>
          </a:prstGeom>
          <a:ln w="0">
            <a:noFill/>
          </a:ln>
        </p:spPr>
      </p:sp>
      <p:sp>
        <p:nvSpPr>
          <p:cNvPr id="275" name="PlaceHolder 2"/>
          <p:cNvSpPr>
            <a:spLocks noGrp="1"/>
          </p:cNvSpPr>
          <p:nvPr>
            <p:ph type="body"/>
          </p:nvPr>
        </p:nvSpPr>
        <p:spPr>
          <a:xfrm>
            <a:off x="915840" y="4346280"/>
            <a:ext cx="5026320" cy="3848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Rectangle 7"/>
          <p:cNvSpPr/>
          <p:nvPr/>
        </p:nvSpPr>
        <p:spPr>
          <a:xfrm>
            <a:off x="3884760" y="8685360"/>
            <a:ext cx="29718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A71E2106-B418-4751-92C3-BBD2B17D671A}" type="slidenum">
              <a:rPr b="0" lang="en-AU" sz="1200" spc="-1" strike="noStrike">
                <a:solidFill>
                  <a:srgbClr val="000000"/>
                </a:solidFill>
                <a:latin typeface="Arial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7" name="PlaceHolder 1"/>
          <p:cNvSpPr>
            <a:spLocks noGrp="1"/>
          </p:cNvSpPr>
          <p:nvPr>
            <p:ph type="sldImg"/>
          </p:nvPr>
        </p:nvSpPr>
        <p:spPr>
          <a:xfrm>
            <a:off x="1295280" y="798480"/>
            <a:ext cx="4268880" cy="3202200"/>
          </a:xfrm>
          <a:prstGeom prst="rect">
            <a:avLst/>
          </a:prstGeom>
          <a:ln w="0">
            <a:noFill/>
          </a:ln>
        </p:spPr>
      </p:sp>
      <p:sp>
        <p:nvSpPr>
          <p:cNvPr id="278" name="PlaceHolder 2"/>
          <p:cNvSpPr>
            <a:spLocks noGrp="1"/>
          </p:cNvSpPr>
          <p:nvPr>
            <p:ph type="body"/>
          </p:nvPr>
        </p:nvSpPr>
        <p:spPr>
          <a:xfrm>
            <a:off x="915840" y="4346280"/>
            <a:ext cx="5026320" cy="3848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Rectangle 7"/>
          <p:cNvSpPr/>
          <p:nvPr/>
        </p:nvSpPr>
        <p:spPr>
          <a:xfrm>
            <a:off x="3884760" y="8685360"/>
            <a:ext cx="29718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CAA2EBA9-9559-4D8B-8D1B-AE7EE16DB132}" type="slidenum">
              <a:rPr b="0" lang="en-AU" sz="1200" spc="-1" strike="noStrike">
                <a:solidFill>
                  <a:srgbClr val="000000"/>
                </a:solidFill>
                <a:latin typeface="Arial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0" name="PlaceHolder 1"/>
          <p:cNvSpPr>
            <a:spLocks noGrp="1"/>
          </p:cNvSpPr>
          <p:nvPr>
            <p:ph type="sldImg"/>
          </p:nvPr>
        </p:nvSpPr>
        <p:spPr>
          <a:xfrm>
            <a:off x="1295280" y="798480"/>
            <a:ext cx="4268880" cy="3202200"/>
          </a:xfrm>
          <a:prstGeom prst="rect">
            <a:avLst/>
          </a:prstGeom>
          <a:ln w="0">
            <a:noFill/>
          </a:ln>
        </p:spPr>
      </p:sp>
      <p:sp>
        <p:nvSpPr>
          <p:cNvPr id="281" name="PlaceHolder 2"/>
          <p:cNvSpPr>
            <a:spLocks noGrp="1"/>
          </p:cNvSpPr>
          <p:nvPr>
            <p:ph type="body"/>
          </p:nvPr>
        </p:nvSpPr>
        <p:spPr>
          <a:xfrm>
            <a:off x="915840" y="4346280"/>
            <a:ext cx="5026320" cy="3848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Rectangle 7"/>
          <p:cNvSpPr/>
          <p:nvPr/>
        </p:nvSpPr>
        <p:spPr>
          <a:xfrm>
            <a:off x="3884760" y="8685360"/>
            <a:ext cx="29718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699D0975-CBEF-43D0-85A7-73690A8C5435}" type="slidenum">
              <a:rPr b="0" lang="en-AU" sz="1200" spc="-1" strike="noStrike">
                <a:solidFill>
                  <a:srgbClr val="000000"/>
                </a:solidFill>
                <a:latin typeface="Arial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3" name="PlaceHolder 1"/>
          <p:cNvSpPr>
            <a:spLocks noGrp="1"/>
          </p:cNvSpPr>
          <p:nvPr>
            <p:ph type="sldImg"/>
          </p:nvPr>
        </p:nvSpPr>
        <p:spPr>
          <a:xfrm>
            <a:off x="1295280" y="798480"/>
            <a:ext cx="4268880" cy="3202200"/>
          </a:xfrm>
          <a:prstGeom prst="rect">
            <a:avLst/>
          </a:prstGeom>
          <a:ln w="0">
            <a:noFill/>
          </a:ln>
        </p:spPr>
      </p:sp>
      <p:sp>
        <p:nvSpPr>
          <p:cNvPr id="284" name="PlaceHolder 2"/>
          <p:cNvSpPr>
            <a:spLocks noGrp="1"/>
          </p:cNvSpPr>
          <p:nvPr>
            <p:ph type="body"/>
          </p:nvPr>
        </p:nvSpPr>
        <p:spPr>
          <a:xfrm>
            <a:off x="915840" y="4346280"/>
            <a:ext cx="5026320" cy="3848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Rectangle 7"/>
          <p:cNvSpPr/>
          <p:nvPr/>
        </p:nvSpPr>
        <p:spPr>
          <a:xfrm>
            <a:off x="3884760" y="8685360"/>
            <a:ext cx="29718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F22664B7-204C-448D-BB41-701DCEE0E168}" type="slidenum">
              <a:rPr b="0" lang="en-AU" sz="1200" spc="-1" strike="noStrike">
                <a:solidFill>
                  <a:srgbClr val="000000"/>
                </a:solidFill>
                <a:latin typeface="Arial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6" name="PlaceHolder 1"/>
          <p:cNvSpPr>
            <a:spLocks noGrp="1"/>
          </p:cNvSpPr>
          <p:nvPr>
            <p:ph type="sldImg"/>
          </p:nvPr>
        </p:nvSpPr>
        <p:spPr>
          <a:xfrm>
            <a:off x="1295280" y="798480"/>
            <a:ext cx="4268880" cy="3202200"/>
          </a:xfrm>
          <a:prstGeom prst="rect">
            <a:avLst/>
          </a:prstGeom>
          <a:ln w="0">
            <a:noFill/>
          </a:ln>
        </p:spPr>
      </p:sp>
      <p:sp>
        <p:nvSpPr>
          <p:cNvPr id="287" name="PlaceHolder 2"/>
          <p:cNvSpPr>
            <a:spLocks noGrp="1"/>
          </p:cNvSpPr>
          <p:nvPr>
            <p:ph type="body"/>
          </p:nvPr>
        </p:nvSpPr>
        <p:spPr>
          <a:xfrm>
            <a:off x="915840" y="4346280"/>
            <a:ext cx="5026320" cy="3848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Rectangle 7"/>
          <p:cNvSpPr/>
          <p:nvPr/>
        </p:nvSpPr>
        <p:spPr>
          <a:xfrm>
            <a:off x="3884760" y="8685360"/>
            <a:ext cx="29718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2950ACF3-0378-4958-B668-38E554C588C4}" type="slidenum">
              <a:rPr b="0" lang="en-AU" sz="1200" spc="-1" strike="noStrike">
                <a:solidFill>
                  <a:srgbClr val="000000"/>
                </a:solidFill>
                <a:latin typeface="Arial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9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 w="0">
            <a:noFill/>
          </a:ln>
        </p:spPr>
      </p:sp>
      <p:sp>
        <p:nvSpPr>
          <p:cNvPr id="290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Rectangle 7"/>
          <p:cNvSpPr/>
          <p:nvPr/>
        </p:nvSpPr>
        <p:spPr>
          <a:xfrm>
            <a:off x="3884760" y="8685360"/>
            <a:ext cx="29718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3A56256A-1BE2-45D0-8406-7D5D6C348DB1}" type="slidenum">
              <a:rPr b="0" lang="en-AU" sz="1200" spc="-1" strike="noStrike">
                <a:solidFill>
                  <a:srgbClr val="000000"/>
                </a:solidFill>
                <a:latin typeface="Arial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2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 w="0">
            <a:noFill/>
          </a:ln>
        </p:spPr>
      </p:sp>
      <p:sp>
        <p:nvSpPr>
          <p:cNvPr id="293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Rectangle 7"/>
          <p:cNvSpPr/>
          <p:nvPr/>
        </p:nvSpPr>
        <p:spPr>
          <a:xfrm>
            <a:off x="3884760" y="8685360"/>
            <a:ext cx="29718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8A98F68B-7222-41A5-92BA-AB3ECC05CAFE}" type="slidenum">
              <a:rPr b="0" lang="en-AU" sz="1200" spc="-1" strike="noStrike">
                <a:solidFill>
                  <a:srgbClr val="000000"/>
                </a:solidFill>
                <a:latin typeface="Arial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5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 w="0">
            <a:noFill/>
          </a:ln>
        </p:spPr>
      </p:sp>
      <p:sp>
        <p:nvSpPr>
          <p:cNvPr id="296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Rectangle 7"/>
          <p:cNvSpPr/>
          <p:nvPr/>
        </p:nvSpPr>
        <p:spPr>
          <a:xfrm>
            <a:off x="3884760" y="8685360"/>
            <a:ext cx="29718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654CFC92-E76E-499C-859F-6093E77AC972}" type="slidenum">
              <a:rPr b="0" lang="en-AU" sz="1200" spc="-1" strike="noStrike">
                <a:solidFill>
                  <a:srgbClr val="000000"/>
                </a:solidFill>
                <a:latin typeface="Arial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8" name="PlaceHolder 1"/>
          <p:cNvSpPr>
            <a:spLocks noGrp="1"/>
          </p:cNvSpPr>
          <p:nvPr>
            <p:ph type="sldImg"/>
          </p:nvPr>
        </p:nvSpPr>
        <p:spPr>
          <a:xfrm>
            <a:off x="1295280" y="798480"/>
            <a:ext cx="4268880" cy="3202200"/>
          </a:xfrm>
          <a:prstGeom prst="rect">
            <a:avLst/>
          </a:prstGeom>
          <a:ln w="0">
            <a:noFill/>
          </a:ln>
        </p:spPr>
      </p:sp>
      <p:sp>
        <p:nvSpPr>
          <p:cNvPr id="299" name="PlaceHolder 2"/>
          <p:cNvSpPr>
            <a:spLocks noGrp="1"/>
          </p:cNvSpPr>
          <p:nvPr>
            <p:ph type="body"/>
          </p:nvPr>
        </p:nvSpPr>
        <p:spPr>
          <a:xfrm>
            <a:off x="915840" y="4346280"/>
            <a:ext cx="5026320" cy="3848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Rectangle 7"/>
          <p:cNvSpPr/>
          <p:nvPr/>
        </p:nvSpPr>
        <p:spPr>
          <a:xfrm>
            <a:off x="3884760" y="8685360"/>
            <a:ext cx="29718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91125F58-52F9-410C-AFF7-C34868B65476}" type="slidenum">
              <a:rPr b="0" lang="en-AU" sz="1200" spc="-1" strike="noStrike">
                <a:solidFill>
                  <a:srgbClr val="000000"/>
                </a:solidFill>
                <a:latin typeface="Arial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1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 w="0">
            <a:noFill/>
          </a:ln>
        </p:spPr>
      </p:sp>
      <p:sp>
        <p:nvSpPr>
          <p:cNvPr id="302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Rectangle 7"/>
          <p:cNvSpPr/>
          <p:nvPr/>
        </p:nvSpPr>
        <p:spPr>
          <a:xfrm>
            <a:off x="3884760" y="8685360"/>
            <a:ext cx="29718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F1497AAA-DEA9-42AD-9E61-31C79A352BE2}" type="slidenum">
              <a:rPr b="0" lang="en-AU" sz="1200" spc="-1" strike="noStrike">
                <a:solidFill>
                  <a:srgbClr val="000000"/>
                </a:solidFill>
                <a:latin typeface="Arial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4" name="PlaceHolder 1"/>
          <p:cNvSpPr>
            <a:spLocks noGrp="1"/>
          </p:cNvSpPr>
          <p:nvPr>
            <p:ph type="sldImg"/>
          </p:nvPr>
        </p:nvSpPr>
        <p:spPr>
          <a:xfrm>
            <a:off x="1295280" y="798480"/>
            <a:ext cx="4268880" cy="3202200"/>
          </a:xfrm>
          <a:prstGeom prst="rect">
            <a:avLst/>
          </a:prstGeom>
          <a:ln w="0">
            <a:noFill/>
          </a:ln>
        </p:spPr>
      </p:sp>
      <p:sp>
        <p:nvSpPr>
          <p:cNvPr id="305" name="PlaceHolder 2"/>
          <p:cNvSpPr>
            <a:spLocks noGrp="1"/>
          </p:cNvSpPr>
          <p:nvPr>
            <p:ph type="body"/>
          </p:nvPr>
        </p:nvSpPr>
        <p:spPr>
          <a:xfrm>
            <a:off x="915840" y="4346280"/>
            <a:ext cx="5026320" cy="3848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Rectangle 7"/>
          <p:cNvSpPr/>
          <p:nvPr/>
        </p:nvSpPr>
        <p:spPr>
          <a:xfrm>
            <a:off x="3884760" y="8685360"/>
            <a:ext cx="29718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8642B91A-580B-4613-9E17-49E2E274BE7B}" type="slidenum">
              <a:rPr b="0" lang="en-AU" sz="1200" spc="-1" strike="noStrike">
                <a:solidFill>
                  <a:srgbClr val="000000"/>
                </a:solidFill>
                <a:latin typeface="Arial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7" name="PlaceHolder 1"/>
          <p:cNvSpPr>
            <a:spLocks noGrp="1"/>
          </p:cNvSpPr>
          <p:nvPr>
            <p:ph type="sldImg"/>
          </p:nvPr>
        </p:nvSpPr>
        <p:spPr>
          <a:xfrm>
            <a:off x="1295280" y="798480"/>
            <a:ext cx="4268880" cy="3202200"/>
          </a:xfrm>
          <a:prstGeom prst="rect">
            <a:avLst/>
          </a:prstGeom>
          <a:ln w="0">
            <a:noFill/>
          </a:ln>
        </p:spPr>
      </p:sp>
      <p:sp>
        <p:nvSpPr>
          <p:cNvPr id="308" name="PlaceHolder 2"/>
          <p:cNvSpPr>
            <a:spLocks noGrp="1"/>
          </p:cNvSpPr>
          <p:nvPr>
            <p:ph type="body"/>
          </p:nvPr>
        </p:nvSpPr>
        <p:spPr>
          <a:xfrm>
            <a:off x="915840" y="4346280"/>
            <a:ext cx="5026320" cy="3848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Rectangle 7"/>
          <p:cNvSpPr/>
          <p:nvPr/>
        </p:nvSpPr>
        <p:spPr>
          <a:xfrm>
            <a:off x="3884760" y="8685360"/>
            <a:ext cx="29718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C72A8020-3430-4D14-9D52-01209D2694EF}" type="slidenum">
              <a:rPr b="0" lang="en-AU" sz="1200" spc="-1" strike="noStrike">
                <a:solidFill>
                  <a:srgbClr val="000000"/>
                </a:solidFill>
                <a:latin typeface="Arial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0" name="PlaceHolder 1"/>
          <p:cNvSpPr>
            <a:spLocks noGrp="1"/>
          </p:cNvSpPr>
          <p:nvPr>
            <p:ph type="sldImg"/>
          </p:nvPr>
        </p:nvSpPr>
        <p:spPr>
          <a:xfrm>
            <a:off x="1295280" y="798480"/>
            <a:ext cx="4268880" cy="3202200"/>
          </a:xfrm>
          <a:prstGeom prst="rect">
            <a:avLst/>
          </a:prstGeom>
          <a:ln w="0">
            <a:noFill/>
          </a:ln>
        </p:spPr>
      </p:sp>
      <p:sp>
        <p:nvSpPr>
          <p:cNvPr id="311" name="PlaceHolder 2"/>
          <p:cNvSpPr>
            <a:spLocks noGrp="1"/>
          </p:cNvSpPr>
          <p:nvPr>
            <p:ph type="body"/>
          </p:nvPr>
        </p:nvSpPr>
        <p:spPr>
          <a:xfrm>
            <a:off x="915840" y="4346280"/>
            <a:ext cx="5026320" cy="3848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Rectangle 7"/>
          <p:cNvSpPr/>
          <p:nvPr/>
        </p:nvSpPr>
        <p:spPr>
          <a:xfrm>
            <a:off x="3884760" y="8685360"/>
            <a:ext cx="29718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733E711D-0AC6-4421-AE5E-BD64423A0648}" type="slidenum">
              <a:rPr b="0" lang="en-AU" sz="1200" spc="-1" strike="noStrike">
                <a:solidFill>
                  <a:srgbClr val="000000"/>
                </a:solidFill>
                <a:latin typeface="Arial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3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 w="0">
            <a:noFill/>
          </a:ln>
        </p:spPr>
      </p:sp>
      <p:sp>
        <p:nvSpPr>
          <p:cNvPr id="314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Rectangle 7"/>
          <p:cNvSpPr/>
          <p:nvPr/>
        </p:nvSpPr>
        <p:spPr>
          <a:xfrm>
            <a:off x="3884760" y="8685360"/>
            <a:ext cx="29718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3CD553AB-4AB6-456B-9677-3B15E5657305}" type="slidenum">
              <a:rPr b="0" lang="en-AU" sz="1200" spc="-1" strike="noStrike">
                <a:solidFill>
                  <a:srgbClr val="000000"/>
                </a:solidFill>
                <a:latin typeface="Arial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6" name="PlaceHolder 1"/>
          <p:cNvSpPr>
            <a:spLocks noGrp="1"/>
          </p:cNvSpPr>
          <p:nvPr>
            <p:ph type="sldImg"/>
          </p:nvPr>
        </p:nvSpPr>
        <p:spPr>
          <a:xfrm>
            <a:off x="1295280" y="798480"/>
            <a:ext cx="4268880" cy="3202200"/>
          </a:xfrm>
          <a:prstGeom prst="rect">
            <a:avLst/>
          </a:prstGeom>
          <a:ln w="0">
            <a:noFill/>
          </a:ln>
        </p:spPr>
      </p:sp>
      <p:sp>
        <p:nvSpPr>
          <p:cNvPr id="317" name="PlaceHolder 2"/>
          <p:cNvSpPr>
            <a:spLocks noGrp="1"/>
          </p:cNvSpPr>
          <p:nvPr>
            <p:ph type="body"/>
          </p:nvPr>
        </p:nvSpPr>
        <p:spPr>
          <a:xfrm>
            <a:off x="915840" y="4346280"/>
            <a:ext cx="5026320" cy="3848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Rectangle 7"/>
          <p:cNvSpPr/>
          <p:nvPr/>
        </p:nvSpPr>
        <p:spPr>
          <a:xfrm>
            <a:off x="3884760" y="8685360"/>
            <a:ext cx="29718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E32A1D4A-2436-4B28-ABB3-B64C4DB88EDB}" type="slidenum">
              <a:rPr b="0" lang="en-AU" sz="1200" spc="-1" strike="noStrike">
                <a:solidFill>
                  <a:srgbClr val="000000"/>
                </a:solidFill>
                <a:latin typeface="Arial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9" name="PlaceHolder 1"/>
          <p:cNvSpPr>
            <a:spLocks noGrp="1"/>
          </p:cNvSpPr>
          <p:nvPr>
            <p:ph type="sldImg"/>
          </p:nvPr>
        </p:nvSpPr>
        <p:spPr>
          <a:xfrm>
            <a:off x="1295280" y="798480"/>
            <a:ext cx="4268880" cy="3202200"/>
          </a:xfrm>
          <a:prstGeom prst="rect">
            <a:avLst/>
          </a:prstGeom>
          <a:ln w="0">
            <a:noFill/>
          </a:ln>
        </p:spPr>
      </p:sp>
      <p:sp>
        <p:nvSpPr>
          <p:cNvPr id="320" name="PlaceHolder 2"/>
          <p:cNvSpPr>
            <a:spLocks noGrp="1"/>
          </p:cNvSpPr>
          <p:nvPr>
            <p:ph type="body"/>
          </p:nvPr>
        </p:nvSpPr>
        <p:spPr>
          <a:xfrm>
            <a:off x="915840" y="4346280"/>
            <a:ext cx="5026320" cy="3848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Rectangle 7"/>
          <p:cNvSpPr/>
          <p:nvPr/>
        </p:nvSpPr>
        <p:spPr>
          <a:xfrm>
            <a:off x="3884760" y="8685360"/>
            <a:ext cx="29718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9289D6CA-F8DA-4A2E-A642-8323FCE1A70E}" type="slidenum">
              <a:rPr b="0" lang="en-AU" sz="1200" spc="-1" strike="noStrike">
                <a:solidFill>
                  <a:srgbClr val="000000"/>
                </a:solidFill>
                <a:latin typeface="Arial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2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 w="0">
            <a:noFill/>
          </a:ln>
        </p:spPr>
      </p:sp>
      <p:sp>
        <p:nvSpPr>
          <p:cNvPr id="323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Rectangle 7"/>
          <p:cNvSpPr/>
          <p:nvPr/>
        </p:nvSpPr>
        <p:spPr>
          <a:xfrm>
            <a:off x="3884760" y="8685360"/>
            <a:ext cx="29718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43F8213C-56A4-4215-8E59-72C8217D4F35}" type="slidenum">
              <a:rPr b="0" lang="en-AU" sz="1200" spc="-1" strike="noStrike">
                <a:solidFill>
                  <a:srgbClr val="000000"/>
                </a:solidFill>
                <a:latin typeface="Arial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5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 w="0">
            <a:noFill/>
          </a:ln>
        </p:spPr>
      </p:sp>
      <p:sp>
        <p:nvSpPr>
          <p:cNvPr id="326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Rectangle 7"/>
          <p:cNvSpPr/>
          <p:nvPr/>
        </p:nvSpPr>
        <p:spPr>
          <a:xfrm>
            <a:off x="3884760" y="8685360"/>
            <a:ext cx="29718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ADD68F48-A113-45AA-872B-632F19C49A3E}" type="slidenum">
              <a:rPr b="0" lang="en-AU" sz="1200" spc="-1" strike="noStrike">
                <a:solidFill>
                  <a:srgbClr val="000000"/>
                </a:solidFill>
                <a:latin typeface="Arial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8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 w="0">
            <a:noFill/>
          </a:ln>
        </p:spPr>
      </p:sp>
      <p:sp>
        <p:nvSpPr>
          <p:cNvPr id="329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Rectangle 7"/>
          <p:cNvSpPr/>
          <p:nvPr/>
        </p:nvSpPr>
        <p:spPr>
          <a:xfrm>
            <a:off x="3884760" y="8685360"/>
            <a:ext cx="29718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C75C7BDE-D7CD-46DE-AD09-606E67FE6D93}" type="slidenum">
              <a:rPr b="0" lang="en-AU" sz="1200" spc="-1" strike="noStrike">
                <a:solidFill>
                  <a:srgbClr val="000000"/>
                </a:solidFill>
                <a:latin typeface="Arial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1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 w="0">
            <a:noFill/>
          </a:ln>
        </p:spPr>
      </p:sp>
      <p:sp>
        <p:nvSpPr>
          <p:cNvPr id="332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Rectangle 7"/>
          <p:cNvSpPr/>
          <p:nvPr/>
        </p:nvSpPr>
        <p:spPr>
          <a:xfrm>
            <a:off x="3884760" y="8685360"/>
            <a:ext cx="29718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09E78794-7F49-4338-967A-305770640109}" type="slidenum">
              <a:rPr b="0" lang="en-AU" sz="1200" spc="-1" strike="noStrike">
                <a:solidFill>
                  <a:srgbClr val="000000"/>
                </a:solidFill>
                <a:latin typeface="Arial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4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 w="0">
            <a:noFill/>
          </a:ln>
        </p:spPr>
      </p:sp>
      <p:sp>
        <p:nvSpPr>
          <p:cNvPr id="335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Rectangle 7"/>
          <p:cNvSpPr/>
          <p:nvPr/>
        </p:nvSpPr>
        <p:spPr>
          <a:xfrm>
            <a:off x="3884760" y="8685360"/>
            <a:ext cx="29718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BC09638B-D66F-416E-852D-E9AC7341F649}" type="slidenum">
              <a:rPr b="0" lang="en-AU" sz="1200" spc="-1" strike="noStrike">
                <a:solidFill>
                  <a:srgbClr val="000000"/>
                </a:solidFill>
                <a:latin typeface="Arial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7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 w="0">
            <a:noFill/>
          </a:ln>
        </p:spPr>
      </p:sp>
      <p:sp>
        <p:nvSpPr>
          <p:cNvPr id="338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1AF4BBD-8D7A-4968-8B7E-D0C4C3BFDB2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A493E5A-38CD-410B-97EF-73E50E2D784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7920"/>
            <a:ext cx="8229600" cy="1139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200" spc="-1" strike="noStrike">
                <a:solidFill>
                  <a:srgbClr val="006633"/>
                </a:solidFill>
                <a:latin typeface="Tahoma"/>
              </a:rPr>
              <a:t>Click to edit the title text format</a:t>
            </a:r>
            <a:endParaRPr b="0" lang="en-US" sz="4200" spc="-1" strike="noStrike">
              <a:solidFill>
                <a:srgbClr val="006633"/>
              </a:solidFill>
              <a:latin typeface="Tahoma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599840"/>
            <a:ext cx="8229600" cy="4530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51"/>
              </a:spcBef>
              <a:buClr>
                <a:srgbClr val="cc9900"/>
              </a:buClr>
              <a:buSzPct val="65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0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  <a:p>
            <a:pPr lvl="1" marL="669960" indent="-325440">
              <a:spcBef>
                <a:spcPts val="751"/>
              </a:spcBef>
              <a:buClr>
                <a:srgbClr val="3b812f"/>
              </a:buClr>
              <a:buSzPct val="60000"/>
              <a:buFont typeface="Wingdings" charset="2"/>
              <a:buChar char="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0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  <a:p>
            <a:pPr lvl="2" marL="1022400" indent="-351000">
              <a:spcBef>
                <a:spcPts val="751"/>
              </a:spcBef>
              <a:buClr>
                <a:srgbClr val="cc9900"/>
              </a:buClr>
              <a:buSzPct val="65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0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  <a:p>
            <a:pPr lvl="3" marL="1339920" indent="-316080">
              <a:spcBef>
                <a:spcPts val="751"/>
              </a:spcBef>
              <a:buClr>
                <a:srgbClr val="3b812f"/>
              </a:buClr>
              <a:buSzPct val="70000"/>
              <a:buFont typeface="Wingdings" charset="2"/>
              <a:buChar char="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  <a:p>
            <a:pPr lvl="4" marL="1681200" indent="-339840">
              <a:spcBef>
                <a:spcPts val="751"/>
              </a:spcBef>
              <a:buClr>
                <a:srgbClr val="cc9900"/>
              </a:buClr>
              <a:buSzPct val="75000"/>
              <a:buFont typeface="Wingdings" charset="2"/>
              <a:buChar char="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  <a:p>
            <a:pPr lvl="5" marL="1681200" indent="-339840">
              <a:spcBef>
                <a:spcPts val="751"/>
              </a:spcBef>
              <a:buClr>
                <a:srgbClr val="000000"/>
              </a:buClr>
              <a:buSzPct val="75000"/>
              <a:buFont typeface="Wingdings" charset="2"/>
              <a:buChar char="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  <a:p>
            <a:pPr lvl="6" marL="1681200" indent="-339840">
              <a:spcBef>
                <a:spcPts val="751"/>
              </a:spcBef>
              <a:buClr>
                <a:srgbClr val="000000"/>
              </a:buClr>
              <a:buSzPct val="75000"/>
              <a:buFont typeface="Wingdings" charset="2"/>
              <a:buChar char="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3480"/>
            <a:ext cx="213372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GB" sz="1200" spc="-1" strike="noStrike">
                <a:solidFill>
                  <a:srgbClr val="000000"/>
                </a:solidFill>
                <a:latin typeface="Garamond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99F4DF6D-5215-4AF9-A17F-814CC8D33A76}" type="datetime">
              <a:rPr b="0" lang="en-GB" sz="1200" spc="-1" strike="noStrike">
                <a:solidFill>
                  <a:srgbClr val="000000"/>
                </a:solidFill>
                <a:latin typeface="Garamond"/>
              </a:rPr>
              <a:t>06/06/26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2842920" y="6248520"/>
            <a:ext cx="360036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AU" sz="1200" spc="-1" strike="noStrike">
                <a:solidFill>
                  <a:srgbClr val="000000"/>
                </a:solidFill>
                <a:latin typeface="Garamond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AU" sz="1200" spc="-1" strike="noStrike">
                <a:solidFill>
                  <a:srgbClr val="000000"/>
                </a:solidFill>
                <a:latin typeface="Garamond"/>
              </a:rPr>
              <a:t>One-day Tutorial, CAMS'07, Bol, Croatia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3480"/>
            <a:ext cx="213372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AU" sz="1200" spc="-1" strike="noStrike">
                <a:solidFill>
                  <a:srgbClr val="000000"/>
                </a:solidFill>
                <a:latin typeface="Garamond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528FB48D-722D-418B-93FA-248FEDFD1A40}" type="slidenum">
              <a:rPr b="0" lang="en-AU" sz="1200" spc="-1" strike="noStrike">
                <a:solidFill>
                  <a:srgbClr val="000000"/>
                </a:solidFill>
                <a:latin typeface="Garamond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reeform 7"/>
          <p:cNvSpPr/>
          <p:nvPr/>
        </p:nvSpPr>
        <p:spPr>
          <a:xfrm>
            <a:off x="380880" y="228600"/>
            <a:ext cx="8229600" cy="609480"/>
          </a:xfrm>
          <a:prstGeom prst="pie">
            <a:avLst/>
          </a:prstGeom>
          <a:noFill/>
          <a:ln w="19080">
            <a:solidFill>
              <a:srgbClr val="cc99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Line 8"/>
          <p:cNvSpPr/>
          <p:nvPr/>
        </p:nvSpPr>
        <p:spPr>
          <a:xfrm>
            <a:off x="457200" y="6172200"/>
            <a:ext cx="8229600" cy="0"/>
          </a:xfrm>
          <a:prstGeom prst="line">
            <a:avLst/>
          </a:prstGeom>
          <a:ln w="19080">
            <a:solidFill>
              <a:srgbClr val="cc99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" name="Picture 10" descr=""/>
          <p:cNvPicPr/>
          <p:nvPr/>
        </p:nvPicPr>
        <p:blipFill>
          <a:blip r:embed="rId2"/>
          <a:stretch/>
        </p:blipFill>
        <p:spPr>
          <a:xfrm>
            <a:off x="1547640" y="6237360"/>
            <a:ext cx="1276560" cy="498240"/>
          </a:xfrm>
          <a:prstGeom prst="rect">
            <a:avLst/>
          </a:prstGeom>
          <a:ln w="0">
            <a:noFill/>
          </a:ln>
        </p:spPr>
      </p:pic>
      <p:pic>
        <p:nvPicPr>
          <p:cNvPr id="8" name="Picture 12" descr=""/>
          <p:cNvPicPr/>
          <p:nvPr/>
        </p:nvPicPr>
        <p:blipFill>
          <a:blip r:embed="rId3"/>
          <a:stretch/>
        </p:blipFill>
        <p:spPr>
          <a:xfrm>
            <a:off x="6012000" y="6237360"/>
            <a:ext cx="1498320" cy="436320"/>
          </a:xfrm>
          <a:prstGeom prst="rect">
            <a:avLst/>
          </a:prstGeom>
          <a:ln w="0">
            <a:noFill/>
          </a:ln>
        </p:spPr>
      </p:pic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4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7"/>
          <p:cNvSpPr/>
          <p:nvPr/>
        </p:nvSpPr>
        <p:spPr>
          <a:xfrm>
            <a:off x="609480" y="1219320"/>
            <a:ext cx="7925040" cy="914400"/>
          </a:xfrm>
          <a:prstGeom prst="pie">
            <a:avLst/>
          </a:prstGeom>
          <a:noFill/>
          <a:ln w="25560">
            <a:solidFill>
              <a:srgbClr val="cc99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Line 8"/>
          <p:cNvSpPr/>
          <p:nvPr/>
        </p:nvSpPr>
        <p:spPr>
          <a:xfrm>
            <a:off x="1981080" y="3962520"/>
            <a:ext cx="6512040" cy="0"/>
          </a:xfrm>
          <a:prstGeom prst="line">
            <a:avLst/>
          </a:prstGeom>
          <a:ln w="19080">
            <a:solidFill>
              <a:srgbClr val="cc99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57200" y="277920"/>
            <a:ext cx="8229600" cy="1139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200" spc="-1" strike="noStrike">
                <a:solidFill>
                  <a:srgbClr val="006633"/>
                </a:solidFill>
                <a:latin typeface="Tahoma"/>
              </a:rPr>
              <a:t>Click to edit the title text format</a:t>
            </a:r>
            <a:endParaRPr b="0" lang="en-US" sz="4200" spc="-1" strike="noStrike">
              <a:solidFill>
                <a:srgbClr val="006633"/>
              </a:solidFill>
              <a:latin typeface="Tahoma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1599840"/>
            <a:ext cx="8229600" cy="4530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51"/>
              </a:spcBef>
              <a:buClr>
                <a:srgbClr val="cc9900"/>
              </a:buClr>
              <a:buSzPct val="65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0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  <a:p>
            <a:pPr lvl="1" marL="669960" indent="-325440">
              <a:spcBef>
                <a:spcPts val="751"/>
              </a:spcBef>
              <a:buClr>
                <a:srgbClr val="3b812f"/>
              </a:buClr>
              <a:buSzPct val="60000"/>
              <a:buFont typeface="Wingdings" charset="2"/>
              <a:buChar char="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0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  <a:p>
            <a:pPr lvl="2" marL="1022400" indent="-351000">
              <a:spcBef>
                <a:spcPts val="751"/>
              </a:spcBef>
              <a:buClr>
                <a:srgbClr val="cc9900"/>
              </a:buClr>
              <a:buSzPct val="65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0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  <a:p>
            <a:pPr lvl="3" marL="1339920" indent="-316080">
              <a:spcBef>
                <a:spcPts val="751"/>
              </a:spcBef>
              <a:buClr>
                <a:srgbClr val="3b812f"/>
              </a:buClr>
              <a:buSzPct val="70000"/>
              <a:buFont typeface="Wingdings" charset="2"/>
              <a:buChar char="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  <a:p>
            <a:pPr lvl="4" marL="1681200" indent="-339840">
              <a:spcBef>
                <a:spcPts val="751"/>
              </a:spcBef>
              <a:buClr>
                <a:srgbClr val="cc9900"/>
              </a:buClr>
              <a:buSzPct val="75000"/>
              <a:buFont typeface="Wingdings" charset="2"/>
              <a:buChar char="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  <a:p>
            <a:pPr lvl="5" marL="1681200" indent="-339840">
              <a:spcBef>
                <a:spcPts val="751"/>
              </a:spcBef>
              <a:buClr>
                <a:srgbClr val="000000"/>
              </a:buClr>
              <a:buSzPct val="75000"/>
              <a:buFont typeface="Wingdings" charset="2"/>
              <a:buChar char="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  <a:p>
            <a:pPr lvl="6" marL="1681200" indent="-339840">
              <a:spcBef>
                <a:spcPts val="751"/>
              </a:spcBef>
              <a:buClr>
                <a:srgbClr val="000000"/>
              </a:buClr>
              <a:buSzPct val="75000"/>
              <a:buFont typeface="Wingdings" charset="2"/>
              <a:buChar char="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4"/>
          </p:nvPr>
        </p:nvSpPr>
        <p:spPr>
          <a:xfrm>
            <a:off x="456840" y="6243480"/>
            <a:ext cx="213372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GB" sz="1200" spc="-1" strike="noStrike">
                <a:solidFill>
                  <a:srgbClr val="000000"/>
                </a:solidFill>
                <a:latin typeface="Garamond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FE7A6A74-916B-4130-8FEB-D2BC6BEC8A38}" type="datetime">
              <a:rPr b="0" lang="en-GB" sz="1200" spc="-1" strike="noStrike">
                <a:solidFill>
                  <a:srgbClr val="000000"/>
                </a:solidFill>
                <a:latin typeface="Garamond"/>
              </a:rPr>
              <a:t>06/06/26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5"/>
          </p:nvPr>
        </p:nvSpPr>
        <p:spPr>
          <a:xfrm>
            <a:off x="2771640" y="6243480"/>
            <a:ext cx="360072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AU" sz="1200" spc="-1" strike="noStrike">
                <a:solidFill>
                  <a:srgbClr val="000000"/>
                </a:solidFill>
                <a:latin typeface="Garamond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AU" sz="1200" spc="-1" strike="noStrike">
                <a:solidFill>
                  <a:srgbClr val="000000"/>
                </a:solidFill>
                <a:latin typeface="Garamond"/>
              </a:rPr>
              <a:t>One-day Tutorial, CAMS'07, Bol, Croatia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6"/>
          </p:nvPr>
        </p:nvSpPr>
        <p:spPr>
          <a:xfrm>
            <a:off x="6552720" y="6243480"/>
            <a:ext cx="213372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AU" sz="1200" spc="-1" strike="noStrike">
                <a:solidFill>
                  <a:srgbClr val="000000"/>
                </a:solidFill>
                <a:latin typeface="Garamond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17283F1A-8DE5-4F40-A5E8-4BF0F95D6918}" type="slidenum">
              <a:rPr b="0" lang="en-AU" sz="1200" spc="-1" strike="noStrike">
                <a:solidFill>
                  <a:srgbClr val="000000"/>
                </a:solidFill>
                <a:latin typeface="Garamond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5.wmf"/><Relationship Id="rId2" Type="http://schemas.openxmlformats.org/officeDocument/2006/relationships/image" Target="../media/image6.wmf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7.wmf"/><Relationship Id="rId2" Type="http://schemas.openxmlformats.org/officeDocument/2006/relationships/image" Target="../media/image8.wmf"/><Relationship Id="rId3" Type="http://schemas.openxmlformats.org/officeDocument/2006/relationships/image" Target="../media/image9.wmf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0.wmf"/><Relationship Id="rId2" Type="http://schemas.openxmlformats.org/officeDocument/2006/relationships/image" Target="../media/image11.wmf"/><Relationship Id="rId3" Type="http://schemas.openxmlformats.org/officeDocument/2006/relationships/image" Target="../media/image12.png"/><Relationship Id="rId4" Type="http://schemas.openxmlformats.org/officeDocument/2006/relationships/image" Target="../media/image13.wmf"/><Relationship Id="rId5" Type="http://schemas.openxmlformats.org/officeDocument/2006/relationships/image" Target="../media/image14.wmf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5.wmf"/><Relationship Id="rId2" Type="http://schemas.openxmlformats.org/officeDocument/2006/relationships/image" Target="../media/image16.wmf"/><Relationship Id="rId3" Type="http://schemas.openxmlformats.org/officeDocument/2006/relationships/image" Target="../media/image17.wmf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8.wmf"/><Relationship Id="rId2" Type="http://schemas.openxmlformats.org/officeDocument/2006/relationships/image" Target="../media/image19.wmf"/><Relationship Id="rId3" Type="http://schemas.openxmlformats.org/officeDocument/2006/relationships/image" Target="../media/image20.wmf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21.wmf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22.wmf"/><Relationship Id="rId2" Type="http://schemas.openxmlformats.org/officeDocument/2006/relationships/image" Target="../media/image23.png"/><Relationship Id="rId3" Type="http://schemas.openxmlformats.org/officeDocument/2006/relationships/image" Target="../media/image24.wmf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24.wmf"/><Relationship Id="rId2" Type="http://schemas.openxmlformats.org/officeDocument/2006/relationships/image" Target="../media/image25.png"/><Relationship Id="rId3" Type="http://schemas.openxmlformats.org/officeDocument/2006/relationships/image" Target="../media/image26.wmf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26.wmf"/><Relationship Id="rId2" Type="http://schemas.openxmlformats.org/officeDocument/2006/relationships/image" Target="../media/image27.wmf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28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29.wmf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30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3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3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3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3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image" Target="../media/image34.wmf"/><Relationship Id="rId2" Type="http://schemas.openxmlformats.org/officeDocument/2006/relationships/image" Target="../media/image35.wmf"/><Relationship Id="rId3" Type="http://schemas.openxmlformats.org/officeDocument/2006/relationships/image" Target="../media/image35.wmf"/><Relationship Id="rId4" Type="http://schemas.openxmlformats.org/officeDocument/2006/relationships/image" Target="../media/image36.wmf"/><Relationship Id="rId5" Type="http://schemas.openxmlformats.org/officeDocument/2006/relationships/image" Target="../media/image37.wmf"/><Relationship Id="rId6" Type="http://schemas.openxmlformats.org/officeDocument/2006/relationships/image" Target="../media/image38.wmf"/><Relationship Id="rId7" Type="http://schemas.openxmlformats.org/officeDocument/2006/relationships/image" Target="../media/image39.wmf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3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image" Target="../media/image40.wmf"/><Relationship Id="rId2" Type="http://schemas.openxmlformats.org/officeDocument/2006/relationships/image" Target="../media/image41.wmf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4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4"/>
          <p:cNvSpPr/>
          <p:nvPr/>
        </p:nvSpPr>
        <p:spPr>
          <a:xfrm>
            <a:off x="457200" y="6243480"/>
            <a:ext cx="21337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FCE9708F-AF78-49C6-9DD8-67A9DB6868E3}" type="datetime">
              <a:rPr b="0" lang="en-GB" sz="1200" spc="-1" strike="noStrike">
                <a:solidFill>
                  <a:srgbClr val="000000"/>
                </a:solidFill>
                <a:latin typeface="Garamond"/>
              </a:rPr>
              <a:t>06/06/26</a:t>
            </a:fld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Rectangle 5"/>
          <p:cNvSpPr/>
          <p:nvPr/>
        </p:nvSpPr>
        <p:spPr>
          <a:xfrm>
            <a:off x="2771640" y="6243480"/>
            <a:ext cx="36007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AU" sz="1200" spc="-1" strike="noStrike">
                <a:solidFill>
                  <a:srgbClr val="000000"/>
                </a:solidFill>
                <a:latin typeface="Garamond"/>
              </a:rPr>
              <a:t>One-day Tutorial, CAMS'07, Bol, Croatia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Rectangle 6"/>
          <p:cNvSpPr/>
          <p:nvPr/>
        </p:nvSpPr>
        <p:spPr>
          <a:xfrm>
            <a:off x="6553080" y="6243480"/>
            <a:ext cx="21337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5726F4B1-D84F-4F0B-BDB1-2ADA9EB6FE9A}" type="slidenum">
              <a:rPr b="0" lang="en-AU" sz="1200" spc="-1" strike="noStrike">
                <a:solidFill>
                  <a:srgbClr val="000000"/>
                </a:solidFill>
                <a:latin typeface="Garamond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755640" y="1341000"/>
            <a:ext cx="7694640" cy="2592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AU" sz="4600" spc="-1" strike="noStrike">
                <a:solidFill>
                  <a:srgbClr val="006633"/>
                </a:solidFill>
                <a:latin typeface="Tahoma"/>
              </a:rPr>
              <a:t>Hydrodynamics for control engineers</a:t>
            </a:r>
            <a:r>
              <a:rPr b="0" lang="en-AU" sz="4200" spc="-1" strike="noStrike">
                <a:solidFill>
                  <a:srgbClr val="006633"/>
                </a:solidFill>
                <a:latin typeface="Tahoma"/>
              </a:rPr>
              <a:t> </a:t>
            </a:r>
            <a:br>
              <a:rPr sz="3000"/>
            </a:br>
            <a:br>
              <a:rPr sz="3000"/>
            </a:br>
            <a:r>
              <a:rPr b="0" lang="en-AU" sz="3000" spc="-1" strike="noStrike">
                <a:solidFill>
                  <a:srgbClr val="006633"/>
                </a:solidFill>
                <a:latin typeface="Tahoma"/>
              </a:rPr>
              <a:t>(Module 2)</a:t>
            </a:r>
            <a:endParaRPr b="0" lang="en-US" sz="3000" spc="-1" strike="noStrike">
              <a:solidFill>
                <a:srgbClr val="006633"/>
              </a:solidFill>
              <a:latin typeface="Tahoma"/>
            </a:endParaRPr>
          </a:p>
        </p:txBody>
      </p:sp>
      <p:pic>
        <p:nvPicPr>
          <p:cNvPr id="27" name="Picture 5" descr=""/>
          <p:cNvPicPr/>
          <p:nvPr/>
        </p:nvPicPr>
        <p:blipFill>
          <a:blip r:embed="rId1"/>
          <a:stretch/>
        </p:blipFill>
        <p:spPr>
          <a:xfrm>
            <a:off x="1835280" y="5300640"/>
            <a:ext cx="2320920" cy="890640"/>
          </a:xfrm>
          <a:prstGeom prst="rect">
            <a:avLst/>
          </a:prstGeom>
          <a:ln w="0">
            <a:noFill/>
          </a:ln>
        </p:spPr>
      </p:pic>
      <p:sp>
        <p:nvSpPr>
          <p:cNvPr id="28" name="Rectangle 7"/>
          <p:cNvSpPr/>
          <p:nvPr/>
        </p:nvSpPr>
        <p:spPr>
          <a:xfrm>
            <a:off x="1547640" y="4005360"/>
            <a:ext cx="3241800" cy="122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AU" sz="2800" spc="-1" strike="noStrike">
                <a:solidFill>
                  <a:srgbClr val="000000"/>
                </a:solidFill>
                <a:latin typeface="Arial"/>
              </a:rPr>
              <a:t>Dr Tristan Perez </a:t>
            </a:r>
            <a:r>
              <a:rPr b="0" lang="en-AU" sz="2800" spc="-1" strike="noStrike">
                <a:solidFill>
                  <a:srgbClr val="000000"/>
                </a:solidFill>
                <a:latin typeface="Arial"/>
              </a:rPr>
              <a:t>	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>
              <a:spcBef>
                <a:spcPts val="45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AU" sz="1800" spc="-1" strike="noStrike">
                <a:solidFill>
                  <a:srgbClr val="000000"/>
                </a:solidFill>
                <a:latin typeface="Arial"/>
              </a:rPr>
              <a:t>Centre for Complex Dynamic Systems and Control (CDSC)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Rectangle 11"/>
          <p:cNvSpPr/>
          <p:nvPr/>
        </p:nvSpPr>
        <p:spPr>
          <a:xfrm>
            <a:off x="4932360" y="4005360"/>
            <a:ext cx="3745080" cy="122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AU" sz="2800" spc="-1" strike="noStrike">
                <a:solidFill>
                  <a:srgbClr val="000000"/>
                </a:solidFill>
                <a:latin typeface="Arial"/>
              </a:rPr>
              <a:t>Prof. Thor I Fossen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>
              <a:spcBef>
                <a:spcPts val="45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AU" sz="1800" spc="-1" strike="noStrike">
                <a:solidFill>
                  <a:srgbClr val="000000"/>
                </a:solidFill>
                <a:latin typeface="Arial"/>
              </a:rPr>
              <a:t>Department of Engineering Cybernetics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0" name="Picture 12" descr=""/>
          <p:cNvPicPr/>
          <p:nvPr/>
        </p:nvPicPr>
        <p:blipFill>
          <a:blip r:embed="rId2"/>
          <a:stretch/>
        </p:blipFill>
        <p:spPr>
          <a:xfrm>
            <a:off x="5651640" y="5445000"/>
            <a:ext cx="2436840" cy="709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Date Placeholder 3"/>
          <p:cNvSpPr/>
          <p:nvPr/>
        </p:nvSpPr>
        <p:spPr>
          <a:xfrm>
            <a:off x="457200" y="6243480"/>
            <a:ext cx="21337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FC764F93-81B2-4888-8109-A53364CDC6D6}" type="datetime">
              <a:rPr b="0" lang="en-GB" sz="1200" spc="-1" strike="noStrike">
                <a:solidFill>
                  <a:srgbClr val="000000"/>
                </a:solidFill>
                <a:latin typeface="Garamond"/>
              </a:rPr>
              <a:t>06/06/26</a:t>
            </a:fld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Footer Placeholder 4"/>
          <p:cNvSpPr/>
          <p:nvPr/>
        </p:nvSpPr>
        <p:spPr>
          <a:xfrm>
            <a:off x="2843280" y="6248520"/>
            <a:ext cx="360036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AU" sz="1200" spc="-1" strike="noStrike">
                <a:solidFill>
                  <a:srgbClr val="000000"/>
                </a:solidFill>
                <a:latin typeface="Garamond"/>
              </a:rPr>
              <a:t>One-day Tutorial, CAMS'07, Bol, Croatia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Slide Number Placeholder 5"/>
          <p:cNvSpPr/>
          <p:nvPr/>
        </p:nvSpPr>
        <p:spPr>
          <a:xfrm>
            <a:off x="6553080" y="6243480"/>
            <a:ext cx="21337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C124C0FE-A76C-4C0A-8CF8-50A8C75D6CCC}" type="slidenum">
              <a:rPr b="0" lang="en-AU" sz="1200" spc="-1" strike="noStrike">
                <a:solidFill>
                  <a:srgbClr val="000000"/>
                </a:solidFill>
                <a:latin typeface="Garamond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7920"/>
            <a:ext cx="8229600" cy="113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AU" sz="4200" spc="-1" strike="noStrike">
                <a:solidFill>
                  <a:srgbClr val="006633"/>
                </a:solidFill>
                <a:latin typeface="Tahoma"/>
              </a:rPr>
              <a:t>Marine hydrodynamics</a:t>
            </a:r>
            <a:endParaRPr b="0" lang="en-US" sz="4200" spc="-1" strike="noStrike">
              <a:solidFill>
                <a:srgbClr val="006633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534960" y="1169640"/>
            <a:ext cx="7772400" cy="4923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343080" indent="-343080">
              <a:lnSpc>
                <a:spcPct val="80000"/>
              </a:lnSpc>
              <a:spcBef>
                <a:spcPts val="624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AU" sz="2500" spc="-1" strike="noStrike">
                <a:solidFill>
                  <a:srgbClr val="000000"/>
                </a:solidFill>
                <a:latin typeface="Arial"/>
              </a:rPr>
              <a:t>In order to study the motion of marine structures and vessels, we need to understand the effects the surrounding fluid has on them. </a:t>
            </a:r>
            <a:endParaRPr b="0" lang="en-US" sz="25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624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5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624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AU" sz="2500" spc="-1" strike="noStrike">
                <a:solidFill>
                  <a:srgbClr val="000000"/>
                </a:solidFill>
                <a:latin typeface="Arial"/>
              </a:rPr>
              <a:t>This requires some basic concepts of </a:t>
            </a:r>
            <a:r>
              <a:rPr b="0" lang="en-AU" sz="2500" spc="-1" strike="noStrike">
                <a:solidFill>
                  <a:srgbClr val="996600"/>
                </a:solidFill>
                <a:latin typeface="Arial"/>
              </a:rPr>
              <a:t>hydrodynamics</a:t>
            </a:r>
            <a:r>
              <a:rPr b="0" lang="en-AU" sz="2500" spc="-1" strike="noStrike">
                <a:solidFill>
                  <a:srgbClr val="000000"/>
                </a:solidFill>
                <a:latin typeface="Arial"/>
              </a:rPr>
              <a:t>—</a:t>
            </a:r>
            <a:r>
              <a:rPr b="0" lang="en-AU" sz="2500" spc="-1" strike="noStrike">
                <a:solidFill>
                  <a:srgbClr val="996600"/>
                </a:solidFill>
                <a:latin typeface="Arial"/>
              </a:rPr>
              <a:t>which is fluid dynamics under special-case simplifications and assumptions particular of marine applications.</a:t>
            </a:r>
            <a:r>
              <a:rPr b="0" lang="en-AU" sz="2500" spc="-1" strike="noStrike">
                <a:solidFill>
                  <a:srgbClr val="000000"/>
                </a:solidFill>
                <a:latin typeface="Arial"/>
              </a:rPr>
              <a:t> </a:t>
            </a:r>
            <a:endParaRPr b="0" lang="en-US" sz="25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624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5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624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AU" sz="2500" spc="-1" strike="noStrike">
                <a:solidFill>
                  <a:srgbClr val="000000"/>
                </a:solidFill>
                <a:latin typeface="Arial"/>
              </a:rPr>
              <a:t>To solve problems related to ship motion we, need to know two things about the fluid:</a:t>
            </a:r>
            <a:endParaRPr b="0" lang="en-US" sz="25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30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2" marL="1022400" indent="-351000">
              <a:lnSpc>
                <a:spcPct val="80000"/>
              </a:lnSpc>
              <a:spcBef>
                <a:spcPts val="624"/>
              </a:spcBef>
              <a:buClr>
                <a:srgbClr val="cc9900"/>
              </a:buClr>
              <a:buSzPct val="65000"/>
              <a:buFont typeface="Wingdings" charset="2"/>
              <a:buChar char="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AU" sz="2500" spc="-1" strike="noStrike">
                <a:solidFill>
                  <a:srgbClr val="006633"/>
                </a:solidFill>
                <a:latin typeface="Arial"/>
              </a:rPr>
              <a:t>velocity</a:t>
            </a:r>
            <a:endParaRPr b="0" lang="en-US" sz="2500" spc="-1" strike="noStrike">
              <a:solidFill>
                <a:srgbClr val="000000"/>
              </a:solidFill>
              <a:latin typeface="Arial"/>
            </a:endParaRPr>
          </a:p>
          <a:p>
            <a:pPr lvl="2" marL="1022400" indent="-351000">
              <a:lnSpc>
                <a:spcPct val="80000"/>
              </a:lnSpc>
              <a:spcBef>
                <a:spcPts val="624"/>
              </a:spcBef>
              <a:buClr>
                <a:srgbClr val="cc9900"/>
              </a:buClr>
              <a:buSzPct val="65000"/>
              <a:buFont typeface="Wingdings" charset="2"/>
              <a:buChar char="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AU" sz="2500" spc="-1" strike="noStrike">
                <a:solidFill>
                  <a:srgbClr val="006633"/>
                </a:solidFill>
                <a:latin typeface="Arial"/>
              </a:rPr>
              <a:t>pressure</a:t>
            </a:r>
            <a:endParaRPr b="0" lang="en-US" sz="25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Date Placeholder 5"/>
          <p:cNvSpPr/>
          <p:nvPr/>
        </p:nvSpPr>
        <p:spPr>
          <a:xfrm>
            <a:off x="457200" y="6243480"/>
            <a:ext cx="21337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1C5914B5-08BE-46B8-AC87-200E2E84A7FA}" type="datetime">
              <a:rPr b="0" lang="en-GB" sz="1200" spc="-1" strike="noStrike">
                <a:solidFill>
                  <a:srgbClr val="000000"/>
                </a:solidFill>
                <a:latin typeface="Garamond"/>
              </a:rPr>
              <a:t>06/06/26</a:t>
            </a:fld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Footer Placeholder 6"/>
          <p:cNvSpPr/>
          <p:nvPr/>
        </p:nvSpPr>
        <p:spPr>
          <a:xfrm>
            <a:off x="2843280" y="6248520"/>
            <a:ext cx="360036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AU" sz="1200" spc="-1" strike="noStrike">
                <a:solidFill>
                  <a:srgbClr val="000000"/>
                </a:solidFill>
                <a:latin typeface="Garamond"/>
              </a:rPr>
              <a:t>One-day Tutorial, CAMS'07, Bol, Croatia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Slide Number Placeholder 7"/>
          <p:cNvSpPr/>
          <p:nvPr/>
        </p:nvSpPr>
        <p:spPr>
          <a:xfrm>
            <a:off x="6553080" y="6243480"/>
            <a:ext cx="21337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EDD5D074-F5D0-4EB0-9573-3EAD8D6419D7}" type="slidenum">
              <a:rPr b="0" lang="en-AU" sz="1200" spc="-1" strike="noStrike">
                <a:solidFill>
                  <a:srgbClr val="000000"/>
                </a:solidFill>
                <a:latin typeface="Garamond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7920"/>
            <a:ext cx="8229600" cy="113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AU" sz="4200" spc="-1" strike="noStrike">
                <a:solidFill>
                  <a:srgbClr val="006633"/>
                </a:solidFill>
                <a:latin typeface="Tahoma"/>
              </a:rPr>
              <a:t>Fluid flow description</a:t>
            </a:r>
            <a:endParaRPr b="0" lang="en-US" sz="4200" spc="-1" strike="noStrike">
              <a:solidFill>
                <a:srgbClr val="006633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545760" y="1190160"/>
            <a:ext cx="8240760" cy="582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343080" indent="-343080">
              <a:spcBef>
                <a:spcPts val="64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AU" sz="2600" spc="-1" strike="noStrike">
                <a:solidFill>
                  <a:srgbClr val="000000"/>
                </a:solidFill>
                <a:latin typeface="Arial"/>
              </a:rPr>
              <a:t>The velocity of the fluid at the location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1" name="Picture 4" descr=""/>
          <p:cNvPicPr/>
          <p:nvPr/>
        </p:nvPicPr>
        <p:blipFill>
          <a:blip r:embed="rId1"/>
          <a:stretch/>
        </p:blipFill>
        <p:spPr>
          <a:xfrm>
            <a:off x="2916360" y="1916280"/>
            <a:ext cx="2592360" cy="604800"/>
          </a:xfrm>
          <a:prstGeom prst="rect">
            <a:avLst/>
          </a:prstGeom>
          <a:ln w="0">
            <a:noFill/>
          </a:ln>
        </p:spPr>
      </p:pic>
      <p:sp>
        <p:nvSpPr>
          <p:cNvPr id="42" name="Rectangle 5"/>
          <p:cNvSpPr/>
          <p:nvPr/>
        </p:nvSpPr>
        <p:spPr>
          <a:xfrm>
            <a:off x="468360" y="2708280"/>
            <a:ext cx="8240760" cy="58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marL="343080" indent="-343080">
              <a:spcBef>
                <a:spcPts val="64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AU" sz="2600" spc="-1" strike="noStrike">
                <a:solidFill>
                  <a:srgbClr val="000000"/>
                </a:solidFill>
                <a:latin typeface="Arial"/>
              </a:rPr>
              <a:t>is given by the </a:t>
            </a:r>
            <a:r>
              <a:rPr b="0" lang="en-AU" sz="2600" spc="-1" strike="noStrike">
                <a:solidFill>
                  <a:srgbClr val="afbf39"/>
                </a:solidFill>
                <a:latin typeface="Arial"/>
              </a:rPr>
              <a:t>fluid-flow velocity vector</a:t>
            </a:r>
            <a:r>
              <a:rPr b="0" lang="en-AU" sz="2600" spc="-1" strike="noStrike">
                <a:solidFill>
                  <a:srgbClr val="000000"/>
                </a:solidFill>
                <a:latin typeface="Arial"/>
              </a:rPr>
              <a:t>: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3" name="Picture 6" descr=""/>
          <p:cNvPicPr/>
          <p:nvPr/>
        </p:nvPicPr>
        <p:blipFill>
          <a:blip r:embed="rId2"/>
          <a:stretch/>
        </p:blipFill>
        <p:spPr>
          <a:xfrm>
            <a:off x="1763640" y="3645000"/>
            <a:ext cx="5315040" cy="636480"/>
          </a:xfrm>
          <a:prstGeom prst="rect">
            <a:avLst/>
          </a:prstGeom>
          <a:ln w="0">
            <a:noFill/>
          </a:ln>
        </p:spPr>
      </p:pic>
      <p:sp>
        <p:nvSpPr>
          <p:cNvPr id="44" name="Rectangle 7"/>
          <p:cNvSpPr/>
          <p:nvPr/>
        </p:nvSpPr>
        <p:spPr>
          <a:xfrm>
            <a:off x="324000" y="4653000"/>
            <a:ext cx="8280360" cy="136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marL="343080" indent="-343080">
              <a:spcBef>
                <a:spcPts val="64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AU" sz="2600" spc="-1" strike="noStrike">
                <a:solidFill>
                  <a:srgbClr val="000000"/>
                </a:solidFill>
                <a:latin typeface="Arial"/>
              </a:rPr>
              <a:t>this vector is usually described relative to an inertial coordinate system with origin in the mean free surface (h-frame, or s-frame). 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Line 8"/>
          <p:cNvSpPr/>
          <p:nvPr/>
        </p:nvSpPr>
        <p:spPr>
          <a:xfrm>
            <a:off x="7236000" y="1270080"/>
            <a:ext cx="0" cy="358560"/>
          </a:xfrm>
          <a:prstGeom prst="line">
            <a:avLst/>
          </a:prstGeom>
          <a:ln w="9360">
            <a:solidFill>
              <a:srgbClr val="0000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" name="Line 9"/>
          <p:cNvSpPr/>
          <p:nvPr/>
        </p:nvSpPr>
        <p:spPr>
          <a:xfrm flipV="1">
            <a:off x="7236000" y="980640"/>
            <a:ext cx="504720" cy="289080"/>
          </a:xfrm>
          <a:prstGeom prst="line">
            <a:avLst/>
          </a:prstGeom>
          <a:ln w="9360">
            <a:solidFill>
              <a:srgbClr val="0000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Line 10"/>
          <p:cNvSpPr/>
          <p:nvPr/>
        </p:nvSpPr>
        <p:spPr>
          <a:xfrm flipH="1" flipV="1">
            <a:off x="6804000" y="1197000"/>
            <a:ext cx="432000" cy="71280"/>
          </a:xfrm>
          <a:prstGeom prst="line">
            <a:avLst/>
          </a:prstGeom>
          <a:ln w="9360">
            <a:solidFill>
              <a:srgbClr val="0000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24480" bIns="2448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Line 11"/>
          <p:cNvSpPr/>
          <p:nvPr/>
        </p:nvSpPr>
        <p:spPr>
          <a:xfrm flipV="1">
            <a:off x="7883640" y="1846440"/>
            <a:ext cx="288720" cy="287280"/>
          </a:xfrm>
          <a:prstGeom prst="line">
            <a:avLst/>
          </a:prstGeom>
          <a:ln w="9360">
            <a:solidFill>
              <a:srgbClr val="ff0000"/>
            </a:solidFill>
            <a:miter/>
            <a:tailEnd len="med" type="arrow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Line 12"/>
          <p:cNvSpPr/>
          <p:nvPr/>
        </p:nvSpPr>
        <p:spPr>
          <a:xfrm flipV="1">
            <a:off x="7667640" y="2349360"/>
            <a:ext cx="289080" cy="216000"/>
          </a:xfrm>
          <a:prstGeom prst="line">
            <a:avLst/>
          </a:prstGeom>
          <a:ln w="9360">
            <a:solidFill>
              <a:srgbClr val="ff0000"/>
            </a:solidFill>
            <a:miter/>
            <a:tailEnd len="med" type="arrow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Oval 13"/>
          <p:cNvSpPr/>
          <p:nvPr/>
        </p:nvSpPr>
        <p:spPr>
          <a:xfrm>
            <a:off x="7596360" y="2565360"/>
            <a:ext cx="71280" cy="73080"/>
          </a:xfrm>
          <a:prstGeom prst="ellipse">
            <a:avLst/>
          </a:prstGeom>
          <a:solidFill>
            <a:srgbClr val="ff0000"/>
          </a:solidFill>
          <a:ln w="9360">
            <a:solidFill>
              <a:srgbClr val="ff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5400" bIns="54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Oval 14"/>
          <p:cNvSpPr/>
          <p:nvPr/>
        </p:nvSpPr>
        <p:spPr>
          <a:xfrm>
            <a:off x="7812000" y="2133720"/>
            <a:ext cx="71640" cy="73080"/>
          </a:xfrm>
          <a:prstGeom prst="ellipse">
            <a:avLst/>
          </a:prstGeom>
          <a:solidFill>
            <a:srgbClr val="ff0000"/>
          </a:solidFill>
          <a:ln w="9360">
            <a:solidFill>
              <a:srgbClr val="ff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5400" bIns="54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Line 15"/>
          <p:cNvSpPr/>
          <p:nvPr/>
        </p:nvSpPr>
        <p:spPr>
          <a:xfrm>
            <a:off x="7236000" y="1268280"/>
            <a:ext cx="576000" cy="865440"/>
          </a:xfrm>
          <a:prstGeom prst="line">
            <a:avLst/>
          </a:prstGeom>
          <a:ln w="9360">
            <a:solidFill>
              <a:srgbClr val="000000"/>
            </a:solidFill>
            <a:miter/>
            <a:tailEnd len="med" type="arrow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Text Box 16"/>
          <p:cNvSpPr/>
          <p:nvPr/>
        </p:nvSpPr>
        <p:spPr>
          <a:xfrm>
            <a:off x="7524720" y="1557360"/>
            <a:ext cx="35892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spcBef>
                <a:spcPts val="1125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AU" sz="1800" spc="-1" strike="noStrike">
                <a:solidFill>
                  <a:srgbClr val="000000"/>
                </a:solidFill>
                <a:latin typeface="Times New Roman"/>
              </a:rPr>
              <a:t>x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Text Box 17"/>
          <p:cNvSpPr/>
          <p:nvPr/>
        </p:nvSpPr>
        <p:spPr>
          <a:xfrm>
            <a:off x="7956720" y="1844640"/>
            <a:ext cx="86508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spcBef>
                <a:spcPts val="1125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AU" sz="1800" spc="-1" strike="noStrike">
                <a:solidFill>
                  <a:srgbClr val="000000"/>
                </a:solidFill>
                <a:latin typeface="Times New Roman"/>
              </a:rPr>
              <a:t>v</a:t>
            </a:r>
            <a:r>
              <a:rPr b="0" lang="en-AU" sz="1800" spc="-1" strike="noStrike">
                <a:solidFill>
                  <a:srgbClr val="000000"/>
                </a:solidFill>
                <a:latin typeface="Times New Roman"/>
              </a:rPr>
              <a:t>(</a:t>
            </a:r>
            <a:r>
              <a:rPr b="1" lang="en-AU" sz="1800" spc="-1" strike="noStrike">
                <a:solidFill>
                  <a:srgbClr val="000000"/>
                </a:solidFill>
                <a:latin typeface="Times New Roman"/>
              </a:rPr>
              <a:t>x</a:t>
            </a:r>
            <a:r>
              <a:rPr b="0" lang="en-AU" sz="1800" spc="-1" strike="noStrike">
                <a:solidFill>
                  <a:srgbClr val="000000"/>
                </a:solidFill>
                <a:latin typeface="Times New Roman"/>
              </a:rPr>
              <a:t>,t)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Line 18"/>
          <p:cNvSpPr/>
          <p:nvPr/>
        </p:nvSpPr>
        <p:spPr>
          <a:xfrm flipV="1">
            <a:off x="7885080" y="1052280"/>
            <a:ext cx="574560" cy="431640"/>
          </a:xfrm>
          <a:prstGeom prst="line">
            <a:avLst/>
          </a:prstGeom>
          <a:ln w="9360">
            <a:solidFill>
              <a:srgbClr val="ff0000"/>
            </a:solidFill>
            <a:miter/>
            <a:tailEnd len="med" type="arrow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Oval 19"/>
          <p:cNvSpPr/>
          <p:nvPr/>
        </p:nvSpPr>
        <p:spPr>
          <a:xfrm>
            <a:off x="7813800" y="1484280"/>
            <a:ext cx="71280" cy="73080"/>
          </a:xfrm>
          <a:prstGeom prst="ellipse">
            <a:avLst/>
          </a:prstGeom>
          <a:solidFill>
            <a:srgbClr val="ff0000"/>
          </a:solidFill>
          <a:ln w="9360">
            <a:solidFill>
              <a:srgbClr val="ff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5400" bIns="54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Date Placeholder 5"/>
          <p:cNvSpPr/>
          <p:nvPr/>
        </p:nvSpPr>
        <p:spPr>
          <a:xfrm>
            <a:off x="457200" y="6243480"/>
            <a:ext cx="21337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CA997EA4-EEE1-49BA-B6B3-D837B85F1C44}" type="datetime">
              <a:rPr b="0" lang="en-GB" sz="1200" spc="-1" strike="noStrike">
                <a:solidFill>
                  <a:srgbClr val="000000"/>
                </a:solidFill>
                <a:latin typeface="Garamond"/>
              </a:rPr>
              <a:t>06/06/26</a:t>
            </a:fld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Footer Placeholder 6"/>
          <p:cNvSpPr/>
          <p:nvPr/>
        </p:nvSpPr>
        <p:spPr>
          <a:xfrm>
            <a:off x="2843280" y="6248520"/>
            <a:ext cx="360036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AU" sz="1200" spc="-1" strike="noStrike">
                <a:solidFill>
                  <a:srgbClr val="000000"/>
                </a:solidFill>
                <a:latin typeface="Garamond"/>
              </a:rPr>
              <a:t>One-day Tutorial, CAMS'07, Bol, Croatia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Slide Number Placeholder 7"/>
          <p:cNvSpPr/>
          <p:nvPr/>
        </p:nvSpPr>
        <p:spPr>
          <a:xfrm>
            <a:off x="6553080" y="6243480"/>
            <a:ext cx="21337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3A2220CD-3D82-4868-95B9-62E00D6286C6}" type="slidenum">
              <a:rPr b="0" lang="en-AU" sz="1200" spc="-1" strike="noStrike">
                <a:solidFill>
                  <a:srgbClr val="000000"/>
                </a:solidFill>
                <a:latin typeface="Garamond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7920"/>
            <a:ext cx="8229600" cy="113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nb-NO" sz="4200" spc="-1" strike="noStrike">
                <a:solidFill>
                  <a:srgbClr val="006633"/>
                </a:solidFill>
                <a:latin typeface="Tahoma"/>
              </a:rPr>
              <a:t>Incompressible fluid</a:t>
            </a:r>
            <a:endParaRPr b="0" lang="en-US" sz="4200" spc="-1" strike="noStrike">
              <a:solidFill>
                <a:srgbClr val="006633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394920" y="1052280"/>
            <a:ext cx="8240760" cy="441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343080" indent="-343080">
              <a:lnSpc>
                <a:spcPct val="80000"/>
              </a:lnSpc>
              <a:spcBef>
                <a:spcPts val="55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200" spc="-1" strike="noStrike">
                <a:solidFill>
                  <a:srgbClr val="000000"/>
                </a:solidFill>
                <a:latin typeface="Arial"/>
              </a:rPr>
              <a:t>For the flow velocities involved in ship motion, the fluid can be considered </a:t>
            </a:r>
            <a:r>
              <a:rPr b="0" i="1" lang="en-US" sz="2200" spc="-1" strike="noStrike">
                <a:solidFill>
                  <a:srgbClr val="996600"/>
                </a:solidFill>
                <a:latin typeface="Arial"/>
              </a:rPr>
              <a:t>incompressible</a:t>
            </a:r>
            <a:r>
              <a:rPr b="0" lang="en-US" sz="2200" spc="-1" strike="noStrike">
                <a:solidFill>
                  <a:srgbClr val="000000"/>
                </a:solidFill>
                <a:latin typeface="Arial"/>
              </a:rPr>
              <a:t>, </a:t>
            </a:r>
            <a:r>
              <a:rPr b="0" i="1" lang="en-US" sz="2200" spc="-1" strike="noStrike">
                <a:solidFill>
                  <a:srgbClr val="000000"/>
                </a:solidFill>
                <a:latin typeface="Arial"/>
              </a:rPr>
              <a:t>i.e., </a:t>
            </a:r>
            <a:r>
              <a:rPr b="0" lang="en-US" sz="2200" spc="-1" strike="noStrike">
                <a:solidFill>
                  <a:srgbClr val="000000"/>
                </a:solidFill>
                <a:latin typeface="Arial"/>
              </a:rPr>
              <a:t>constant density. 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55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55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200" spc="-1" strike="noStrike">
                <a:solidFill>
                  <a:srgbClr val="000000"/>
                </a:solidFill>
                <a:latin typeface="Arial"/>
              </a:rPr>
              <a:t>Under this assumption, the net volume rate at a volume </a:t>
            </a:r>
            <a:r>
              <a:rPr b="0" lang="en-US" sz="2200" spc="-1" strike="noStrike">
                <a:solidFill>
                  <a:srgbClr val="000000"/>
                </a:solidFill>
                <a:latin typeface="Times New Roman"/>
              </a:rPr>
              <a:t>V</a:t>
            </a:r>
            <a:r>
              <a:rPr b="0" lang="en-US" sz="2200" spc="-1" strike="noStrike">
                <a:solidFill>
                  <a:srgbClr val="000000"/>
                </a:solidFill>
                <a:latin typeface="Arial"/>
              </a:rPr>
              <a:t> enclosed by a surface </a:t>
            </a:r>
            <a:r>
              <a:rPr b="0" i="1" lang="en-US" sz="2200" spc="-1" strike="noStrike">
                <a:solidFill>
                  <a:srgbClr val="000000"/>
                </a:solidFill>
                <a:latin typeface="Times New Roman"/>
              </a:rPr>
              <a:t>S</a:t>
            </a:r>
            <a:r>
              <a:rPr b="0" lang="en-US" sz="2200" spc="-1" strike="noStrike">
                <a:solidFill>
                  <a:srgbClr val="000000"/>
                </a:solidFill>
                <a:latin typeface="Arial"/>
              </a:rPr>
              <a:t> is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marL="343080" indent="0">
              <a:lnSpc>
                <a:spcPct val="80000"/>
              </a:lnSpc>
              <a:spcBef>
                <a:spcPts val="550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55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55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55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55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200" spc="-1" strike="noStrike">
                <a:solidFill>
                  <a:srgbClr val="000000"/>
                </a:solidFill>
                <a:latin typeface="Arial"/>
              </a:rPr>
              <a:t>since this is valid for all the regions </a:t>
            </a:r>
            <a:r>
              <a:rPr b="0" lang="en-US" sz="2200" spc="-1" strike="noStrike">
                <a:solidFill>
                  <a:srgbClr val="000000"/>
                </a:solidFill>
                <a:latin typeface="Times New Roman"/>
              </a:rPr>
              <a:t>V</a:t>
            </a:r>
            <a:r>
              <a:rPr b="0" lang="en-US" sz="2200" spc="-1" strike="noStrike">
                <a:solidFill>
                  <a:srgbClr val="000000"/>
                </a:solidFill>
                <a:latin typeface="Arial"/>
              </a:rPr>
              <a:t> in the fluid, then by assuming that            is continuous, we obtain the 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55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2200" spc="-1" strike="noStrike">
                <a:solidFill>
                  <a:srgbClr val="996600"/>
                </a:solidFill>
                <a:latin typeface="Arial"/>
              </a:rPr>
              <a:t>continuity equation </a:t>
            </a:r>
            <a:r>
              <a:rPr b="0" lang="en-US" sz="2200" spc="-1" strike="noStrike">
                <a:solidFill>
                  <a:srgbClr val="996600"/>
                </a:solidFill>
                <a:latin typeface="Arial"/>
              </a:rPr>
              <a:t>for incompressible flows</a:t>
            </a:r>
            <a:r>
              <a:rPr b="0" lang="en-US" sz="2200" spc="-1" strike="noStrike">
                <a:solidFill>
                  <a:srgbClr val="000000"/>
                </a:solidFill>
                <a:latin typeface="Arial"/>
              </a:rPr>
              <a:t>: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55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2" name="Picture 4" descr=""/>
          <p:cNvPicPr/>
          <p:nvPr/>
        </p:nvPicPr>
        <p:blipFill>
          <a:blip r:embed="rId1"/>
          <a:stretch/>
        </p:blipFill>
        <p:spPr>
          <a:xfrm>
            <a:off x="1835280" y="2637000"/>
            <a:ext cx="5167080" cy="1056960"/>
          </a:xfrm>
          <a:prstGeom prst="rect">
            <a:avLst/>
          </a:prstGeom>
          <a:ln w="0">
            <a:noFill/>
          </a:ln>
        </p:spPr>
      </p:pic>
      <p:pic>
        <p:nvPicPr>
          <p:cNvPr id="63" name="Picture 5" descr=""/>
          <p:cNvPicPr/>
          <p:nvPr/>
        </p:nvPicPr>
        <p:blipFill>
          <a:blip r:embed="rId2"/>
          <a:stretch/>
        </p:blipFill>
        <p:spPr>
          <a:xfrm>
            <a:off x="1619280" y="5013360"/>
            <a:ext cx="5810400" cy="1012680"/>
          </a:xfrm>
          <a:prstGeom prst="rect">
            <a:avLst/>
          </a:prstGeom>
          <a:ln w="0">
            <a:noFill/>
          </a:ln>
        </p:spPr>
      </p:pic>
      <p:pic>
        <p:nvPicPr>
          <p:cNvPr id="64" name="Picture 6" descr=""/>
          <p:cNvPicPr/>
          <p:nvPr/>
        </p:nvPicPr>
        <p:blipFill>
          <a:blip r:embed="rId3"/>
          <a:stretch/>
        </p:blipFill>
        <p:spPr>
          <a:xfrm>
            <a:off x="2627280" y="4186080"/>
            <a:ext cx="792360" cy="3985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Date Placeholder 5"/>
          <p:cNvSpPr/>
          <p:nvPr/>
        </p:nvSpPr>
        <p:spPr>
          <a:xfrm>
            <a:off x="457200" y="6243480"/>
            <a:ext cx="21337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771AA41F-2852-4BD8-A162-436A21A16DE4}" type="datetime">
              <a:rPr b="0" lang="en-GB" sz="1200" spc="-1" strike="noStrike">
                <a:solidFill>
                  <a:srgbClr val="000000"/>
                </a:solidFill>
                <a:latin typeface="Garamond"/>
              </a:rPr>
              <a:t>06/06/26</a:t>
            </a:fld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Footer Placeholder 6"/>
          <p:cNvSpPr/>
          <p:nvPr/>
        </p:nvSpPr>
        <p:spPr>
          <a:xfrm>
            <a:off x="2843280" y="6248520"/>
            <a:ext cx="360036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AU" sz="1200" spc="-1" strike="noStrike">
                <a:solidFill>
                  <a:srgbClr val="000000"/>
                </a:solidFill>
                <a:latin typeface="Garamond"/>
              </a:rPr>
              <a:t>One-day Tutorial, CAMS'07, Bol, Croatia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Slide Number Placeholder 7"/>
          <p:cNvSpPr/>
          <p:nvPr/>
        </p:nvSpPr>
        <p:spPr>
          <a:xfrm>
            <a:off x="6553080" y="6243480"/>
            <a:ext cx="21337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B98B400D-61FB-44D3-B26F-F334AB4E9F29}" type="slidenum">
              <a:rPr b="0" lang="en-AU" sz="1200" spc="-1" strike="noStrike">
                <a:solidFill>
                  <a:srgbClr val="000000"/>
                </a:solidFill>
                <a:latin typeface="Garamond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457200" y="277920"/>
            <a:ext cx="8229600" cy="113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nb-NO" sz="4200" spc="-1" strike="noStrike">
                <a:solidFill>
                  <a:srgbClr val="006633"/>
                </a:solidFill>
                <a:latin typeface="Tahoma"/>
              </a:rPr>
              <a:t>Material derivative</a:t>
            </a:r>
            <a:endParaRPr b="0" lang="en-US" sz="4200" spc="-1" strike="noStrike">
              <a:solidFill>
                <a:srgbClr val="006633"/>
              </a:solidFill>
              <a:latin typeface="Tahoma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/>
          </p:nvPr>
        </p:nvSpPr>
        <p:spPr>
          <a:xfrm>
            <a:off x="545760" y="969480"/>
            <a:ext cx="8310600" cy="4434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343080" indent="-343080">
              <a:spcBef>
                <a:spcPts val="64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600" spc="-1" strike="noStrike">
                <a:solidFill>
                  <a:srgbClr val="000000"/>
                </a:solidFill>
                <a:latin typeface="Arial"/>
              </a:rPr>
              <a:t>Let </a:t>
            </a:r>
            <a:r>
              <a:rPr b="0" i="1" lang="en-US" sz="2600" spc="-1" strike="noStrike">
                <a:solidFill>
                  <a:srgbClr val="000000"/>
                </a:solidFill>
                <a:latin typeface="Arial"/>
              </a:rPr>
              <a:t>                    </a:t>
            </a:r>
            <a:r>
              <a:rPr b="0" lang="en-US" sz="2600" spc="-1" strike="noStrike">
                <a:solidFill>
                  <a:srgbClr val="000000"/>
                </a:solidFill>
                <a:latin typeface="Arial"/>
              </a:rPr>
              <a:t> be a scalar function and </a:t>
            </a:r>
            <a:r>
              <a:rPr b="1" i="1" lang="en-US" sz="2600" spc="-1" strike="noStrike">
                <a:solidFill>
                  <a:srgbClr val="000000"/>
                </a:solidFill>
                <a:latin typeface="Arial"/>
              </a:rPr>
              <a:t>                  </a:t>
            </a:r>
            <a:r>
              <a:rPr b="0" lang="en-US" sz="2600" spc="-1" strike="noStrike">
                <a:solidFill>
                  <a:srgbClr val="000000"/>
                </a:solidFill>
                <a:latin typeface="Arial"/>
              </a:rPr>
              <a:t> a vector-valued function; then,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spcBef>
                <a:spcPts val="64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spcBef>
                <a:spcPts val="64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spcBef>
                <a:spcPts val="64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spcBef>
                <a:spcPts val="64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spcBef>
                <a:spcPts val="64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600" spc="-1" strike="noStrike">
                <a:solidFill>
                  <a:srgbClr val="000000"/>
                </a:solidFill>
                <a:latin typeface="Arial"/>
              </a:rPr>
              <a:t>If these are taken for the function 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spcBef>
                <a:spcPts val="64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600" spc="-1" strike="noStrike">
                <a:solidFill>
                  <a:srgbClr val="000000"/>
                </a:solidFill>
                <a:latin typeface="Arial"/>
              </a:rPr>
              <a:t>then we have a special notation—</a:t>
            </a:r>
            <a:r>
              <a:rPr b="0" lang="en-US" sz="2600" spc="-1" strike="noStrike">
                <a:solidFill>
                  <a:srgbClr val="996600"/>
                </a:solidFill>
                <a:latin typeface="Arial"/>
              </a:rPr>
              <a:t>material derivative: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spcBef>
                <a:spcPts val="64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spcBef>
                <a:spcPts val="64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0" name="Picture 4" descr=""/>
          <p:cNvPicPr/>
          <p:nvPr/>
        </p:nvPicPr>
        <p:blipFill>
          <a:blip r:embed="rId1"/>
          <a:stretch/>
        </p:blipFill>
        <p:spPr>
          <a:xfrm>
            <a:off x="1332000" y="1052640"/>
            <a:ext cx="1603440" cy="395280"/>
          </a:xfrm>
          <a:prstGeom prst="rect">
            <a:avLst/>
          </a:prstGeom>
          <a:ln w="0">
            <a:noFill/>
          </a:ln>
        </p:spPr>
      </p:pic>
      <p:pic>
        <p:nvPicPr>
          <p:cNvPr id="71" name="Picture 5" descr=""/>
          <p:cNvPicPr/>
          <p:nvPr/>
        </p:nvPicPr>
        <p:blipFill>
          <a:blip r:embed="rId2"/>
          <a:stretch/>
        </p:blipFill>
        <p:spPr>
          <a:xfrm>
            <a:off x="6804000" y="981000"/>
            <a:ext cx="1528920" cy="451080"/>
          </a:xfrm>
          <a:prstGeom prst="rect">
            <a:avLst/>
          </a:prstGeom>
          <a:ln w="0">
            <a:noFill/>
          </a:ln>
        </p:spPr>
      </p:pic>
      <p:pic>
        <p:nvPicPr>
          <p:cNvPr id="72" name="Picture 6" descr=""/>
          <p:cNvPicPr/>
          <p:nvPr/>
        </p:nvPicPr>
        <p:blipFill>
          <a:blip r:embed="rId3"/>
          <a:stretch/>
        </p:blipFill>
        <p:spPr>
          <a:xfrm>
            <a:off x="2484360" y="1989000"/>
            <a:ext cx="4497480" cy="1554480"/>
          </a:xfrm>
          <a:prstGeom prst="rect">
            <a:avLst/>
          </a:prstGeom>
          <a:ln w="0">
            <a:noFill/>
          </a:ln>
        </p:spPr>
      </p:pic>
      <p:pic>
        <p:nvPicPr>
          <p:cNvPr id="73" name="Picture 7" descr=""/>
          <p:cNvPicPr/>
          <p:nvPr/>
        </p:nvPicPr>
        <p:blipFill>
          <a:blip r:embed="rId4"/>
          <a:stretch/>
        </p:blipFill>
        <p:spPr>
          <a:xfrm>
            <a:off x="5651640" y="3789360"/>
            <a:ext cx="2840040" cy="420840"/>
          </a:xfrm>
          <a:prstGeom prst="rect">
            <a:avLst/>
          </a:prstGeom>
          <a:ln w="0">
            <a:noFill/>
          </a:ln>
        </p:spPr>
      </p:pic>
      <p:pic>
        <p:nvPicPr>
          <p:cNvPr id="74" name="Picture 8" descr=""/>
          <p:cNvPicPr/>
          <p:nvPr/>
        </p:nvPicPr>
        <p:blipFill>
          <a:blip r:embed="rId5"/>
          <a:stretch/>
        </p:blipFill>
        <p:spPr>
          <a:xfrm>
            <a:off x="1332000" y="5084640"/>
            <a:ext cx="6602400" cy="8287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Date Placeholder 3"/>
          <p:cNvSpPr/>
          <p:nvPr/>
        </p:nvSpPr>
        <p:spPr>
          <a:xfrm>
            <a:off x="457200" y="6243480"/>
            <a:ext cx="21337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58CA4AB1-DBD0-4686-9ABE-FC45FA7D0033}" type="datetime">
              <a:rPr b="0" lang="en-GB" sz="1200" spc="-1" strike="noStrike">
                <a:solidFill>
                  <a:srgbClr val="000000"/>
                </a:solidFill>
                <a:latin typeface="Garamond"/>
              </a:rPr>
              <a:t>06/06/26</a:t>
            </a:fld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Footer Placeholder 4"/>
          <p:cNvSpPr/>
          <p:nvPr/>
        </p:nvSpPr>
        <p:spPr>
          <a:xfrm>
            <a:off x="2843280" y="6248520"/>
            <a:ext cx="360036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AU" sz="1200" spc="-1" strike="noStrike">
                <a:solidFill>
                  <a:srgbClr val="000000"/>
                </a:solidFill>
                <a:latin typeface="Garamond"/>
              </a:rPr>
              <a:t>One-day Tutorial, CAMS'07, Bol, Croatia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Slide Number Placeholder 5"/>
          <p:cNvSpPr/>
          <p:nvPr/>
        </p:nvSpPr>
        <p:spPr>
          <a:xfrm>
            <a:off x="6553080" y="6243480"/>
            <a:ext cx="21337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3D7292EA-7057-4F77-8691-840B547B6D4C}" type="slidenum">
              <a:rPr b="0" lang="en-AU" sz="1200" spc="-1" strike="noStrike">
                <a:solidFill>
                  <a:srgbClr val="000000"/>
                </a:solidFill>
                <a:latin typeface="Garamond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Rectangle 2"/>
          <p:cNvSpPr/>
          <p:nvPr/>
        </p:nvSpPr>
        <p:spPr>
          <a:xfrm>
            <a:off x="684360" y="2924280"/>
            <a:ext cx="7707240" cy="105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marL="343080" indent="-343080">
              <a:lnSpc>
                <a:spcPct val="100000"/>
              </a:lnSpc>
              <a:spcBef>
                <a:spcPts val="524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700" spc="-1" strike="noStrike">
                <a:solidFill>
                  <a:srgbClr val="000000"/>
                </a:solidFill>
                <a:latin typeface="Times New Roman"/>
              </a:rPr>
              <a:t>F</a:t>
            </a:r>
            <a:r>
              <a:rPr b="1" lang="en-US" sz="21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2100" spc="-1" strike="noStrike">
                <a:solidFill>
                  <a:srgbClr val="000000"/>
                </a:solidFill>
                <a:latin typeface="Arial"/>
              </a:rPr>
              <a:t>are accelerations due to volumetric forces: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spcBef>
                <a:spcPts val="524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100" spc="-1" strike="noStrike">
                <a:solidFill>
                  <a:srgbClr val="000000"/>
                </a:solidFill>
                <a:latin typeface="Arial"/>
              </a:rPr>
              <a:t>                    </a:t>
            </a:r>
            <a:r>
              <a:rPr b="0" lang="en-US" sz="2100" spc="-1" strike="noStrike">
                <a:solidFill>
                  <a:srgbClr val="000000"/>
                </a:solidFill>
                <a:latin typeface="Arial"/>
              </a:rPr>
              <a:t>is the pressure, and </a:t>
            </a:r>
            <a:r>
              <a:rPr b="0" i="1" lang="en-US" sz="2100" spc="-1" strike="noStrike">
                <a:solidFill>
                  <a:srgbClr val="000000"/>
                </a:solidFill>
                <a:latin typeface="Times New Roman"/>
              </a:rPr>
              <a:t>μ</a:t>
            </a:r>
            <a:r>
              <a:rPr b="0" lang="en-US" sz="2100" spc="-1" strike="noStrike">
                <a:solidFill>
                  <a:srgbClr val="000000"/>
                </a:solidFill>
                <a:latin typeface="Arial"/>
              </a:rPr>
              <a:t> is the viscosity of the fluid.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spcBef>
                <a:spcPts val="524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spcBef>
                <a:spcPts val="524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7920"/>
            <a:ext cx="8229600" cy="113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nb-NO" sz="4200" spc="-1" strike="noStrike">
                <a:solidFill>
                  <a:srgbClr val="006633"/>
                </a:solidFill>
                <a:latin typeface="Tahoma"/>
              </a:rPr>
              <a:t>Flow equations</a:t>
            </a:r>
            <a:endParaRPr b="0" lang="en-US" sz="4200" spc="-1" strike="noStrike">
              <a:solidFill>
                <a:srgbClr val="006633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15800" y="1103400"/>
            <a:ext cx="7772400" cy="3432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343080" indent="-343080">
              <a:spcBef>
                <a:spcPts val="7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100" spc="-1" strike="noStrike">
                <a:solidFill>
                  <a:srgbClr val="000000"/>
                </a:solidFill>
                <a:latin typeface="Arial"/>
              </a:rPr>
              <a:t>The conservation of momentum in the flow is described by the </a:t>
            </a:r>
            <a:r>
              <a:rPr b="0" i="1" lang="en-US" sz="2100" spc="-1" strike="noStrike">
                <a:solidFill>
                  <a:srgbClr val="afbf39"/>
                </a:solidFill>
                <a:latin typeface="Arial"/>
              </a:rPr>
              <a:t>Navier-Stokes (N-S) Equation:</a:t>
            </a:r>
            <a:r>
              <a:rPr b="0" i="1" lang="en-US" sz="3000" spc="-1" strike="noStrike">
                <a:solidFill>
                  <a:srgbClr val="0000ff"/>
                </a:solidFill>
                <a:latin typeface="Arial"/>
              </a:rPr>
              <a:t> 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  <a:p>
            <a:pPr marL="343080" indent="0">
              <a:spcBef>
                <a:spcPts val="751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Text Box 5"/>
          <p:cNvSpPr/>
          <p:nvPr/>
        </p:nvSpPr>
        <p:spPr>
          <a:xfrm>
            <a:off x="611280" y="3933720"/>
            <a:ext cx="8040600" cy="178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360" rIns="90360" tIns="44280" bIns="44280" anchor="t">
            <a:spAutoFit/>
          </a:bodyPr>
          <a:p>
            <a:pPr>
              <a:buClr>
                <a:srgbClr val="cc9900"/>
              </a:buClr>
              <a:buSzPct val="110000"/>
              <a:buFont typeface="Wingdings" charset="2"/>
              <a:buChar char="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2100" spc="-1" strike="noStrike">
                <a:solidFill>
                  <a:srgbClr val="000000"/>
                </a:solidFill>
                <a:latin typeface="Arial"/>
              </a:rPr>
              <a:t>Unknowns:</a:t>
            </a:r>
            <a:r>
              <a:rPr b="0" lang="en-US" sz="2400" spc="-1" strike="noStrike">
                <a:solidFill>
                  <a:srgbClr val="000000"/>
                </a:solidFill>
                <a:latin typeface="Times New Roman"/>
              </a:rPr>
              <a:t> </a:t>
            </a:r>
            <a:r>
              <a:rPr b="1" lang="en-US" sz="2400" spc="-1" strike="noStrike">
                <a:solidFill>
                  <a:srgbClr val="000000"/>
                </a:solidFill>
                <a:latin typeface="Times New Roman"/>
              </a:rPr>
              <a:t>v </a:t>
            </a:r>
            <a:r>
              <a:rPr b="0" lang="en-US" sz="2100" spc="-1" strike="noStrike">
                <a:solidFill>
                  <a:srgbClr val="000000"/>
                </a:solidFill>
                <a:latin typeface="Arial"/>
              </a:rPr>
              <a:t>and</a:t>
            </a:r>
            <a:r>
              <a:rPr b="0" lang="en-US" sz="2400" spc="-1" strike="noStrike">
                <a:solidFill>
                  <a:srgbClr val="000000"/>
                </a:solidFill>
                <a:latin typeface="Times New Roman"/>
              </a:rPr>
              <a:t> </a:t>
            </a:r>
            <a:r>
              <a:rPr b="0" i="1" lang="en-US" sz="2400" spc="-1" strike="noStrike">
                <a:solidFill>
                  <a:srgbClr val="000000"/>
                </a:solidFill>
                <a:latin typeface="Times New Roman"/>
              </a:rPr>
              <a:t>p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buClr>
                <a:srgbClr val="cc9900"/>
              </a:buClr>
              <a:buSzPct val="110000"/>
              <a:buFont typeface="Wingdings" charset="2"/>
              <a:buChar char="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imes New Roman"/>
              </a:rPr>
              <a:t> </a:t>
            </a:r>
            <a:r>
              <a:rPr b="0" lang="en-US" sz="2100" spc="-1" strike="noStrike">
                <a:solidFill>
                  <a:srgbClr val="000000"/>
                </a:solidFill>
                <a:latin typeface="Arial"/>
              </a:rPr>
              <a:t>N-S + Continuity eq. form a system of Nonlinear PDE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>
              <a:buClr>
                <a:srgbClr val="cc9900"/>
              </a:buClr>
              <a:buSzPct val="110000"/>
              <a:buFont typeface="Wingdings" charset="2"/>
              <a:buChar char="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1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2100" spc="-1" strike="noStrike">
                <a:solidFill>
                  <a:srgbClr val="000000"/>
                </a:solidFill>
                <a:latin typeface="Arial"/>
              </a:rPr>
              <a:t>No analytical solution exists for realistic ship flows.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>
              <a:buClr>
                <a:srgbClr val="cc9900"/>
              </a:buClr>
              <a:buSzPct val="110000"/>
              <a:buFont typeface="Wingdings" charset="2"/>
              <a:buChar char="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1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2100" spc="-1" strike="noStrike">
                <a:solidFill>
                  <a:srgbClr val="000000"/>
                </a:solidFill>
                <a:latin typeface="Arial"/>
              </a:rPr>
              <a:t>Numerical solutions are still far from feasible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>
              <a:buClr>
                <a:srgbClr val="cc9900"/>
              </a:buClr>
              <a:buSzPct val="110000"/>
              <a:buFont typeface="Wingdings" charset="2"/>
              <a:buChar char="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1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2100" spc="-1" strike="noStrike">
                <a:solidFill>
                  <a:srgbClr val="000000"/>
                </a:solidFill>
                <a:latin typeface="Arial"/>
              </a:rPr>
              <a:t>Practical approaches: RANS (CFD)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2" name="Picture 6" descr=""/>
          <p:cNvPicPr/>
          <p:nvPr/>
        </p:nvPicPr>
        <p:blipFill>
          <a:blip r:embed="rId1"/>
          <a:stretch/>
        </p:blipFill>
        <p:spPr>
          <a:xfrm>
            <a:off x="2700360" y="1989000"/>
            <a:ext cx="3444840" cy="862200"/>
          </a:xfrm>
          <a:prstGeom prst="rect">
            <a:avLst/>
          </a:prstGeom>
          <a:ln w="0">
            <a:noFill/>
          </a:ln>
        </p:spPr>
      </p:pic>
      <p:pic>
        <p:nvPicPr>
          <p:cNvPr id="83" name="Picture 7" descr=""/>
          <p:cNvPicPr/>
          <p:nvPr/>
        </p:nvPicPr>
        <p:blipFill>
          <a:blip r:embed="rId2"/>
          <a:stretch/>
        </p:blipFill>
        <p:spPr>
          <a:xfrm>
            <a:off x="611280" y="3284640"/>
            <a:ext cx="1577880" cy="506160"/>
          </a:xfrm>
          <a:prstGeom prst="rect">
            <a:avLst/>
          </a:prstGeom>
          <a:ln w="0">
            <a:noFill/>
          </a:ln>
        </p:spPr>
      </p:pic>
      <p:pic>
        <p:nvPicPr>
          <p:cNvPr id="84" name="Picture 8" descr=""/>
          <p:cNvPicPr/>
          <p:nvPr/>
        </p:nvPicPr>
        <p:blipFill>
          <a:blip r:embed="rId3"/>
          <a:stretch/>
        </p:blipFill>
        <p:spPr>
          <a:xfrm>
            <a:off x="6156360" y="2852640"/>
            <a:ext cx="2073240" cy="5065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Date Placeholder 3"/>
          <p:cNvSpPr/>
          <p:nvPr/>
        </p:nvSpPr>
        <p:spPr>
          <a:xfrm>
            <a:off x="457200" y="6243480"/>
            <a:ext cx="21337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80B589C1-475E-4468-8904-4C3B672EC879}" type="datetime">
              <a:rPr b="0" lang="en-GB" sz="1200" spc="-1" strike="noStrike">
                <a:solidFill>
                  <a:srgbClr val="000000"/>
                </a:solidFill>
                <a:latin typeface="Garamond"/>
              </a:rPr>
              <a:t>06/06/26</a:t>
            </a:fld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Footer Placeholder 4"/>
          <p:cNvSpPr/>
          <p:nvPr/>
        </p:nvSpPr>
        <p:spPr>
          <a:xfrm>
            <a:off x="2843280" y="6248520"/>
            <a:ext cx="360036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AU" sz="1200" spc="-1" strike="noStrike">
                <a:solidFill>
                  <a:srgbClr val="000000"/>
                </a:solidFill>
                <a:latin typeface="Garamond"/>
              </a:rPr>
              <a:t>One-day Tutorial, CAMS'07, Bol, Croatia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Slide Number Placeholder 5"/>
          <p:cNvSpPr/>
          <p:nvPr/>
        </p:nvSpPr>
        <p:spPr>
          <a:xfrm>
            <a:off x="6553080" y="6243480"/>
            <a:ext cx="21337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21265ED3-EDBF-438A-AEC4-C70B648B7D79}" type="slidenum">
              <a:rPr b="0" lang="en-AU" sz="1200" spc="-1" strike="noStrike">
                <a:solidFill>
                  <a:srgbClr val="000000"/>
                </a:solidFill>
                <a:latin typeface="Garamond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457200" y="277920"/>
            <a:ext cx="8229600" cy="113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nb-NO" sz="4200" spc="-1" strike="noStrike">
                <a:solidFill>
                  <a:srgbClr val="006633"/>
                </a:solidFill>
                <a:latin typeface="Tahoma"/>
              </a:rPr>
              <a:t>Potential theory</a:t>
            </a:r>
            <a:endParaRPr b="0" lang="en-US" sz="4200" spc="-1" strike="noStrike">
              <a:solidFill>
                <a:srgbClr val="006633"/>
              </a:solidFill>
              <a:latin typeface="Tahoma"/>
            </a:endParaRPr>
          </a:p>
        </p:txBody>
      </p:sp>
      <p:sp>
        <p:nvSpPr>
          <p:cNvPr id="89" name="PlaceHolder 2"/>
          <p:cNvSpPr>
            <a:spLocks noGrp="1"/>
          </p:cNvSpPr>
          <p:nvPr>
            <p:ph/>
          </p:nvPr>
        </p:nvSpPr>
        <p:spPr>
          <a:xfrm>
            <a:off x="469800" y="1068120"/>
            <a:ext cx="7772400" cy="1685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343080" indent="-343080">
              <a:spcBef>
                <a:spcPts val="64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600" spc="-1" strike="noStrike">
                <a:solidFill>
                  <a:srgbClr val="000000"/>
                </a:solidFill>
                <a:latin typeface="Arial"/>
              </a:rPr>
              <a:t>A further simplification is obtained by assuming that the </a:t>
            </a:r>
            <a:r>
              <a:rPr b="0" lang="en-US" sz="2600" spc="-1" strike="noStrike">
                <a:solidFill>
                  <a:srgbClr val="996600"/>
                </a:solidFill>
                <a:latin typeface="Arial"/>
              </a:rPr>
              <a:t>fluid is </a:t>
            </a:r>
            <a:r>
              <a:rPr b="0" i="1" lang="en-US" sz="2600" spc="-1" strike="noStrike">
                <a:solidFill>
                  <a:srgbClr val="996600"/>
                </a:solidFill>
                <a:latin typeface="Arial"/>
              </a:rPr>
              <a:t>inviscid</a:t>
            </a:r>
            <a:r>
              <a:rPr b="0" lang="en-US" sz="2600" spc="-1" strike="noStrike">
                <a:solidFill>
                  <a:srgbClr val="000000"/>
                </a:solidFill>
                <a:latin typeface="Arial"/>
              </a:rPr>
              <a:t> and the </a:t>
            </a:r>
            <a:r>
              <a:rPr b="0" lang="en-US" sz="2600" spc="-1" strike="noStrike">
                <a:solidFill>
                  <a:srgbClr val="996600"/>
                </a:solidFill>
                <a:latin typeface="Arial"/>
              </a:rPr>
              <a:t>flow is </a:t>
            </a:r>
            <a:r>
              <a:rPr b="0" i="1" lang="en-US" sz="2600" spc="-1" strike="noStrike">
                <a:solidFill>
                  <a:srgbClr val="996600"/>
                </a:solidFill>
                <a:latin typeface="Arial"/>
              </a:rPr>
              <a:t>irrotational</a:t>
            </a:r>
            <a:r>
              <a:rPr b="0" i="1" lang="en-US" sz="2600" spc="-1" strike="noStrike">
                <a:solidFill>
                  <a:srgbClr val="000000"/>
                </a:solidFill>
                <a:latin typeface="Arial"/>
              </a:rPr>
              <a:t>. </a:t>
            </a:r>
            <a:r>
              <a:rPr b="0" lang="en-US" sz="2600" spc="-1" strike="noStrike">
                <a:solidFill>
                  <a:srgbClr val="000000"/>
                </a:solidFill>
                <a:latin typeface="Arial"/>
              </a:rPr>
              <a:t>Irrotaional means that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spcBef>
                <a:spcPts val="64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Rectangle 4"/>
          <p:cNvSpPr/>
          <p:nvPr/>
        </p:nvSpPr>
        <p:spPr>
          <a:xfrm>
            <a:off x="324000" y="3429000"/>
            <a:ext cx="8508960" cy="168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marL="343080" indent="-343080">
              <a:spcBef>
                <a:spcPts val="64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600" spc="-1" strike="noStrike">
                <a:solidFill>
                  <a:srgbClr val="000000"/>
                </a:solidFill>
                <a:latin typeface="Arial"/>
              </a:rPr>
              <a:t>Under this assumption, then exists a scalar function     called </a:t>
            </a:r>
            <a:r>
              <a:rPr b="0" i="1" lang="en-US" sz="2600" spc="-1" strike="noStrike">
                <a:solidFill>
                  <a:srgbClr val="996600"/>
                </a:solidFill>
                <a:latin typeface="Arial"/>
              </a:rPr>
              <a:t>potential</a:t>
            </a:r>
            <a:r>
              <a:rPr b="0" i="1" lang="en-US" sz="2600" spc="-1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2600" spc="-1" strike="noStrike">
                <a:solidFill>
                  <a:srgbClr val="000000"/>
                </a:solidFill>
                <a:latin typeface="Arial"/>
              </a:rPr>
              <a:t>such that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spcBef>
                <a:spcPts val="64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1" name="Picture 5" descr=""/>
          <p:cNvPicPr/>
          <p:nvPr/>
        </p:nvPicPr>
        <p:blipFill>
          <a:blip r:embed="rId1"/>
          <a:stretch/>
        </p:blipFill>
        <p:spPr>
          <a:xfrm>
            <a:off x="8101080" y="3500280"/>
            <a:ext cx="290520" cy="360360"/>
          </a:xfrm>
          <a:prstGeom prst="rect">
            <a:avLst/>
          </a:prstGeom>
          <a:ln w="0">
            <a:noFill/>
          </a:ln>
        </p:spPr>
      </p:pic>
      <p:sp>
        <p:nvSpPr>
          <p:cNvPr id="92" name="Rectangle 6"/>
          <p:cNvSpPr/>
          <p:nvPr/>
        </p:nvSpPr>
        <p:spPr>
          <a:xfrm>
            <a:off x="250920" y="5229360"/>
            <a:ext cx="8682120" cy="112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marL="343080" indent="-343080">
              <a:spcBef>
                <a:spcPts val="64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600" spc="-1" strike="noStrike">
                <a:solidFill>
                  <a:srgbClr val="996600"/>
                </a:solidFill>
                <a:latin typeface="Arial"/>
              </a:rPr>
              <a:t>So, if we know the potential, we can calculate the flow velocity vector (the gradient of the potential).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3" name="Picture 7" descr=""/>
          <p:cNvPicPr/>
          <p:nvPr/>
        </p:nvPicPr>
        <p:blipFill>
          <a:blip r:embed="rId2"/>
          <a:stretch/>
        </p:blipFill>
        <p:spPr>
          <a:xfrm>
            <a:off x="2700360" y="2421000"/>
            <a:ext cx="3235320" cy="604800"/>
          </a:xfrm>
          <a:prstGeom prst="rect">
            <a:avLst/>
          </a:prstGeom>
          <a:ln w="0">
            <a:noFill/>
          </a:ln>
        </p:spPr>
      </p:pic>
      <p:pic>
        <p:nvPicPr>
          <p:cNvPr id="94" name="Picture 8" descr=""/>
          <p:cNvPicPr/>
          <p:nvPr/>
        </p:nvPicPr>
        <p:blipFill>
          <a:blip r:embed="rId3"/>
          <a:stretch/>
        </p:blipFill>
        <p:spPr>
          <a:xfrm>
            <a:off x="3564000" y="4508640"/>
            <a:ext cx="1255680" cy="5382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nodeType="click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Date Placeholder 3"/>
          <p:cNvSpPr/>
          <p:nvPr/>
        </p:nvSpPr>
        <p:spPr>
          <a:xfrm>
            <a:off x="457200" y="6243480"/>
            <a:ext cx="21337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C3538BA9-E40B-4A2B-9A39-217AD1EDCBF0}" type="datetime">
              <a:rPr b="0" lang="en-GB" sz="1200" spc="-1" strike="noStrike">
                <a:solidFill>
                  <a:srgbClr val="000000"/>
                </a:solidFill>
                <a:latin typeface="Garamond"/>
              </a:rPr>
              <a:t>06/06/26</a:t>
            </a:fld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Footer Placeholder 4"/>
          <p:cNvSpPr/>
          <p:nvPr/>
        </p:nvSpPr>
        <p:spPr>
          <a:xfrm>
            <a:off x="2843280" y="6248520"/>
            <a:ext cx="360036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AU" sz="1200" spc="-1" strike="noStrike">
                <a:solidFill>
                  <a:srgbClr val="000000"/>
                </a:solidFill>
                <a:latin typeface="Garamond"/>
              </a:rPr>
              <a:t>One-day Tutorial, CAMS'07, Bol, Croatia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Slide Number Placeholder 5"/>
          <p:cNvSpPr/>
          <p:nvPr/>
        </p:nvSpPr>
        <p:spPr>
          <a:xfrm>
            <a:off x="6553080" y="6243480"/>
            <a:ext cx="21337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C6CC8F93-9B8F-4A12-8CD3-4D0E477A225F}" type="slidenum">
              <a:rPr b="0" lang="en-AU" sz="1200" spc="-1" strike="noStrike">
                <a:solidFill>
                  <a:srgbClr val="000000"/>
                </a:solidFill>
                <a:latin typeface="Garamond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7920"/>
            <a:ext cx="8229600" cy="113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nb-NO" sz="4200" spc="-1" strike="noStrike">
                <a:solidFill>
                  <a:srgbClr val="006633"/>
                </a:solidFill>
                <a:latin typeface="Tahoma"/>
              </a:rPr>
              <a:t>How do we obtain the potential?</a:t>
            </a:r>
            <a:endParaRPr b="0" lang="en-US" sz="4200" spc="-1" strike="noStrike">
              <a:solidFill>
                <a:srgbClr val="006633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17600" y="1163520"/>
            <a:ext cx="7772400" cy="1697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343080" indent="-343080">
              <a:spcBef>
                <a:spcPts val="7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000" spc="-1" strike="noStrike">
                <a:solidFill>
                  <a:srgbClr val="000000"/>
                </a:solidFill>
                <a:latin typeface="Arial"/>
              </a:rPr>
              <a:t>In potential theory,  the continuity equation reverts to the </a:t>
            </a:r>
            <a:r>
              <a:rPr b="0" i="1" lang="en-US" sz="3000" spc="-1" strike="noStrike">
                <a:solidFill>
                  <a:srgbClr val="996600"/>
                </a:solidFill>
                <a:latin typeface="Arial"/>
              </a:rPr>
              <a:t>Laplacian</a:t>
            </a:r>
            <a:r>
              <a:rPr b="0" lang="en-US" sz="3000" spc="-1" strike="noStrike">
                <a:solidFill>
                  <a:srgbClr val="000000"/>
                </a:solidFill>
                <a:latin typeface="Arial"/>
              </a:rPr>
              <a:t> of the potential equal to zero: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spcBef>
                <a:spcPts val="7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Rectangle 4"/>
          <p:cNvSpPr/>
          <p:nvPr/>
        </p:nvSpPr>
        <p:spPr>
          <a:xfrm>
            <a:off x="468360" y="3789360"/>
            <a:ext cx="7804080" cy="240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marL="343080" indent="-343080">
              <a:spcBef>
                <a:spcPts val="64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600" spc="-1" strike="noStrike">
                <a:solidFill>
                  <a:srgbClr val="000000"/>
                </a:solidFill>
                <a:latin typeface="Arial"/>
              </a:rPr>
              <a:t>The potential is, thus, obtained by solving this  subject to appropriate boundary conditions, </a:t>
            </a:r>
            <a:r>
              <a:rPr b="0" i="1" lang="en-US" sz="2600" spc="-1" strike="noStrike">
                <a:solidFill>
                  <a:srgbClr val="000000"/>
                </a:solidFill>
                <a:latin typeface="Arial"/>
              </a:rPr>
              <a:t>i.e., </a:t>
            </a:r>
            <a:r>
              <a:rPr b="0" lang="en-US" sz="2600" spc="-1" strike="noStrike">
                <a:solidFill>
                  <a:srgbClr val="000000"/>
                </a:solidFill>
                <a:latin typeface="Arial"/>
              </a:rPr>
              <a:t>by solving a </a:t>
            </a:r>
            <a:r>
              <a:rPr b="0" lang="en-US" sz="2600" spc="-1" strike="noStrike">
                <a:solidFill>
                  <a:srgbClr val="996600"/>
                </a:solidFill>
                <a:latin typeface="Arial"/>
              </a:rPr>
              <a:t>boundary value problem (VBP).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spcBef>
                <a:spcPts val="64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algn="ctr">
              <a:spcBef>
                <a:spcPts val="55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200" spc="-1" strike="noStrike">
                <a:solidFill>
                  <a:srgbClr val="000000"/>
                </a:solidFill>
                <a:latin typeface="Arial"/>
              </a:rPr>
              <a:t>The Laplace Equation is linear ⇔ Superposition of flows.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1" name="Picture 5" descr=""/>
          <p:cNvPicPr/>
          <p:nvPr/>
        </p:nvPicPr>
        <p:blipFill>
          <a:blip r:embed="rId1"/>
          <a:stretch/>
        </p:blipFill>
        <p:spPr>
          <a:xfrm>
            <a:off x="2268360" y="2565360"/>
            <a:ext cx="4548240" cy="10936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Date Placeholder 3"/>
          <p:cNvSpPr/>
          <p:nvPr/>
        </p:nvSpPr>
        <p:spPr>
          <a:xfrm>
            <a:off x="457200" y="6243480"/>
            <a:ext cx="21337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FF94CA86-4264-4971-BEB4-D0455C2B2E3D}" type="datetime">
              <a:rPr b="0" lang="en-GB" sz="1200" spc="-1" strike="noStrike">
                <a:solidFill>
                  <a:srgbClr val="000000"/>
                </a:solidFill>
                <a:latin typeface="Garamond"/>
              </a:rPr>
              <a:t>06/06/26</a:t>
            </a:fld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Footer Placeholder 4"/>
          <p:cNvSpPr/>
          <p:nvPr/>
        </p:nvSpPr>
        <p:spPr>
          <a:xfrm>
            <a:off x="2843280" y="6248520"/>
            <a:ext cx="360036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AU" sz="1200" spc="-1" strike="noStrike">
                <a:solidFill>
                  <a:srgbClr val="000000"/>
                </a:solidFill>
                <a:latin typeface="Garamond"/>
              </a:rPr>
              <a:t>One-day Tutorial, CAMS'07, Bol, Croatia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Slide Number Placeholder 5"/>
          <p:cNvSpPr/>
          <p:nvPr/>
        </p:nvSpPr>
        <p:spPr>
          <a:xfrm>
            <a:off x="6553080" y="6243480"/>
            <a:ext cx="21337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4E50FB30-F3C1-45C8-BC11-C494859B515C}" type="slidenum">
              <a:rPr b="0" lang="en-AU" sz="1200" spc="-1" strike="noStrike">
                <a:solidFill>
                  <a:srgbClr val="000000"/>
                </a:solidFill>
                <a:latin typeface="Garamond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PlaceHolder 1"/>
          <p:cNvSpPr>
            <a:spLocks noGrp="1"/>
          </p:cNvSpPr>
          <p:nvPr>
            <p:ph type="title"/>
          </p:nvPr>
        </p:nvSpPr>
        <p:spPr>
          <a:xfrm>
            <a:off x="457200" y="277920"/>
            <a:ext cx="8229600" cy="113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AU" sz="4200" spc="-1" strike="noStrike">
                <a:solidFill>
                  <a:srgbClr val="006633"/>
                </a:solidFill>
                <a:latin typeface="Tahoma"/>
              </a:rPr>
              <a:t>How do we calculate pressure?</a:t>
            </a:r>
            <a:endParaRPr b="0" lang="en-US" sz="4200" spc="-1" strike="noStrike">
              <a:solidFill>
                <a:srgbClr val="006633"/>
              </a:solidFill>
              <a:latin typeface="Tahoma"/>
            </a:endParaRPr>
          </a:p>
        </p:txBody>
      </p:sp>
      <p:sp>
        <p:nvSpPr>
          <p:cNvPr id="106" name="PlaceHolder 2"/>
          <p:cNvSpPr>
            <a:spLocks noGrp="1"/>
          </p:cNvSpPr>
          <p:nvPr>
            <p:ph/>
          </p:nvPr>
        </p:nvSpPr>
        <p:spPr>
          <a:xfrm>
            <a:off x="395280" y="1197000"/>
            <a:ext cx="8229600" cy="1108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343080" indent="-343080">
              <a:spcBef>
                <a:spcPts val="7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AU" sz="3000" spc="-1" strike="noStrike">
                <a:solidFill>
                  <a:srgbClr val="000000"/>
                </a:solidFill>
                <a:latin typeface="Arial"/>
              </a:rPr>
              <a:t>If we neglect viscosity in the N-S equation, we obtain the </a:t>
            </a:r>
            <a:r>
              <a:rPr b="0" lang="en-AU" sz="3000" spc="-1" strike="noStrike">
                <a:solidFill>
                  <a:srgbClr val="996600"/>
                </a:solidFill>
                <a:latin typeface="Arial"/>
              </a:rPr>
              <a:t>Euler Equation</a:t>
            </a:r>
            <a:r>
              <a:rPr b="0" lang="en-AU" sz="3000" spc="-1" strike="noStrike">
                <a:solidFill>
                  <a:srgbClr val="000000"/>
                </a:solidFill>
                <a:latin typeface="Arial"/>
              </a:rPr>
              <a:t> of flow: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7" name="Picture 4" descr=""/>
          <p:cNvPicPr/>
          <p:nvPr/>
        </p:nvPicPr>
        <p:blipFill>
          <a:blip r:embed="rId1"/>
          <a:stretch/>
        </p:blipFill>
        <p:spPr>
          <a:xfrm>
            <a:off x="3132000" y="2565360"/>
            <a:ext cx="2592360" cy="914400"/>
          </a:xfrm>
          <a:prstGeom prst="rect">
            <a:avLst/>
          </a:prstGeom>
          <a:ln w="0">
            <a:noFill/>
          </a:ln>
        </p:spPr>
      </p:pic>
      <p:pic>
        <p:nvPicPr>
          <p:cNvPr id="108" name="Picture 5" descr=""/>
          <p:cNvPicPr/>
          <p:nvPr/>
        </p:nvPicPr>
        <p:blipFill>
          <a:blip r:embed="rId2"/>
          <a:stretch/>
        </p:blipFill>
        <p:spPr>
          <a:xfrm>
            <a:off x="2124000" y="4005360"/>
            <a:ext cx="4548240" cy="1162080"/>
          </a:xfrm>
          <a:prstGeom prst="rect">
            <a:avLst/>
          </a:prstGeom>
          <a:ln w="0">
            <a:noFill/>
          </a:ln>
        </p:spPr>
      </p:pic>
      <p:sp>
        <p:nvSpPr>
          <p:cNvPr id="109" name="Rectangle 6"/>
          <p:cNvSpPr/>
          <p:nvPr/>
        </p:nvSpPr>
        <p:spPr>
          <a:xfrm>
            <a:off x="250920" y="3500280"/>
            <a:ext cx="8229600" cy="110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marL="343080" indent="-343080">
              <a:spcBef>
                <a:spcPts val="75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AU" sz="3000" spc="-1" strike="noStrike">
                <a:solidFill>
                  <a:srgbClr val="000000"/>
                </a:solidFill>
                <a:latin typeface="Arial"/>
              </a:rPr>
              <a:t>Then,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0" name="Picture 7" descr=""/>
          <p:cNvPicPr/>
          <p:nvPr/>
        </p:nvPicPr>
        <p:blipFill>
          <a:blip r:embed="rId3"/>
          <a:stretch/>
        </p:blipFill>
        <p:spPr>
          <a:xfrm>
            <a:off x="2411280" y="5516640"/>
            <a:ext cx="3583080" cy="401400"/>
          </a:xfrm>
          <a:prstGeom prst="rect">
            <a:avLst/>
          </a:prstGeom>
          <a:ln w="0">
            <a:noFill/>
          </a:ln>
        </p:spPr>
      </p:pic>
      <p:sp>
        <p:nvSpPr>
          <p:cNvPr id="111" name="Rectangle 8"/>
          <p:cNvSpPr/>
          <p:nvPr/>
        </p:nvSpPr>
        <p:spPr>
          <a:xfrm>
            <a:off x="324000" y="5300640"/>
            <a:ext cx="8229600" cy="64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marL="343080" indent="-343080">
              <a:spcBef>
                <a:spcPts val="75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AU" sz="3000" spc="-1" strike="noStrike">
                <a:solidFill>
                  <a:srgbClr val="000000"/>
                </a:solidFill>
                <a:latin typeface="Arial"/>
              </a:rPr>
              <a:t>where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Date Placeholder 3"/>
          <p:cNvSpPr/>
          <p:nvPr/>
        </p:nvSpPr>
        <p:spPr>
          <a:xfrm>
            <a:off x="457200" y="6243480"/>
            <a:ext cx="21337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4FCD85A5-8619-45A7-8160-C8121E2A6AEA}" type="datetime">
              <a:rPr b="0" lang="en-GB" sz="1200" spc="-1" strike="noStrike">
                <a:solidFill>
                  <a:srgbClr val="000000"/>
                </a:solidFill>
                <a:latin typeface="Garamond"/>
              </a:rPr>
              <a:t>06/06/26</a:t>
            </a:fld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Footer Placeholder 4"/>
          <p:cNvSpPr/>
          <p:nvPr/>
        </p:nvSpPr>
        <p:spPr>
          <a:xfrm>
            <a:off x="2843280" y="6248520"/>
            <a:ext cx="360036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AU" sz="1200" spc="-1" strike="noStrike">
                <a:solidFill>
                  <a:srgbClr val="000000"/>
                </a:solidFill>
                <a:latin typeface="Garamond"/>
              </a:rPr>
              <a:t>One-day Tutorial, CAMS'07, Bol, Croatia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Slide Number Placeholder 5"/>
          <p:cNvSpPr/>
          <p:nvPr/>
        </p:nvSpPr>
        <p:spPr>
          <a:xfrm>
            <a:off x="6553080" y="6243480"/>
            <a:ext cx="21337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09614CDE-2A53-466F-B1D8-F9F4BECCAD9C}" type="slidenum">
              <a:rPr b="0" lang="en-AU" sz="1200" spc="-1" strike="noStrike">
                <a:solidFill>
                  <a:srgbClr val="000000"/>
                </a:solidFill>
                <a:latin typeface="Garamond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PlaceHolder 1"/>
          <p:cNvSpPr>
            <a:spLocks noGrp="1"/>
          </p:cNvSpPr>
          <p:nvPr>
            <p:ph type="title"/>
          </p:nvPr>
        </p:nvSpPr>
        <p:spPr>
          <a:xfrm>
            <a:off x="457200" y="277920"/>
            <a:ext cx="8229600" cy="113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AU" sz="4200" spc="-1" strike="noStrike">
                <a:solidFill>
                  <a:srgbClr val="006633"/>
                </a:solidFill>
                <a:latin typeface="Tahoma"/>
              </a:rPr>
              <a:t>Irrotaional flow assumption</a:t>
            </a:r>
            <a:endParaRPr b="0" lang="en-US" sz="4200" spc="-1" strike="noStrike">
              <a:solidFill>
                <a:srgbClr val="006633"/>
              </a:solidFill>
              <a:latin typeface="Tahoma"/>
            </a:endParaRPr>
          </a:p>
        </p:txBody>
      </p:sp>
      <p:sp>
        <p:nvSpPr>
          <p:cNvPr id="116" name="PlaceHolder 2"/>
          <p:cNvSpPr>
            <a:spLocks noGrp="1"/>
          </p:cNvSpPr>
          <p:nvPr>
            <p:ph/>
          </p:nvPr>
        </p:nvSpPr>
        <p:spPr>
          <a:xfrm>
            <a:off x="395280" y="1197000"/>
            <a:ext cx="8229600" cy="1108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343080" indent="-343080">
              <a:spcBef>
                <a:spcPts val="7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AU" sz="3000" spc="-1" strike="noStrike">
                <a:solidFill>
                  <a:srgbClr val="000000"/>
                </a:solidFill>
                <a:latin typeface="Arial"/>
              </a:rPr>
              <a:t>Using some vector calculus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Rectangle 4"/>
          <p:cNvSpPr/>
          <p:nvPr/>
        </p:nvSpPr>
        <p:spPr>
          <a:xfrm>
            <a:off x="250920" y="3284640"/>
            <a:ext cx="8229600" cy="110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marL="343080" indent="-343080">
              <a:spcBef>
                <a:spcPts val="75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AU" sz="3000" spc="-1" strike="noStrike">
                <a:solidFill>
                  <a:srgbClr val="000000"/>
                </a:solidFill>
                <a:latin typeface="Arial"/>
              </a:rPr>
              <a:t>If the flow is </a:t>
            </a:r>
            <a:r>
              <a:rPr b="0" lang="en-AU" sz="3000" spc="-1" strike="noStrike">
                <a:solidFill>
                  <a:srgbClr val="996600"/>
                </a:solidFill>
                <a:latin typeface="Arial"/>
              </a:rPr>
              <a:t>irrotational</a:t>
            </a:r>
            <a:r>
              <a:rPr b="0" lang="en-AU" sz="3000" spc="-1" strike="noStrike">
                <a:solidFill>
                  <a:srgbClr val="000000"/>
                </a:solidFill>
                <a:latin typeface="Arial"/>
              </a:rPr>
              <a:t>, then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8" name="Picture 5" descr=""/>
          <p:cNvPicPr/>
          <p:nvPr/>
        </p:nvPicPr>
        <p:blipFill>
          <a:blip r:embed="rId1"/>
          <a:stretch/>
        </p:blipFill>
        <p:spPr>
          <a:xfrm>
            <a:off x="2411280" y="5516640"/>
            <a:ext cx="3583080" cy="401400"/>
          </a:xfrm>
          <a:prstGeom prst="rect">
            <a:avLst/>
          </a:prstGeom>
          <a:ln w="0">
            <a:noFill/>
          </a:ln>
        </p:spPr>
      </p:pic>
      <p:sp>
        <p:nvSpPr>
          <p:cNvPr id="119" name="Rectangle 6"/>
          <p:cNvSpPr/>
          <p:nvPr/>
        </p:nvSpPr>
        <p:spPr>
          <a:xfrm>
            <a:off x="324000" y="5300640"/>
            <a:ext cx="8229600" cy="64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marL="343080" indent="-343080">
              <a:spcBef>
                <a:spcPts val="75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AU" sz="3000" spc="-1" strike="noStrike">
                <a:solidFill>
                  <a:srgbClr val="000000"/>
                </a:solidFill>
                <a:latin typeface="Arial"/>
              </a:rPr>
              <a:t>where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20" name="Picture 7" descr=""/>
          <p:cNvPicPr/>
          <p:nvPr/>
        </p:nvPicPr>
        <p:blipFill>
          <a:blip r:embed="rId2"/>
          <a:stretch/>
        </p:blipFill>
        <p:spPr>
          <a:xfrm>
            <a:off x="1332000" y="2060640"/>
            <a:ext cx="6008760" cy="963720"/>
          </a:xfrm>
          <a:prstGeom prst="rect">
            <a:avLst/>
          </a:prstGeom>
          <a:ln w="0">
            <a:noFill/>
          </a:ln>
        </p:spPr>
      </p:pic>
      <p:pic>
        <p:nvPicPr>
          <p:cNvPr id="121" name="Picture 8" descr=""/>
          <p:cNvPicPr/>
          <p:nvPr/>
        </p:nvPicPr>
        <p:blipFill>
          <a:blip r:embed="rId3"/>
          <a:stretch/>
        </p:blipFill>
        <p:spPr>
          <a:xfrm>
            <a:off x="1763640" y="4005360"/>
            <a:ext cx="4919760" cy="11491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Date Placeholder 3"/>
          <p:cNvSpPr/>
          <p:nvPr/>
        </p:nvSpPr>
        <p:spPr>
          <a:xfrm>
            <a:off x="457200" y="6243480"/>
            <a:ext cx="21337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9C0E96B0-FDE3-42C8-8A5F-D2B293272674}" type="datetime">
              <a:rPr b="0" lang="en-GB" sz="1200" spc="-1" strike="noStrike">
                <a:solidFill>
                  <a:srgbClr val="000000"/>
                </a:solidFill>
                <a:latin typeface="Garamond"/>
              </a:rPr>
              <a:t>06/06/26</a:t>
            </a:fld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Footer Placeholder 4"/>
          <p:cNvSpPr/>
          <p:nvPr/>
        </p:nvSpPr>
        <p:spPr>
          <a:xfrm>
            <a:off x="2843280" y="6248520"/>
            <a:ext cx="360036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AU" sz="1200" spc="-1" strike="noStrike">
                <a:solidFill>
                  <a:srgbClr val="000000"/>
                </a:solidFill>
                <a:latin typeface="Garamond"/>
              </a:rPr>
              <a:t>One-day Tutorial, CAMS'07, Bol, Croatia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Slide Number Placeholder 5"/>
          <p:cNvSpPr/>
          <p:nvPr/>
        </p:nvSpPr>
        <p:spPr>
          <a:xfrm>
            <a:off x="6553080" y="6243480"/>
            <a:ext cx="21337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2EA44A72-902B-44CB-8D80-DE4698E2A10B}" type="slidenum">
              <a:rPr b="0" lang="en-AU" sz="1200" spc="-1" strike="noStrike">
                <a:solidFill>
                  <a:srgbClr val="000000"/>
                </a:solidFill>
                <a:latin typeface="Garamond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PlaceHolder 1"/>
          <p:cNvSpPr>
            <a:spLocks noGrp="1"/>
          </p:cNvSpPr>
          <p:nvPr>
            <p:ph type="title"/>
          </p:nvPr>
        </p:nvSpPr>
        <p:spPr>
          <a:xfrm>
            <a:off x="457200" y="277920"/>
            <a:ext cx="8229600" cy="113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AU" sz="4200" spc="-1" strike="noStrike">
                <a:solidFill>
                  <a:srgbClr val="006633"/>
                </a:solidFill>
                <a:latin typeface="Tahoma"/>
              </a:rPr>
              <a:t>Bernoulli equation</a:t>
            </a:r>
            <a:endParaRPr b="0" lang="en-US" sz="4200" spc="-1" strike="noStrike">
              <a:solidFill>
                <a:srgbClr val="006633"/>
              </a:solidFill>
              <a:latin typeface="Tahoma"/>
            </a:endParaRPr>
          </a:p>
        </p:txBody>
      </p:sp>
      <p:sp>
        <p:nvSpPr>
          <p:cNvPr id="126" name="Rectangle 4"/>
          <p:cNvSpPr/>
          <p:nvPr/>
        </p:nvSpPr>
        <p:spPr>
          <a:xfrm>
            <a:off x="250920" y="3284640"/>
            <a:ext cx="8229600" cy="110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marL="343080" indent="-343080">
              <a:spcBef>
                <a:spcPts val="75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27" name="Picture 5" descr=""/>
          <p:cNvPicPr/>
          <p:nvPr/>
        </p:nvPicPr>
        <p:blipFill>
          <a:blip r:embed="rId1"/>
          <a:stretch/>
        </p:blipFill>
        <p:spPr>
          <a:xfrm>
            <a:off x="2050920" y="1413000"/>
            <a:ext cx="4919760" cy="1149120"/>
          </a:xfrm>
          <a:prstGeom prst="rect">
            <a:avLst/>
          </a:prstGeom>
          <a:ln w="0">
            <a:noFill/>
          </a:ln>
        </p:spPr>
      </p:pic>
      <p:sp>
        <p:nvSpPr>
          <p:cNvPr id="128" name="Rectangle 6"/>
          <p:cNvSpPr/>
          <p:nvPr/>
        </p:nvSpPr>
        <p:spPr>
          <a:xfrm>
            <a:off x="395280" y="2708280"/>
            <a:ext cx="8229600" cy="110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marL="343080" indent="-343080">
              <a:spcBef>
                <a:spcPts val="75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AU" sz="3000" spc="-1" strike="noStrike">
                <a:solidFill>
                  <a:srgbClr val="000000"/>
                </a:solidFill>
                <a:latin typeface="Arial"/>
              </a:rPr>
              <a:t>If this is valid in the whole fluid, then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29" name="Picture 7" descr=""/>
          <p:cNvPicPr/>
          <p:nvPr/>
        </p:nvPicPr>
        <p:blipFill>
          <a:blip r:embed="rId2"/>
          <a:stretch/>
        </p:blipFill>
        <p:spPr>
          <a:xfrm>
            <a:off x="2268360" y="3716280"/>
            <a:ext cx="4200840" cy="1038240"/>
          </a:xfrm>
          <a:prstGeom prst="rect">
            <a:avLst/>
          </a:prstGeom>
          <a:ln w="0">
            <a:noFill/>
          </a:ln>
        </p:spPr>
      </p:pic>
      <p:sp>
        <p:nvSpPr>
          <p:cNvPr id="130" name="Rectangle 8"/>
          <p:cNvSpPr/>
          <p:nvPr/>
        </p:nvSpPr>
        <p:spPr>
          <a:xfrm>
            <a:off x="250920" y="5300640"/>
            <a:ext cx="8229600" cy="110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marL="343080" indent="-343080">
              <a:spcBef>
                <a:spcPts val="75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AU" sz="3000" spc="-1" strike="noStrike">
                <a:solidFill>
                  <a:srgbClr val="000000"/>
                </a:solidFill>
                <a:latin typeface="Arial"/>
              </a:rPr>
              <a:t>which is the </a:t>
            </a:r>
            <a:r>
              <a:rPr b="0" lang="en-AU" sz="3000" spc="-1" strike="noStrike">
                <a:solidFill>
                  <a:srgbClr val="996600"/>
                </a:solidFill>
                <a:latin typeface="Arial"/>
              </a:rPr>
              <a:t>Bernoulli equation</a:t>
            </a:r>
            <a:r>
              <a:rPr b="0" lang="en-AU" sz="30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Date Placeholder 3"/>
          <p:cNvSpPr/>
          <p:nvPr/>
        </p:nvSpPr>
        <p:spPr>
          <a:xfrm>
            <a:off x="457200" y="6243480"/>
            <a:ext cx="21337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EDB9BB98-4340-41C3-BB19-E874F33EF310}" type="datetime">
              <a:rPr b="0" lang="en-GB" sz="1200" spc="-1" strike="noStrike">
                <a:solidFill>
                  <a:srgbClr val="000000"/>
                </a:solidFill>
                <a:latin typeface="Garamond"/>
              </a:rPr>
              <a:t>06/06/26</a:t>
            </a:fld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" name="Footer Placeholder 4"/>
          <p:cNvSpPr/>
          <p:nvPr/>
        </p:nvSpPr>
        <p:spPr>
          <a:xfrm>
            <a:off x="2843280" y="6248520"/>
            <a:ext cx="360036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AU" sz="1200" spc="-1" strike="noStrike">
                <a:solidFill>
                  <a:srgbClr val="000000"/>
                </a:solidFill>
                <a:latin typeface="Garamond"/>
              </a:rPr>
              <a:t>One-day Tutorial, CAMS'07, Bol, Croatia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" name="Slide Number Placeholder 5"/>
          <p:cNvSpPr/>
          <p:nvPr/>
        </p:nvSpPr>
        <p:spPr>
          <a:xfrm>
            <a:off x="6553080" y="6243480"/>
            <a:ext cx="21337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217BD3C8-4A5E-4EB2-9696-B660472E346A}" type="slidenum">
              <a:rPr b="0" lang="en-AU" sz="1200" spc="-1" strike="noStrike">
                <a:solidFill>
                  <a:srgbClr val="000000"/>
                </a:solidFill>
                <a:latin typeface="Garamond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" name="PlaceHolder 1"/>
          <p:cNvSpPr>
            <a:spLocks noGrp="1"/>
          </p:cNvSpPr>
          <p:nvPr>
            <p:ph type="title"/>
          </p:nvPr>
        </p:nvSpPr>
        <p:spPr>
          <a:xfrm>
            <a:off x="457200" y="277920"/>
            <a:ext cx="8229600" cy="113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nb-NO" sz="4200" spc="-1" strike="noStrike">
                <a:solidFill>
                  <a:srgbClr val="006633"/>
                </a:solidFill>
                <a:latin typeface="Tahoma"/>
              </a:rPr>
              <a:t>Potential theory—summary </a:t>
            </a:r>
            <a:endParaRPr b="0" lang="en-US" sz="4200" spc="-1" strike="noStrike">
              <a:solidFill>
                <a:srgbClr val="006633"/>
              </a:solidFill>
              <a:latin typeface="Tahoma"/>
            </a:endParaRPr>
          </a:p>
        </p:txBody>
      </p:sp>
      <p:sp>
        <p:nvSpPr>
          <p:cNvPr id="135" name="Rectangle 3"/>
          <p:cNvSpPr/>
          <p:nvPr/>
        </p:nvSpPr>
        <p:spPr>
          <a:xfrm>
            <a:off x="250920" y="4941720"/>
            <a:ext cx="8607240" cy="100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360" rIns="90360" tIns="44280" bIns="4428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for </a:t>
            </a:r>
            <a:r>
              <a:rPr b="0" i="1" lang="en-US" sz="2000" spc="-1" strike="noStrike">
                <a:solidFill>
                  <a:srgbClr val="000000"/>
                </a:solidFill>
                <a:latin typeface="Arial"/>
              </a:rPr>
              <a:t>most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problems related ship motion in waves, potential theory is sufficient for engineering purposes. Viscous effects are added to the models using empirical formulae or via system identification.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" name="Rectangle 4"/>
          <p:cNvSpPr/>
          <p:nvPr/>
        </p:nvSpPr>
        <p:spPr>
          <a:xfrm>
            <a:off x="264960" y="1020600"/>
            <a:ext cx="8607600" cy="161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360" rIns="90360" tIns="44280" bIns="4428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Potential theory offers a great simplification:</a:t>
            </a:r>
            <a:r>
              <a:rPr b="0" i="1" lang="en-US" sz="20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2000" spc="-1" strike="noStrike">
                <a:solidFill>
                  <a:srgbClr val="996600"/>
                </a:solidFill>
                <a:latin typeface="Arial"/>
              </a:rPr>
              <a:t>if we know the potential, then we know the velocity and the pressure, from which we can calculate the forces acting on a floating body by integrating the pressure over the surface of the body. 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37" name="Group 5"/>
          <p:cNvGrpSpPr/>
          <p:nvPr/>
        </p:nvGrpSpPr>
        <p:grpSpPr>
          <a:xfrm>
            <a:off x="1850040" y="2421000"/>
            <a:ext cx="5266440" cy="2249280"/>
            <a:chOff x="1850040" y="2421000"/>
            <a:chExt cx="5266440" cy="2249280"/>
          </a:xfrm>
        </p:grpSpPr>
        <p:sp>
          <p:nvSpPr>
            <p:cNvPr id="138" name="Rectangle 6"/>
            <p:cNvSpPr/>
            <p:nvPr/>
          </p:nvSpPr>
          <p:spPr>
            <a:xfrm>
              <a:off x="2441160" y="2421000"/>
              <a:ext cx="4564440" cy="45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360" rIns="90360" tIns="44280" bIns="44280" anchor="t">
              <a:spAutoFit/>
            </a:bodyPr>
            <a:p>
              <a:pPr algn="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i="1" lang="en-US" sz="2400" spc="-1" strike="noStrike">
                  <a:solidFill>
                    <a:srgbClr val="afbf39"/>
                  </a:solidFill>
                  <a:latin typeface="Arial"/>
                </a:rPr>
                <a:t>Inviscid</a:t>
              </a:r>
              <a:r>
                <a:rPr b="0" lang="en-US" sz="2400" spc="-1" strike="noStrike">
                  <a:solidFill>
                    <a:srgbClr val="afbf39"/>
                  </a:solidFill>
                  <a:latin typeface="Arial"/>
                </a:rPr>
                <a:t> </a:t>
              </a:r>
              <a:r>
                <a:rPr b="0" i="1" lang="en-US" sz="2400" spc="-1" strike="noStrike">
                  <a:solidFill>
                    <a:srgbClr val="afbf39"/>
                  </a:solidFill>
                  <a:latin typeface="Arial"/>
                </a:rPr>
                <a:t>fluid</a:t>
              </a:r>
              <a:r>
                <a:rPr b="1" lang="en-US" sz="2400" spc="-1" strike="noStrike">
                  <a:solidFill>
                    <a:srgbClr val="006633"/>
                  </a:solidFill>
                  <a:latin typeface="Arial"/>
                </a:rPr>
                <a:t> </a:t>
              </a:r>
              <a:r>
                <a:rPr b="0" lang="en-US" sz="2400" spc="-1" strike="noStrike">
                  <a:solidFill>
                    <a:srgbClr val="000000"/>
                  </a:solidFill>
                  <a:latin typeface="Arial"/>
                </a:rPr>
                <a:t>and </a:t>
              </a:r>
              <a:r>
                <a:rPr b="0" i="1" lang="en-US" sz="2400" spc="-1" strike="noStrike">
                  <a:solidFill>
                    <a:srgbClr val="afbf39"/>
                  </a:solidFill>
                  <a:latin typeface="Arial"/>
                </a:rPr>
                <a:t>irrotational flow</a:t>
              </a:r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39" name="AutoShape 7"/>
            <p:cNvSpPr/>
            <p:nvPr/>
          </p:nvSpPr>
          <p:spPr>
            <a:xfrm>
              <a:off x="4332960" y="2857320"/>
              <a:ext cx="266040" cy="414360"/>
            </a:xfrm>
            <a:prstGeom prst="downArrow">
              <a:avLst>
                <a:gd name="adj1" fmla="val 50000"/>
                <a:gd name="adj2" fmla="val 38938"/>
              </a:avLst>
            </a:pr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360" rIns="90360" tIns="44280" bIns="44280" anchor="ctr">
              <a:no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40" name="Rectangle 8"/>
            <p:cNvSpPr/>
            <p:nvPr/>
          </p:nvSpPr>
          <p:spPr>
            <a:xfrm>
              <a:off x="3827880" y="3289680"/>
              <a:ext cx="1367280" cy="45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360" rIns="90360" tIns="44280" bIns="44280" anchor="t">
              <a:spAutoFit/>
            </a:bodyPr>
            <a:p>
              <a:pPr algn="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i="1" lang="en-US" sz="2400" spc="-1" strike="noStrike">
                  <a:solidFill>
                    <a:srgbClr val="afbf39"/>
                  </a:solidFill>
                  <a:latin typeface="Arial"/>
                </a:rPr>
                <a:t>Potential</a:t>
              </a:r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41" name="AutoShape 9"/>
            <p:cNvSpPr/>
            <p:nvPr/>
          </p:nvSpPr>
          <p:spPr>
            <a:xfrm rot="3337200">
              <a:off x="3808800" y="3520800"/>
              <a:ext cx="165600" cy="944640"/>
            </a:xfrm>
            <a:prstGeom prst="downArrow">
              <a:avLst>
                <a:gd name="adj1" fmla="val 50287"/>
                <a:gd name="adj2" fmla="val 129166"/>
              </a:avLst>
            </a:pr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360" rIns="90360" tIns="44280" bIns="44280" anchor="ctr">
              <a:no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42" name="AutoShape 10"/>
            <p:cNvSpPr/>
            <p:nvPr/>
          </p:nvSpPr>
          <p:spPr>
            <a:xfrm rot="19438800">
              <a:off x="4900320" y="3661200"/>
              <a:ext cx="207000" cy="695160"/>
            </a:xfrm>
            <a:prstGeom prst="downArrow">
              <a:avLst>
                <a:gd name="adj1" fmla="val 50287"/>
                <a:gd name="adj2" fmla="val 76043"/>
              </a:avLst>
            </a:pr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360" rIns="90360" tIns="44280" bIns="44280" anchor="ctr">
              <a:no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43" name="Rectangle 11"/>
            <p:cNvSpPr/>
            <p:nvPr/>
          </p:nvSpPr>
          <p:spPr>
            <a:xfrm>
              <a:off x="1850040" y="4158360"/>
              <a:ext cx="2008800" cy="45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360" rIns="90360" tIns="44280" bIns="44280" anchor="t">
              <a:spAutoFit/>
            </a:bodyPr>
            <a:p>
              <a:pPr algn="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i="1" lang="en-US" sz="2400" spc="-1" strike="noStrike">
                  <a:solidFill>
                    <a:srgbClr val="afbf39"/>
                  </a:solidFill>
                  <a:latin typeface="Arial"/>
                </a:rPr>
                <a:t> </a:t>
              </a:r>
              <a:r>
                <a:rPr b="0" i="1" lang="en-US" sz="2400" spc="-1" strike="noStrike">
                  <a:solidFill>
                    <a:srgbClr val="afbf39"/>
                  </a:solidFill>
                  <a:latin typeface="Arial"/>
                </a:rPr>
                <a:t>Flow velocity</a:t>
              </a:r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44" name="Rectangle 12"/>
            <p:cNvSpPr/>
            <p:nvPr/>
          </p:nvSpPr>
          <p:spPr>
            <a:xfrm>
              <a:off x="5237640" y="4202280"/>
              <a:ext cx="1484640" cy="45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360" rIns="90360" tIns="44280" bIns="44280" anchor="t">
              <a:spAutoFit/>
            </a:bodyPr>
            <a:p>
              <a:pPr algn="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i="1" lang="en-US" sz="2400" spc="-1" strike="noStrike">
                  <a:solidFill>
                    <a:srgbClr val="afbf39"/>
                  </a:solidFill>
                  <a:latin typeface="Arial"/>
                </a:rPr>
                <a:t> </a:t>
              </a:r>
              <a:r>
                <a:rPr b="0" i="1" lang="en-US" sz="2400" spc="-1" strike="noStrike">
                  <a:solidFill>
                    <a:srgbClr val="afbf39"/>
                  </a:solidFill>
                  <a:latin typeface="Arial"/>
                </a:rPr>
                <a:t>Pressure</a:t>
              </a:r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45" name="Rectangle 13"/>
            <p:cNvSpPr/>
            <p:nvPr/>
          </p:nvSpPr>
          <p:spPr>
            <a:xfrm>
              <a:off x="1938960" y="2421000"/>
              <a:ext cx="5177520" cy="2249280"/>
            </a:xfrm>
            <a:prstGeom prst="rect">
              <a:avLst/>
            </a:prstGeom>
            <a:noFill/>
            <a:ln w="1260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360" rIns="90360" tIns="44280" bIns="44280" anchor="ctr">
              <a:no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Rectangle 4"/>
          <p:cNvSpPr/>
          <p:nvPr/>
        </p:nvSpPr>
        <p:spPr>
          <a:xfrm>
            <a:off x="457200" y="6243480"/>
            <a:ext cx="21337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5D9087B0-6B1D-4E3D-ACE6-919FBB58EACD}" type="datetime">
              <a:rPr b="0" lang="en-GB" sz="1200" spc="-1" strike="noStrike">
                <a:solidFill>
                  <a:srgbClr val="000000"/>
                </a:solidFill>
                <a:latin typeface="Garamond"/>
              </a:rPr>
              <a:t>06/06/26</a:t>
            </a:fld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" name="Rectangle 5"/>
          <p:cNvSpPr/>
          <p:nvPr/>
        </p:nvSpPr>
        <p:spPr>
          <a:xfrm>
            <a:off x="2771640" y="6243480"/>
            <a:ext cx="36007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AU" sz="1200" spc="-1" strike="noStrike">
                <a:solidFill>
                  <a:srgbClr val="000000"/>
                </a:solidFill>
                <a:latin typeface="Garamond"/>
              </a:rPr>
              <a:t>One-day Tutorial, CAMS'07, Bol, Croatia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Rectangle 6"/>
          <p:cNvSpPr/>
          <p:nvPr/>
        </p:nvSpPr>
        <p:spPr>
          <a:xfrm>
            <a:off x="6553080" y="6243480"/>
            <a:ext cx="21337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8779B611-B334-4C79-9F6E-AD68D4CB7DB6}" type="slidenum">
              <a:rPr b="0" lang="en-AU" sz="1200" spc="-1" strike="noStrike">
                <a:solidFill>
                  <a:srgbClr val="000000"/>
                </a:solidFill>
                <a:latin typeface="Garamond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" name="PlaceHolder 1"/>
          <p:cNvSpPr>
            <a:spLocks noGrp="1"/>
          </p:cNvSpPr>
          <p:nvPr>
            <p:ph type="title"/>
          </p:nvPr>
        </p:nvSpPr>
        <p:spPr>
          <a:xfrm>
            <a:off x="914040" y="1523520"/>
            <a:ext cx="7623000" cy="1752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AU" sz="5000" spc="-1" strike="noStrike">
                <a:solidFill>
                  <a:srgbClr val="006633"/>
                </a:solidFill>
                <a:latin typeface="Tahoma"/>
              </a:rPr>
              <a:t>Applications</a:t>
            </a:r>
            <a:endParaRPr b="0" lang="en-US" sz="5000" spc="-1" strike="noStrike">
              <a:solidFill>
                <a:srgbClr val="006633"/>
              </a:solidFill>
              <a:latin typeface="Tahoma"/>
            </a:endParaRPr>
          </a:p>
        </p:txBody>
      </p:sp>
      <p:sp>
        <p:nvSpPr>
          <p:cNvPr id="150" name="PlaceHolder 2"/>
          <p:cNvSpPr>
            <a:spLocks noGrp="1"/>
          </p:cNvSpPr>
          <p:nvPr>
            <p:ph type="subTitle"/>
          </p:nvPr>
        </p:nvSpPr>
        <p:spPr>
          <a:xfrm>
            <a:off x="1981080" y="3962520"/>
            <a:ext cx="6553440" cy="1752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>
              <a:spcBef>
                <a:spcPts val="700"/>
              </a:spcBef>
              <a:buClr>
                <a:srgbClr val="cc9900"/>
              </a:buClr>
              <a:buSzPct val="65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AU" sz="28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AU" sz="2800" spc="-1" strike="noStrike">
                <a:solidFill>
                  <a:srgbClr val="000000"/>
                </a:solidFill>
                <a:latin typeface="Arial"/>
              </a:rPr>
              <a:t>Regular waves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>
              <a:spcBef>
                <a:spcPts val="700"/>
              </a:spcBef>
              <a:buClr>
                <a:srgbClr val="cc9900"/>
              </a:buClr>
              <a:buSzPct val="65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AU" sz="28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AU" sz="2800" spc="-1" strike="noStrike">
                <a:solidFill>
                  <a:srgbClr val="000000"/>
                </a:solidFill>
                <a:latin typeface="Arial"/>
              </a:rPr>
              <a:t>Marine structures in waves 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Date Placeholder 3"/>
          <p:cNvSpPr/>
          <p:nvPr/>
        </p:nvSpPr>
        <p:spPr>
          <a:xfrm>
            <a:off x="457200" y="6243480"/>
            <a:ext cx="21337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727491ED-3768-4381-AD87-9338C0FFA337}" type="datetime">
              <a:rPr b="0" lang="en-GB" sz="1200" spc="-1" strike="noStrike">
                <a:solidFill>
                  <a:srgbClr val="000000"/>
                </a:solidFill>
                <a:latin typeface="Garamond"/>
              </a:rPr>
              <a:t>06/06/26</a:t>
            </a:fld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" name="Footer Placeholder 4"/>
          <p:cNvSpPr/>
          <p:nvPr/>
        </p:nvSpPr>
        <p:spPr>
          <a:xfrm>
            <a:off x="2843280" y="6248520"/>
            <a:ext cx="360036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AU" sz="1200" spc="-1" strike="noStrike">
                <a:solidFill>
                  <a:srgbClr val="000000"/>
                </a:solidFill>
                <a:latin typeface="Garamond"/>
              </a:rPr>
              <a:t>One-day Tutorial, CAMS'07, Bol, Croatia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" name="Slide Number Placeholder 5"/>
          <p:cNvSpPr/>
          <p:nvPr/>
        </p:nvSpPr>
        <p:spPr>
          <a:xfrm>
            <a:off x="6553080" y="6243480"/>
            <a:ext cx="21337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D1FA51B6-8A94-4656-A643-31E3B508B48F}" type="slidenum">
              <a:rPr b="0" lang="en-AU" sz="1200" spc="-1" strike="noStrike">
                <a:solidFill>
                  <a:srgbClr val="000000"/>
                </a:solidFill>
                <a:latin typeface="Garamond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" name="PlaceHolder 1"/>
          <p:cNvSpPr>
            <a:spLocks noGrp="1"/>
          </p:cNvSpPr>
          <p:nvPr>
            <p:ph type="title"/>
          </p:nvPr>
        </p:nvSpPr>
        <p:spPr>
          <a:xfrm>
            <a:off x="457200" y="277920"/>
            <a:ext cx="8229600" cy="113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nb-NO" sz="4200" spc="-1" strike="noStrike">
                <a:solidFill>
                  <a:srgbClr val="006633"/>
                </a:solidFill>
                <a:latin typeface="Tahoma"/>
              </a:rPr>
              <a:t>Regular waves in deep water</a:t>
            </a:r>
            <a:endParaRPr b="0" lang="en-US" sz="4200" spc="-1" strike="noStrike">
              <a:solidFill>
                <a:srgbClr val="006633"/>
              </a:solidFill>
              <a:latin typeface="Tahoma"/>
            </a:endParaRPr>
          </a:p>
        </p:txBody>
      </p:sp>
      <p:pic>
        <p:nvPicPr>
          <p:cNvPr id="155" name="Picture 3" descr=""/>
          <p:cNvPicPr/>
          <p:nvPr/>
        </p:nvPicPr>
        <p:blipFill>
          <a:blip r:embed="rId1"/>
          <a:stretch/>
        </p:blipFill>
        <p:spPr>
          <a:xfrm>
            <a:off x="324000" y="1268280"/>
            <a:ext cx="8573760" cy="47944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Date Placeholder 4"/>
          <p:cNvSpPr/>
          <p:nvPr/>
        </p:nvSpPr>
        <p:spPr>
          <a:xfrm>
            <a:off x="457200" y="6243480"/>
            <a:ext cx="21337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F5D4A6F4-8A31-4037-962F-D533A532657D}" type="datetime">
              <a:rPr b="0" lang="en-GB" sz="1200" spc="-1" strike="noStrike">
                <a:solidFill>
                  <a:srgbClr val="000000"/>
                </a:solidFill>
                <a:latin typeface="Garamond"/>
              </a:rPr>
              <a:t>06/06/26</a:t>
            </a:fld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" name="Footer Placeholder 5"/>
          <p:cNvSpPr/>
          <p:nvPr/>
        </p:nvSpPr>
        <p:spPr>
          <a:xfrm>
            <a:off x="2843280" y="6248520"/>
            <a:ext cx="360036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AU" sz="1200" spc="-1" strike="noStrike">
                <a:solidFill>
                  <a:srgbClr val="000000"/>
                </a:solidFill>
                <a:latin typeface="Garamond"/>
              </a:rPr>
              <a:t>One-day Tutorial, CAMS'07, Bol, Croatia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" name="Slide Number Placeholder 6"/>
          <p:cNvSpPr/>
          <p:nvPr/>
        </p:nvSpPr>
        <p:spPr>
          <a:xfrm>
            <a:off x="6553080" y="6243480"/>
            <a:ext cx="21337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F99A4FCA-AF21-4519-A3EC-2511B8FB0AD5}" type="slidenum">
              <a:rPr b="0" lang="en-AU" sz="1200" spc="-1" strike="noStrike">
                <a:solidFill>
                  <a:srgbClr val="000000"/>
                </a:solidFill>
                <a:latin typeface="Garamond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" name="PlaceHolder 1"/>
          <p:cNvSpPr>
            <a:spLocks noGrp="1"/>
          </p:cNvSpPr>
          <p:nvPr>
            <p:ph type="title"/>
          </p:nvPr>
        </p:nvSpPr>
        <p:spPr>
          <a:xfrm>
            <a:off x="457200" y="277920"/>
            <a:ext cx="8229600" cy="113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nb-NO" sz="4200" spc="-1" strike="noStrike">
                <a:solidFill>
                  <a:srgbClr val="006633"/>
                </a:solidFill>
                <a:latin typeface="Tahoma"/>
              </a:rPr>
              <a:t>Kinematic free-surface Condition</a:t>
            </a:r>
            <a:endParaRPr b="0" lang="en-US" sz="4200" spc="-1" strike="noStrike">
              <a:solidFill>
                <a:srgbClr val="006633"/>
              </a:solidFill>
              <a:latin typeface="Tahoma"/>
            </a:endParaRPr>
          </a:p>
        </p:txBody>
      </p:sp>
      <p:sp>
        <p:nvSpPr>
          <p:cNvPr id="160" name="PlaceHolder 2"/>
          <p:cNvSpPr>
            <a:spLocks noGrp="1"/>
          </p:cNvSpPr>
          <p:nvPr>
            <p:ph/>
          </p:nvPr>
        </p:nvSpPr>
        <p:spPr>
          <a:xfrm>
            <a:off x="324000" y="1052280"/>
            <a:ext cx="8362800" cy="96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343080" indent="-343080">
              <a:spcBef>
                <a:spcPts val="55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AU" sz="2200" spc="-1" strike="noStrike">
                <a:solidFill>
                  <a:srgbClr val="996600"/>
                </a:solidFill>
                <a:latin typeface="Arial"/>
              </a:rPr>
              <a:t>Kinematic free-surface condition</a:t>
            </a:r>
            <a:r>
              <a:rPr b="0" lang="en-AU" sz="2200" spc="-1" strike="noStrike">
                <a:solidFill>
                  <a:srgbClr val="000000"/>
                </a:solidFill>
                <a:latin typeface="Arial"/>
              </a:rPr>
              <a:t>:  A fluid particle on the free surface is assumed to remain on the free surface.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mc:AlternateContent>
        <mc:Choice xmlns:a14="http://schemas.microsoft.com/office/drawing/2010/main" Requires="a14">
          <p:sp>
            <p:nvSpPr>
              <p:cNvPr id="161" name="Object 5"/>
              <p:cNvSpPr txBox="1"/>
              <p:nvPr/>
            </p:nvSpPr>
            <p:spPr>
              <a:xfrm>
                <a:off x="6516720" y="5013360"/>
                <a:ext cx="1954080" cy="49680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z</m:t>
                    </m:r>
                    <m:r>
                      <m:t xml:space="preserve">=</m:t>
                    </m:r>
                    <m:r>
                      <m:t xml:space="preserve">ζ</m:t>
                    </m:r>
                    <m:r>
                      <m:t xml:space="preserve">(</m:t>
                    </m:r>
                    <m:r>
                      <m:t xml:space="preserve">x</m:t>
                    </m:r>
                    <m:r>
                      <m:t xml:space="preserve">,</m:t>
                    </m:r>
                    <m:r>
                      <m:t xml:space="preserve">y</m:t>
                    </m:r>
                    <m:r>
                      <m:t xml:space="preserve">,</m:t>
                    </m:r>
                    <m:r>
                      <m:t xml:space="preserve">t</m:t>
                    </m:r>
                    <m:r>
                      <m:t xml:space="preserve">)</m:t>
                    </m:r>
                  </m:oMath>
                </a14:m>
              </a:p>
            </p:txBody>
          </p:sp>
        </mc:Choice>
        <mc:Fallback/>
      </mc:AlternateContent>
      <p:sp>
        <p:nvSpPr>
          <p:cNvPr id="162" name="Rectangle 7"/>
          <p:cNvSpPr/>
          <p:nvPr/>
        </p:nvSpPr>
        <p:spPr>
          <a:xfrm>
            <a:off x="395280" y="2205000"/>
            <a:ext cx="5184720" cy="50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marL="343080" indent="-343080">
              <a:spcBef>
                <a:spcPts val="55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AU" sz="2200" spc="-1" strike="noStrike">
                <a:solidFill>
                  <a:srgbClr val="000000"/>
                </a:solidFill>
                <a:latin typeface="Arial"/>
              </a:rPr>
              <a:t>Let the free surface be defined as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mc:AlternateContent>
        <mc:Choice xmlns:a14="http://schemas.microsoft.com/office/drawing/2010/main" Requires="a14">
          <p:sp>
            <p:nvSpPr>
              <p:cNvPr id="163" name="Object 8"/>
              <p:cNvSpPr txBox="1"/>
              <p:nvPr/>
            </p:nvSpPr>
            <p:spPr>
              <a:xfrm>
                <a:off x="1763640" y="2781360"/>
                <a:ext cx="2341800" cy="44604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F</m:t>
                    </m:r>
                    <m:r>
                      <m:t xml:space="preserve">:</m:t>
                    </m:r>
                    <m:r>
                      <m:t xml:space="preserve">=</m:t>
                    </m:r>
                    <m:r>
                      <m:t xml:space="preserve">z</m:t>
                    </m:r>
                    <m:r>
                      <m:t xml:space="preserve">−</m:t>
                    </m:r>
                    <m:r>
                      <m:t xml:space="preserve">ζ</m:t>
                    </m:r>
                    <m:r>
                      <m:t xml:space="preserve">(</m:t>
                    </m:r>
                    <m:r>
                      <m:t xml:space="preserve">x</m:t>
                    </m:r>
                    <m:r>
                      <m:t xml:space="preserve">,</m:t>
                    </m:r>
                    <m:r>
                      <m:t xml:space="preserve">y</m:t>
                    </m:r>
                    <m:r>
                      <m:t xml:space="preserve">,</m:t>
                    </m:r>
                    <m:r>
                      <m:t xml:space="preserve">t</m:t>
                    </m:r>
                    <m:r>
                      <m:t xml:space="preserve">)</m:t>
                    </m:r>
                  </m:oMath>
                </a14:m>
              </a:p>
            </p:txBody>
          </p:sp>
        </mc:Choice>
        <mc:Fallback/>
      </mc:AlternateContent>
      <p:sp>
        <p:nvSpPr>
          <p:cNvPr id="164" name="Rectangle 9"/>
          <p:cNvSpPr/>
          <p:nvPr/>
        </p:nvSpPr>
        <p:spPr>
          <a:xfrm>
            <a:off x="468360" y="2781360"/>
            <a:ext cx="5184720" cy="50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marL="343080" indent="-343080">
              <a:spcBef>
                <a:spcPts val="55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AU" sz="2200" spc="-1" strike="noStrike">
                <a:solidFill>
                  <a:srgbClr val="000000"/>
                </a:solidFill>
                <a:latin typeface="Arial"/>
              </a:rPr>
              <a:t>Then, if  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mc:AlternateContent>
        <mc:Choice xmlns:a14="http://schemas.microsoft.com/office/drawing/2010/main" Requires="a14">
          <p:sp>
            <p:nvSpPr>
              <p:cNvPr id="165" name="Object 10"/>
              <p:cNvSpPr txBox="1"/>
              <p:nvPr/>
            </p:nvSpPr>
            <p:spPr>
              <a:xfrm>
                <a:off x="5003640" y="3213000"/>
                <a:ext cx="954360" cy="72252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f>
                      <m:num>
                        <m:r>
                          <m:rPr>
                            <m:lit/>
                            <m:nor/>
                          </m:rPr>
                          <m:t xml:space="preserve">DF</m:t>
                        </m:r>
                      </m:num>
                      <m:den>
                        <m:r>
                          <m:rPr>
                            <m:lit/>
                            <m:nor/>
                          </m:rPr>
                          <m:t xml:space="preserve">Dt</m:t>
                        </m:r>
                      </m:den>
                    </m:f>
                    <m:r>
                      <m:t xml:space="preserve">=</m:t>
                    </m:r>
                    <m:r>
                      <m:t xml:space="preserve">0</m:t>
                    </m:r>
                  </m:oMath>
                </a14:m>
              </a:p>
            </p:txBody>
          </p:sp>
        </mc:Choice>
        <mc:Fallback/>
      </mc:AlternateContent>
      <p:sp>
        <p:nvSpPr>
          <p:cNvPr id="166" name="Rectangle 11"/>
          <p:cNvSpPr/>
          <p:nvPr/>
        </p:nvSpPr>
        <p:spPr>
          <a:xfrm>
            <a:off x="468360" y="3357720"/>
            <a:ext cx="5184720" cy="50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marL="343080" indent="-343080">
              <a:spcBef>
                <a:spcPts val="55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AU" sz="2200" spc="-1" strike="noStrike">
                <a:solidFill>
                  <a:srgbClr val="000000"/>
                </a:solidFill>
                <a:latin typeface="Arial"/>
              </a:rPr>
              <a:t>The kinematic condition reverts to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mc:AlternateContent>
        <mc:Choice xmlns:a14="http://schemas.microsoft.com/office/drawing/2010/main" Requires="a14">
          <p:sp>
            <p:nvSpPr>
              <p:cNvPr id="167" name="Object 12"/>
              <p:cNvSpPr txBox="1"/>
              <p:nvPr/>
            </p:nvSpPr>
            <p:spPr>
              <a:xfrm>
                <a:off x="1332000" y="4869000"/>
                <a:ext cx="3897360" cy="85860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f>
                      <m:num>
                        <m:r>
                          <m:t xml:space="preserve">∂</m:t>
                        </m:r>
                        <m:r>
                          <m:t xml:space="preserve">ζ</m:t>
                        </m:r>
                      </m:num>
                      <m:den>
                        <m:r>
                          <m:t xml:space="preserve">∂</m:t>
                        </m:r>
                        <m:r>
                          <m:t xml:space="preserve">t</m:t>
                        </m:r>
                      </m:den>
                    </m:f>
                    <m:r>
                      <m:t xml:space="preserve">+</m:t>
                    </m:r>
                    <m:f>
                      <m:num>
                        <m:r>
                          <m:t xml:space="preserve">∂</m:t>
                        </m:r>
                        <m:r>
                          <m:t xml:space="preserve">φ</m:t>
                        </m:r>
                      </m:num>
                      <m:den>
                        <m:r>
                          <m:t xml:space="preserve">∂</m:t>
                        </m:r>
                        <m:r>
                          <m:t xml:space="preserve">x</m:t>
                        </m:r>
                      </m:den>
                    </m:f>
                    <m:f>
                      <m:num>
                        <m:r>
                          <m:t xml:space="preserve">∂</m:t>
                        </m:r>
                        <m:r>
                          <m:t xml:space="preserve">ζ</m:t>
                        </m:r>
                      </m:num>
                      <m:den>
                        <m:r>
                          <m:t xml:space="preserve">∂</m:t>
                        </m:r>
                        <m:r>
                          <m:t xml:space="preserve">x</m:t>
                        </m:r>
                      </m:den>
                    </m:f>
                    <m:r>
                      <m:t xml:space="preserve">+</m:t>
                    </m:r>
                    <m:f>
                      <m:num>
                        <m:r>
                          <m:t xml:space="preserve">∂</m:t>
                        </m:r>
                        <m:r>
                          <m:t xml:space="preserve">φ</m:t>
                        </m:r>
                      </m:num>
                      <m:den>
                        <m:r>
                          <m:t xml:space="preserve">∂</m:t>
                        </m:r>
                        <m:r>
                          <m:t xml:space="preserve">y</m:t>
                        </m:r>
                      </m:den>
                    </m:f>
                    <m:f>
                      <m:num>
                        <m:r>
                          <m:t xml:space="preserve">∂</m:t>
                        </m:r>
                        <m:r>
                          <m:t xml:space="preserve">ζ</m:t>
                        </m:r>
                      </m:num>
                      <m:den>
                        <m:r>
                          <m:t xml:space="preserve">∂</m:t>
                        </m:r>
                        <m:r>
                          <m:t xml:space="preserve">y</m:t>
                        </m:r>
                      </m:den>
                    </m:f>
                    <m:r>
                      <m:t xml:space="preserve">−</m:t>
                    </m:r>
                    <m:f>
                      <m:num>
                        <m:r>
                          <m:t xml:space="preserve">∂</m:t>
                        </m:r>
                        <m:r>
                          <m:t xml:space="preserve">φ</m:t>
                        </m:r>
                      </m:num>
                      <m:den>
                        <m:r>
                          <m:t xml:space="preserve">∂</m:t>
                        </m:r>
                        <m:r>
                          <m:t xml:space="preserve">z</m:t>
                        </m:r>
                      </m:den>
                    </m:f>
                    <m:r>
                      <m:t xml:space="preserve">=</m:t>
                    </m:r>
                    <m:r>
                      <m:t xml:space="preserve">0</m:t>
                    </m:r>
                  </m:oMath>
                </a14:m>
              </a:p>
            </p:txBody>
          </p:sp>
        </mc:Choice>
        <mc:Fallback/>
      </mc:AlternateContent>
      <p:sp>
        <p:nvSpPr>
          <p:cNvPr id="168" name="Rectangle 13"/>
          <p:cNvSpPr/>
          <p:nvPr/>
        </p:nvSpPr>
        <p:spPr>
          <a:xfrm>
            <a:off x="5724360" y="5084640"/>
            <a:ext cx="65412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AU" sz="1800" spc="-1" strike="noStrike">
                <a:solidFill>
                  <a:srgbClr val="000000"/>
                </a:solidFill>
                <a:latin typeface="Arial"/>
              </a:rPr>
              <a:t>on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mc:AlternateContent>
        <mc:Choice xmlns:a14="http://schemas.microsoft.com/office/drawing/2010/main" Requires="a14">
          <p:sp>
            <p:nvSpPr>
              <p:cNvPr id="169" name="Object 14"/>
              <p:cNvSpPr txBox="1"/>
              <p:nvPr/>
            </p:nvSpPr>
            <p:spPr>
              <a:xfrm>
                <a:off x="4932360" y="2205000"/>
                <a:ext cx="1954080" cy="49680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z</m:t>
                    </m:r>
                    <m:r>
                      <m:t xml:space="preserve">=</m:t>
                    </m:r>
                    <m:r>
                      <m:t xml:space="preserve">ζ</m:t>
                    </m:r>
                    <m:r>
                      <m:t xml:space="preserve">(</m:t>
                    </m:r>
                    <m:r>
                      <m:t xml:space="preserve">x</m:t>
                    </m:r>
                    <m:r>
                      <m:t xml:space="preserve">,</m:t>
                    </m:r>
                    <m:r>
                      <m:t xml:space="preserve">y</m:t>
                    </m:r>
                    <m:r>
                      <m:t xml:space="preserve">,</m:t>
                    </m:r>
                    <m:r>
                      <m:t xml:space="preserve">t</m:t>
                    </m:r>
                    <m:r>
                      <m:t xml:space="preserve">)</m:t>
                    </m:r>
                  </m:oMath>
                </a14:m>
              </a:p>
            </p:txBody>
          </p:sp>
        </mc:Choice>
        <mc:Fallback/>
      </mc:AlternateContent>
      <p:sp>
        <p:nvSpPr>
          <p:cNvPr id="170" name="Rectangle 15"/>
          <p:cNvSpPr/>
          <p:nvPr/>
        </p:nvSpPr>
        <p:spPr>
          <a:xfrm>
            <a:off x="684360" y="4149720"/>
            <a:ext cx="115092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AU" sz="1800" spc="-1" strike="noStrike">
                <a:solidFill>
                  <a:srgbClr val="000000"/>
                </a:solidFill>
                <a:latin typeface="Arial"/>
              </a:rPr>
              <a:t>Hence,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Date Placeholder 4"/>
          <p:cNvSpPr/>
          <p:nvPr/>
        </p:nvSpPr>
        <p:spPr>
          <a:xfrm>
            <a:off x="457200" y="6243480"/>
            <a:ext cx="21337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6E95C7DA-CDFC-4CE1-8ABF-650AA93306AA}" type="datetime">
              <a:rPr b="0" lang="en-GB" sz="1200" spc="-1" strike="noStrike">
                <a:solidFill>
                  <a:srgbClr val="000000"/>
                </a:solidFill>
                <a:latin typeface="Garamond"/>
              </a:rPr>
              <a:t>06/06/26</a:t>
            </a:fld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2" name="Footer Placeholder 5"/>
          <p:cNvSpPr/>
          <p:nvPr/>
        </p:nvSpPr>
        <p:spPr>
          <a:xfrm>
            <a:off x="2843280" y="6248520"/>
            <a:ext cx="360036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AU" sz="1200" spc="-1" strike="noStrike">
                <a:solidFill>
                  <a:srgbClr val="000000"/>
                </a:solidFill>
                <a:latin typeface="Garamond"/>
              </a:rPr>
              <a:t>One-day Tutorial, CAMS'07, Bol, Croatia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" name="Slide Number Placeholder 6"/>
          <p:cNvSpPr/>
          <p:nvPr/>
        </p:nvSpPr>
        <p:spPr>
          <a:xfrm>
            <a:off x="6553080" y="6243480"/>
            <a:ext cx="21337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9583C283-17AB-4B0B-9B90-22138B9B205B}" type="slidenum">
              <a:rPr b="0" lang="en-AU" sz="1200" spc="-1" strike="noStrike">
                <a:solidFill>
                  <a:srgbClr val="000000"/>
                </a:solidFill>
                <a:latin typeface="Garamond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" name="PlaceHolder 1"/>
          <p:cNvSpPr>
            <a:spLocks noGrp="1"/>
          </p:cNvSpPr>
          <p:nvPr>
            <p:ph type="title"/>
          </p:nvPr>
        </p:nvSpPr>
        <p:spPr>
          <a:xfrm>
            <a:off x="457200" y="277920"/>
            <a:ext cx="8229600" cy="113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nb-NO" sz="4200" spc="-1" strike="noStrike">
                <a:solidFill>
                  <a:srgbClr val="006633"/>
                </a:solidFill>
                <a:latin typeface="Tahoma"/>
              </a:rPr>
              <a:t>Dynamic free-surface Conditions</a:t>
            </a:r>
            <a:endParaRPr b="0" lang="en-US" sz="4200" spc="-1" strike="noStrike">
              <a:solidFill>
                <a:srgbClr val="006633"/>
              </a:solidFill>
              <a:latin typeface="Tahoma"/>
            </a:endParaRPr>
          </a:p>
        </p:txBody>
      </p:sp>
      <p:sp>
        <p:nvSpPr>
          <p:cNvPr id="175" name="PlaceHolder 2"/>
          <p:cNvSpPr>
            <a:spLocks noGrp="1"/>
          </p:cNvSpPr>
          <p:nvPr>
            <p:ph/>
          </p:nvPr>
        </p:nvSpPr>
        <p:spPr>
          <a:xfrm>
            <a:off x="324000" y="1125360"/>
            <a:ext cx="8362800" cy="965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343080" indent="-343080">
              <a:spcBef>
                <a:spcPts val="64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AU" sz="2600" spc="-1" strike="noStrike">
                <a:solidFill>
                  <a:srgbClr val="cc9900"/>
                </a:solidFill>
                <a:latin typeface="Arial"/>
              </a:rPr>
              <a:t>Dynamic free-surface condition</a:t>
            </a:r>
            <a:r>
              <a:rPr b="0" lang="en-AU" sz="2600" spc="-1" strike="noStrike">
                <a:solidFill>
                  <a:srgbClr val="000000"/>
                </a:solidFill>
                <a:latin typeface="Arial"/>
              </a:rPr>
              <a:t>:  the water pressure equals the atmospheric pressure on the free surface.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mc:AlternateContent>
        <mc:Choice xmlns:a14="http://schemas.microsoft.com/office/drawing/2010/main" Requires="a14">
          <p:sp>
            <p:nvSpPr>
              <p:cNvPr id="176" name="Object 4"/>
              <p:cNvSpPr txBox="1"/>
              <p:nvPr/>
            </p:nvSpPr>
            <p:spPr>
              <a:xfrm>
                <a:off x="7093080" y="5300640"/>
                <a:ext cx="1439640" cy="36684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z</m:t>
                    </m:r>
                    <m:r>
                      <m:t xml:space="preserve">=</m:t>
                    </m:r>
                    <m:r>
                      <m:t xml:space="preserve">ζ</m:t>
                    </m:r>
                    <m:r>
                      <m:t xml:space="preserve">(</m:t>
                    </m:r>
                    <m:r>
                      <m:t xml:space="preserve">x</m:t>
                    </m:r>
                    <m:r>
                      <m:t xml:space="preserve">,</m:t>
                    </m:r>
                    <m:r>
                      <m:t xml:space="preserve">y</m:t>
                    </m:r>
                    <m:r>
                      <m:t xml:space="preserve">,</m:t>
                    </m:r>
                    <m:r>
                      <m:t xml:space="preserve">t</m:t>
                    </m:r>
                    <m:r>
                      <m:t xml:space="preserve">)</m:t>
                    </m:r>
                  </m:oMath>
                </a14:m>
              </a:p>
            </p:txBody>
          </p:sp>
        </mc:Choice>
        <mc:Fallback/>
      </mc:AlternateContent>
      <p:sp>
        <p:nvSpPr>
          <p:cNvPr id="177" name="Rectangle 5"/>
          <p:cNvSpPr/>
          <p:nvPr/>
        </p:nvSpPr>
        <p:spPr>
          <a:xfrm>
            <a:off x="250920" y="4005360"/>
            <a:ext cx="8137440" cy="50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marL="343080" indent="-343080">
              <a:spcBef>
                <a:spcPts val="55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AU" sz="2200" spc="-1" strike="noStrike">
                <a:solidFill>
                  <a:srgbClr val="000000"/>
                </a:solidFill>
                <a:latin typeface="Arial"/>
              </a:rPr>
              <a:t>If we choose the constant in the Bernoulli equation as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8" name="Rectangle 9"/>
          <p:cNvSpPr/>
          <p:nvPr/>
        </p:nvSpPr>
        <p:spPr>
          <a:xfrm>
            <a:off x="324000" y="4581360"/>
            <a:ext cx="5184720" cy="50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marL="343080" indent="-343080">
              <a:spcBef>
                <a:spcPts val="55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AU" sz="2200" spc="-1" strike="noStrike">
                <a:solidFill>
                  <a:srgbClr val="000000"/>
                </a:solidFill>
                <a:latin typeface="Arial"/>
              </a:rPr>
              <a:t>Then,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mc:AlternateContent>
        <mc:Choice xmlns:a14="http://schemas.microsoft.com/office/drawing/2010/main" Requires="a14">
          <p:sp>
            <p:nvSpPr>
              <p:cNvPr id="179" name="Object 10"/>
              <p:cNvSpPr txBox="1"/>
              <p:nvPr/>
            </p:nvSpPr>
            <p:spPr>
              <a:xfrm>
                <a:off x="1332000" y="5013360"/>
                <a:ext cx="4584600" cy="97632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gζ</m:t>
                    </m:r>
                    <m:r>
                      <m:t xml:space="preserve">+</m:t>
                    </m:r>
                    <m:f>
                      <m:num>
                        <m:r>
                          <m:t xml:space="preserve">∂</m:t>
                        </m:r>
                        <m:r>
                          <m:t xml:space="preserve">φ</m:t>
                        </m:r>
                      </m:num>
                      <m:den>
                        <m:r>
                          <m:t xml:space="preserve">∂</m:t>
                        </m:r>
                        <m:r>
                          <m:t xml:space="preserve">t</m:t>
                        </m:r>
                      </m:den>
                    </m:f>
                    <m:r>
                      <m:t xml:space="preserve">+</m:t>
                    </m:r>
                    <m:f>
                      <m:num>
                        <m:r>
                          <m:t xml:space="preserve">1</m:t>
                        </m:r>
                      </m:num>
                      <m:den>
                        <m:r>
                          <m:t xml:space="preserve">2</m:t>
                        </m:r>
                      </m:den>
                    </m:f>
                    <m:d>
                      <m:dPr>
                        <m:begChr m:val="["/>
                        <m:endChr m:val="]"/>
                      </m:dPr>
                      <m:e>
                        <m:sSup>
                          <m:e>
                            <m:d>
                              <m:dPr>
                                <m:begChr m:val="("/>
                                <m:endChr m:val=")"/>
                              </m:dPr>
                              <m:e>
                                <m:f>
                                  <m:num>
                                    <m:r>
                                      <m:t xml:space="preserve">∂</m:t>
                                    </m:r>
                                    <m:r>
                                      <m:t xml:space="preserve">φ</m:t>
                                    </m:r>
                                  </m:num>
                                  <m:den>
                                    <m:r>
                                      <m:t xml:space="preserve">∂</m:t>
                                    </m:r>
                                    <m:r>
                                      <m:t xml:space="preserve">x</m:t>
                                    </m:r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m:t xml:space="preserve">2</m:t>
                            </m:r>
                          </m:sup>
                        </m:sSup>
                        <m:r>
                          <m:t xml:space="preserve">+</m:t>
                        </m:r>
                        <m:sSup>
                          <m:e>
                            <m:d>
                              <m:dPr>
                                <m:begChr m:val="("/>
                                <m:endChr m:val=")"/>
                              </m:dPr>
                              <m:e>
                                <m:f>
                                  <m:num>
                                    <m:r>
                                      <m:t xml:space="preserve">∂</m:t>
                                    </m:r>
                                    <m:r>
                                      <m:t xml:space="preserve">φ</m:t>
                                    </m:r>
                                  </m:num>
                                  <m:den>
                                    <m:r>
                                      <m:t xml:space="preserve">∂</m:t>
                                    </m:r>
                                    <m:r>
                                      <m:t xml:space="preserve">y</m:t>
                                    </m:r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m:t xml:space="preserve">2</m:t>
                            </m:r>
                          </m:sup>
                        </m:sSup>
                        <m:r>
                          <m:t xml:space="preserve">+</m:t>
                        </m:r>
                        <m:sSup>
                          <m:e>
                            <m:d>
                              <m:dPr>
                                <m:begChr m:val="("/>
                                <m:endChr m:val=")"/>
                              </m:dPr>
                              <m:e>
                                <m:f>
                                  <m:num>
                                    <m:r>
                                      <m:t xml:space="preserve">∂</m:t>
                                    </m:r>
                                    <m:r>
                                      <m:t xml:space="preserve">φ</m:t>
                                    </m:r>
                                  </m:num>
                                  <m:den>
                                    <m:r>
                                      <m:t xml:space="preserve">∂</m:t>
                                    </m:r>
                                    <m:r>
                                      <m:t xml:space="preserve">z</m:t>
                                    </m:r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m:t xml:space="preserve">2</m:t>
                            </m:r>
                          </m:sup>
                        </m:sSup>
                      </m:e>
                    </m:d>
                    <m:r>
                      <m:t xml:space="preserve">=</m:t>
                    </m:r>
                    <m:r>
                      <m:t xml:space="preserve">0</m:t>
                    </m:r>
                  </m:oMath>
                </a14:m>
              </a:p>
            </p:txBody>
          </p:sp>
        </mc:Choice>
        <mc:Fallback/>
      </mc:AlternateContent>
      <p:sp>
        <p:nvSpPr>
          <p:cNvPr id="180" name="Rectangle 11"/>
          <p:cNvSpPr/>
          <p:nvPr/>
        </p:nvSpPr>
        <p:spPr>
          <a:xfrm>
            <a:off x="6300720" y="5300640"/>
            <a:ext cx="94320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AU" sz="1800" spc="-1" strike="noStrike">
                <a:solidFill>
                  <a:srgbClr val="000000"/>
                </a:solidFill>
                <a:latin typeface="Arial"/>
              </a:rPr>
              <a:t>on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mc:AlternateContent>
        <mc:Choice xmlns:a14="http://schemas.microsoft.com/office/drawing/2010/main" Requires="a14">
          <p:sp>
            <p:nvSpPr>
              <p:cNvPr id="181" name="Object 12"/>
              <p:cNvSpPr txBox="1"/>
              <p:nvPr/>
            </p:nvSpPr>
            <p:spPr>
              <a:xfrm>
                <a:off x="7093080" y="4076640"/>
                <a:ext cx="1004760" cy="35568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C</m:t>
                    </m:r>
                    <m:r>
                      <m:t xml:space="preserve">=</m:t>
                    </m:r>
                    <m:f>
                      <m:fPr>
                        <m:type m:val="lin"/>
                      </m:fPr>
                      <m:num>
                        <m:sSub>
                          <m:e>
                            <m:r>
                              <m:t xml:space="preserve">p</m:t>
                            </m:r>
                          </m:e>
                          <m:sub>
                            <m:r>
                              <m:t xml:space="preserve">0</m:t>
                            </m:r>
                          </m:sub>
                        </m:sSub>
                      </m:num>
                      <m:den>
                        <m:r>
                          <m:t xml:space="preserve">ρ</m:t>
                        </m:r>
                      </m:den>
                    </m:f>
                  </m:oMath>
                </a14:m>
              </a:p>
            </p:txBody>
          </p:sp>
        </mc:Choice>
        <mc:Fallback/>
      </mc:AlternateContent>
      <p:pic>
        <p:nvPicPr>
          <p:cNvPr id="182" name="Picture 14" descr=""/>
          <p:cNvPicPr/>
          <p:nvPr/>
        </p:nvPicPr>
        <p:blipFill>
          <a:blip r:embed="rId1"/>
          <a:stretch/>
        </p:blipFill>
        <p:spPr>
          <a:xfrm>
            <a:off x="2843280" y="2133720"/>
            <a:ext cx="4033800" cy="17859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Date Placeholder 5"/>
          <p:cNvSpPr/>
          <p:nvPr/>
        </p:nvSpPr>
        <p:spPr>
          <a:xfrm>
            <a:off x="457200" y="6243480"/>
            <a:ext cx="21337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42B9F6BF-07A3-47BF-B5FE-47E766C8F335}" type="datetime">
              <a:rPr b="0" lang="en-GB" sz="1200" spc="-1" strike="noStrike">
                <a:solidFill>
                  <a:srgbClr val="000000"/>
                </a:solidFill>
                <a:latin typeface="Garamond"/>
              </a:rPr>
              <a:t>06/06/26</a:t>
            </a:fld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4" name="Footer Placeholder 6"/>
          <p:cNvSpPr/>
          <p:nvPr/>
        </p:nvSpPr>
        <p:spPr>
          <a:xfrm>
            <a:off x="2843280" y="6248520"/>
            <a:ext cx="360036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AU" sz="1200" spc="-1" strike="noStrike">
                <a:solidFill>
                  <a:srgbClr val="000000"/>
                </a:solidFill>
                <a:latin typeface="Garamond"/>
              </a:rPr>
              <a:t>One-day Tutorial, CAMS'07, Bol, Croatia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5" name="Slide Number Placeholder 7"/>
          <p:cNvSpPr/>
          <p:nvPr/>
        </p:nvSpPr>
        <p:spPr>
          <a:xfrm>
            <a:off x="6553080" y="6243480"/>
            <a:ext cx="21337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2BA22996-AFBA-46B8-851A-BC230BFB317C}" type="slidenum">
              <a:rPr b="0" lang="en-AU" sz="1200" spc="-1" strike="noStrike">
                <a:solidFill>
                  <a:srgbClr val="000000"/>
                </a:solidFill>
                <a:latin typeface="Garamond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6" name="PlaceHolder 1"/>
          <p:cNvSpPr>
            <a:spLocks noGrp="1"/>
          </p:cNvSpPr>
          <p:nvPr>
            <p:ph type="title"/>
          </p:nvPr>
        </p:nvSpPr>
        <p:spPr>
          <a:xfrm>
            <a:off x="457200" y="277920"/>
            <a:ext cx="8229600" cy="113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AU" sz="4200" spc="-1" strike="noStrike">
                <a:solidFill>
                  <a:srgbClr val="006633"/>
                </a:solidFill>
                <a:latin typeface="Tahoma"/>
              </a:rPr>
              <a:t>Linearised free-surface conditions</a:t>
            </a:r>
            <a:endParaRPr b="0" lang="en-US" sz="4200" spc="-1" strike="noStrike">
              <a:solidFill>
                <a:srgbClr val="006633"/>
              </a:solidFill>
              <a:latin typeface="Tahoma"/>
            </a:endParaRPr>
          </a:p>
        </p:txBody>
      </p:sp>
      <p:sp>
        <p:nvSpPr>
          <p:cNvPr id="187" name="PlaceHolder 2"/>
          <p:cNvSpPr>
            <a:spLocks noGrp="1"/>
          </p:cNvSpPr>
          <p:nvPr>
            <p:ph/>
          </p:nvPr>
        </p:nvSpPr>
        <p:spPr>
          <a:xfrm>
            <a:off x="468360" y="1197000"/>
            <a:ext cx="7570800" cy="82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343080" indent="-343080">
              <a:lnSpc>
                <a:spcPct val="90000"/>
              </a:lnSpc>
              <a:spcBef>
                <a:spcPts val="64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AU" sz="2600" spc="-1" strike="noStrike">
                <a:solidFill>
                  <a:srgbClr val="000000"/>
                </a:solidFill>
                <a:latin typeface="Arial"/>
              </a:rPr>
              <a:t>The free-surface conditions can be linearised about the mean free-surface: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mc:AlternateContent>
        <mc:Choice xmlns:a14="http://schemas.microsoft.com/office/drawing/2010/main" Requires="a14">
          <p:sp>
            <p:nvSpPr>
              <p:cNvPr id="188" name="Object 4"/>
              <p:cNvSpPr txBox="1"/>
              <p:nvPr/>
            </p:nvSpPr>
            <p:spPr>
              <a:xfrm>
                <a:off x="1547640" y="2276640"/>
                <a:ext cx="1656000" cy="81432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f>
                      <m:num>
                        <m:r>
                          <m:t xml:space="preserve">∂</m:t>
                        </m:r>
                        <m:r>
                          <m:t xml:space="preserve">ζ</m:t>
                        </m:r>
                      </m:num>
                      <m:den>
                        <m:r>
                          <m:t xml:space="preserve">∂</m:t>
                        </m:r>
                        <m:r>
                          <m:t xml:space="preserve">t</m:t>
                        </m:r>
                      </m:den>
                    </m:f>
                    <m:r>
                      <m:t xml:space="preserve">−</m:t>
                    </m:r>
                    <m:f>
                      <m:num>
                        <m:r>
                          <m:t xml:space="preserve">∂</m:t>
                        </m:r>
                        <m:r>
                          <m:t xml:space="preserve">φ</m:t>
                        </m:r>
                      </m:num>
                      <m:den>
                        <m:r>
                          <m:t xml:space="preserve">∂</m:t>
                        </m:r>
                        <m:r>
                          <m:t xml:space="preserve">z</m:t>
                        </m:r>
                      </m:den>
                    </m:f>
                    <m:r>
                      <m:t xml:space="preserve">=</m:t>
                    </m:r>
                    <m:r>
                      <m:t xml:space="preserve">0</m:t>
                    </m:r>
                  </m:oMath>
                </a14:m>
              </a:p>
            </p:txBody>
          </p:sp>
        </mc:Choice>
        <mc:Fallback/>
      </mc:AlternateContent>
      <mc:AlternateContent>
        <mc:Choice xmlns:a14="http://schemas.microsoft.com/office/drawing/2010/main" Requires="a14">
          <p:sp>
            <p:nvSpPr>
              <p:cNvPr id="189" name="Object 6"/>
              <p:cNvSpPr txBox="1"/>
              <p:nvPr/>
            </p:nvSpPr>
            <p:spPr>
              <a:xfrm>
                <a:off x="1476360" y="3213000"/>
                <a:ext cx="1765440" cy="88272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gζ</m:t>
                    </m:r>
                    <m:r>
                      <m:t xml:space="preserve">+</m:t>
                    </m:r>
                    <m:f>
                      <m:num>
                        <m:r>
                          <m:t xml:space="preserve">∂</m:t>
                        </m:r>
                        <m:r>
                          <m:t xml:space="preserve">φ</m:t>
                        </m:r>
                      </m:num>
                      <m:den>
                        <m:r>
                          <m:t xml:space="preserve">∂</m:t>
                        </m:r>
                        <m:r>
                          <m:t xml:space="preserve">t</m:t>
                        </m:r>
                      </m:den>
                    </m:f>
                    <m:r>
                      <m:t xml:space="preserve">=</m:t>
                    </m:r>
                    <m:r>
                      <m:t xml:space="preserve">0</m:t>
                    </m:r>
                  </m:oMath>
                </a14:m>
              </a:p>
            </p:txBody>
          </p:sp>
        </mc:Choice>
        <mc:Fallback/>
      </mc:AlternateContent>
      <mc:AlternateContent>
        <mc:Choice xmlns:a14="http://schemas.microsoft.com/office/drawing/2010/main" Requires="a14">
          <p:sp>
            <p:nvSpPr>
              <p:cNvPr id="190" name="Object 8"/>
              <p:cNvSpPr txBox="1"/>
              <p:nvPr/>
            </p:nvSpPr>
            <p:spPr>
              <a:xfrm>
                <a:off x="5148360" y="2997360"/>
                <a:ext cx="838080" cy="43488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z</m:t>
                    </m:r>
                    <m:r>
                      <m:t xml:space="preserve">=</m:t>
                    </m:r>
                    <m:r>
                      <m:t xml:space="preserve">0</m:t>
                    </m:r>
                  </m:oMath>
                </a14:m>
              </a:p>
            </p:txBody>
          </p:sp>
        </mc:Choice>
        <mc:Fallback/>
      </mc:AlternateContent>
      <p:sp>
        <p:nvSpPr>
          <p:cNvPr id="191" name="Rectangle 9"/>
          <p:cNvSpPr/>
          <p:nvPr/>
        </p:nvSpPr>
        <p:spPr>
          <a:xfrm>
            <a:off x="4068720" y="2997360"/>
            <a:ext cx="151920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AU" sz="2400" spc="-1" strike="noStrike">
                <a:solidFill>
                  <a:srgbClr val="000000"/>
                </a:solidFill>
                <a:latin typeface="Arial"/>
              </a:rPr>
              <a:t>on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mc:AlternateContent>
        <mc:Choice xmlns:a14="http://schemas.microsoft.com/office/drawing/2010/main" Requires="a14">
          <p:sp>
            <p:nvSpPr>
              <p:cNvPr id="192" name="Object 10"/>
              <p:cNvSpPr txBox="1"/>
              <p:nvPr/>
            </p:nvSpPr>
            <p:spPr>
              <a:xfrm>
                <a:off x="2411280" y="4941720"/>
                <a:ext cx="2136960" cy="93852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g</m:t>
                    </m:r>
                    <m:f>
                      <m:num>
                        <m:r>
                          <m:t xml:space="preserve">∂</m:t>
                        </m:r>
                        <m:r>
                          <m:t xml:space="preserve">φ</m:t>
                        </m:r>
                      </m:num>
                      <m:den>
                        <m:r>
                          <m:t xml:space="preserve">∂</m:t>
                        </m:r>
                        <m:r>
                          <m:t xml:space="preserve">z</m:t>
                        </m:r>
                      </m:den>
                    </m:f>
                    <m:r>
                      <m:t xml:space="preserve">+</m:t>
                    </m:r>
                    <m:f>
                      <m:num>
                        <m:sSup>
                          <m:e>
                            <m:r>
                              <m:t xml:space="preserve">∂</m:t>
                            </m:r>
                          </m:e>
                          <m:sup>
                            <m:r>
                              <m:t xml:space="preserve">2</m:t>
                            </m:r>
                          </m:sup>
                        </m:sSup>
                        <m:r>
                          <m:t xml:space="preserve">φ</m:t>
                        </m:r>
                      </m:num>
                      <m:den>
                        <m:r>
                          <m:t xml:space="preserve">∂</m:t>
                        </m:r>
                        <m:sSup>
                          <m:e>
                            <m:r>
                              <m:t xml:space="preserve">t</m:t>
                            </m:r>
                          </m:e>
                          <m:sup>
                            <m:r>
                              <m:t xml:space="preserve">2</m:t>
                            </m:r>
                          </m:sup>
                        </m:sSup>
                      </m:den>
                    </m:f>
                    <m:r>
                      <m:t xml:space="preserve">=</m:t>
                    </m:r>
                    <m:r>
                      <m:t xml:space="preserve">0</m:t>
                    </m:r>
                  </m:oMath>
                </a14:m>
              </a:p>
            </p:txBody>
          </p:sp>
        </mc:Choice>
        <mc:Fallback/>
      </mc:AlternateContent>
      <mc:AlternateContent>
        <mc:Choice xmlns:a14="http://schemas.microsoft.com/office/drawing/2010/main" Requires="a14">
          <p:sp>
            <p:nvSpPr>
              <p:cNvPr id="193" name="Object 11"/>
              <p:cNvSpPr txBox="1"/>
              <p:nvPr/>
            </p:nvSpPr>
            <p:spPr>
              <a:xfrm>
                <a:off x="6227640" y="5229360"/>
                <a:ext cx="838440" cy="43488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z</m:t>
                    </m:r>
                    <m:r>
                      <m:t xml:space="preserve">=</m:t>
                    </m:r>
                    <m:r>
                      <m:t xml:space="preserve">0</m:t>
                    </m:r>
                  </m:oMath>
                </a14:m>
              </a:p>
            </p:txBody>
          </p:sp>
        </mc:Choice>
        <mc:Fallback/>
      </mc:AlternateContent>
      <p:sp>
        <p:nvSpPr>
          <p:cNvPr id="194" name="Rectangle 12"/>
          <p:cNvSpPr/>
          <p:nvPr/>
        </p:nvSpPr>
        <p:spPr>
          <a:xfrm>
            <a:off x="5364000" y="5157720"/>
            <a:ext cx="151956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AU" sz="2400" spc="-1" strike="noStrike">
                <a:solidFill>
                  <a:srgbClr val="000000"/>
                </a:solidFill>
                <a:latin typeface="Arial"/>
              </a:rPr>
              <a:t>on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5" name="Rectangle 13"/>
          <p:cNvSpPr/>
          <p:nvPr/>
        </p:nvSpPr>
        <p:spPr>
          <a:xfrm>
            <a:off x="395280" y="4437000"/>
            <a:ext cx="7570800" cy="432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marL="343080" indent="-343080">
              <a:lnSpc>
                <a:spcPct val="90000"/>
              </a:lnSpc>
              <a:spcBef>
                <a:spcPts val="64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AU" sz="2600" spc="-1" strike="noStrike">
                <a:solidFill>
                  <a:srgbClr val="000000"/>
                </a:solidFill>
                <a:latin typeface="Arial"/>
              </a:rPr>
              <a:t>Combined: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Date Placeholder 3"/>
          <p:cNvSpPr/>
          <p:nvPr/>
        </p:nvSpPr>
        <p:spPr>
          <a:xfrm>
            <a:off x="457200" y="6243480"/>
            <a:ext cx="21337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B405DE99-3027-4E6B-A08B-A8137BA02836}" type="datetime">
              <a:rPr b="0" lang="en-GB" sz="1200" spc="-1" strike="noStrike">
                <a:solidFill>
                  <a:srgbClr val="000000"/>
                </a:solidFill>
                <a:latin typeface="Garamond"/>
              </a:rPr>
              <a:t>06/06/26</a:t>
            </a:fld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7" name="Footer Placeholder 4"/>
          <p:cNvSpPr/>
          <p:nvPr/>
        </p:nvSpPr>
        <p:spPr>
          <a:xfrm>
            <a:off x="2843280" y="6248520"/>
            <a:ext cx="360036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AU" sz="1200" spc="-1" strike="noStrike">
                <a:solidFill>
                  <a:srgbClr val="000000"/>
                </a:solidFill>
                <a:latin typeface="Garamond"/>
              </a:rPr>
              <a:t>One-day Tutorial, CAMS'07, Bol, Croatia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8" name="Slide Number Placeholder 5"/>
          <p:cNvSpPr/>
          <p:nvPr/>
        </p:nvSpPr>
        <p:spPr>
          <a:xfrm>
            <a:off x="6553080" y="6243480"/>
            <a:ext cx="21337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B25F2273-61B5-40F7-8F7E-026BF02BF27C}" type="slidenum">
              <a:rPr b="0" lang="en-AU" sz="1200" spc="-1" strike="noStrike">
                <a:solidFill>
                  <a:srgbClr val="000000"/>
                </a:solidFill>
                <a:latin typeface="Garamond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9" name="PlaceHolder 1"/>
          <p:cNvSpPr>
            <a:spLocks noGrp="1"/>
          </p:cNvSpPr>
          <p:nvPr>
            <p:ph type="title"/>
          </p:nvPr>
        </p:nvSpPr>
        <p:spPr>
          <a:xfrm>
            <a:off x="457200" y="277920"/>
            <a:ext cx="8229600" cy="113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nb-NO" sz="4200" spc="-1" strike="noStrike">
                <a:solidFill>
                  <a:srgbClr val="006633"/>
                </a:solidFill>
                <a:latin typeface="Tahoma"/>
              </a:rPr>
              <a:t>Regular Wave linear BVP</a:t>
            </a:r>
            <a:endParaRPr b="0" lang="en-US" sz="4200" spc="-1" strike="noStrike">
              <a:solidFill>
                <a:srgbClr val="006633"/>
              </a:solidFill>
              <a:latin typeface="Tahoma"/>
            </a:endParaRPr>
          </a:p>
        </p:txBody>
      </p:sp>
      <p:pic>
        <p:nvPicPr>
          <p:cNvPr id="200" name="Picture 3" descr=""/>
          <p:cNvPicPr/>
          <p:nvPr/>
        </p:nvPicPr>
        <p:blipFill>
          <a:blip r:embed="rId1"/>
          <a:stretch/>
        </p:blipFill>
        <p:spPr>
          <a:xfrm>
            <a:off x="826920" y="981000"/>
            <a:ext cx="7634520" cy="50468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Date Placeholder 3"/>
          <p:cNvSpPr/>
          <p:nvPr/>
        </p:nvSpPr>
        <p:spPr>
          <a:xfrm>
            <a:off x="457200" y="6243480"/>
            <a:ext cx="21337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4D2E4D85-E2D8-4361-BD58-26D53DA9E7EC}" type="datetime">
              <a:rPr b="0" lang="en-GB" sz="1200" spc="-1" strike="noStrike">
                <a:solidFill>
                  <a:srgbClr val="000000"/>
                </a:solidFill>
                <a:latin typeface="Garamond"/>
              </a:rPr>
              <a:t>06/06/26</a:t>
            </a:fld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2" name="Footer Placeholder 4"/>
          <p:cNvSpPr/>
          <p:nvPr/>
        </p:nvSpPr>
        <p:spPr>
          <a:xfrm>
            <a:off x="2843280" y="6248520"/>
            <a:ext cx="360036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AU" sz="1200" spc="-1" strike="noStrike">
                <a:solidFill>
                  <a:srgbClr val="000000"/>
                </a:solidFill>
                <a:latin typeface="Garamond"/>
              </a:rPr>
              <a:t>One-day Tutorial, CAMS'07, Bol, Croatia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3" name="Slide Number Placeholder 5"/>
          <p:cNvSpPr/>
          <p:nvPr/>
        </p:nvSpPr>
        <p:spPr>
          <a:xfrm>
            <a:off x="6553080" y="6243480"/>
            <a:ext cx="21337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F34F6EC3-11FB-46B4-8047-687A920F66E9}" type="slidenum">
              <a:rPr b="0" lang="en-AU" sz="1200" spc="-1" strike="noStrike">
                <a:solidFill>
                  <a:srgbClr val="000000"/>
                </a:solidFill>
                <a:latin typeface="Garamond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4" name="PlaceHolder 1"/>
          <p:cNvSpPr>
            <a:spLocks noGrp="1"/>
          </p:cNvSpPr>
          <p:nvPr>
            <p:ph type="title"/>
          </p:nvPr>
        </p:nvSpPr>
        <p:spPr>
          <a:xfrm>
            <a:off x="457200" y="277920"/>
            <a:ext cx="8229600" cy="113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nb-NO" sz="4200" spc="-1" strike="noStrike">
                <a:solidFill>
                  <a:srgbClr val="006633"/>
                </a:solidFill>
                <a:latin typeface="Tahoma"/>
              </a:rPr>
              <a:t>Regular Wave Potential</a:t>
            </a:r>
            <a:endParaRPr b="0" lang="en-US" sz="4200" spc="-1" strike="noStrike">
              <a:solidFill>
                <a:srgbClr val="006633"/>
              </a:solidFill>
              <a:latin typeface="Tahoma"/>
            </a:endParaRPr>
          </a:p>
        </p:txBody>
      </p:sp>
      <p:pic>
        <p:nvPicPr>
          <p:cNvPr id="205" name="Picture 3" descr=""/>
          <p:cNvPicPr/>
          <p:nvPr/>
        </p:nvPicPr>
        <p:blipFill>
          <a:blip r:embed="rId1"/>
          <a:stretch/>
        </p:blipFill>
        <p:spPr>
          <a:xfrm>
            <a:off x="1042920" y="1125360"/>
            <a:ext cx="7081920" cy="48708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Date Placeholder 3"/>
          <p:cNvSpPr/>
          <p:nvPr/>
        </p:nvSpPr>
        <p:spPr>
          <a:xfrm>
            <a:off x="457200" y="6243480"/>
            <a:ext cx="21337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5914F084-8326-44AD-9D04-8D6A174A10C8}" type="datetime">
              <a:rPr b="0" lang="en-GB" sz="1200" spc="-1" strike="noStrike">
                <a:solidFill>
                  <a:srgbClr val="000000"/>
                </a:solidFill>
                <a:latin typeface="Garamond"/>
              </a:rPr>
              <a:t>06/06/26</a:t>
            </a:fld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7" name="Footer Placeholder 4"/>
          <p:cNvSpPr/>
          <p:nvPr/>
        </p:nvSpPr>
        <p:spPr>
          <a:xfrm>
            <a:off x="2843280" y="6248520"/>
            <a:ext cx="360036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AU" sz="1200" spc="-1" strike="noStrike">
                <a:solidFill>
                  <a:srgbClr val="000000"/>
                </a:solidFill>
                <a:latin typeface="Garamond"/>
              </a:rPr>
              <a:t>One-day Tutorial, CAMS'07, Bol, Croatia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8" name="Slide Number Placeholder 5"/>
          <p:cNvSpPr/>
          <p:nvPr/>
        </p:nvSpPr>
        <p:spPr>
          <a:xfrm>
            <a:off x="6553080" y="6243480"/>
            <a:ext cx="21337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ECEEE5A3-6BC4-45BA-BB47-153BF2D2561E}" type="slidenum">
              <a:rPr b="0" lang="en-AU" sz="1200" spc="-1" strike="noStrike">
                <a:solidFill>
                  <a:srgbClr val="000000"/>
                </a:solidFill>
                <a:latin typeface="Garamond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9" name="PlaceHolder 1"/>
          <p:cNvSpPr>
            <a:spLocks noGrp="1"/>
          </p:cNvSpPr>
          <p:nvPr>
            <p:ph type="title"/>
          </p:nvPr>
        </p:nvSpPr>
        <p:spPr>
          <a:xfrm>
            <a:off x="457200" y="277920"/>
            <a:ext cx="8229600" cy="113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AU" sz="3400" spc="-1" strike="noStrike">
                <a:solidFill>
                  <a:srgbClr val="006633"/>
                </a:solidFill>
                <a:latin typeface="Tahoma"/>
              </a:rPr>
              <a:t>Regular wave formulae (Faltinsen, 1990)</a:t>
            </a:r>
            <a:endParaRPr b="0" lang="en-US" sz="3400" spc="-1" strike="noStrike">
              <a:solidFill>
                <a:srgbClr val="006633"/>
              </a:solidFill>
              <a:latin typeface="Tahoma"/>
            </a:endParaRPr>
          </a:p>
        </p:txBody>
      </p:sp>
      <p:pic>
        <p:nvPicPr>
          <p:cNvPr id="210" name="Picture 4" descr=""/>
          <p:cNvPicPr/>
          <p:nvPr/>
        </p:nvPicPr>
        <p:blipFill>
          <a:blip r:embed="rId1"/>
          <a:stretch/>
        </p:blipFill>
        <p:spPr>
          <a:xfrm>
            <a:off x="887400" y="981000"/>
            <a:ext cx="7369200" cy="51548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Date Placeholder 3"/>
          <p:cNvSpPr/>
          <p:nvPr/>
        </p:nvSpPr>
        <p:spPr>
          <a:xfrm>
            <a:off x="457200" y="6243480"/>
            <a:ext cx="21337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E094588D-2D2E-4248-8952-E1A65F2FC05E}" type="datetime">
              <a:rPr b="0" lang="en-GB" sz="1200" spc="-1" strike="noStrike">
                <a:solidFill>
                  <a:srgbClr val="000000"/>
                </a:solidFill>
                <a:latin typeface="Garamond"/>
              </a:rPr>
              <a:t>06/06/26</a:t>
            </a:fld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2" name="Footer Placeholder 4"/>
          <p:cNvSpPr/>
          <p:nvPr/>
        </p:nvSpPr>
        <p:spPr>
          <a:xfrm>
            <a:off x="2843280" y="6248520"/>
            <a:ext cx="360036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AU" sz="1200" spc="-1" strike="noStrike">
                <a:solidFill>
                  <a:srgbClr val="000000"/>
                </a:solidFill>
                <a:latin typeface="Garamond"/>
              </a:rPr>
              <a:t>One-day Tutorial, CAMS'07, Bol, Croatia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3" name="Slide Number Placeholder 5"/>
          <p:cNvSpPr/>
          <p:nvPr/>
        </p:nvSpPr>
        <p:spPr>
          <a:xfrm>
            <a:off x="6553080" y="6243480"/>
            <a:ext cx="21337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FDE9B2E7-3F45-4ABC-BBB9-F45D2858326E}" type="slidenum">
              <a:rPr b="0" lang="en-AU" sz="1200" spc="-1" strike="noStrike">
                <a:solidFill>
                  <a:srgbClr val="000000"/>
                </a:solidFill>
                <a:latin typeface="Garamond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4" name="PlaceHolder 1"/>
          <p:cNvSpPr>
            <a:spLocks noGrp="1"/>
          </p:cNvSpPr>
          <p:nvPr>
            <p:ph type="title"/>
          </p:nvPr>
        </p:nvSpPr>
        <p:spPr>
          <a:xfrm>
            <a:off x="457200" y="277920"/>
            <a:ext cx="8362800" cy="113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AU" sz="4200" spc="-1" strike="noStrike">
                <a:solidFill>
                  <a:srgbClr val="006633"/>
                </a:solidFill>
                <a:latin typeface="Tahoma"/>
              </a:rPr>
              <a:t>Potential theory for ships in waves</a:t>
            </a:r>
            <a:endParaRPr b="0" lang="en-US" sz="4200" spc="-1" strike="noStrike">
              <a:solidFill>
                <a:srgbClr val="006633"/>
              </a:solidFill>
              <a:latin typeface="Tahoma"/>
            </a:endParaRPr>
          </a:p>
        </p:txBody>
      </p:sp>
      <p:sp>
        <p:nvSpPr>
          <p:cNvPr id="215" name="PlaceHolder 2"/>
          <p:cNvSpPr>
            <a:spLocks noGrp="1"/>
          </p:cNvSpPr>
          <p:nvPr>
            <p:ph/>
          </p:nvPr>
        </p:nvSpPr>
        <p:spPr>
          <a:xfrm>
            <a:off x="395280" y="1196640"/>
            <a:ext cx="8229600" cy="2087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343080" indent="-343080">
              <a:spcBef>
                <a:spcPts val="55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AU" sz="2200" spc="-1" strike="noStrike">
                <a:solidFill>
                  <a:srgbClr val="000000"/>
                </a:solidFill>
                <a:latin typeface="Arial"/>
              </a:rPr>
              <a:t>The fluid forces are due to variations in pressure on the surface of the hull.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spcBef>
                <a:spcPts val="55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spcBef>
                <a:spcPts val="55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AU" sz="2200" spc="-1" strike="noStrike">
                <a:solidFill>
                  <a:srgbClr val="000000"/>
                </a:solidFill>
                <a:latin typeface="Arial"/>
              </a:rPr>
              <a:t>It is normally assumed that the forces (pressure) can be made of different components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16" name="Picture 4" descr=""/>
          <p:cNvPicPr/>
          <p:nvPr/>
        </p:nvPicPr>
        <p:blipFill>
          <a:blip r:embed="rId1"/>
          <a:stretch/>
        </p:blipFill>
        <p:spPr>
          <a:xfrm>
            <a:off x="179280" y="3357720"/>
            <a:ext cx="8785440" cy="26463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Date Placeholder 4"/>
          <p:cNvSpPr/>
          <p:nvPr/>
        </p:nvSpPr>
        <p:spPr>
          <a:xfrm>
            <a:off x="457200" y="6243480"/>
            <a:ext cx="21337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18918E0E-BEB3-4615-9FC3-F5237A070D49}" type="datetime">
              <a:rPr b="0" lang="en-GB" sz="1200" spc="-1" strike="noStrike">
                <a:solidFill>
                  <a:srgbClr val="000000"/>
                </a:solidFill>
                <a:latin typeface="Garamond"/>
              </a:rPr>
              <a:t>06/06/26</a:t>
            </a:fld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8" name="Footer Placeholder 5"/>
          <p:cNvSpPr/>
          <p:nvPr/>
        </p:nvSpPr>
        <p:spPr>
          <a:xfrm>
            <a:off x="2843280" y="6248520"/>
            <a:ext cx="360036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AU" sz="1200" spc="-1" strike="noStrike">
                <a:solidFill>
                  <a:srgbClr val="000000"/>
                </a:solidFill>
                <a:latin typeface="Garamond"/>
              </a:rPr>
              <a:t>One-day Tutorial, CAMS'07, Bol, Croatia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9" name="Slide Number Placeholder 6"/>
          <p:cNvSpPr/>
          <p:nvPr/>
        </p:nvSpPr>
        <p:spPr>
          <a:xfrm>
            <a:off x="6553080" y="6243480"/>
            <a:ext cx="21337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2F8D4820-92AA-4270-864F-C60FABBAB61E}" type="slidenum">
              <a:rPr b="0" lang="en-AU" sz="1200" spc="-1" strike="noStrike">
                <a:solidFill>
                  <a:srgbClr val="000000"/>
                </a:solidFill>
                <a:latin typeface="Garamond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20" name="Picture 7" descr=""/>
          <p:cNvPicPr/>
          <p:nvPr/>
        </p:nvPicPr>
        <p:blipFill>
          <a:blip r:embed="rId1"/>
          <a:stretch/>
        </p:blipFill>
        <p:spPr>
          <a:xfrm>
            <a:off x="2556000" y="1569960"/>
            <a:ext cx="4537080" cy="1365480"/>
          </a:xfrm>
          <a:prstGeom prst="rect">
            <a:avLst/>
          </a:prstGeom>
          <a:ln w="0">
            <a:noFill/>
          </a:ln>
        </p:spPr>
      </p:pic>
      <p:sp>
        <p:nvSpPr>
          <p:cNvPr id="221" name="PlaceHolder 1"/>
          <p:cNvSpPr>
            <a:spLocks noGrp="1"/>
          </p:cNvSpPr>
          <p:nvPr>
            <p:ph type="title"/>
          </p:nvPr>
        </p:nvSpPr>
        <p:spPr>
          <a:xfrm>
            <a:off x="457200" y="277920"/>
            <a:ext cx="8229600" cy="113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AU" sz="3800" spc="-1" strike="noStrike">
                <a:solidFill>
                  <a:srgbClr val="006633"/>
                </a:solidFill>
                <a:latin typeface="Tahoma"/>
              </a:rPr>
              <a:t>Potential theory for ships in waves</a:t>
            </a:r>
            <a:endParaRPr b="0" lang="en-US" sz="3800" spc="-1" strike="noStrike">
              <a:solidFill>
                <a:srgbClr val="006633"/>
              </a:solidFill>
              <a:latin typeface="Tahoma"/>
            </a:endParaRPr>
          </a:p>
        </p:txBody>
      </p:sp>
      <p:sp>
        <p:nvSpPr>
          <p:cNvPr id="222" name="PlaceHolder 2"/>
          <p:cNvSpPr>
            <a:spLocks noGrp="1"/>
          </p:cNvSpPr>
          <p:nvPr>
            <p:ph/>
          </p:nvPr>
        </p:nvSpPr>
        <p:spPr>
          <a:xfrm>
            <a:off x="468000" y="1168560"/>
            <a:ext cx="8147160" cy="3916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343080" indent="-343080">
              <a:lnSpc>
                <a:spcPct val="80000"/>
              </a:lnSpc>
              <a:spcBef>
                <a:spcPts val="4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AU" sz="2000" spc="-1" strike="noStrike">
                <a:solidFill>
                  <a:srgbClr val="000000"/>
                </a:solidFill>
                <a:latin typeface="Arial"/>
              </a:rPr>
              <a:t>Under linearity assumptions, the hydrodynamic problem is dealt as 2 separate problems and the solutions then added: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99"/>
              </a:spcBef>
              <a:buClr>
                <a:srgbClr val="cc9900"/>
              </a:buClr>
              <a:buSzPct val="65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AU" sz="2000" spc="-1" strike="noStrike">
                <a:solidFill>
                  <a:srgbClr val="afbf39"/>
                </a:solidFill>
                <a:latin typeface="Arial"/>
              </a:rPr>
              <a:t>Radiation problem</a:t>
            </a:r>
            <a:r>
              <a:rPr b="0" lang="en-AU" sz="2000" spc="-1" strike="noStrike">
                <a:solidFill>
                  <a:srgbClr val="000000"/>
                </a:solidFill>
                <a:latin typeface="Arial"/>
              </a:rPr>
              <a:t>: the ship is forced to oscillate in calm water.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343080" indent="0">
              <a:lnSpc>
                <a:spcPct val="80000"/>
              </a:lnSpc>
              <a:spcBef>
                <a:spcPts val="499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99"/>
              </a:spcBef>
              <a:buClr>
                <a:srgbClr val="cc9900"/>
              </a:buClr>
              <a:buSzPct val="65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AU" sz="2000" spc="-1" strike="noStrike">
                <a:solidFill>
                  <a:srgbClr val="afbf39"/>
                </a:solidFill>
                <a:latin typeface="Arial"/>
              </a:rPr>
              <a:t>Diffraction problem</a:t>
            </a:r>
            <a:r>
              <a:rPr b="0" lang="en-AU" sz="2000" spc="-1" strike="noStrike">
                <a:solidFill>
                  <a:srgbClr val="000000"/>
                </a:solidFill>
                <a:latin typeface="Arial"/>
              </a:rPr>
              <a:t>: the ship is restrained from moving in the presence of a wave field.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AU" sz="2000" spc="-1" strike="noStrike">
                <a:solidFill>
                  <a:srgbClr val="000000"/>
                </a:solidFill>
                <a:latin typeface="Arial"/>
              </a:rPr>
              <a:t>Potentials: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mc:AlternateContent>
        <mc:Choice xmlns:a14="http://schemas.microsoft.com/office/drawing/2010/main" Requires="a14">
          <p:sp>
            <p:nvSpPr>
              <p:cNvPr id="223" name="Object 4"/>
              <p:cNvSpPr txBox="1"/>
              <p:nvPr/>
            </p:nvSpPr>
            <p:spPr>
              <a:xfrm>
                <a:off x="2411280" y="4508640"/>
                <a:ext cx="4780080" cy="95076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sSub>
                      <m:e>
                        <m:r>
                          <m:t xml:space="preserve">Φ</m:t>
                        </m:r>
                      </m:e>
                      <m:sub>
                        <m:r>
                          <m:rPr>
                            <m:lit/>
                            <m:nor/>
                          </m:rPr>
                          <m:t xml:space="preserve">Total</m:t>
                        </m:r>
                      </m:sub>
                    </m:sSub>
                    <m:r>
                      <m:t xml:space="preserve">=</m:t>
                    </m:r>
                    <m:limLow>
                      <m:e>
                        <m:groupChr>
                          <m:groupChrPr>
                            <m:chr m:val="⏟"/>
                            <m:pos m:val="bot"/>
                            <m:vertJc m:val="top"/>
                          </m:groupChrPr>
                          <m:e>
                            <m:nary>
                              <m:naryPr>
                                <m:chr m:val="∑"/>
                                <m:subHide m:val="1"/>
                                <m:supHide m:val="1"/>
                              </m:naryPr>
                              <m:sub/>
                              <m:sup/>
                              <m:e>
                                <m:sSub>
                                  <m:e>
                                    <m:r>
                                      <m:t xml:space="preserve">Φ</m:t>
                                    </m:r>
                                  </m:e>
                                  <m:sub>
                                    <m:r>
                                      <m:t xml:space="preserve">j</m:t>
                                    </m:r>
                                  </m:sub>
                                </m:sSub>
                              </m:e>
                            </m:nary>
                          </m:e>
                        </m:groupChr>
                      </m:e>
                      <m:lim>
                        <m:r>
                          <m:rPr>
                            <m:lit/>
                            <m:nor/>
                          </m:rPr>
                          <m:t xml:space="preserve">Radiation</m:t>
                        </m:r>
                        <m:r>
                          <m:t xml:space="preserve"> </m:t>
                        </m:r>
                        <m:r>
                          <m:rPr>
                            <m:lit/>
                            <m:nor/>
                          </m:rPr>
                          <m:t xml:space="preserve">problem</m:t>
                        </m:r>
                      </m:lim>
                    </m:limLow>
                    <m:r>
                      <m:t xml:space="preserve">+</m:t>
                    </m:r>
                    <m:limLow>
                      <m:e>
                        <m:groupChr>
                          <m:groupChrPr>
                            <m:chr m:val="⏟"/>
                            <m:pos m:val="bot"/>
                            <m:vertJc m:val="top"/>
                          </m:groupChrPr>
                          <m:e>
                            <m:sSub>
                              <m:e>
                                <m:r>
                                  <m:t xml:space="preserve">Φ</m:t>
                                </m:r>
                              </m:e>
                              <m:sub>
                                <m:r>
                                  <m:rPr>
                                    <m:lit/>
                                    <m:nor/>
                                  </m:rPr>
                                  <m:t xml:space="preserve">Incident</m:t>
                                </m:r>
                              </m:sub>
                            </m:sSub>
                            <m:r>
                              <m:t xml:space="preserve">+</m:t>
                            </m:r>
                            <m:sSub>
                              <m:e>
                                <m:r>
                                  <m:t xml:space="preserve">Φ</m:t>
                                </m:r>
                              </m:e>
                              <m:sub>
                                <m:r>
                                  <m:rPr>
                                    <m:lit/>
                                    <m:nor/>
                                  </m:rPr>
                                  <m:t xml:space="preserve">Scattering</m:t>
                                </m:r>
                              </m:sub>
                            </m:sSub>
                          </m:e>
                        </m:groupChr>
                      </m:e>
                      <m:lim>
                        <m:r>
                          <m:rPr>
                            <m:lit/>
                            <m:nor/>
                          </m:rPr>
                          <m:t xml:space="preserve">Diffraction</m:t>
                        </m:r>
                        <m:r>
                          <m:t xml:space="preserve"> </m:t>
                        </m:r>
                        <m:r>
                          <m:rPr>
                            <m:lit/>
                            <m:nor/>
                          </m:rPr>
                          <m:t xml:space="preserve">problem</m:t>
                        </m:r>
                      </m:lim>
                    </m:limLow>
                  </m:oMath>
                </a14:m>
              </a:p>
            </p:txBody>
          </p:sp>
        </mc:Choice>
        <mc:Fallback/>
      </mc:AlternateContent>
      <p:sp>
        <p:nvSpPr>
          <p:cNvPr id="224" name="Rectangle 5"/>
          <p:cNvSpPr/>
          <p:nvPr/>
        </p:nvSpPr>
        <p:spPr>
          <a:xfrm>
            <a:off x="2195640" y="5661000"/>
            <a:ext cx="6048360" cy="432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marL="343080" indent="-343080">
              <a:spcBef>
                <a:spcPts val="4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AU" sz="2000" spc="-1" strike="noStrike">
                <a:solidFill>
                  <a:srgbClr val="000000"/>
                </a:solidFill>
                <a:latin typeface="Arial"/>
              </a:rPr>
              <a:t>- due to the motion in the j-th DOF.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mc:AlternateContent>
        <mc:Choice xmlns:a14="http://schemas.microsoft.com/office/drawing/2010/main" Requires="a14">
          <p:sp>
            <p:nvSpPr>
              <p:cNvPr id="225" name="Object 6"/>
              <p:cNvSpPr txBox="1"/>
              <p:nvPr/>
            </p:nvSpPr>
            <p:spPr>
              <a:xfrm>
                <a:off x="1763640" y="5661000"/>
                <a:ext cx="425520" cy="47484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sSub>
                      <m:e>
                        <m:r>
                          <m:t xml:space="preserve">Φ</m:t>
                        </m:r>
                      </m:e>
                      <m:sub>
                        <m:r>
                          <m:t xml:space="preserve">j</m:t>
                        </m:r>
                      </m:sub>
                    </m:sSub>
                  </m:oMath>
                </a14:m>
              </a:p>
            </p:txBody>
          </p:sp>
        </mc:Choice>
        <mc:Fallback/>
      </mc:AlternateContent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Date Placeholder 4"/>
          <p:cNvSpPr/>
          <p:nvPr/>
        </p:nvSpPr>
        <p:spPr>
          <a:xfrm>
            <a:off x="457200" y="6243480"/>
            <a:ext cx="21337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E14FBC40-4AAF-4308-B89A-6248F2C47F74}" type="datetime">
              <a:rPr b="0" lang="en-GB" sz="1200" spc="-1" strike="noStrike">
                <a:solidFill>
                  <a:srgbClr val="000000"/>
                </a:solidFill>
                <a:latin typeface="Garamond"/>
              </a:rPr>
              <a:t>06/06/26</a:t>
            </a:fld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7" name="Footer Placeholder 5"/>
          <p:cNvSpPr/>
          <p:nvPr/>
        </p:nvSpPr>
        <p:spPr>
          <a:xfrm>
            <a:off x="2843280" y="6248520"/>
            <a:ext cx="360036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AU" sz="1200" spc="-1" strike="noStrike">
                <a:solidFill>
                  <a:srgbClr val="000000"/>
                </a:solidFill>
                <a:latin typeface="Garamond"/>
              </a:rPr>
              <a:t>One-day Tutorial, CAMS'07, Bol, Croatia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8" name="Slide Number Placeholder 6"/>
          <p:cNvSpPr/>
          <p:nvPr/>
        </p:nvSpPr>
        <p:spPr>
          <a:xfrm>
            <a:off x="6553080" y="6243480"/>
            <a:ext cx="21337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7300E1E4-9A6D-4B7B-95AC-26D88819AF28}" type="slidenum">
              <a:rPr b="0" lang="en-AU" sz="1200" spc="-1" strike="noStrike">
                <a:solidFill>
                  <a:srgbClr val="000000"/>
                </a:solidFill>
                <a:latin typeface="Garamond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9" name="PlaceHolder 1"/>
          <p:cNvSpPr>
            <a:spLocks noGrp="1"/>
          </p:cNvSpPr>
          <p:nvPr>
            <p:ph type="title"/>
          </p:nvPr>
        </p:nvSpPr>
        <p:spPr>
          <a:xfrm>
            <a:off x="457200" y="277920"/>
            <a:ext cx="8229600" cy="113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AU" sz="4200" spc="-1" strike="noStrike">
                <a:solidFill>
                  <a:srgbClr val="006633"/>
                </a:solidFill>
                <a:latin typeface="Tahoma"/>
              </a:rPr>
              <a:t>Radiation potential</a:t>
            </a:r>
            <a:endParaRPr b="0" lang="en-US" sz="4200" spc="-1" strike="noStrike">
              <a:solidFill>
                <a:srgbClr val="006633"/>
              </a:solidFill>
              <a:latin typeface="Tahoma"/>
            </a:endParaRPr>
          </a:p>
        </p:txBody>
      </p:sp>
      <p:sp>
        <p:nvSpPr>
          <p:cNvPr id="230" name="PlaceHolder 2"/>
          <p:cNvSpPr>
            <a:spLocks noGrp="1"/>
          </p:cNvSpPr>
          <p:nvPr>
            <p:ph/>
          </p:nvPr>
        </p:nvSpPr>
        <p:spPr>
          <a:xfrm>
            <a:off x="3348000" y="1483920"/>
            <a:ext cx="5329440" cy="289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343080" indent="-343080">
              <a:lnSpc>
                <a:spcPct val="80000"/>
              </a:lnSpc>
              <a:spcBef>
                <a:spcPts val="374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AU" sz="1500" spc="-1" strike="noStrike">
                <a:solidFill>
                  <a:srgbClr val="996600"/>
                </a:solidFill>
                <a:latin typeface="Arial"/>
              </a:rPr>
              <a:t>free surface condition (dynamic+kinematic conditions)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231" name="Group 4"/>
          <p:cNvGrpSpPr/>
          <p:nvPr/>
        </p:nvGrpSpPr>
        <p:grpSpPr>
          <a:xfrm>
            <a:off x="3419640" y="3500280"/>
            <a:ext cx="5329080" cy="2584440"/>
            <a:chOff x="3419640" y="3500280"/>
            <a:chExt cx="5329080" cy="2584440"/>
          </a:xfrm>
        </p:grpSpPr>
        <p:pic>
          <p:nvPicPr>
            <p:cNvPr id="232" name="Picture 5" descr=""/>
            <p:cNvPicPr/>
            <p:nvPr/>
          </p:nvPicPr>
          <p:blipFill>
            <a:blip r:embed="rId1"/>
            <a:stretch/>
          </p:blipFill>
          <p:spPr>
            <a:xfrm>
              <a:off x="3419640" y="3500280"/>
              <a:ext cx="5329080" cy="258444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233" name="Picture 6" descr=""/>
            <p:cNvPicPr/>
            <p:nvPr/>
          </p:nvPicPr>
          <p:blipFill>
            <a:blip r:embed="rId2"/>
            <a:stretch/>
          </p:blipFill>
          <p:spPr>
            <a:xfrm>
              <a:off x="4691160" y="5053680"/>
              <a:ext cx="795240" cy="60372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234" name="Picture 7" descr=""/>
            <p:cNvPicPr/>
            <p:nvPr/>
          </p:nvPicPr>
          <p:blipFill>
            <a:blip r:embed="rId3"/>
            <a:stretch/>
          </p:blipFill>
          <p:spPr>
            <a:xfrm>
              <a:off x="7014240" y="3845520"/>
              <a:ext cx="1052280" cy="603720"/>
            </a:xfrm>
            <a:prstGeom prst="rect">
              <a:avLst/>
            </a:prstGeom>
            <a:ln w="0">
              <a:noFill/>
            </a:ln>
          </p:spPr>
        </p:pic>
      </p:grpSp>
      <p:pic>
        <p:nvPicPr>
          <p:cNvPr id="235" name="Picture 8" descr=""/>
          <p:cNvPicPr/>
          <p:nvPr/>
        </p:nvPicPr>
        <p:blipFill>
          <a:blip r:embed="rId4"/>
          <a:stretch/>
        </p:blipFill>
        <p:spPr>
          <a:xfrm>
            <a:off x="468360" y="1916280"/>
            <a:ext cx="2122560" cy="779400"/>
          </a:xfrm>
          <a:prstGeom prst="rect">
            <a:avLst/>
          </a:prstGeom>
          <a:ln w="0">
            <a:noFill/>
          </a:ln>
        </p:spPr>
      </p:pic>
      <p:pic>
        <p:nvPicPr>
          <p:cNvPr id="236" name="Picture 9" descr=""/>
          <p:cNvPicPr/>
          <p:nvPr/>
        </p:nvPicPr>
        <p:blipFill>
          <a:blip r:embed="rId5"/>
          <a:stretch/>
        </p:blipFill>
        <p:spPr>
          <a:xfrm>
            <a:off x="611280" y="3500280"/>
            <a:ext cx="1082520" cy="451080"/>
          </a:xfrm>
          <a:prstGeom prst="rect">
            <a:avLst/>
          </a:prstGeom>
          <a:ln w="0">
            <a:noFill/>
          </a:ln>
        </p:spPr>
      </p:pic>
      <p:pic>
        <p:nvPicPr>
          <p:cNvPr id="237" name="Picture 10" descr=""/>
          <p:cNvPicPr/>
          <p:nvPr/>
        </p:nvPicPr>
        <p:blipFill>
          <a:blip r:embed="rId6"/>
          <a:stretch/>
        </p:blipFill>
        <p:spPr>
          <a:xfrm>
            <a:off x="466560" y="1341360"/>
            <a:ext cx="2914920" cy="612720"/>
          </a:xfrm>
          <a:prstGeom prst="rect">
            <a:avLst/>
          </a:prstGeom>
          <a:ln w="0">
            <a:noFill/>
          </a:ln>
        </p:spPr>
      </p:pic>
      <p:pic>
        <p:nvPicPr>
          <p:cNvPr id="238" name="Picture 11" descr=""/>
          <p:cNvPicPr/>
          <p:nvPr/>
        </p:nvPicPr>
        <p:blipFill>
          <a:blip r:embed="rId7"/>
          <a:stretch/>
        </p:blipFill>
        <p:spPr>
          <a:xfrm>
            <a:off x="611280" y="2708280"/>
            <a:ext cx="1725480" cy="685800"/>
          </a:xfrm>
          <a:prstGeom prst="rect">
            <a:avLst/>
          </a:prstGeom>
          <a:ln w="0">
            <a:noFill/>
          </a:ln>
        </p:spPr>
      </p:pic>
      <p:sp>
        <p:nvSpPr>
          <p:cNvPr id="239" name="Rectangle 12"/>
          <p:cNvSpPr/>
          <p:nvPr/>
        </p:nvSpPr>
        <p:spPr>
          <a:xfrm>
            <a:off x="395280" y="1052640"/>
            <a:ext cx="3168720" cy="36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marL="343080" indent="-343080">
              <a:lnSpc>
                <a:spcPct val="80000"/>
              </a:lnSpc>
              <a:spcBef>
                <a:spcPts val="374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AU" sz="1500" spc="-1" strike="noStrike">
                <a:solidFill>
                  <a:srgbClr val="000000"/>
                </a:solidFill>
                <a:latin typeface="Arial"/>
              </a:rPr>
              <a:t>Boundary conditions: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0" name="Rectangle 13"/>
          <p:cNvSpPr/>
          <p:nvPr/>
        </p:nvSpPr>
        <p:spPr>
          <a:xfrm>
            <a:off x="3274920" y="2133720"/>
            <a:ext cx="3168720" cy="36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marL="343080" indent="-343080">
              <a:lnSpc>
                <a:spcPct val="80000"/>
              </a:lnSpc>
              <a:spcBef>
                <a:spcPts val="374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AU" sz="1500" spc="-1" strike="noStrike">
                <a:solidFill>
                  <a:srgbClr val="996600"/>
                </a:solidFill>
                <a:latin typeface="Arial"/>
              </a:rPr>
              <a:t>sea bed condition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1" name="Rectangle 14"/>
          <p:cNvSpPr/>
          <p:nvPr/>
        </p:nvSpPr>
        <p:spPr>
          <a:xfrm>
            <a:off x="3274920" y="2781360"/>
            <a:ext cx="3168720" cy="36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marL="343080" indent="-343080">
              <a:lnSpc>
                <a:spcPct val="80000"/>
              </a:lnSpc>
              <a:spcBef>
                <a:spcPts val="374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AU" sz="1500" spc="-1" strike="noStrike">
                <a:solidFill>
                  <a:srgbClr val="996600"/>
                </a:solidFill>
                <a:latin typeface="Arial"/>
              </a:rPr>
              <a:t>dynamic body condition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2" name="Rectangle 15"/>
          <p:cNvSpPr/>
          <p:nvPr/>
        </p:nvSpPr>
        <p:spPr>
          <a:xfrm>
            <a:off x="3203640" y="3429000"/>
            <a:ext cx="3168720" cy="36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marL="343080" indent="-343080">
              <a:lnSpc>
                <a:spcPct val="80000"/>
              </a:lnSpc>
              <a:spcBef>
                <a:spcPts val="374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AU" sz="1500" spc="-1" strike="noStrike">
                <a:solidFill>
                  <a:srgbClr val="996600"/>
                </a:solidFill>
                <a:latin typeface="Arial"/>
              </a:rPr>
              <a:t>radiation condition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mc:AlternateContent>
        <mc:Choice xmlns:a14="http://schemas.microsoft.com/office/drawing/2010/main" Requires="a14">
          <p:sp>
            <p:nvSpPr>
              <p:cNvPr id="243" name="Object 16"/>
              <p:cNvSpPr txBox="1"/>
              <p:nvPr/>
            </p:nvSpPr>
            <p:spPr>
              <a:xfrm>
                <a:off x="684360" y="4508640"/>
                <a:ext cx="2219040" cy="69984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sSub>
                      <m:e>
                        <m:r>
                          <m:t xml:space="preserve">Φ</m:t>
                        </m:r>
                      </m:e>
                      <m:sub>
                        <m:r>
                          <m:rPr>
                            <m:lit/>
                            <m:nor/>
                          </m:rPr>
                          <m:t xml:space="preserve">rad</m:t>
                        </m:r>
                      </m:sub>
                    </m:sSub>
                    <m:r>
                      <m:t xml:space="preserve">=</m:t>
                    </m:r>
                    <m:nary>
                      <m:naryPr>
                        <m:chr m:val="∑"/>
                        <m:subHide m:val="1"/>
                        <m:supHide m:val="1"/>
                      </m:naryPr>
                      <m:sub/>
                      <m:sup/>
                      <m:e>
                        <m:sSub>
                          <m:e>
                            <m:r>
                              <m:t xml:space="preserve">Φ</m:t>
                            </m:r>
                          </m:e>
                          <m:sub>
                            <m:r>
                              <m:t xml:space="preserve">j</m:t>
                            </m:r>
                          </m:sub>
                        </m:sSub>
                      </m:e>
                    </m:nary>
                  </m:oMath>
                </a14:m>
              </a:p>
            </p:txBody>
          </p:sp>
        </mc:Choice>
        <mc:Fallback/>
      </mc:AlternateContent>
      <mc:AlternateContent>
        <mc:Choice xmlns:a14="http://schemas.microsoft.com/office/drawing/2010/main" Requires="a14">
          <p:sp>
            <p:nvSpPr>
              <p:cNvPr id="244" name="Object 17"/>
              <p:cNvSpPr txBox="1"/>
              <p:nvPr/>
            </p:nvSpPr>
            <p:spPr>
              <a:xfrm>
                <a:off x="3995640" y="4869000"/>
                <a:ext cx="1606680" cy="55548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sSup>
                      <m:e>
                        <m:r>
                          <m:t xml:space="preserve">∇</m:t>
                        </m:r>
                      </m:e>
                      <m:sup>
                        <m:r>
                          <m:t xml:space="preserve">2</m:t>
                        </m:r>
                      </m:sup>
                    </m:sSup>
                    <m:sSub>
                      <m:e>
                        <m:r>
                          <m:t xml:space="preserve">Φ</m:t>
                        </m:r>
                      </m:e>
                      <m:sub>
                        <m:r>
                          <m:rPr>
                            <m:lit/>
                            <m:nor/>
                          </m:rPr>
                          <m:t xml:space="preserve">rad</m:t>
                        </m:r>
                      </m:sub>
                    </m:sSub>
                    <m:r>
                      <m:t xml:space="preserve">=</m:t>
                    </m:r>
                    <m:r>
                      <m:t xml:space="preserve">0</m:t>
                    </m:r>
                  </m:oMath>
                </a14:m>
              </a:p>
            </p:txBody>
          </p:sp>
        </mc:Choice>
        <mc:Fallback/>
      </mc:AlternateContent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Date Placeholder 3"/>
          <p:cNvSpPr/>
          <p:nvPr/>
        </p:nvSpPr>
        <p:spPr>
          <a:xfrm>
            <a:off x="457200" y="6243480"/>
            <a:ext cx="21337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21A79BE5-5037-4105-A008-AB4960B6EFCD}" type="datetime">
              <a:rPr b="0" lang="en-GB" sz="1200" spc="-1" strike="noStrike">
                <a:solidFill>
                  <a:srgbClr val="000000"/>
                </a:solidFill>
                <a:latin typeface="Garamond"/>
              </a:rPr>
              <a:t>06/06/26</a:t>
            </a:fld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6" name="Footer Placeholder 4"/>
          <p:cNvSpPr/>
          <p:nvPr/>
        </p:nvSpPr>
        <p:spPr>
          <a:xfrm>
            <a:off x="2843280" y="6248520"/>
            <a:ext cx="360036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AU" sz="1200" spc="-1" strike="noStrike">
                <a:solidFill>
                  <a:srgbClr val="000000"/>
                </a:solidFill>
                <a:latin typeface="Garamond"/>
              </a:rPr>
              <a:t>One-day Tutorial, CAMS'07, Bol, Croatia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7" name="Slide Number Placeholder 5"/>
          <p:cNvSpPr/>
          <p:nvPr/>
        </p:nvSpPr>
        <p:spPr>
          <a:xfrm>
            <a:off x="6553080" y="6243480"/>
            <a:ext cx="21337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A23D51EE-03BC-4349-AE79-72149F6CDA48}" type="slidenum">
              <a:rPr b="0" lang="en-AU" sz="1200" spc="-1" strike="noStrike">
                <a:solidFill>
                  <a:srgbClr val="000000"/>
                </a:solidFill>
                <a:latin typeface="Garamond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8" name="PlaceHolder 1"/>
          <p:cNvSpPr>
            <a:spLocks noGrp="1"/>
          </p:cNvSpPr>
          <p:nvPr>
            <p:ph type="title"/>
          </p:nvPr>
        </p:nvSpPr>
        <p:spPr>
          <a:xfrm>
            <a:off x="457200" y="277920"/>
            <a:ext cx="8229600" cy="113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AU" sz="4200" spc="-1" strike="noStrike">
                <a:solidFill>
                  <a:srgbClr val="006633"/>
                </a:solidFill>
                <a:latin typeface="Tahoma"/>
              </a:rPr>
              <a:t>Computing forces</a:t>
            </a:r>
            <a:endParaRPr b="0" lang="en-US" sz="4200" spc="-1" strike="noStrike">
              <a:solidFill>
                <a:srgbClr val="006633"/>
              </a:solidFill>
              <a:latin typeface="Tahoma"/>
            </a:endParaRPr>
          </a:p>
        </p:txBody>
      </p:sp>
      <p:sp>
        <p:nvSpPr>
          <p:cNvPr id="249" name="PlaceHolder 2"/>
          <p:cNvSpPr>
            <a:spLocks noGrp="1"/>
          </p:cNvSpPr>
          <p:nvPr>
            <p:ph/>
          </p:nvPr>
        </p:nvSpPr>
        <p:spPr>
          <a:xfrm>
            <a:off x="395280" y="1196640"/>
            <a:ext cx="8229600" cy="4530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343080" indent="-343080">
              <a:spcBef>
                <a:spcPts val="7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AU" sz="3000" spc="-1" strike="noStrike">
                <a:solidFill>
                  <a:srgbClr val="000000"/>
                </a:solidFill>
                <a:latin typeface="Arial"/>
              </a:rPr>
              <a:t>Forces and moments are obtained by integrating the pressure over the average wetted surface </a:t>
            </a:r>
            <a:r>
              <a:rPr b="0" i="1" lang="en-AU" sz="3000" spc="-1" strike="noStrike">
                <a:solidFill>
                  <a:srgbClr val="000000"/>
                </a:solidFill>
                <a:latin typeface="Times New Roman"/>
              </a:rPr>
              <a:t>Sw</a:t>
            </a:r>
            <a:r>
              <a:rPr b="0" lang="en-AU" sz="3000" spc="-1" strike="noStrike">
                <a:solidFill>
                  <a:srgbClr val="000000"/>
                </a:solidFill>
                <a:latin typeface="Arial"/>
              </a:rPr>
              <a:t>: 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0" name="Rectangle 4"/>
          <p:cNvSpPr/>
          <p:nvPr/>
        </p:nvSpPr>
        <p:spPr>
          <a:xfrm>
            <a:off x="539640" y="2852640"/>
            <a:ext cx="3168720" cy="36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marL="343080" indent="-343080">
              <a:lnSpc>
                <a:spcPct val="80000"/>
              </a:lnSpc>
              <a:spcBef>
                <a:spcPts val="374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AU" sz="1500" spc="-1" strike="noStrike">
                <a:solidFill>
                  <a:srgbClr val="996600"/>
                </a:solidFill>
                <a:latin typeface="Arial"/>
              </a:rPr>
              <a:t>Radiation forces and moments: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1" name="Rectangle 5"/>
          <p:cNvSpPr/>
          <p:nvPr/>
        </p:nvSpPr>
        <p:spPr>
          <a:xfrm>
            <a:off x="395280" y="4221000"/>
            <a:ext cx="3168720" cy="57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marL="343080" indent="-343080">
              <a:lnSpc>
                <a:spcPct val="80000"/>
              </a:lnSpc>
              <a:spcBef>
                <a:spcPts val="374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AU" sz="1500" spc="-1" strike="noStrike">
                <a:solidFill>
                  <a:srgbClr val="996600"/>
                </a:solidFill>
                <a:latin typeface="Arial"/>
              </a:rPr>
              <a:t>Excitation forces (due to incident and scattered potentials) and moments: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52" name="Picture 6" descr=""/>
          <p:cNvPicPr/>
          <p:nvPr/>
        </p:nvPicPr>
        <p:blipFill>
          <a:blip r:embed="rId1"/>
          <a:stretch/>
        </p:blipFill>
        <p:spPr>
          <a:xfrm>
            <a:off x="1187280" y="3068640"/>
            <a:ext cx="5975640" cy="1136520"/>
          </a:xfrm>
          <a:prstGeom prst="rect">
            <a:avLst/>
          </a:prstGeom>
          <a:ln w="0">
            <a:noFill/>
          </a:ln>
        </p:spPr>
      </p:pic>
      <p:pic>
        <p:nvPicPr>
          <p:cNvPr id="253" name="Picture 7" descr=""/>
          <p:cNvPicPr/>
          <p:nvPr/>
        </p:nvPicPr>
        <p:blipFill>
          <a:blip r:embed="rId2"/>
          <a:stretch/>
        </p:blipFill>
        <p:spPr>
          <a:xfrm>
            <a:off x="1187280" y="4797360"/>
            <a:ext cx="6264360" cy="1320840"/>
          </a:xfrm>
          <a:prstGeom prst="rect">
            <a:avLst/>
          </a:prstGeom>
          <a:ln w="0">
            <a:noFill/>
          </a:ln>
        </p:spPr>
      </p:pic>
      <p:sp>
        <p:nvSpPr>
          <p:cNvPr id="254" name="Rectangle 8"/>
          <p:cNvSpPr/>
          <p:nvPr/>
        </p:nvSpPr>
        <p:spPr>
          <a:xfrm>
            <a:off x="7667640" y="2997360"/>
            <a:ext cx="1224000" cy="201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marL="343080" indent="-343080">
              <a:lnSpc>
                <a:spcPct val="80000"/>
              </a:lnSpc>
              <a:spcBef>
                <a:spcPts val="374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AU" sz="1500" spc="-1" strike="noStrike">
                <a:solidFill>
                  <a:srgbClr val="996600"/>
                </a:solidFill>
                <a:latin typeface="Arial"/>
              </a:rPr>
              <a:t>DOF: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374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AU" sz="1500" spc="-1" strike="noStrike">
                <a:solidFill>
                  <a:srgbClr val="996600"/>
                </a:solidFill>
                <a:latin typeface="Arial"/>
              </a:rPr>
              <a:t> 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374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AU" sz="1500" spc="-1" strike="noStrike">
                <a:solidFill>
                  <a:srgbClr val="996600"/>
                </a:solidFill>
                <a:latin typeface="Arial"/>
              </a:rPr>
              <a:t>	</a:t>
            </a:r>
            <a:r>
              <a:rPr b="0" lang="en-AU" sz="1500" spc="-1" strike="noStrike">
                <a:solidFill>
                  <a:srgbClr val="996600"/>
                </a:solidFill>
                <a:latin typeface="Arial"/>
              </a:rPr>
              <a:t>1-surge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374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AU" sz="1500" spc="-1" strike="noStrike">
                <a:solidFill>
                  <a:srgbClr val="996600"/>
                </a:solidFill>
                <a:latin typeface="Arial"/>
              </a:rPr>
              <a:t>	</a:t>
            </a:r>
            <a:r>
              <a:rPr b="0" lang="en-AU" sz="1500" spc="-1" strike="noStrike">
                <a:solidFill>
                  <a:srgbClr val="996600"/>
                </a:solidFill>
                <a:latin typeface="Arial"/>
              </a:rPr>
              <a:t>2-sway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374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AU" sz="1500" spc="-1" strike="noStrike">
                <a:solidFill>
                  <a:srgbClr val="996600"/>
                </a:solidFill>
                <a:latin typeface="Arial"/>
              </a:rPr>
              <a:t>	</a:t>
            </a:r>
            <a:r>
              <a:rPr b="0" lang="en-AU" sz="1500" spc="-1" strike="noStrike">
                <a:solidFill>
                  <a:srgbClr val="996600"/>
                </a:solidFill>
                <a:latin typeface="Arial"/>
              </a:rPr>
              <a:t>3-heave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374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AU" sz="1500" spc="-1" strike="noStrike">
                <a:solidFill>
                  <a:srgbClr val="996600"/>
                </a:solidFill>
                <a:latin typeface="Arial"/>
              </a:rPr>
              <a:t>	</a:t>
            </a:r>
            <a:r>
              <a:rPr b="0" lang="en-AU" sz="1500" spc="-1" strike="noStrike">
                <a:solidFill>
                  <a:srgbClr val="996600"/>
                </a:solidFill>
                <a:latin typeface="Arial"/>
              </a:rPr>
              <a:t>4-roll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374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AU" sz="1500" spc="-1" strike="noStrike">
                <a:solidFill>
                  <a:srgbClr val="996600"/>
                </a:solidFill>
                <a:latin typeface="Arial"/>
              </a:rPr>
              <a:t>	</a:t>
            </a:r>
            <a:r>
              <a:rPr b="0" lang="en-AU" sz="1500" spc="-1" strike="noStrike">
                <a:solidFill>
                  <a:srgbClr val="996600"/>
                </a:solidFill>
                <a:latin typeface="Arial"/>
              </a:rPr>
              <a:t>5-pitch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374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AU" sz="1500" spc="-1" strike="noStrike">
                <a:solidFill>
                  <a:srgbClr val="996600"/>
                </a:solidFill>
                <a:latin typeface="Arial"/>
              </a:rPr>
              <a:t>	</a:t>
            </a:r>
            <a:r>
              <a:rPr b="0" lang="en-AU" sz="1500" spc="-1" strike="noStrike">
                <a:solidFill>
                  <a:srgbClr val="996600"/>
                </a:solidFill>
                <a:latin typeface="Arial"/>
              </a:rPr>
              <a:t>6-yaw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5" name="Line 9"/>
          <p:cNvSpPr/>
          <p:nvPr/>
        </p:nvSpPr>
        <p:spPr>
          <a:xfrm flipH="1">
            <a:off x="6948000" y="3213000"/>
            <a:ext cx="792360" cy="216000"/>
          </a:xfrm>
          <a:prstGeom prst="line">
            <a:avLst/>
          </a:prstGeom>
          <a:ln w="9360">
            <a:solidFill>
              <a:srgbClr val="0000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6" name="Line 10"/>
          <p:cNvSpPr/>
          <p:nvPr/>
        </p:nvSpPr>
        <p:spPr>
          <a:xfrm flipH="1">
            <a:off x="6948000" y="3213000"/>
            <a:ext cx="792360" cy="647640"/>
          </a:xfrm>
          <a:prstGeom prst="line">
            <a:avLst/>
          </a:prstGeom>
          <a:ln w="9360">
            <a:solidFill>
              <a:srgbClr val="0000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7" name="Rectangle 11"/>
          <p:cNvSpPr/>
          <p:nvPr/>
        </p:nvSpPr>
        <p:spPr>
          <a:xfrm>
            <a:off x="5219640" y="2637000"/>
            <a:ext cx="2737080" cy="28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marL="343080" indent="-343080">
              <a:lnSpc>
                <a:spcPct val="80000"/>
              </a:lnSpc>
              <a:spcBef>
                <a:spcPts val="374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AU" sz="1500" spc="-1" strike="noStrike">
                <a:solidFill>
                  <a:srgbClr val="996600"/>
                </a:solidFill>
                <a:latin typeface="Arial"/>
              </a:rPr>
              <a:t>Notation: i-th component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8" name="Line 12"/>
          <p:cNvSpPr/>
          <p:nvPr/>
        </p:nvSpPr>
        <p:spPr>
          <a:xfrm flipH="1">
            <a:off x="4284360" y="2852640"/>
            <a:ext cx="934920" cy="432000"/>
          </a:xfrm>
          <a:prstGeom prst="line">
            <a:avLst/>
          </a:prstGeom>
          <a:ln w="9360">
            <a:solidFill>
              <a:srgbClr val="0000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Date Placeholder 3"/>
          <p:cNvSpPr/>
          <p:nvPr/>
        </p:nvSpPr>
        <p:spPr>
          <a:xfrm>
            <a:off x="457200" y="6243480"/>
            <a:ext cx="21337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CE131E9E-3954-4B53-BB06-BA2CD0E847BC}" type="datetime">
              <a:rPr b="0" lang="en-GB" sz="1200" spc="-1" strike="noStrike">
                <a:solidFill>
                  <a:srgbClr val="000000"/>
                </a:solidFill>
                <a:latin typeface="Garamond"/>
              </a:rPr>
              <a:t>06/06/26</a:t>
            </a:fld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0" name="Footer Placeholder 4"/>
          <p:cNvSpPr/>
          <p:nvPr/>
        </p:nvSpPr>
        <p:spPr>
          <a:xfrm>
            <a:off x="2843280" y="6248520"/>
            <a:ext cx="360036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AU" sz="1200" spc="-1" strike="noStrike">
                <a:solidFill>
                  <a:srgbClr val="000000"/>
                </a:solidFill>
                <a:latin typeface="Garamond"/>
              </a:rPr>
              <a:t>One-day Tutorial, CAMS'07, Bol, Croatia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1" name="Slide Number Placeholder 5"/>
          <p:cNvSpPr/>
          <p:nvPr/>
        </p:nvSpPr>
        <p:spPr>
          <a:xfrm>
            <a:off x="6553080" y="6243480"/>
            <a:ext cx="21337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62734BD7-DA17-43A9-A443-902940FD969C}" type="slidenum">
              <a:rPr b="0" lang="en-AU" sz="1200" spc="-1" strike="noStrike">
                <a:solidFill>
                  <a:srgbClr val="000000"/>
                </a:solidFill>
                <a:latin typeface="Garamond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2" name="PlaceHolder 1"/>
          <p:cNvSpPr>
            <a:spLocks noGrp="1"/>
          </p:cNvSpPr>
          <p:nvPr>
            <p:ph type="title"/>
          </p:nvPr>
        </p:nvSpPr>
        <p:spPr>
          <a:xfrm>
            <a:off x="457200" y="277920"/>
            <a:ext cx="8229600" cy="113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AU" sz="4200" spc="-1" strike="noStrike">
                <a:solidFill>
                  <a:srgbClr val="006633"/>
                </a:solidFill>
                <a:latin typeface="Tahoma"/>
              </a:rPr>
              <a:t>References</a:t>
            </a:r>
            <a:endParaRPr b="0" lang="en-US" sz="4200" spc="-1" strike="noStrike">
              <a:solidFill>
                <a:srgbClr val="006633"/>
              </a:solidFill>
              <a:latin typeface="Tahoma"/>
            </a:endParaRPr>
          </a:p>
        </p:txBody>
      </p:sp>
      <p:sp>
        <p:nvSpPr>
          <p:cNvPr id="263" name="PlaceHolder 2"/>
          <p:cNvSpPr>
            <a:spLocks noGrp="1"/>
          </p:cNvSpPr>
          <p:nvPr>
            <p:ph/>
          </p:nvPr>
        </p:nvSpPr>
        <p:spPr>
          <a:xfrm>
            <a:off x="468360" y="1268280"/>
            <a:ext cx="8229600" cy="453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343080" indent="-343080">
              <a:spcBef>
                <a:spcPts val="751"/>
              </a:spcBef>
              <a:buClr>
                <a:srgbClr val="cc9900"/>
              </a:buClr>
              <a:buSzPct val="65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AU" sz="3000" spc="-1" strike="noStrike">
                <a:solidFill>
                  <a:srgbClr val="000000"/>
                </a:solidFill>
                <a:latin typeface="Arial"/>
              </a:rPr>
              <a:t>Faltinsen, O.M. (1990) </a:t>
            </a:r>
            <a:r>
              <a:rPr b="1" lang="en-AU" sz="3000" spc="-1" strike="noStrike">
                <a:solidFill>
                  <a:srgbClr val="000000"/>
                </a:solidFill>
                <a:latin typeface="Arial"/>
              </a:rPr>
              <a:t>Sea Loads on Ships and Ocean Structures</a:t>
            </a:r>
            <a:r>
              <a:rPr b="0" lang="en-AU" sz="3000" spc="-1" strike="noStrike">
                <a:solidFill>
                  <a:srgbClr val="000000"/>
                </a:solidFill>
                <a:latin typeface="Arial"/>
              </a:rPr>
              <a:t>. Cambridge University Press.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spcBef>
                <a:spcPts val="7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spcBef>
                <a:spcPts val="751"/>
              </a:spcBef>
              <a:buClr>
                <a:srgbClr val="cc9900"/>
              </a:buClr>
              <a:buSzPct val="65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AU" sz="3000" spc="-1" strike="noStrike">
                <a:solidFill>
                  <a:srgbClr val="000000"/>
                </a:solidFill>
                <a:latin typeface="Arial"/>
              </a:rPr>
              <a:t>Journée, J.M.J. and W.W. Massie (2001) </a:t>
            </a:r>
            <a:r>
              <a:rPr b="1" lang="en-AU" sz="3000" spc="-1" strike="noStrike">
                <a:solidFill>
                  <a:srgbClr val="000000"/>
                </a:solidFill>
                <a:latin typeface="Arial"/>
              </a:rPr>
              <a:t>Offshore Hydromechanics. </a:t>
            </a:r>
            <a:r>
              <a:rPr b="0" lang="en-AU" sz="3000" spc="-1" strike="noStrike">
                <a:solidFill>
                  <a:srgbClr val="000000"/>
                </a:solidFill>
                <a:latin typeface="Arial"/>
              </a:rPr>
              <a:t>Lecture notes on offshore hydromechanics for Offshore Technology students, code OT4620. (</a:t>
            </a:r>
            <a:r>
              <a:rPr b="0" lang="en-AU" sz="3000" spc="-1" strike="noStrike">
                <a:solidFill>
                  <a:srgbClr val="0066ff"/>
                </a:solidFill>
                <a:latin typeface="Arial"/>
              </a:rPr>
              <a:t>http://www.ocp.tudelft.nl/mt/journee/</a:t>
            </a:r>
            <a:r>
              <a:rPr b="0" lang="en-AU" sz="3000" spc="-1" strike="noStrike">
                <a:solidFill>
                  <a:srgbClr val="000000"/>
                </a:solidFill>
                <a:latin typeface="Arial"/>
              </a:rPr>
              <a:t>)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  <a:p>
            <a:pPr marL="343080" indent="0">
              <a:spcBef>
                <a:spcPts val="751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834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2007-05-14T14:42:38Z</dcterms:created>
  <dc:creator> </dc:creator>
  <dc:description/>
  <dc:language>en-US</dc:language>
  <cp:lastModifiedBy>Thor I. Fossen</cp:lastModifiedBy>
  <dcterms:modified xsi:type="dcterms:W3CDTF">2007-08-08T18:04:19Z</dcterms:modified>
  <cp:revision>23</cp:revision>
  <dc:subject/>
  <dc:title>CXVXCv</dc:title>
</cp:coreProperties>
</file>