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27.wmf" ContentType="image/x-wmf"/>
  <Override PartName="/ppt/media/image26.wmf" ContentType="image/x-wmf"/>
  <Override PartName="/ppt/media/image25.wmf" ContentType="image/x-wmf"/>
  <Override PartName="/ppt/media/image24.wmf" ContentType="image/x-wmf"/>
  <Override PartName="/ppt/media/image23.wmf" ContentType="image/x-wmf"/>
  <Override PartName="/ppt/media/image22.wmf" ContentType="image/x-wmf"/>
  <Override PartName="/ppt/media/image21.wmf" ContentType="image/x-wmf"/>
  <Override PartName="/ppt/media/image19.wmf" ContentType="image/x-wmf"/>
  <Override PartName="/ppt/media/image16.wmf" ContentType="image/x-wmf"/>
  <Override PartName="/ppt/media/image14.png" ContentType="image/png"/>
  <Override PartName="/ppt/media/image28.wmf" ContentType="image/x-wmf"/>
  <Override PartName="/ppt/media/image1.png" ContentType="image/png"/>
  <Override PartName="/ppt/media/image29.wmf" ContentType="image/x-wmf"/>
  <Override PartName="/ppt/media/image2.png" ContentType="image/png"/>
  <Override PartName="/ppt/media/image30.wmf" ContentType="image/x-wmf"/>
  <Override PartName="/ppt/media/image33.wmf" ContentType="image/x-wmf"/>
  <Override PartName="/ppt/media/image4.png" ContentType="image/png"/>
  <Override PartName="/ppt/media/image34.wmf" ContentType="image/x-wmf"/>
  <Override PartName="/ppt/media/image11.wmf" ContentType="image/x-wmf"/>
  <Override PartName="/ppt/media/image35.wmf" ContentType="image/x-wmf"/>
  <Override PartName="/ppt/media/image36.wmf" ContentType="image/x-wmf"/>
  <Override PartName="/ppt/media/image37.png" ContentType="image/png"/>
  <Override PartName="/ppt/media/image40.wmf" ContentType="image/x-wmf"/>
  <Override PartName="/ppt/media/image39.wmf" ContentType="image/x-wmf"/>
  <Override PartName="/ppt/media/image41.wmf" ContentType="image/x-wmf"/>
  <Override PartName="/ppt/media/image31.wmf" ContentType="image/x-wmf"/>
  <Override PartName="/ppt/media/image32.png" ContentType="image/png"/>
  <Override PartName="/ppt/media/image38.wmf" ContentType="image/x-wmf"/>
  <Override PartName="/ppt/media/image6.wmf" ContentType="image/x-wmf"/>
  <Override PartName="/ppt/media/image15.wmf" ContentType="image/x-wmf"/>
  <Override PartName="/ppt/media/image43.wmf" ContentType="image/x-wmf"/>
  <Override PartName="/ppt/media/image13.wmf" ContentType="image/x-wmf"/>
  <Override PartName="/ppt/media/image9.wmf" ContentType="image/x-wmf"/>
  <Override PartName="/ppt/media/image18.wmf" ContentType="image/x-wmf"/>
  <Override PartName="/ppt/media/image20.wmf" ContentType="image/x-wmf"/>
  <Override PartName="/ppt/media/image12.wmf" ContentType="image/x-wmf"/>
  <Override PartName="/ppt/media/image8.wmf" ContentType="image/x-wmf"/>
  <Override PartName="/ppt/media/image17.wmf" ContentType="image/x-wmf"/>
  <Override PartName="/ppt/media/image10.wmf" ContentType="image/x-wmf"/>
  <Override PartName="/ppt/media/image7.png" ContentType="image/png"/>
  <Override PartName="/ppt/media/image42.wmf" ContentType="image/x-wmf"/>
  <Override PartName="/ppt/media/image5.wmf" ContentType="image/x-wmf"/>
  <Override PartName="/ppt/media/image3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4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31.xml.rels" ContentType="application/vnd.openxmlformats-package.relationships+xml"/>
  <Override PartName="/ppt/slides/_rels/slide35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31.xml" ContentType="application/vnd.openxmlformats-officedocument.presentationml.slide+xml"/>
  <Override PartName="/ppt/slides/slide43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006633"/>
                </a:solidFill>
                <a:latin typeface="Tahoma"/>
              </a:rPr>
              <a:t>Click to move the slide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9D2DB9-B5AC-4513-8A58-B84C11326FDD}" type="slidenum">
              <a:rPr b="0" lang="en-AU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A4B2001-EE3F-463A-B686-998CE6858C6D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1AC634-6D05-4E3D-85EA-9CDB6059C22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0A3AB1-DD93-47BD-A13B-29150A4BD1F8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4A1176-24D5-402A-9D21-8A8189894A2C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D8BE0F-A603-4141-AD7E-16AE5A13E46B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0D7047-BEC3-47CA-BF72-E83D4CA51113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E31B01-DB47-410E-993E-51C7344701D7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150227-C8B9-4E1F-A4FC-42D15857F43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FE8923-FE98-4648-84C0-7C7B8B2E720F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821BFB-56A3-4023-9EDE-06BD65114F9C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40260F-016E-44EC-983E-1F36814BDAD6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73F885-C5EA-4FB3-A95A-EA90504E6652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CD7589-2BEC-4911-B681-DF808102FFDA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EDC893-C16A-41C3-837C-890D607DF9B1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D78E5B-4CC6-41D0-9392-917BE4A33C8F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47D1652-567C-43EE-940A-7BBE47C4D42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0BC145F-7E4D-45E1-9EFF-CC814CE1DC86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D095D0-F4A9-49E5-89B9-461E3CA1F7A1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3F4207-6E48-4761-A62A-B35F866B8E6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33F0CD-E042-4C06-9177-91EE30E61675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827A04-0785-4BFB-9C47-B07A4F265692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F728F0-DBC1-4324-AFA6-171B35B3528F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DA8F67-B25C-438D-BE03-60008B833936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57E7A6-A6A0-47BA-A6D1-EE950AB780EA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FB3307-4D38-4FB2-84F7-C49CC6006616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79140C-BB48-4624-832E-E4847D667E7A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C71D32-5759-48F6-A9F9-700E27A7AD46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43C96A-DC7F-4487-B8A3-117B55635977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22DDB63-494A-47BA-A7AA-64F17EAE6924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3FF56B-0E56-41EE-B083-22E828F20B7C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494B58-4F4F-4733-9223-A07F22D2D9FC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ED1CB4-A87E-4134-88D5-BB4F0DF0F2AE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4E4345-C160-4B55-A9E9-040D611D55B1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677974-1988-4426-941E-0A2F5753520F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B77338-E94D-49F5-A38C-157F5EE76C5F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C56528-F1D8-4022-876A-910372B2844D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7107A0-6532-4EAC-9BB2-1C09892C945E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037F96-A07D-4EAF-A3F1-DB356928C7E9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C6F3CB-C149-433B-A281-F93041DEF904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A0FCC4-99F6-4A9B-A96C-56DFCB829196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0EBFA7-ABA1-4D98-80C6-26E907A9249B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CF0F973-617F-4ED9-8E8E-AE9A899E75AC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DD7B9D-03E8-4D3B-9AE1-6F99838BD4A3}" type="slidenum">
              <a:rPr b="0" lang="en-AU" sz="12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68FEE3-DC71-4779-BCC0-BBD8254593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1C4E9-0321-4481-8E0B-1342F3BE3DC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006633"/>
                </a:solidFill>
                <a:latin typeface="Tahoma"/>
              </a:rPr>
              <a:t>Click to edit the title text format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669960" indent="-325440">
              <a:spcBef>
                <a:spcPts val="751"/>
              </a:spcBef>
              <a:buClr>
                <a:srgbClr val="3b812f"/>
              </a:buClr>
              <a:buSzPct val="6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022400" indent="-35100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3" marL="1339920" indent="-316080">
              <a:spcBef>
                <a:spcPts val="751"/>
              </a:spcBef>
              <a:buClr>
                <a:srgbClr val="3b812f"/>
              </a:buClr>
              <a:buSzPct val="7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4" marL="1681200" indent="-339840">
              <a:spcBef>
                <a:spcPts val="751"/>
              </a:spcBef>
              <a:buClr>
                <a:srgbClr val="cc99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5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6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24DA87-45C9-4564-B3AF-7BF7A316EA6F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284292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72A78F-D893-462E-8A82-F1BF185AF759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reeform 7"/>
          <p:cNvSpPr/>
          <p:nvPr/>
        </p:nvSpPr>
        <p:spPr>
          <a:xfrm>
            <a:off x="380880" y="228600"/>
            <a:ext cx="8229600" cy="609480"/>
          </a:xfrm>
          <a:prstGeom prst="pie">
            <a:avLst/>
          </a:prstGeom>
          <a:noFill/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Picture 10" descr=""/>
          <p:cNvPicPr/>
          <p:nvPr/>
        </p:nvPicPr>
        <p:blipFill>
          <a:blip r:embed="rId2"/>
          <a:stretch/>
        </p:blipFill>
        <p:spPr>
          <a:xfrm>
            <a:off x="1908000" y="6237360"/>
            <a:ext cx="1276560" cy="498240"/>
          </a:xfrm>
          <a:prstGeom prst="rect">
            <a:avLst/>
          </a:prstGeom>
          <a:ln w="0">
            <a:noFill/>
          </a:ln>
        </p:spPr>
      </p:pic>
      <p:pic>
        <p:nvPicPr>
          <p:cNvPr id="8" name="Picture 12" descr=""/>
          <p:cNvPicPr/>
          <p:nvPr/>
        </p:nvPicPr>
        <p:blipFill>
          <a:blip r:embed="rId3"/>
          <a:stretch/>
        </p:blipFill>
        <p:spPr>
          <a:xfrm>
            <a:off x="6084720" y="6237360"/>
            <a:ext cx="1644840" cy="479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7"/>
          <p:cNvSpPr/>
          <p:nvPr/>
        </p:nvSpPr>
        <p:spPr>
          <a:xfrm>
            <a:off x="609480" y="1219320"/>
            <a:ext cx="7925040" cy="914400"/>
          </a:xfrm>
          <a:prstGeom prst="pie">
            <a:avLst/>
          </a:prstGeom>
          <a:noFill/>
          <a:ln w="2556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Line 8"/>
          <p:cNvSpPr/>
          <p:nvPr/>
        </p:nvSpPr>
        <p:spPr>
          <a:xfrm>
            <a:off x="1981080" y="3962520"/>
            <a:ext cx="6512040" cy="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200" spc="-1" strike="noStrike">
                <a:solidFill>
                  <a:srgbClr val="006633"/>
                </a:solidFill>
                <a:latin typeface="Tahoma"/>
              </a:rPr>
              <a:t>Click to edit the title text format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669960" indent="-325440">
              <a:spcBef>
                <a:spcPts val="751"/>
              </a:spcBef>
              <a:buClr>
                <a:srgbClr val="3b812f"/>
              </a:buClr>
              <a:buSzPct val="6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2" marL="1022400" indent="-35100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3" marL="1339920" indent="-316080">
              <a:spcBef>
                <a:spcPts val="751"/>
              </a:spcBef>
              <a:buClr>
                <a:srgbClr val="3b812f"/>
              </a:buClr>
              <a:buSzPct val="70000"/>
              <a:buFont typeface="Wingdings" charset="2"/>
              <a:buChar char="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4" marL="1681200" indent="-339840">
              <a:spcBef>
                <a:spcPts val="751"/>
              </a:spcBef>
              <a:buClr>
                <a:srgbClr val="cc99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5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6" marL="1681200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GB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52E24D-37DE-4671-9A75-D7422C90B319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5"/>
          </p:nvPr>
        </p:nvSpPr>
        <p:spPr>
          <a:xfrm>
            <a:off x="2771640" y="6243480"/>
            <a:ext cx="3600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AU" sz="1200" spc="-1" strike="noStrike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9846F2-6DB7-4E04-AF7D-CB3E0B793EC3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0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11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image" Target="../media/image13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image" Target="../media/image16.wmf"/><Relationship Id="rId3" Type="http://schemas.openxmlformats.org/officeDocument/2006/relationships/image" Target="../media/image17.wmf"/><Relationship Id="rId4" Type="http://schemas.openxmlformats.org/officeDocument/2006/relationships/image" Target="../media/image18.wmf"/><Relationship Id="rId5" Type="http://schemas.openxmlformats.org/officeDocument/2006/relationships/image" Target="../media/image19.wmf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0.wmf"/><Relationship Id="rId2" Type="http://schemas.openxmlformats.org/officeDocument/2006/relationships/image" Target="../media/image21.wmf"/><Relationship Id="rId3" Type="http://schemas.openxmlformats.org/officeDocument/2006/relationships/image" Target="../media/image22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3.wmf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4.wmf"/><Relationship Id="rId2" Type="http://schemas.openxmlformats.org/officeDocument/2006/relationships/image" Target="../media/image25.wmf"/><Relationship Id="rId3" Type="http://schemas.openxmlformats.org/officeDocument/2006/relationships/image" Target="../media/image9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6.wmf"/><Relationship Id="rId2" Type="http://schemas.openxmlformats.org/officeDocument/2006/relationships/image" Target="../media/image27.wmf"/><Relationship Id="rId3" Type="http://schemas.openxmlformats.org/officeDocument/2006/relationships/image" Target="../media/image9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8.wmf"/><Relationship Id="rId2" Type="http://schemas.openxmlformats.org/officeDocument/2006/relationships/image" Target="../media/image29.wmf"/><Relationship Id="rId3" Type="http://schemas.openxmlformats.org/officeDocument/2006/relationships/image" Target="../media/image9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0.wmf"/><Relationship Id="rId2" Type="http://schemas.openxmlformats.org/officeDocument/2006/relationships/image" Target="../media/image31.wmf"/><Relationship Id="rId3" Type="http://schemas.openxmlformats.org/officeDocument/2006/relationships/image" Target="../media/image3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3.wmf"/><Relationship Id="rId2" Type="http://schemas.openxmlformats.org/officeDocument/2006/relationships/image" Target="../media/image32.png"/><Relationship Id="rId3" Type="http://schemas.openxmlformats.org/officeDocument/2006/relationships/image" Target="../media/image34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5.wmf"/><Relationship Id="rId2" Type="http://schemas.openxmlformats.org/officeDocument/2006/relationships/image" Target="../media/image36.wmf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38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9.wmf"/><Relationship Id="rId2" Type="http://schemas.openxmlformats.org/officeDocument/2006/relationships/image" Target="../media/image39.wmf"/><Relationship Id="rId3" Type="http://schemas.openxmlformats.org/officeDocument/2006/relationships/image" Target="../media/image40.wm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41.wmf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2.wmf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3.w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1FC69EF-7372-4B05-B2F0-161DD2108C23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2771640" y="6243480"/>
            <a:ext cx="3600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Rectangle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99A4F8-7F02-4EF0-A216-0C0D6422339F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55640" y="1341000"/>
            <a:ext cx="7694640" cy="25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600" spc="-1" strike="noStrike">
                <a:solidFill>
                  <a:srgbClr val="006633"/>
                </a:solidFill>
                <a:latin typeface="Tahoma"/>
              </a:rPr>
              <a:t>Time-domain models based on frequency-domain data </a:t>
            </a:r>
            <a:br>
              <a:rPr sz="4600"/>
            </a:br>
            <a:br>
              <a:rPr sz="3400"/>
            </a:br>
            <a:r>
              <a:rPr b="0" lang="en-AU" sz="3400" spc="-1" strike="noStrike">
                <a:solidFill>
                  <a:srgbClr val="006633"/>
                </a:solidFill>
                <a:latin typeface="Tahoma"/>
              </a:rPr>
              <a:t>(Module 7)</a:t>
            </a:r>
            <a:endParaRPr b="0" lang="en-US" sz="34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27" name="Picture 5" descr=""/>
          <p:cNvPicPr/>
          <p:nvPr/>
        </p:nvPicPr>
        <p:blipFill>
          <a:blip r:embed="rId1"/>
          <a:stretch/>
        </p:blipFill>
        <p:spPr>
          <a:xfrm>
            <a:off x="1476360" y="5229360"/>
            <a:ext cx="2320920" cy="890280"/>
          </a:xfrm>
          <a:prstGeom prst="rect">
            <a:avLst/>
          </a:prstGeom>
          <a:ln w="0">
            <a:noFill/>
          </a:ln>
        </p:spPr>
      </p:pic>
      <p:sp>
        <p:nvSpPr>
          <p:cNvPr id="28" name="Rectangle 7"/>
          <p:cNvSpPr/>
          <p:nvPr/>
        </p:nvSpPr>
        <p:spPr>
          <a:xfrm>
            <a:off x="1547640" y="4005360"/>
            <a:ext cx="324180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Dr Tristan Perez </a:t>
            </a: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	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Centre for Complex Dynamic Systems and Control (CDSC)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Rectangle 11"/>
          <p:cNvSpPr/>
          <p:nvPr/>
        </p:nvSpPr>
        <p:spPr>
          <a:xfrm>
            <a:off x="5219640" y="4005360"/>
            <a:ext cx="374508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Prof. Thor I Fossen</a:t>
            </a:r>
            <a:endParaRPr b="1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Department of Engineering Cybernetics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Picture 12" descr=""/>
          <p:cNvPicPr/>
          <p:nvPr/>
        </p:nvPicPr>
        <p:blipFill>
          <a:blip r:embed="rId2"/>
          <a:stretch/>
        </p:blipFill>
        <p:spPr>
          <a:xfrm>
            <a:off x="5651640" y="5445000"/>
            <a:ext cx="2436840" cy="70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EE5183-D25C-4F74-80CD-F0E054B5830E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3440AE-2F40-46EC-98CB-DBC5A8B1CEAB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800" spc="-1" strike="noStrike">
                <a:solidFill>
                  <a:srgbClr val="006633"/>
                </a:solidFill>
                <a:latin typeface="Tahoma"/>
              </a:rPr>
              <a:t>Time-domain modelling approaches</a:t>
            </a:r>
            <a:endParaRPr b="0" lang="en-US" sz="3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6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Two approaches can be distinguished for time-domain modelling: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996600"/>
                </a:solidFill>
                <a:latin typeface="Arial"/>
              </a:rPr>
              <a:t>Full time-domain hydrodynamic codes,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996600"/>
                </a:solidFill>
                <a:latin typeface="Arial"/>
              </a:rPr>
              <a:t>Time-domain models based on frequency-domain data.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75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Here, we will follow the second approach.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9F0F6FF-FCF1-4705-81F5-2828B617EA83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923926-D15F-4759-8F2B-459076C4CAEB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Linear time-domain models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68360" y="1196640"/>
            <a:ext cx="8229600" cy="118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64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Linear time-domain models can be used for control system design and can serve as a basis for developing non-linear models: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Rectangle 4"/>
          <p:cNvSpPr/>
          <p:nvPr/>
        </p:nvSpPr>
        <p:spPr>
          <a:xfrm>
            <a:off x="4138560" y="3143160"/>
            <a:ext cx="1871640" cy="1150920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Box 5"/>
          <p:cNvSpPr/>
          <p:nvPr/>
        </p:nvSpPr>
        <p:spPr>
          <a:xfrm>
            <a:off x="4210200" y="3502080"/>
            <a:ext cx="1657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Linear model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Oval 6"/>
          <p:cNvSpPr/>
          <p:nvPr/>
        </p:nvSpPr>
        <p:spPr>
          <a:xfrm>
            <a:off x="2770200" y="3575160"/>
            <a:ext cx="289080" cy="287280"/>
          </a:xfrm>
          <a:prstGeom prst="ellipse">
            <a:avLst/>
          </a:prstGeom>
          <a:solidFill>
            <a:srgbClr val="cc99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Line 7"/>
          <p:cNvSpPr/>
          <p:nvPr/>
        </p:nvSpPr>
        <p:spPr>
          <a:xfrm>
            <a:off x="3059280" y="3719520"/>
            <a:ext cx="107928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Line 8"/>
          <p:cNvSpPr/>
          <p:nvPr/>
        </p:nvSpPr>
        <p:spPr>
          <a:xfrm>
            <a:off x="1690560" y="3719520"/>
            <a:ext cx="107964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Line 9"/>
          <p:cNvSpPr/>
          <p:nvPr/>
        </p:nvSpPr>
        <p:spPr>
          <a:xfrm>
            <a:off x="6010200" y="3790800"/>
            <a:ext cx="107964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Box 10"/>
          <p:cNvSpPr/>
          <p:nvPr/>
        </p:nvSpPr>
        <p:spPr>
          <a:xfrm>
            <a:off x="6515280" y="3286080"/>
            <a:ext cx="1657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Motion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ectangle 11"/>
          <p:cNvSpPr/>
          <p:nvPr/>
        </p:nvSpPr>
        <p:spPr>
          <a:xfrm>
            <a:off x="4210200" y="4583160"/>
            <a:ext cx="1871640" cy="1150920"/>
          </a:xfrm>
          <a:prstGeom prst="rect">
            <a:avLst/>
          </a:prstGeom>
          <a:solidFill>
            <a:srgbClr val="cc99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Box 12"/>
          <p:cNvSpPr/>
          <p:nvPr/>
        </p:nvSpPr>
        <p:spPr>
          <a:xfrm>
            <a:off x="4281480" y="4941720"/>
            <a:ext cx="1657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Nonlinearities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Line 13"/>
          <p:cNvSpPr/>
          <p:nvPr/>
        </p:nvSpPr>
        <p:spPr>
          <a:xfrm flipH="1">
            <a:off x="6083280" y="5159520"/>
            <a:ext cx="432000" cy="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Line 14"/>
          <p:cNvSpPr/>
          <p:nvPr/>
        </p:nvSpPr>
        <p:spPr>
          <a:xfrm flipV="1">
            <a:off x="6515280" y="3790800"/>
            <a:ext cx="0" cy="136872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Line 15"/>
          <p:cNvSpPr/>
          <p:nvPr/>
        </p:nvSpPr>
        <p:spPr>
          <a:xfrm flipV="1">
            <a:off x="2914560" y="3862080"/>
            <a:ext cx="0" cy="1368360"/>
          </a:xfrm>
          <a:prstGeom prst="line">
            <a:avLst/>
          </a:prstGeom>
          <a:ln w="3816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Line 16"/>
          <p:cNvSpPr/>
          <p:nvPr/>
        </p:nvSpPr>
        <p:spPr>
          <a:xfrm>
            <a:off x="2914560" y="5230800"/>
            <a:ext cx="1295640" cy="0"/>
          </a:xfrm>
          <a:prstGeom prst="line">
            <a:avLst/>
          </a:prstGeom>
          <a:ln w="381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Box 17"/>
          <p:cNvSpPr/>
          <p:nvPr/>
        </p:nvSpPr>
        <p:spPr>
          <a:xfrm>
            <a:off x="3130560" y="3286080"/>
            <a:ext cx="1657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Loads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Box 18"/>
          <p:cNvSpPr/>
          <p:nvPr/>
        </p:nvSpPr>
        <p:spPr>
          <a:xfrm>
            <a:off x="1330200" y="3214800"/>
            <a:ext cx="1657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Wave Loads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Date Placeholder 5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DF66B1-8CE9-418B-B479-D05A8CF54A22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Footer Placeholder 6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lide Number Placeholder 7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892640-8C8A-4BC1-92A4-1E19E8482008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Frequency-domain Eq. of Motion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95280" y="1341000"/>
            <a:ext cx="8507520" cy="67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In the hydrodynamic literature it is common to find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1" name="Object 4"/>
              <p:cNvSpPr txBox="1"/>
              <p:nvPr/>
            </p:nvSpPr>
            <p:spPr>
              <a:xfrm>
                <a:off x="900000" y="2349360"/>
                <a:ext cx="7270920" cy="625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[</m:t>
                    </m:r>
                    <m:sSub>
                      <m:e>
                        <m:r>
                          <m:t xml:space="preserve">M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RB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A</m:t>
                    </m:r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  <m:r>
                      <m:t xml:space="preserve">]</m:t>
                    </m:r>
                    <m:acc>
                      <m:accPr>
                        <m:chr m:val="¨"/>
                      </m:accPr>
                      <m:e>
                        <m:r>
                          <m:t xml:space="preserve">ξ</m:t>
                        </m:r>
                      </m:e>
                    </m:acc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)</m:t>
                    </m:r>
                    <m:r>
                      <m:t xml:space="preserve">+</m:t>
                    </m:r>
                    <m:r>
                      <m:t xml:space="preserve">B</m:t>
                    </m:r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  <m:acc>
                      <m:accPr>
                        <m:chr m:val="˙"/>
                      </m:accPr>
                      <m:e>
                        <m:r>
                          <m:t xml:space="preserve">ξ</m:t>
                        </m:r>
                      </m:e>
                    </m:acc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)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Gξ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)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τ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exc</m:t>
                        </m:r>
                      </m:sub>
                    </m:sSub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p:sp>
        <p:nvSpPr>
          <p:cNvPr id="62" name="Rectangle 6"/>
          <p:cNvSpPr/>
          <p:nvPr/>
        </p:nvSpPr>
        <p:spPr>
          <a:xfrm>
            <a:off x="468360" y="3429000"/>
            <a:ext cx="8423280" cy="244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This is valid to describe the steady-state response to sinusoidal excitations.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550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This is a </a:t>
            </a:r>
            <a:r>
              <a:rPr b="0" lang="en-AU" sz="2200" spc="-1" strike="noStrike">
                <a:solidFill>
                  <a:srgbClr val="996600"/>
                </a:solidFill>
                <a:latin typeface="Arial"/>
              </a:rPr>
              <a:t>false time-domain model</a:t>
            </a: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; it is simply an alternative (and confusing) way to write the frequency response of the system (Cummins, 1962).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50AD82-8557-49EA-B294-1A5F42230DDF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473320-F4A7-4119-9D6D-F6C57B307A39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Cummins’s equation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67" name="Rectangle 3"/>
          <p:cNvSpPr/>
          <p:nvPr/>
        </p:nvSpPr>
        <p:spPr>
          <a:xfrm>
            <a:off x="395280" y="1197000"/>
            <a:ext cx="822960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Cummins (1962), took a different modelling approach and consider the radiation problem </a:t>
            </a:r>
            <a:r>
              <a:rPr b="0" i="1" lang="en-AU" sz="2200" spc="-1" strike="noStrike">
                <a:solidFill>
                  <a:srgbClr val="000000"/>
                </a:solidFill>
                <a:latin typeface="Times New Roman"/>
              </a:rPr>
              <a:t>ab initio</a:t>
            </a: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 in the time domain.</a:t>
            </a: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He obtained the </a:t>
            </a:r>
            <a:r>
              <a:rPr b="0" lang="en-AU" sz="2200" spc="-1" strike="noStrike">
                <a:solidFill>
                  <a:srgbClr val="996600"/>
                </a:solidFill>
                <a:latin typeface="Arial"/>
              </a:rPr>
              <a:t>Cummins’s equation of motion</a:t>
            </a: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: 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Picture 12" descr=""/>
          <p:cNvPicPr/>
          <p:nvPr/>
        </p:nvPicPr>
        <p:blipFill>
          <a:blip r:embed="rId1"/>
          <a:stretch/>
        </p:blipFill>
        <p:spPr>
          <a:xfrm>
            <a:off x="1547640" y="2414520"/>
            <a:ext cx="5882040" cy="1014480"/>
          </a:xfrm>
          <a:prstGeom prst="rect">
            <a:avLst/>
          </a:prstGeom>
          <a:ln w="0">
            <a:noFill/>
          </a:ln>
        </p:spPr>
      </p:pic>
      <p:sp>
        <p:nvSpPr>
          <p:cNvPr id="69" name="Rectangle 17"/>
          <p:cNvSpPr/>
          <p:nvPr/>
        </p:nvSpPr>
        <p:spPr>
          <a:xfrm>
            <a:off x="468360" y="3573360"/>
            <a:ext cx="8569440" cy="25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added mass matrix is constant—frequency and speed independent.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convolution term accounts for fluid-memory effects.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kernel of the convolution is a matrix of retardation functions or impulse responses.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This is a true linear equation of motion, and it is valid for any excitation, provided the linearity assumption holds.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2EFA58-D7FA-43A5-A359-EB509BC4C4CE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9D4909-0550-47C8-82BA-8C98A778797B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Picture 8" descr=""/>
          <p:cNvPicPr/>
          <p:nvPr/>
        </p:nvPicPr>
        <p:blipFill>
          <a:blip r:embed="rId1"/>
          <a:stretch/>
        </p:blipFill>
        <p:spPr>
          <a:xfrm>
            <a:off x="468360" y="1400040"/>
            <a:ext cx="8248680" cy="1308240"/>
          </a:xfrm>
          <a:prstGeom prst="rect">
            <a:avLst/>
          </a:prstGeom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800" spc="-1" strike="noStrike">
                <a:solidFill>
                  <a:srgbClr val="006633"/>
                </a:solidFill>
                <a:latin typeface="Tahoma"/>
              </a:rPr>
              <a:t>Cummins’s equation with forward speed</a:t>
            </a:r>
            <a:endParaRPr b="0" lang="en-US" sz="3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84000" y="2997360"/>
            <a:ext cx="7848360" cy="223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62" lnSpcReduction="10000"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 convolution terms depend on the forward speed.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With forward speed appears a constant damping term.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 restoring forces are affected by hydrodynamic pressure—Lift, changes in trim.  (Usually ignored for Fn&lt;0.3)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Date Placeholder 5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788F4D-150A-4F39-AB23-987803C2AC51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Footer Placeholder 6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lide Number Placeholder 7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E3BE5D-2CFC-4A92-A493-6D26CE84D437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324000" y="4653000"/>
            <a:ext cx="822960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From the Riemann-Lesbesgue Lemma: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Ogilvie’s relations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68360" y="1052280"/>
            <a:ext cx="799128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If Cummins’s Equation is valid for any input, it must then be valid for sinusoids in particular (Ogilvie, 1964).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Ogilvie (1964) transformed the Cummins’ Equation to the frequency domain, and found that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82" name="Object 10"/>
              <p:cNvSpPr txBox="1"/>
              <p:nvPr/>
            </p:nvSpPr>
            <p:spPr>
              <a:xfrm>
                <a:off x="2916360" y="2852640"/>
                <a:ext cx="3671640" cy="1778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eqArr>
                      <m:e>
                        <m:r>
                          <m:t xml:space="preserve">A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=</m:t>
                        </m:r>
                        <m:r>
                          <m:t xml:space="preserve">A</m:t>
                        </m:r>
                        <m:r>
                          <m:t xml:space="preserve">−</m:t>
                        </m:r>
                        <m:f>
                          <m:num>
                            <m:r>
                              <m:t xml:space="preserve">1</m:t>
                            </m:r>
                          </m:num>
                          <m:den>
                            <m:r>
                              <m:t xml:space="preserve">ω</m:t>
                            </m:r>
                          </m:den>
                        </m:f>
                        <m:nary>
                          <m:naryPr>
                            <m:chr m:val="∫"/>
                          </m:naryPr>
                          <m:sub>
                            <m:r>
                              <m:t xml:space="preserve">0</m:t>
                            </m:r>
                          </m:sub>
                          <m:sup>
                            <m:r>
                              <m:t xml:space="preserve">∞</m:t>
                            </m:r>
                          </m:sup>
                          <m:e>
                            <m:r>
                              <m:t xml:space="preserve">K</m:t>
                            </m:r>
                            <m:r>
                              <m:t xml:space="preserve">(</m:t>
                            </m:r>
                            <m:r>
                              <m:t xml:space="preserve">t</m:t>
                            </m:r>
                            <m:r>
                              <m:t xml:space="preserve">)</m:t>
                            </m:r>
                            <m:r>
                              <m:rPr>
                                <m:lit/>
                                <m:nor/>
                              </m:rPr>
                              <m:t xml:space="preserve">sin</m:t>
                            </m:r>
                            <m:r>
                              <m:t xml:space="preserve">(</m:t>
                            </m:r>
                            <m:r>
                              <m:t xml:space="preserve">ωt</m:t>
                            </m:r>
                            <m:r>
                              <m:t xml:space="preserve">)</m:t>
                            </m:r>
                            <m:r>
                              <m:t xml:space="preserve"> </m:t>
                            </m:r>
                            <m:r>
                              <m:rPr>
                                <m:lit/>
                                <m:nor/>
                              </m:rPr>
                              <m:t xml:space="preserve">dt</m:t>
                            </m:r>
                          </m:e>
                        </m:nary>
                      </m:e>
                      <m:e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=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U</m:t>
                        </m:r>
                        <m:r>
                          <m:t xml:space="preserve">)</m:t>
                        </m:r>
                        <m:r>
                          <m:t xml:space="preserve">+</m:t>
                        </m:r>
                        <m:nary>
                          <m:naryPr>
                            <m:chr m:val="∫"/>
                          </m:naryPr>
                          <m:sub>
                            <m:r>
                              <m:t xml:space="preserve">0</m:t>
                            </m:r>
                          </m:sub>
                          <m:sup>
                            <m:r>
                              <m:t xml:space="preserve">∞</m:t>
                            </m:r>
                          </m:sup>
                          <m:e>
                            <m:r>
                              <m:t xml:space="preserve">K</m:t>
                            </m:r>
                            <m:r>
                              <m:t xml:space="preserve">(</m:t>
                            </m:r>
                            <m:r>
                              <m:t xml:space="preserve">t</m:t>
                            </m:r>
                            <m:r>
                              <m:t xml:space="preserve">)</m:t>
                            </m:r>
                            <m:r>
                              <m:rPr>
                                <m:lit/>
                                <m:nor/>
                              </m:rPr>
                              <m:t xml:space="preserve">cos</m:t>
                            </m:r>
                            <m:r>
                              <m:t xml:space="preserve">(</m:t>
                            </m:r>
                            <m:r>
                              <m:t xml:space="preserve">ωt</m:t>
                            </m:r>
                            <m:r>
                              <m:t xml:space="preserve">)</m:t>
                            </m:r>
                            <m:r>
                              <m:t xml:space="preserve"> </m:t>
                            </m:r>
                            <m:r>
                              <m:rPr>
                                <m:lit/>
                                <m:nor/>
                              </m:rPr>
                              <m:t xml:space="preserve">dt</m:t>
                            </m:r>
                          </m:e>
                        </m:nary>
                      </m:e>
                    </m:eqAr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83" name="Object 14"/>
              <p:cNvSpPr txBox="1"/>
              <p:nvPr/>
            </p:nvSpPr>
            <p:spPr>
              <a:xfrm>
                <a:off x="3348000" y="5157720"/>
                <a:ext cx="2735280" cy="961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eqArr>
                      <m:e>
                        <m:r>
                          <m:t xml:space="preserve">A</m:t>
                        </m:r>
                        <m:r>
                          <m:t xml:space="preserve">=</m:t>
                        </m:r>
                        <m:limLow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lim</m:t>
                            </m:r>
                          </m:e>
                          <m:lim>
                            <m:r>
                              <m:t xml:space="preserve">ω</m:t>
                            </m:r>
                            <m:r>
                              <m:t xml:space="preserve">→</m:t>
                            </m:r>
                            <m:r>
                              <m:t xml:space="preserve">∞</m:t>
                            </m:r>
                          </m:lim>
                        </m:limLow>
                        <m:r>
                          <m:t xml:space="preserve">A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:</m:t>
                        </m:r>
                        <m:r>
                          <m:t xml:space="preserve">=</m:t>
                        </m:r>
                        <m:r>
                          <m:t xml:space="preserve">A</m:t>
                        </m:r>
                        <m:r>
                          <m:t xml:space="preserve">(</m:t>
                        </m:r>
                        <m:r>
                          <m:t xml:space="preserve">∞</m:t>
                        </m:r>
                        <m:r>
                          <m:t xml:space="preserve">)</m:t>
                        </m:r>
                      </m:e>
                      <m:e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U</m:t>
                        </m:r>
                        <m:r>
                          <m:t xml:space="preserve">)</m:t>
                        </m:r>
                        <m:r>
                          <m:t xml:space="preserve">=</m:t>
                        </m:r>
                        <m:limLow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lim</m:t>
                            </m:r>
                          </m:e>
                          <m:lim>
                            <m:r>
                              <m:t xml:space="preserve">ω</m:t>
                            </m:r>
                            <m:r>
                              <m:t xml:space="preserve">→</m:t>
                            </m:r>
                            <m:r>
                              <m:t xml:space="preserve">∞</m:t>
                            </m:r>
                          </m:lim>
                        </m:limLow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:</m:t>
                        </m:r>
                        <m:r>
                          <m:t xml:space="preserve">=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∞</m:t>
                        </m:r>
                        <m:r>
                          <m:t xml:space="preserve">)</m:t>
                        </m:r>
                      </m:e>
                    </m:eqArr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ED77F4-8061-4837-99CC-E0588CB57D54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63E344-5A0D-4077-A7C4-C705923324E2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800" spc="-1" strike="noStrike">
                <a:solidFill>
                  <a:srgbClr val="006633"/>
                </a:solidFill>
                <a:latin typeface="Tahoma"/>
              </a:rPr>
              <a:t>Time- and Freq-domain Relationships</a:t>
            </a:r>
            <a:endParaRPr b="0" lang="en-US" sz="3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88" name="Rectangle 5"/>
          <p:cNvSpPr/>
          <p:nvPr/>
        </p:nvSpPr>
        <p:spPr>
          <a:xfrm>
            <a:off x="324000" y="3860640"/>
            <a:ext cx="82296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Frequency-domain relationship:</a:t>
            </a:r>
            <a:endParaRPr b="1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13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90" name="Object 12"/>
              <p:cNvSpPr txBox="1"/>
              <p:nvPr/>
            </p:nvSpPr>
            <p:spPr>
              <a:xfrm>
                <a:off x="1547640" y="5013360"/>
                <a:ext cx="6515280" cy="482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jω</m:t>
                    </m:r>
                    <m:r>
                      <m:t xml:space="preserve">)</m:t>
                    </m:r>
                    <m:r>
                      <m:t xml:space="preserve">=</m:t>
                    </m:r>
                    <m:r>
                      <m:t xml:space="preserve">[</m:t>
                    </m:r>
                    <m:r>
                      <m:t xml:space="preserve">B</m:t>
                    </m:r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B</m:t>
                    </m:r>
                    <m:r>
                      <m:t xml:space="preserve">(</m:t>
                    </m:r>
                    <m:r>
                      <m:t xml:space="preserve">∞</m:t>
                    </m:r>
                    <m:r>
                      <m:t xml:space="preserve">)</m:t>
                    </m:r>
                    <m:r>
                      <m:t xml:space="preserve">]</m:t>
                    </m:r>
                    <m:r>
                      <m:t xml:space="preserve">+</m:t>
                    </m:r>
                    <m:r>
                      <m:t xml:space="preserve">jω</m:t>
                    </m:r>
                    <m:r>
                      <m:t xml:space="preserve"> </m:t>
                    </m:r>
                    <m:r>
                      <m:t xml:space="preserve">[</m:t>
                    </m:r>
                    <m:r>
                      <m:t xml:space="preserve">A</m:t>
                    </m:r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A</m:t>
                    </m:r>
                    <m:r>
                      <m:t xml:space="preserve">(</m:t>
                    </m:r>
                    <m:r>
                      <m:t xml:space="preserve">∞</m:t>
                    </m:r>
                    <m:r>
                      <m:t xml:space="preserve">)</m:t>
                    </m:r>
                    <m:r>
                      <m:t xml:space="preserve">]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91" name="Object 14"/>
              <p:cNvSpPr txBox="1"/>
              <p:nvPr/>
            </p:nvSpPr>
            <p:spPr>
              <a:xfrm>
                <a:off x="1963800" y="2276640"/>
                <a:ext cx="5257800" cy="1114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)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π</m:t>
                        </m:r>
                      </m:den>
                    </m:f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r>
                          <m:t xml:space="preserve">[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−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∞</m:t>
                        </m:r>
                        <m:r>
                          <m:t xml:space="preserve">)</m:t>
                        </m:r>
                        <m:r>
                          <m:t xml:space="preserve">]</m:t>
                        </m:r>
                        <m:r>
                          <m:rPr>
                            <m:lit/>
                            <m:nor/>
                          </m:rPr>
                          <m:t xml:space="preserve">cos</m:t>
                        </m:r>
                        <m:r>
                          <m:t xml:space="preserve">(</m:t>
                        </m:r>
                        <m:r>
                          <m:t xml:space="preserve">ωt</m:t>
                        </m:r>
                        <m:r>
                          <m:t xml:space="preserve">)</m:t>
                        </m:r>
                        <m:r>
                          <m:t xml:space="preserve"> </m:t>
                        </m:r>
                        <m:r>
                          <m:t xml:space="preserve">dω</m:t>
                        </m:r>
                      </m:e>
                    </m:nary>
                  </m:oMath>
                </a14:m>
              </a:p>
            </p:txBody>
          </p:sp>
        </mc:Choice>
        <mc:Fallback/>
      </mc:AlternateContent>
      <p:sp>
        <p:nvSpPr>
          <p:cNvPr id="92" name="Rectangle 15"/>
          <p:cNvSpPr/>
          <p:nvPr/>
        </p:nvSpPr>
        <p:spPr>
          <a:xfrm>
            <a:off x="539640" y="1413000"/>
            <a:ext cx="822960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Time-domain relationship:</a:t>
            </a:r>
            <a:endParaRPr b="1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5EDBFB-2094-49AD-9203-2E1EA8C56DCE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EC21C2-AEDF-4933-9FBA-170B1110EC7D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800" spc="-1" strike="noStrike">
                <a:solidFill>
                  <a:srgbClr val="006633"/>
                </a:solidFill>
                <a:latin typeface="Tahoma"/>
              </a:rPr>
              <a:t>Properties of the convolution terms</a:t>
            </a:r>
            <a:endParaRPr b="0" lang="en-US" sz="3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539280" y="1268280"/>
            <a:ext cx="7993080" cy="93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400" spc="-1" strike="noStrike">
                <a:solidFill>
                  <a:srgbClr val="000000"/>
                </a:solidFill>
                <a:latin typeface="Arial"/>
              </a:rPr>
              <a:t>The convolution terms have the following frequency and time-domain properties (e.g., Damaren, 2000):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8" name=""/>
          <p:cNvGraphicFramePr/>
          <p:nvPr/>
        </p:nvGraphicFramePr>
        <p:xfrm>
          <a:off x="468360" y="2276640"/>
          <a:ext cx="8218440" cy="3657600"/>
        </p:xfrm>
        <a:graphic>
          <a:graphicData uri="http://schemas.openxmlformats.org/drawingml/2006/table">
            <a:tbl>
              <a:tblPr/>
              <a:tblGrid>
                <a:gridCol w="3166920"/>
                <a:gridCol w="5051520"/>
              </a:tblGrid>
              <a:tr h="6933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1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  <a:r>
                        <a:rPr b="0" lang="en-AU" sz="2600" spc="-1" strike="noStrike" baseline="-25000">
                          <a:solidFill>
                            <a:srgbClr val="000000"/>
                          </a:solidFill>
                          <a:latin typeface="Times New Roman"/>
                        </a:rPr>
                        <a:t>ij</a:t>
                      </a: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(s)</a:t>
                      </a: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have a zero at </a:t>
                      </a: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s=0</a:t>
                      </a: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b="1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1368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933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1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Strictly proper</a:t>
                      </a:r>
                      <a:endParaRPr b="1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9192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1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Relative degree 1</a:t>
                      </a:r>
                      <a:endParaRPr b="1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933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1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BIBO stable</a:t>
                      </a:r>
                      <a:endParaRPr b="1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57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8596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1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13680">
                      <a:solidFill>
                        <a:srgbClr val="000000"/>
                      </a:solidFill>
                      <a:prstDash val="solid"/>
                    </a:lnL>
                    <a:lnR w="576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6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AU" sz="2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K</a:t>
                      </a: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Times New Roman"/>
                        </a:rPr>
                        <a:t>(s)</a:t>
                      </a:r>
                      <a:r>
                        <a:rPr b="0" lang="en-AU" sz="26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 is passive =&gt; diagonal terms are positive real.</a:t>
                      </a:r>
                      <a:endParaRPr b="1" lang="en-US" sz="2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000000"/>
                      </a:solidFill>
                      <a:prstDash val="solid"/>
                    </a:lnL>
                    <a:lnR w="13680">
                      <a:solidFill>
                        <a:srgbClr val="000000"/>
                      </a:solidFill>
                      <a:prstDash val="solid"/>
                    </a:lnR>
                    <a:lnT w="5760">
                      <a:solidFill>
                        <a:srgbClr val="000000"/>
                      </a:solidFill>
                      <a:prstDash val="solid"/>
                    </a:lnT>
                    <a:lnB w="136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9" name="Rectangle 80"/>
          <p:cNvSpPr/>
          <p:nvPr/>
        </p:nvSpPr>
        <p:spPr>
          <a:xfrm>
            <a:off x="0" y="3287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0" name="Object 79"/>
              <p:cNvSpPr txBox="1"/>
              <p:nvPr/>
            </p:nvSpPr>
            <p:spPr>
              <a:xfrm>
                <a:off x="1258920" y="2421000"/>
                <a:ext cx="1547640" cy="477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r>
                          <m:t xml:space="preserve">ω</m:t>
                        </m:r>
                        <m:r>
                          <m:t xml:space="preserve">→</m:t>
                        </m:r>
                        <m:r>
                          <m:t xml:space="preserve">0</m:t>
                        </m:r>
                      </m:lim>
                    </m:limLow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jω</m:t>
                    </m:r>
                    <m:r>
                      <m:t xml:space="preserve">)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01" name="Object 81"/>
              <p:cNvSpPr txBox="1"/>
              <p:nvPr/>
            </p:nvSpPr>
            <p:spPr>
              <a:xfrm>
                <a:off x="1258920" y="3068640"/>
                <a:ext cx="1569960" cy="477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r>
                          <m:t xml:space="preserve">ω</m:t>
                        </m:r>
                        <m:r>
                          <m:t xml:space="preserve">→</m:t>
                        </m:r>
                        <m:r>
                          <m:t xml:space="preserve">∞</m:t>
                        </m:r>
                      </m:lim>
                    </m:limLow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jω</m:t>
                    </m:r>
                    <m:r>
                      <m:t xml:space="preserve">)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02" name="Object 82"/>
              <p:cNvSpPr txBox="1"/>
              <p:nvPr/>
            </p:nvSpPr>
            <p:spPr>
              <a:xfrm>
                <a:off x="684360" y="3716280"/>
                <a:ext cx="2728800" cy="566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=</m:t>
                    </m:r>
                    <m:sSup>
                      <m:e>
                        <m:r>
                          <m:t xml:space="preserve">0</m:t>
                        </m:r>
                      </m:e>
                      <m:sup>
                        <m:r>
                          <m:t xml:space="preserve">+</m:t>
                        </m:r>
                      </m:sup>
                    </m:sSup>
                    <m:r>
                      <m:t xml:space="preserve">)</m:t>
                    </m:r>
                    <m:r>
                      <m:t xml:space="preserve">=</m:t>
                    </m:r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 </m:t>
                        </m:r>
                        <m:r>
                          <m:t xml:space="preserve">dω</m:t>
                        </m:r>
                      </m:e>
                    </m:nary>
                    <m:r>
                      <m:t xml:space="preserve">≠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03" name="Object 83"/>
              <p:cNvSpPr txBox="1"/>
              <p:nvPr/>
            </p:nvSpPr>
            <p:spPr>
              <a:xfrm>
                <a:off x="1258920" y="4437000"/>
                <a:ext cx="1311120" cy="478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limLow>
                      <m:e>
                        <m:r>
                          <m:rPr>
                            <m:lit/>
                            <m:nor/>
                          </m:rPr>
                          <m:t xml:space="preserve">lim</m:t>
                        </m:r>
                      </m:e>
                      <m:lim>
                        <m:r>
                          <m:t xml:space="preserve">t</m:t>
                        </m:r>
                        <m:r>
                          <m:t xml:space="preserve">→</m:t>
                        </m:r>
                        <m:r>
                          <m:t xml:space="preserve">∞</m:t>
                        </m:r>
                      </m:lim>
                    </m:limLow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)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04" name="Rectangle 85"/>
          <p:cNvSpPr/>
          <p:nvPr/>
        </p:nvSpPr>
        <p:spPr>
          <a:xfrm>
            <a:off x="468360" y="3357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05" name="Object 84"/>
              <p:cNvSpPr txBox="1"/>
              <p:nvPr/>
            </p:nvSpPr>
            <p:spPr>
              <a:xfrm>
                <a:off x="971640" y="5229360"/>
                <a:ext cx="2063520" cy="453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Re</m:t>
                    </m:r>
                    <m:d>
                      <m:dPr>
                        <m:begChr m:val="{"/>
                        <m:endChr m:val="}"/>
                      </m:dPr>
                      <m:e>
                        <m:sSub>
                          <m:e>
                            <m:r>
                              <m:t xml:space="preserve">K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ii</m:t>
                            </m:r>
                          </m:sub>
                        </m:sSub>
                        <m:r>
                          <m:t xml:space="preserve">(</m:t>
                        </m:r>
                        <m:r>
                          <m:t xml:space="preserve">jω</m:t>
                        </m:r>
                        <m:r>
                          <m:t xml:space="preserve">)</m:t>
                        </m:r>
                      </m:e>
                    </m:d>
                    <m:r>
                      <m:t xml:space="preserve">≥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Date Placeholder 2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7F79E0C-4BD1-479D-B09D-DB08C5212AEF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Footer Placeholder 3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lide Number Placeholder 4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960521-7531-48BD-8B72-E32ECE318A81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6836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Convolution replacement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468360" y="11966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550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The convolution in the Cummins equation can be time and memory consuming for simulation. Simulations can be 40-times faster (Taghipour et.al, 2007a).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50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For analysis and design of a control system, the convolutions are not very well suited.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550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A state-space representation or appropriate order (</a:t>
            </a:r>
            <a:r>
              <a:rPr b="0" i="1" lang="en-AU" sz="2200" spc="-1" strike="noStrike">
                <a:solidFill>
                  <a:srgbClr val="000000"/>
                </a:solidFill>
                <a:latin typeface="Times New Roman"/>
              </a:rPr>
              <a:t>n</a:t>
            </a: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-order) eliminates the above problems: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1" name="Object 4"/>
              <p:cNvSpPr txBox="1"/>
              <p:nvPr/>
            </p:nvSpPr>
            <p:spPr>
              <a:xfrm>
                <a:off x="1116000" y="4797360"/>
                <a:ext cx="2781360" cy="954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μ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r>
                          <m:t xml:space="preserve">K</m:t>
                        </m:r>
                        <m:r>
                          <m:t xml:space="preserve">(</m:t>
                        </m:r>
                        <m:r>
                          <m:t xml:space="preserve">t</m:t>
                        </m:r>
                        <m:r>
                          <m:t xml:space="preserve">−</m:t>
                        </m:r>
                        <m:r>
                          <m:t xml:space="preserve">τ</m:t>
                        </m:r>
                        <m:r>
                          <m:t xml:space="preserve">)</m:t>
                        </m:r>
                        <m:r>
                          <m:t xml:space="preserve"> </m:t>
                        </m:r>
                        <m:acc>
                          <m:accPr>
                            <m:chr m:val="˙"/>
                          </m:accPr>
                          <m:e>
                            <m:r>
                              <m:t xml:space="preserve">ξ</m:t>
                            </m:r>
                          </m:e>
                        </m:acc>
                        <m:r>
                          <m:t xml:space="preserve">(</m:t>
                        </m:r>
                        <m:r>
                          <m:t xml:space="preserve">τ</m:t>
                        </m:r>
                        <m:r>
                          <m:t xml:space="preserve">)</m:t>
                        </m:r>
                        <m:r>
                          <m:t xml:space="preserve"> </m:t>
                        </m:r>
                        <m:r>
                          <m:t xml:space="preserve">dτ</m:t>
                        </m:r>
                      </m:e>
                    </m:nary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12" name="Object 5"/>
              <p:cNvSpPr txBox="1"/>
              <p:nvPr/>
            </p:nvSpPr>
            <p:spPr>
              <a:xfrm>
                <a:off x="5292720" y="4653000"/>
                <a:ext cx="1825560" cy="938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eqArr>
                      <m:e>
                        <m:acc>
                          <m:accPr>
                            <m:chr m:val="˙"/>
                          </m:accPr>
                          <m:e>
                            <m:r>
                              <m:t xml:space="preserve">x</m:t>
                            </m:r>
                          </m:e>
                        </m:acc>
                        <m:r>
                          <m:t xml:space="preserve">=</m:t>
                        </m:r>
                        <m:sSub>
                          <m:e>
                            <m:r>
                              <m:t xml:space="preserve">A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  <m:r>
                          <m:t xml:space="preserve">x</m:t>
                        </m:r>
                        <m:r>
                          <m:t xml:space="preserve">+</m:t>
                        </m:r>
                        <m:sSub>
                          <m:e>
                            <m:r>
                              <m:t xml:space="preserve">B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  <m:acc>
                          <m:accPr>
                            <m:chr m:val="˙"/>
                          </m:accPr>
                          <m:e>
                            <m:r>
                              <m:t xml:space="preserve">ξ</m:t>
                            </m:r>
                          </m:e>
                        </m:acc>
                      </m:e>
                      <m:e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r</m:t>
                            </m:r>
                          </m:sub>
                        </m:sSub>
                        <m:r>
                          <m:t xml:space="preserve">=</m:t>
                        </m:r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  <m:r>
                          <m:t xml:space="preserve">x</m:t>
                        </m:r>
                        <m:r>
                          <m:t xml:space="preserve">+</m:t>
                        </m:r>
                        <m:sSub>
                          <m:e>
                            <m:r>
                              <m:t xml:space="preserve">D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  <m:acc>
                          <m:accPr>
                            <m:chr m:val="˙"/>
                          </m:accPr>
                          <m:e>
                            <m:r>
                              <m:t xml:space="preserve">ξ</m:t>
                            </m:r>
                          </m:e>
                        </m:acc>
                      </m:e>
                    </m:eqAr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13" name="Object 6"/>
              <p:cNvSpPr txBox="1"/>
              <p:nvPr/>
            </p:nvSpPr>
            <p:spPr>
              <a:xfrm>
                <a:off x="4284720" y="4941720"/>
                <a:ext cx="647640" cy="486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⇔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14" name="Object 7"/>
              <p:cNvSpPr txBox="1"/>
              <p:nvPr/>
            </p:nvSpPr>
            <p:spPr>
              <a:xfrm>
                <a:off x="7740720" y="4508640"/>
                <a:ext cx="709560" cy="122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x</m:t>
                    </m:r>
                    <m:r>
                      <m:t xml:space="preserve">=</m:t>
                    </m:r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t xml:space="preserve">⋮</m:t>
                              </m:r>
                            </m:e>
                          </m:mr>
                          <m:mr>
                            <m:e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n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8A9AFE-DAA6-46A7-B6D0-76ED337817D6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129E4D-D260-4F90-8A4F-E3CB819247C5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Convolution replacement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19" name="Object 16"/>
              <p:cNvSpPr txBox="1"/>
              <p:nvPr/>
            </p:nvSpPr>
            <p:spPr>
              <a:xfrm>
                <a:off x="3022560" y="2709720"/>
                <a:ext cx="2205000" cy="954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r>
                          <m:t xml:space="preserve">K</m:t>
                        </m:r>
                        <m:r>
                          <m:t xml:space="preserve">(</m:t>
                        </m:r>
                        <m:r>
                          <m:t xml:space="preserve">t</m:t>
                        </m:r>
                        <m:r>
                          <m:t xml:space="preserve">−</m:t>
                        </m:r>
                        <m:r>
                          <m:t xml:space="preserve">τ</m:t>
                        </m:r>
                        <m:r>
                          <m:t xml:space="preserve">)</m:t>
                        </m:r>
                        <m:r>
                          <m:t xml:space="preserve"> </m:t>
                        </m:r>
                        <m:acc>
                          <m:accPr>
                            <m:chr m:val="˙"/>
                          </m:accPr>
                          <m:e>
                            <m:r>
                              <m:t xml:space="preserve">ξ</m:t>
                            </m:r>
                          </m:e>
                        </m:acc>
                        <m:r>
                          <m:t xml:space="preserve">(</m:t>
                        </m:r>
                        <m:r>
                          <m:t xml:space="preserve">τ</m:t>
                        </m:r>
                        <m:r>
                          <m:t xml:space="preserve">)</m:t>
                        </m:r>
                        <m:r>
                          <m:t xml:space="preserve"> </m:t>
                        </m:r>
                        <m:r>
                          <m:t xml:space="preserve">dτ</m:t>
                        </m:r>
                      </m:e>
                    </m:nary>
                  </m:oMath>
                </a14:m>
              </a:p>
            </p:txBody>
          </p:sp>
        </mc:Choice>
        <mc:Fallback/>
      </mc:AlternateContent>
      <p:sp>
        <p:nvSpPr>
          <p:cNvPr id="120" name="Rectangle 9"/>
          <p:cNvSpPr/>
          <p:nvPr/>
        </p:nvSpPr>
        <p:spPr>
          <a:xfrm>
            <a:off x="6478560" y="1557360"/>
            <a:ext cx="792360" cy="71928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1" name="Object 10"/>
              <p:cNvSpPr txBox="1"/>
              <p:nvPr/>
            </p:nvSpPr>
            <p:spPr>
              <a:xfrm>
                <a:off x="6765840" y="1557360"/>
                <a:ext cx="468360" cy="70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/>
                    </m:nary>
                  </m:oMath>
                </a14:m>
              </a:p>
            </p:txBody>
          </p:sp>
        </mc:Choice>
        <mc:Fallback/>
      </mc:AlternateContent>
      <p:sp>
        <p:nvSpPr>
          <p:cNvPr id="122" name="Rectangle 11"/>
          <p:cNvSpPr/>
          <p:nvPr/>
        </p:nvSpPr>
        <p:spPr>
          <a:xfrm>
            <a:off x="5183280" y="1557360"/>
            <a:ext cx="792000" cy="71928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3" name="Object 12"/>
              <p:cNvSpPr txBox="1"/>
              <p:nvPr/>
            </p:nvSpPr>
            <p:spPr>
              <a:xfrm>
                <a:off x="5470560" y="1557360"/>
                <a:ext cx="468360" cy="703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nary>
                      <m:naryPr>
                        <m:chr m:val="∫"/>
                        <m:subHide m:val="1"/>
                        <m:supHide m:val="1"/>
                      </m:naryPr>
                      <m:sub/>
                      <m:sup/>
                      <m:e/>
                    </m:nary>
                  </m:oMath>
                </a14:m>
              </a:p>
            </p:txBody>
          </p:sp>
        </mc:Choice>
        <mc:Fallback/>
      </mc:AlternateContent>
      <p:sp>
        <p:nvSpPr>
          <p:cNvPr id="124" name="Oval 13"/>
          <p:cNvSpPr/>
          <p:nvPr/>
        </p:nvSpPr>
        <p:spPr>
          <a:xfrm>
            <a:off x="2014560" y="1701720"/>
            <a:ext cx="431640" cy="432000"/>
          </a:xfrm>
          <a:prstGeom prst="ellipse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14"/>
          <p:cNvSpPr/>
          <p:nvPr/>
        </p:nvSpPr>
        <p:spPr>
          <a:xfrm>
            <a:off x="2951280" y="1557360"/>
            <a:ext cx="1726920" cy="71928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26" name="Object 15"/>
              <p:cNvSpPr txBox="1"/>
              <p:nvPr/>
            </p:nvSpPr>
            <p:spPr>
              <a:xfrm>
                <a:off x="3022560" y="1701720"/>
                <a:ext cx="1639800" cy="439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[</m:t>
                    </m:r>
                    <m:r>
                      <m:t xml:space="preserve">M</m:t>
                    </m:r>
                    <m:r>
                      <m:t xml:space="preserve">+</m:t>
                    </m:r>
                    <m:r>
                      <m:t xml:space="preserve">A</m:t>
                    </m:r>
                    <m:r>
                      <m:t xml:space="preserve">(</m:t>
                    </m:r>
                    <m:r>
                      <m:t xml:space="preserve">∞</m:t>
                    </m:r>
                    <m:r>
                      <m:t xml:space="preserve">)</m:t>
                    </m:r>
                    <m:sSup>
                      <m:e>
                        <m:r>
                          <m:t xml:space="preserve">]</m:t>
                        </m:r>
                      </m:e>
                      <m:sup>
                        <m:r>
                          <m:t xml:space="preserve">−</m:t>
                        </m:r>
                        <m:r>
                          <m:t xml:space="preserve">1</m:t>
                        </m:r>
                      </m:sup>
                    </m:sSup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27" name="Object 19"/>
              <p:cNvSpPr txBox="1"/>
              <p:nvPr/>
            </p:nvSpPr>
            <p:spPr>
              <a:xfrm>
                <a:off x="4029120" y="4078440"/>
                <a:ext cx="471600" cy="507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G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28" name="Rectangle 21"/>
          <p:cNvSpPr/>
          <p:nvPr/>
        </p:nvSpPr>
        <p:spPr>
          <a:xfrm>
            <a:off x="3886200" y="4005360"/>
            <a:ext cx="792000" cy="718920"/>
          </a:xfrm>
          <a:prstGeom prst="rect">
            <a:avLst/>
          </a:prstGeom>
          <a:noFill/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Line 22"/>
          <p:cNvSpPr/>
          <p:nvPr/>
        </p:nvSpPr>
        <p:spPr>
          <a:xfrm>
            <a:off x="2446200" y="1917720"/>
            <a:ext cx="50508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Line 23"/>
          <p:cNvSpPr/>
          <p:nvPr/>
        </p:nvSpPr>
        <p:spPr>
          <a:xfrm>
            <a:off x="4678200" y="1917720"/>
            <a:ext cx="50508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Line 24"/>
          <p:cNvSpPr/>
          <p:nvPr/>
        </p:nvSpPr>
        <p:spPr>
          <a:xfrm>
            <a:off x="5975280" y="1917720"/>
            <a:ext cx="50472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Line 25"/>
          <p:cNvSpPr/>
          <p:nvPr/>
        </p:nvSpPr>
        <p:spPr>
          <a:xfrm>
            <a:off x="7270920" y="1917720"/>
            <a:ext cx="50472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Line 26"/>
          <p:cNvSpPr/>
          <p:nvPr/>
        </p:nvSpPr>
        <p:spPr>
          <a:xfrm flipH="1" flipV="1">
            <a:off x="2374920" y="2133720"/>
            <a:ext cx="216000" cy="28728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Line 27"/>
          <p:cNvSpPr/>
          <p:nvPr/>
        </p:nvSpPr>
        <p:spPr>
          <a:xfrm>
            <a:off x="2590920" y="2421000"/>
            <a:ext cx="0" cy="79200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Line 28"/>
          <p:cNvSpPr/>
          <p:nvPr/>
        </p:nvSpPr>
        <p:spPr>
          <a:xfrm>
            <a:off x="2590920" y="3213000"/>
            <a:ext cx="431640" cy="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Line 29"/>
          <p:cNvSpPr/>
          <p:nvPr/>
        </p:nvSpPr>
        <p:spPr>
          <a:xfrm flipV="1">
            <a:off x="1870200" y="2133360"/>
            <a:ext cx="215640" cy="21564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Line 30"/>
          <p:cNvSpPr/>
          <p:nvPr/>
        </p:nvSpPr>
        <p:spPr>
          <a:xfrm flipH="1">
            <a:off x="1870200" y="4365720"/>
            <a:ext cx="2016000" cy="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Line 31"/>
          <p:cNvSpPr/>
          <p:nvPr/>
        </p:nvSpPr>
        <p:spPr>
          <a:xfrm flipV="1">
            <a:off x="1870200" y="2349000"/>
            <a:ext cx="0" cy="201636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Line 32"/>
          <p:cNvSpPr/>
          <p:nvPr/>
        </p:nvSpPr>
        <p:spPr>
          <a:xfrm>
            <a:off x="6191280" y="1917720"/>
            <a:ext cx="0" cy="129528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Line 33"/>
          <p:cNvSpPr/>
          <p:nvPr/>
        </p:nvSpPr>
        <p:spPr>
          <a:xfrm flipH="1">
            <a:off x="5254560" y="3213000"/>
            <a:ext cx="93672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Line 34"/>
          <p:cNvSpPr/>
          <p:nvPr/>
        </p:nvSpPr>
        <p:spPr>
          <a:xfrm flipH="1">
            <a:off x="4677840" y="4365720"/>
            <a:ext cx="273708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Line 35"/>
          <p:cNvSpPr/>
          <p:nvPr/>
        </p:nvSpPr>
        <p:spPr>
          <a:xfrm>
            <a:off x="7415280" y="1917720"/>
            <a:ext cx="0" cy="2448000"/>
          </a:xfrm>
          <a:prstGeom prst="line">
            <a:avLst/>
          </a:prstGeom>
          <a:ln w="190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3" name="Object 36"/>
              <p:cNvSpPr txBox="1"/>
              <p:nvPr/>
            </p:nvSpPr>
            <p:spPr>
              <a:xfrm>
                <a:off x="2446200" y="2133720"/>
                <a:ext cx="289080" cy="15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−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44" name="Object 37"/>
              <p:cNvSpPr txBox="1"/>
              <p:nvPr/>
            </p:nvSpPr>
            <p:spPr>
              <a:xfrm>
                <a:off x="1943280" y="2276640"/>
                <a:ext cx="287280" cy="156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−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45" name="Line 38"/>
          <p:cNvSpPr/>
          <p:nvPr/>
        </p:nvSpPr>
        <p:spPr>
          <a:xfrm>
            <a:off x="1509840" y="1917720"/>
            <a:ext cx="504720" cy="0"/>
          </a:xfrm>
          <a:prstGeom prst="line">
            <a:avLst/>
          </a:prstGeom>
          <a:ln w="19080">
            <a:solidFill>
              <a:srgbClr val="000000"/>
            </a:solidFill>
            <a:miter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46" name="Object 39"/>
              <p:cNvSpPr txBox="1"/>
              <p:nvPr/>
            </p:nvSpPr>
            <p:spPr>
              <a:xfrm>
                <a:off x="790560" y="1484280"/>
                <a:ext cx="544680" cy="6523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τ</m:t>
                        </m:r>
                      </m:e>
                      <m:sub>
                        <m:r>
                          <m:t xml:space="preserve">w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47" name="Object 40"/>
              <p:cNvSpPr txBox="1"/>
              <p:nvPr/>
            </p:nvSpPr>
            <p:spPr>
              <a:xfrm>
                <a:off x="6262560" y="2492280"/>
                <a:ext cx="325440" cy="652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˙"/>
                      </m:accPr>
                      <m:e>
                        <m:r>
                          <m:t xml:space="preserve">ξ</m:t>
                        </m:r>
                      </m:e>
                    </m:acc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48" name="Object 41"/>
              <p:cNvSpPr txBox="1"/>
              <p:nvPr/>
            </p:nvSpPr>
            <p:spPr>
              <a:xfrm>
                <a:off x="7846920" y="1593720"/>
                <a:ext cx="325440" cy="579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ξ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49" name="Object 42"/>
              <p:cNvSpPr txBox="1"/>
              <p:nvPr/>
            </p:nvSpPr>
            <p:spPr>
              <a:xfrm>
                <a:off x="1798560" y="1628640"/>
                <a:ext cx="254160" cy="254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+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50" name="Object 43"/>
              <p:cNvSpPr txBox="1"/>
              <p:nvPr/>
            </p:nvSpPr>
            <p:spPr>
              <a:xfrm>
                <a:off x="2085840" y="2709720"/>
                <a:ext cx="506520" cy="615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μ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51" name="Object 44"/>
              <p:cNvSpPr txBox="1"/>
              <p:nvPr/>
            </p:nvSpPr>
            <p:spPr>
              <a:xfrm>
                <a:off x="755640" y="4941720"/>
                <a:ext cx="2781360" cy="954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μ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  <m:r>
                      <m:t xml:space="preserve">=</m:t>
                    </m:r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r>
                          <m:t xml:space="preserve">K</m:t>
                        </m:r>
                        <m:r>
                          <m:t xml:space="preserve">(</m:t>
                        </m:r>
                        <m:r>
                          <m:t xml:space="preserve">t</m:t>
                        </m:r>
                        <m:r>
                          <m:t xml:space="preserve">−</m:t>
                        </m:r>
                        <m:r>
                          <m:t xml:space="preserve">τ</m:t>
                        </m:r>
                        <m:r>
                          <m:t xml:space="preserve">)</m:t>
                        </m:r>
                        <m:r>
                          <m:t xml:space="preserve"> </m:t>
                        </m:r>
                        <m:acc>
                          <m:accPr>
                            <m:chr m:val="˙"/>
                          </m:accPr>
                          <m:e>
                            <m:r>
                              <m:t xml:space="preserve">ξ</m:t>
                            </m:r>
                          </m:e>
                        </m:acc>
                        <m:r>
                          <m:t xml:space="preserve">(</m:t>
                        </m:r>
                        <m:r>
                          <m:t xml:space="preserve">τ</m:t>
                        </m:r>
                        <m:r>
                          <m:t xml:space="preserve">)</m:t>
                        </m:r>
                        <m:r>
                          <m:t xml:space="preserve"> </m:t>
                        </m:r>
                        <m:r>
                          <m:t xml:space="preserve">dτ</m:t>
                        </m:r>
                      </m:e>
                    </m:nary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52" name="Object 45"/>
              <p:cNvSpPr txBox="1"/>
              <p:nvPr/>
            </p:nvSpPr>
            <p:spPr>
              <a:xfrm>
                <a:off x="4716360" y="5013360"/>
                <a:ext cx="1727280" cy="938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eqArr>
                      <m:e>
                        <m:acc>
                          <m:accPr>
                            <m:chr m:val="˙"/>
                          </m:accPr>
                          <m:e>
                            <m:r>
                              <m:t xml:space="preserve">x</m:t>
                            </m:r>
                          </m:e>
                        </m:acc>
                        <m:r>
                          <m:t xml:space="preserve">=</m:t>
                        </m:r>
                        <m:sSub>
                          <m:e>
                            <m:r>
                              <m:t xml:space="preserve">A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  <m:r>
                          <m:t xml:space="preserve">x</m:t>
                        </m:r>
                        <m:r>
                          <m:t xml:space="preserve">+</m:t>
                        </m:r>
                        <m:sSub>
                          <m:e>
                            <m:r>
                              <m:t xml:space="preserve">B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  <m:acc>
                          <m:accPr>
                            <m:chr m:val="˙"/>
                          </m:accPr>
                          <m:e>
                            <m:r>
                              <m:t xml:space="preserve">ξ</m:t>
                            </m:r>
                          </m:e>
                        </m:acc>
                      </m:e>
                      <m:e>
                        <m:sSub>
                          <m:e>
                            <m:r>
                              <m:t xml:space="preserve">μ</m:t>
                            </m:r>
                          </m:e>
                          <m:sub>
                            <m:r>
                              <m:t xml:space="preserve">r</m:t>
                            </m:r>
                          </m:sub>
                        </m:sSub>
                        <m:r>
                          <m:t xml:space="preserve">=</m:t>
                        </m:r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c</m:t>
                            </m:r>
                          </m:sub>
                        </m:sSub>
                        <m:r>
                          <m:t xml:space="preserve">x</m:t>
                        </m:r>
                      </m:e>
                    </m:eqAr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53" name="Object 47"/>
              <p:cNvSpPr txBox="1"/>
              <p:nvPr/>
            </p:nvSpPr>
            <p:spPr>
              <a:xfrm>
                <a:off x="3780000" y="5157720"/>
                <a:ext cx="647640" cy="4860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⇔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54" name="Text Box 48"/>
          <p:cNvSpPr/>
          <p:nvPr/>
        </p:nvSpPr>
        <p:spPr>
          <a:xfrm>
            <a:off x="7020000" y="4941720"/>
            <a:ext cx="194472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Note that </a:t>
            </a:r>
            <a:r>
              <a:rPr b="1" lang="en-AU" sz="1800" spc="-1" strike="noStrike">
                <a:solidFill>
                  <a:srgbClr val="000000"/>
                </a:solidFill>
                <a:latin typeface="Times New Roman"/>
              </a:rPr>
              <a:t>D</a:t>
            </a:r>
            <a:r>
              <a:rPr b="0" lang="en-AU" sz="1800" spc="-1" strike="noStrike">
                <a:solidFill>
                  <a:srgbClr val="000000"/>
                </a:solidFill>
                <a:latin typeface="Times New Roman"/>
              </a:rPr>
              <a:t>c=</a:t>
            </a:r>
            <a:r>
              <a:rPr b="1" lang="en-AU" sz="1800" spc="-1" strike="noStrike">
                <a:solidFill>
                  <a:srgbClr val="000000"/>
                </a:solidFill>
                <a:latin typeface="Times New Roman"/>
              </a:rPr>
              <a:t>0</a:t>
            </a: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 due to the relative degree 1.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Line 49"/>
          <p:cNvSpPr/>
          <p:nvPr/>
        </p:nvSpPr>
        <p:spPr>
          <a:xfrm flipH="1">
            <a:off x="6227280" y="5300640"/>
            <a:ext cx="792360" cy="360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9F56FB-6CDA-4971-A6C9-C38175DF5470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6765441-80A2-4E53-99BB-CF3DB5A5A23F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59" name="Object 2"/>
              <p:cNvSpPr txBox="1"/>
              <p:nvPr/>
            </p:nvSpPr>
            <p:spPr>
              <a:xfrm>
                <a:off x="468360" y="4699080"/>
                <a:ext cx="1396800" cy="379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A</m:t>
                    </m:r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  <m:r>
                      <m:t xml:space="preserve">,</m:t>
                    </m:r>
                    <m:r>
                      <m:t xml:space="preserve">B</m:t>
                    </m:r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68360" y="26028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Convolution replacement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395280" y="1197000"/>
            <a:ext cx="8229600" cy="129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The convolution replacement can be posed in different ways, which in “theory” should provide the same answer: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62" name="Object 5"/>
              <p:cNvSpPr txBox="1"/>
              <p:nvPr/>
            </p:nvSpPr>
            <p:spPr>
              <a:xfrm>
                <a:off x="755640" y="2998800"/>
                <a:ext cx="758880" cy="419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B</m:t>
                    </m:r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63" name="Object 6"/>
              <p:cNvSpPr txBox="1"/>
              <p:nvPr/>
            </p:nvSpPr>
            <p:spPr>
              <a:xfrm>
                <a:off x="4067280" y="2998800"/>
                <a:ext cx="685800" cy="422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64" name="Object 7"/>
              <p:cNvSpPr txBox="1"/>
              <p:nvPr/>
            </p:nvSpPr>
            <p:spPr>
              <a:xfrm>
                <a:off x="2987640" y="4665600"/>
                <a:ext cx="1079640" cy="4669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jω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65" name="Object 8"/>
              <p:cNvSpPr txBox="1"/>
              <p:nvPr/>
            </p:nvSpPr>
            <p:spPr>
              <a:xfrm>
                <a:off x="2484360" y="2925720"/>
                <a:ext cx="727200" cy="582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⇒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66" name="Object 9"/>
              <p:cNvSpPr txBox="1"/>
              <p:nvPr/>
            </p:nvSpPr>
            <p:spPr>
              <a:xfrm>
                <a:off x="6626160" y="2709720"/>
                <a:ext cx="1438200" cy="1106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acc>
                                    <m:accPr>
                                      <m:chr m:val="^"/>
                                    </m:accPr>
                                    <m:e>
                                      <m:r>
                                        <m:t xml:space="preserve">A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acc>
                                    <m:accPr>
                                      <m:chr m:val="^"/>
                                    </m:accPr>
                                    <m:e>
                                      <m:r>
                                        <m:t xml:space="preserve">B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acc>
                                    <m:accPr>
                                      <m:chr m:val="^"/>
                                    </m:accPr>
                                    <m:e>
                                      <m:r>
                                        <m:t xml:space="preserve">C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acc>
                                    <m:accPr>
                                      <m:chr m:val="^"/>
                                    </m:accPr>
                                    <m:e>
                                      <m:r>
                                        <m:t xml:space="preserve">D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67" name="Object 10"/>
              <p:cNvSpPr txBox="1"/>
              <p:nvPr/>
            </p:nvSpPr>
            <p:spPr>
              <a:xfrm>
                <a:off x="5435640" y="2925720"/>
                <a:ext cx="727200" cy="582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⇒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68" name="Object 11"/>
              <p:cNvSpPr txBox="1"/>
              <p:nvPr/>
            </p:nvSpPr>
            <p:spPr>
              <a:xfrm>
                <a:off x="5219640" y="4627440"/>
                <a:ext cx="817560" cy="554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acc>
                      <m:accPr>
                        <m:chr m:val="^"/>
                      </m:accPr>
                      <m:e>
                        <m:r>
                          <m:t xml:space="preserve">K</m:t>
                        </m:r>
                      </m:e>
                    </m:acc>
                    <m:r>
                      <m:t xml:space="preserve">(</m:t>
                    </m:r>
                    <m:r>
                      <m:t xml:space="preserve">s</m:t>
                    </m:r>
                    <m:r>
                      <m:t xml:space="preserve">)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69" name="Object 12"/>
              <p:cNvSpPr txBox="1"/>
              <p:nvPr/>
            </p:nvSpPr>
            <p:spPr>
              <a:xfrm>
                <a:off x="7236000" y="4267080"/>
                <a:ext cx="1438200" cy="1106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</m:dPr>
                      <m:e>
                        <m:m>
                          <m:mr>
                            <m:e>
                              <m:sSub>
                                <m:e>
                                  <m:acc>
                                    <m:accPr>
                                      <m:chr m:val="^"/>
                                    </m:accPr>
                                    <m:e>
                                      <m:r>
                                        <m:t xml:space="preserve">A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acc>
                                    <m:accPr>
                                      <m:chr m:val="^"/>
                                    </m:accPr>
                                    <m:e>
                                      <m:r>
                                        <m:t xml:space="preserve">B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e>
                                  <m:acc>
                                    <m:accPr>
                                      <m:chr m:val="^"/>
                                    </m:accPr>
                                    <m:e>
                                      <m:r>
                                        <m:t xml:space="preserve">C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</m:e>
                            <m:e>
                              <m:sSub>
                                <m:e>
                                  <m:acc>
                                    <m:accPr>
                                      <m:chr m:val="^"/>
                                    </m:accPr>
                                    <m:e>
                                      <m:r>
                                        <m:t xml:space="preserve">D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t xml:space="preserve">c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0" name="Object 13"/>
              <p:cNvSpPr txBox="1"/>
              <p:nvPr/>
            </p:nvSpPr>
            <p:spPr>
              <a:xfrm>
                <a:off x="6227640" y="4627440"/>
                <a:ext cx="727200" cy="582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⇒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1" name="Object 14"/>
              <p:cNvSpPr txBox="1"/>
              <p:nvPr/>
            </p:nvSpPr>
            <p:spPr>
              <a:xfrm>
                <a:off x="4284720" y="4627440"/>
                <a:ext cx="726840" cy="582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⇒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72" name="Object 15"/>
              <p:cNvSpPr txBox="1"/>
              <p:nvPr/>
            </p:nvSpPr>
            <p:spPr>
              <a:xfrm>
                <a:off x="2052720" y="4627440"/>
                <a:ext cx="726840" cy="582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⇒</m:t>
                    </m:r>
                  </m:oMath>
                </a14:m>
              </a:p>
            </p:txBody>
          </p:sp>
        </mc:Choice>
        <mc:Fallback/>
      </mc:AlternateContent>
      <p:sp>
        <p:nvSpPr>
          <p:cNvPr id="173" name="Rectangle 16"/>
          <p:cNvSpPr/>
          <p:nvPr/>
        </p:nvSpPr>
        <p:spPr>
          <a:xfrm>
            <a:off x="4790160" y="2349360"/>
            <a:ext cx="1576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Time-domain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identification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ectangle 17"/>
          <p:cNvSpPr/>
          <p:nvPr/>
        </p:nvSpPr>
        <p:spPr>
          <a:xfrm>
            <a:off x="3709800" y="3979800"/>
            <a:ext cx="2149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Frequency-domain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identification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18"/>
          <p:cNvSpPr/>
          <p:nvPr/>
        </p:nvSpPr>
        <p:spPr>
          <a:xfrm>
            <a:off x="539640" y="5661000"/>
            <a:ext cx="74170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In practice one method can be more favourable than the other.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ectangle 19"/>
          <p:cNvSpPr/>
          <p:nvPr/>
        </p:nvSpPr>
        <p:spPr>
          <a:xfrm>
            <a:off x="6013440" y="3933720"/>
            <a:ext cx="12855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Model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conversion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AD1D26-03C9-41E1-ACB4-82F3FF903E83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BFBA647-C80A-467A-9287-729AD4BE8A76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Identification problems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468360" y="126828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Different proposals have appeared in the literature: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996600"/>
                </a:solidFill>
                <a:latin typeface="Arial"/>
              </a:rPr>
              <a:t>Time-domain identification</a:t>
            </a: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LS-fitting of the impulse response (Yu &amp; Falnes, 1998)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Realization theory (Kristiansen &amp; Egeland, 2003)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996600"/>
                </a:solidFill>
                <a:latin typeface="Arial"/>
              </a:rPr>
              <a:t>Frequency-domain identification</a:t>
            </a: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LS-fitting of the frequency response (Jeffreys, 1984),(Damaren 2000).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LS-fitting of added mass and damping (Soding 1982), (Xia et. al 1998), (Sutulo &amp; Guedes-Soares 2006).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669960" indent="-32544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013F08-7290-4786-9686-7E3C00EF55B8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2771640" y="6243480"/>
            <a:ext cx="3600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FB84C2-9774-48DD-B89F-E36E1DC82028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84000" y="1523520"/>
            <a:ext cx="8064360" cy="175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5000" spc="-1" strike="noStrike">
                <a:solidFill>
                  <a:srgbClr val="006633"/>
                </a:solidFill>
                <a:latin typeface="Tahoma"/>
              </a:rPr>
              <a:t>Time-domain identification</a:t>
            </a:r>
            <a:endParaRPr b="0" lang="en-US" sz="50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subTitle"/>
          </p:nvPr>
        </p:nvSpPr>
        <p:spPr>
          <a:xfrm>
            <a:off x="1981080" y="3962520"/>
            <a:ext cx="6553440" cy="17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From </a:t>
            </a:r>
            <a:r>
              <a:rPr b="1" lang="en-AU" sz="2800" spc="-1" strike="noStrike">
                <a:solidFill>
                  <a:srgbClr val="000000"/>
                </a:solidFill>
                <a:latin typeface="Times New Roman"/>
              </a:rPr>
              <a:t>K</a:t>
            </a:r>
            <a:r>
              <a:rPr b="0" lang="en-AU" sz="2800" spc="-1" strike="noStrike">
                <a:solidFill>
                  <a:srgbClr val="000000"/>
                </a:solidFill>
                <a:latin typeface="Times New Roman"/>
              </a:rPr>
              <a:t>(</a:t>
            </a:r>
            <a:r>
              <a:rPr b="0" i="1" lang="en-AU" sz="2800" spc="-1" strike="noStrike">
                <a:solidFill>
                  <a:srgbClr val="000000"/>
                </a:solidFill>
                <a:latin typeface="Times New Roman"/>
              </a:rPr>
              <a:t>t</a:t>
            </a:r>
            <a:r>
              <a:rPr b="0" lang="en-AU" sz="2800" spc="-1" strike="noStrike">
                <a:solidFill>
                  <a:srgbClr val="000000"/>
                </a:solidFill>
                <a:latin typeface="Times New Roman"/>
              </a:rPr>
              <a:t>)</a:t>
            </a: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 to state-space models.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A0A58B-6501-48EE-B105-D8D512BAC523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B49B58-3F4C-4535-870C-9894CFF3450A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800" spc="-1" strike="noStrike">
                <a:solidFill>
                  <a:srgbClr val="006633"/>
                </a:solidFill>
                <a:latin typeface="Tahoma"/>
              </a:rPr>
              <a:t>Numerical computations</a:t>
            </a:r>
            <a:endParaRPr b="0" lang="en-US" sz="3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68360" y="1197000"/>
            <a:ext cx="8075520" cy="489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400" spc="-1" strike="noStrike">
                <a:solidFill>
                  <a:srgbClr val="996600"/>
                </a:solidFill>
                <a:latin typeface="Arial"/>
              </a:rPr>
              <a:t>A key issue for time-domain identification is to start with a good impulse response computed from the damping.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Numerical codes can only provide accurate computations of added mass and damping up to a certain frequency, say </a:t>
            </a:r>
            <a:r>
              <a:rPr b="0" lang="en-AU" sz="2000" spc="-1" strike="noStrike">
                <a:solidFill>
                  <a:srgbClr val="000000"/>
                </a:solidFill>
                <a:latin typeface="Symbol"/>
                <a:ea typeface="Symbol"/>
              </a:rPr>
              <a:t>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This introduces an error in the computation of the retardation functions: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2" name="Object 4"/>
              <p:cNvSpPr txBox="1"/>
              <p:nvPr/>
            </p:nvSpPr>
            <p:spPr>
              <a:xfrm>
                <a:off x="1332000" y="4149720"/>
                <a:ext cx="6396120" cy="719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,</m:t>
                    </m:r>
                    <m:r>
                      <m:t xml:space="preserve">U</m:t>
                    </m:r>
                    <m:r>
                      <m:t xml:space="preserve">)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π</m:t>
                        </m:r>
                      </m:den>
                    </m:f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Ω</m:t>
                        </m:r>
                      </m:sup>
                      <m:e>
                        <m:r>
                          <m:t xml:space="preserve">[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−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U</m:t>
                        </m:r>
                        <m:r>
                          <m:t xml:space="preserve">)</m:t>
                        </m:r>
                        <m:r>
                          <m:t xml:space="preserve">]</m:t>
                        </m:r>
                      </m:e>
                    </m:nary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(</m:t>
                    </m:r>
                    <m:r>
                      <m:t xml:space="preserve">ωt</m:t>
                    </m:r>
                    <m:r>
                      <m:t xml:space="preserve">)</m:t>
                    </m:r>
                    <m:r>
                      <m:t xml:space="preserve">dω</m:t>
                    </m:r>
                    <m:r>
                      <m:t xml:space="preserve">+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π</m:t>
                        </m:r>
                      </m:den>
                    </m:f>
                    <m:nary>
                      <m:naryPr>
                        <m:chr m:val="∫"/>
                      </m:naryPr>
                      <m:sub>
                        <m:r>
                          <m:t xml:space="preserve">Ω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r>
                          <m:t xml:space="preserve">[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−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U</m:t>
                        </m:r>
                        <m:r>
                          <m:t xml:space="preserve">)</m:t>
                        </m:r>
                        <m:r>
                          <m:t xml:space="preserve">]</m:t>
                        </m:r>
                      </m:e>
                    </m:nary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(</m:t>
                    </m:r>
                    <m:r>
                      <m:t xml:space="preserve">ωt</m:t>
                    </m:r>
                    <m:r>
                      <m:t xml:space="preserve">)</m:t>
                    </m:r>
                    <m:r>
                      <m:t xml:space="preserve">dω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93" name="Object 5"/>
              <p:cNvSpPr txBox="1"/>
              <p:nvPr/>
            </p:nvSpPr>
            <p:spPr>
              <a:xfrm>
                <a:off x="900000" y="5300640"/>
                <a:ext cx="3576600" cy="719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,</m:t>
                    </m:r>
                    <m:r>
                      <m:t xml:space="preserve">U</m:t>
                    </m:r>
                    <m:r>
                      <m:t xml:space="preserve">)</m:t>
                    </m:r>
                    <m:r>
                      <m:t xml:space="preserve">≈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π</m:t>
                        </m:r>
                      </m:den>
                    </m:f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Ω</m:t>
                        </m:r>
                      </m:sup>
                      <m:e>
                        <m:r>
                          <m:t xml:space="preserve">[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−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U</m:t>
                        </m:r>
                        <m:r>
                          <m:t xml:space="preserve">)</m:t>
                        </m:r>
                        <m:r>
                          <m:t xml:space="preserve">]</m:t>
                        </m:r>
                      </m:e>
                    </m:nary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(</m:t>
                    </m:r>
                    <m:r>
                      <m:t xml:space="preserve">ωt</m:t>
                    </m:r>
                    <m:r>
                      <m:t xml:space="preserve">)</m:t>
                    </m:r>
                    <m:r>
                      <m:t xml:space="preserve">dω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194" name="Object 6"/>
              <p:cNvSpPr txBox="1"/>
              <p:nvPr/>
            </p:nvSpPr>
            <p:spPr>
              <a:xfrm>
                <a:off x="4716360" y="5300640"/>
                <a:ext cx="3973680" cy="719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Error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,</m:t>
                    </m:r>
                    <m:r>
                      <m:t xml:space="preserve">U</m:t>
                    </m:r>
                    <m:r>
                      <m:t xml:space="preserve">)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π</m:t>
                        </m:r>
                      </m:den>
                    </m:f>
                    <m:nary>
                      <m:naryPr>
                        <m:chr m:val="∫"/>
                      </m:naryPr>
                      <m:sub>
                        <m:r>
                          <m:t xml:space="preserve">Ω</m:t>
                        </m:r>
                      </m:sub>
                      <m:sup>
                        <m:r>
                          <m:t xml:space="preserve">∞</m:t>
                        </m:r>
                      </m:sup>
                      <m:e>
                        <m:r>
                          <m:t xml:space="preserve">[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  <m:r>
                          <m:t xml:space="preserve">−</m:t>
                        </m:r>
                        <m:r>
                          <m:t xml:space="preserve">B</m:t>
                        </m:r>
                        <m:r>
                          <m:t xml:space="preserve">(</m:t>
                        </m:r>
                        <m:r>
                          <m:t xml:space="preserve">U</m:t>
                        </m:r>
                        <m:r>
                          <m:t xml:space="preserve">)</m:t>
                        </m:r>
                        <m:r>
                          <m:t xml:space="preserve">]</m:t>
                        </m:r>
                      </m:e>
                    </m:nary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(</m:t>
                    </m:r>
                    <m:r>
                      <m:t xml:space="preserve">ωt</m:t>
                    </m:r>
                    <m:r>
                      <m:t xml:space="preserve">)</m:t>
                    </m:r>
                    <m:r>
                      <m:t xml:space="preserve">dω</m:t>
                    </m:r>
                  </m:oMath>
                </a14:m>
              </a:p>
            </p:txBody>
          </p:sp>
        </mc:Choice>
        <mc:Fallback/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46DE43-F74B-475D-9B41-A2CBCFCD350D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824921-42C6-4EB6-A460-A367DDD7A732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1"/>
          <p:cNvSpPr>
            <a:spLocks noGrp="1"/>
          </p:cNvSpPr>
          <p:nvPr>
            <p:ph/>
          </p:nvPr>
        </p:nvSpPr>
        <p:spPr>
          <a:xfrm>
            <a:off x="468360" y="1268280"/>
            <a:ext cx="8075520" cy="93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In the limit at high frequency the following tendencies are observed for the 3D damping and added mass: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199" name="Object 3"/>
              <p:cNvSpPr txBox="1"/>
              <p:nvPr/>
            </p:nvSpPr>
            <p:spPr>
              <a:xfrm>
                <a:off x="971640" y="2637000"/>
                <a:ext cx="2987640" cy="758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B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ik</m:t>
                        </m:r>
                      </m:sub>
                    </m:sSub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  <m:r>
                      <m:t xml:space="preserve">∝</m:t>
                    </m:r>
                    <m:f>
                      <m:num>
                        <m:sSub>
                          <m:e>
                            <m:r>
                              <m:t xml:space="preserve">α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ik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m:t xml:space="preserve">ω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den>
                    </m:f>
                    <m:r>
                      <m:t xml:space="preserve"> </m:t>
                    </m:r>
                    <m:r>
                      <m:rPr>
                        <m:lit/>
                        <m:nor/>
                      </m:rPr>
                      <m:t xml:space="preserve">as</m:t>
                    </m:r>
                    <m:r>
                      <m:t xml:space="preserve"> </m:t>
                    </m:r>
                    <m:r>
                      <m:t xml:space="preserve">ω</m:t>
                    </m:r>
                    <m:r>
                      <m:t xml:space="preserve">→</m:t>
                    </m:r>
                    <m:r>
                      <m:t xml:space="preserve">∞</m:t>
                    </m:r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200" name="Object 4"/>
              <p:cNvSpPr txBox="1"/>
              <p:nvPr/>
            </p:nvSpPr>
            <p:spPr>
              <a:xfrm>
                <a:off x="4572000" y="2637000"/>
                <a:ext cx="4016520" cy="758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ik</m:t>
                        </m:r>
                      </m:sub>
                    </m:sSub>
                    <m:r>
                      <m:t xml:space="preserve">(</m:t>
                    </m:r>
                    <m:r>
                      <m:t xml:space="preserve">ω</m:t>
                    </m:r>
                    <m:r>
                      <m:t xml:space="preserve">)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A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ik</m:t>
                        </m:r>
                      </m:sub>
                    </m:sSub>
                    <m:r>
                      <m:t xml:space="preserve">(</m:t>
                    </m:r>
                    <m:r>
                      <m:t xml:space="preserve">∞</m:t>
                    </m:r>
                    <m:r>
                      <m:t xml:space="preserve">)</m:t>
                    </m:r>
                    <m:r>
                      <m:t xml:space="preserve">∝</m:t>
                    </m:r>
                    <m:f>
                      <m:num>
                        <m:sSub>
                          <m:e>
                            <m:r>
                              <m:t xml:space="preserve">β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ik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m:t xml:space="preserve">ω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</m:den>
                    </m:f>
                    <m:r>
                      <m:t xml:space="preserve"> </m:t>
                    </m:r>
                    <m:r>
                      <m:rPr>
                        <m:lit/>
                        <m:nor/>
                      </m:rPr>
                      <m:t xml:space="preserve">as</m:t>
                    </m:r>
                    <m:r>
                      <m:t xml:space="preserve"> </m:t>
                    </m:r>
                    <m:r>
                      <m:t xml:space="preserve">ω</m:t>
                    </m:r>
                    <m:r>
                      <m:t xml:space="preserve">→</m:t>
                    </m:r>
                    <m:r>
                      <m:t xml:space="preserve">∞</m:t>
                    </m:r>
                  </m:oMath>
                </a14:m>
              </a:p>
            </p:txBody>
          </p:sp>
        </mc:Choice>
        <mc:Fallback/>
      </mc:AlternateContent>
      <p:sp>
        <p:nvSpPr>
          <p:cNvPr id="201" name="Rectangle 5"/>
          <p:cNvSpPr/>
          <p:nvPr/>
        </p:nvSpPr>
        <p:spPr>
          <a:xfrm>
            <a:off x="539640" y="3860640"/>
            <a:ext cx="7993080" cy="22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996600"/>
                </a:solidFill>
                <a:latin typeface="Arial"/>
              </a:rPr>
              <a:t>As commented by Damaren (2000), this seems at odds with what is generally stated in the hydrodynamic literature!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Note that there are no expansions involved to obtain these results, the only assumption is the linearity which results in a rational representation and the relative degree 1, which results from the integration of damping over the frequencies.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400" spc="-1" strike="noStrike">
                <a:solidFill>
                  <a:srgbClr val="006633"/>
                </a:solidFill>
                <a:latin typeface="Tahoma"/>
              </a:rPr>
              <a:t>High-frequency values of A(</a:t>
            </a:r>
            <a:r>
              <a:rPr b="0" lang="en-AU" sz="3400" spc="-1" strike="noStrike">
                <a:solidFill>
                  <a:srgbClr val="006633"/>
                </a:solidFill>
                <a:latin typeface="Symbol"/>
                <a:ea typeface="Symbol"/>
              </a:rPr>
              <a:t></a:t>
            </a:r>
            <a:r>
              <a:rPr b="0" lang="en-AU" sz="3400" spc="-1" strike="noStrike">
                <a:solidFill>
                  <a:srgbClr val="006633"/>
                </a:solidFill>
                <a:latin typeface="Tahoma"/>
              </a:rPr>
              <a:t>) and B(</a:t>
            </a:r>
            <a:r>
              <a:rPr b="0" lang="en-AU" sz="3400" spc="-1" strike="noStrike">
                <a:solidFill>
                  <a:srgbClr val="006633"/>
                </a:solidFill>
                <a:latin typeface="Symbol"/>
                <a:ea typeface="Symbol"/>
              </a:rPr>
              <a:t></a:t>
            </a:r>
            <a:r>
              <a:rPr b="0" lang="en-AU" sz="3400" spc="-1" strike="noStrike">
                <a:solidFill>
                  <a:srgbClr val="006633"/>
                </a:solidFill>
                <a:latin typeface="Tahoma"/>
              </a:rPr>
              <a:t>)</a:t>
            </a:r>
            <a:endParaRPr b="0" lang="en-US" sz="3400" spc="-1" strike="noStrike">
              <a:solidFill>
                <a:srgbClr val="006633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10077F-F7AC-4DC2-AFCE-3DA8794D8C58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AE0318-C0FC-4C2A-81C8-985F3D3CD56A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Picture 2" descr=""/>
          <p:cNvPicPr/>
          <p:nvPr/>
        </p:nvPicPr>
        <p:blipFill>
          <a:blip r:embed="rId1"/>
          <a:stretch/>
        </p:blipFill>
        <p:spPr>
          <a:xfrm>
            <a:off x="2771640" y="1557360"/>
            <a:ext cx="6269040" cy="2959200"/>
          </a:xfrm>
          <a:prstGeom prst="rect">
            <a:avLst/>
          </a:prstGeom>
          <a:ln w="0">
            <a:noFill/>
          </a:ln>
        </p:spPr>
      </p:pic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50752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Example Containership </a:t>
            </a:r>
            <a:r>
              <a:rPr b="0" lang="en-AU" sz="1800" spc="-1" strike="noStrike">
                <a:solidFill>
                  <a:srgbClr val="006633"/>
                </a:solidFill>
                <a:latin typeface="Tahoma"/>
              </a:rPr>
              <a:t>(Taghipour et al., 2007a)</a:t>
            </a:r>
            <a:endParaRPr b="0" lang="en-US" sz="1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08" name="Rectangle 4"/>
          <p:cNvSpPr/>
          <p:nvPr/>
        </p:nvSpPr>
        <p:spPr>
          <a:xfrm>
            <a:off x="539640" y="4365720"/>
            <a:ext cx="820764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The panel sizing was done to be able to compute frequencies up to 2.5 rad/s.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Rule of thumb</a:t>
            </a: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: characteristic panel length &lt; 1/8 min wave length (Faltinsen, 1993).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Picture 5" descr=""/>
          <p:cNvPicPr/>
          <p:nvPr/>
        </p:nvPicPr>
        <p:blipFill>
          <a:blip r:embed="rId2"/>
          <a:stretch/>
        </p:blipFill>
        <p:spPr>
          <a:xfrm>
            <a:off x="826920" y="1125360"/>
            <a:ext cx="2880000" cy="2373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B3CAA1-04F9-4B42-B568-9EACD0F68ED7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7433A61-4A67-481F-9E61-55E317EBEAD5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Numerical computations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214" name="Picture 3" descr=""/>
          <p:cNvPicPr/>
          <p:nvPr/>
        </p:nvPicPr>
        <p:blipFill>
          <a:blip r:embed="rId1"/>
          <a:stretch/>
        </p:blipFill>
        <p:spPr>
          <a:xfrm>
            <a:off x="7164360" y="476280"/>
            <a:ext cx="1622520" cy="1249200"/>
          </a:xfrm>
          <a:prstGeom prst="rect">
            <a:avLst/>
          </a:prstGeom>
          <a:ln w="0">
            <a:noFill/>
          </a:ln>
        </p:spPr>
      </p:pic>
      <p:sp>
        <p:nvSpPr>
          <p:cNvPr id="215" name="Rectangle 4"/>
          <p:cNvSpPr/>
          <p:nvPr/>
        </p:nvSpPr>
        <p:spPr>
          <a:xfrm>
            <a:off x="611280" y="981000"/>
            <a:ext cx="5832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Extending the damping with tail prop to 1/</a:t>
            </a:r>
            <a:r>
              <a:rPr b="0" lang="en-AU" sz="1800" spc="-1" strike="noStrike">
                <a:solidFill>
                  <a:srgbClr val="000000"/>
                </a:solidFill>
                <a:latin typeface="Symbol"/>
                <a:ea typeface="Symbol"/>
              </a:rPr>
              <a:t></a:t>
            </a:r>
            <a:r>
              <a:rPr b="0" lang="en-AU" sz="1800" spc="-1" strike="noStrike" baseline="30000">
                <a:solidFill>
                  <a:srgbClr val="000000"/>
                </a:solidFill>
                <a:latin typeface="Arial"/>
              </a:rPr>
              <a:t>2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ectangle 5"/>
          <p:cNvSpPr/>
          <p:nvPr/>
        </p:nvSpPr>
        <p:spPr>
          <a:xfrm>
            <a:off x="6227640" y="2924280"/>
            <a:ext cx="237492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  <a:ea typeface="Arial"/>
              </a:rPr>
              <a:t>In this example, </a:t>
            </a: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the tail </a:t>
            </a:r>
            <a:r>
              <a:rPr b="0" lang="en-AU" sz="1800" spc="-1" strike="noStrike">
                <a:solidFill>
                  <a:srgbClr val="996600"/>
                </a:solidFill>
                <a:latin typeface="Symbol"/>
                <a:ea typeface="Symbol"/>
              </a:rPr>
              <a:t></a:t>
            </a: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/</a:t>
            </a:r>
            <a:r>
              <a:rPr b="0" lang="en-AU" sz="1800" spc="-1" strike="noStrike">
                <a:solidFill>
                  <a:srgbClr val="996600"/>
                </a:solidFill>
                <a:latin typeface="Symbol"/>
                <a:ea typeface="Symbol"/>
              </a:rPr>
              <a:t></a:t>
            </a:r>
            <a:r>
              <a:rPr b="0" lang="en-AU" sz="1800" spc="-1" strike="noStrike" baseline="30000">
                <a:solidFill>
                  <a:srgbClr val="996600"/>
                </a:solidFill>
                <a:latin typeface="Arial"/>
              </a:rPr>
              <a:t>2</a:t>
            </a: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 is not a very good for B35 and B53 (2.5rad/s is too low), whereas it is ok for B33 and B55.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Picture 6" descr=""/>
          <p:cNvPicPr/>
          <p:nvPr/>
        </p:nvPicPr>
        <p:blipFill>
          <a:blip r:embed="rId2"/>
          <a:stretch/>
        </p:blipFill>
        <p:spPr>
          <a:xfrm>
            <a:off x="611280" y="1413000"/>
            <a:ext cx="5197320" cy="444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D9C49C-2DC9-4B84-88BF-D2C26F5E2FC8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B9465C-44A0-4A5F-97AB-353EBA1C548B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Numerical computations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222" name="Picture 3" descr=""/>
          <p:cNvPicPr/>
          <p:nvPr/>
        </p:nvPicPr>
        <p:blipFill>
          <a:blip r:embed="rId1"/>
          <a:stretch/>
        </p:blipFill>
        <p:spPr>
          <a:xfrm>
            <a:off x="7236000" y="476280"/>
            <a:ext cx="1550880" cy="1193760"/>
          </a:xfrm>
          <a:prstGeom prst="rect">
            <a:avLst/>
          </a:prstGeom>
          <a:ln w="0">
            <a:noFill/>
          </a:ln>
        </p:spPr>
      </p:pic>
      <p:sp>
        <p:nvSpPr>
          <p:cNvPr id="223" name="Rectangle 4"/>
          <p:cNvSpPr/>
          <p:nvPr/>
        </p:nvSpPr>
        <p:spPr>
          <a:xfrm>
            <a:off x="611280" y="981000"/>
            <a:ext cx="58323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Picture 5" descr=""/>
          <p:cNvPicPr/>
          <p:nvPr/>
        </p:nvPicPr>
        <p:blipFill>
          <a:blip r:embed="rId2"/>
          <a:stretch/>
        </p:blipFill>
        <p:spPr>
          <a:xfrm>
            <a:off x="324000" y="981000"/>
            <a:ext cx="5832360" cy="499284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225" name="Object 6"/>
              <p:cNvSpPr txBox="1"/>
              <p:nvPr/>
            </p:nvSpPr>
            <p:spPr>
              <a:xfrm>
                <a:off x="6138720" y="2276640"/>
                <a:ext cx="2293920" cy="60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(</m:t>
                    </m:r>
                    <m:r>
                      <m:t xml:space="preserve">t</m:t>
                    </m:r>
                    <m:r>
                      <m:t xml:space="preserve">)</m:t>
                    </m:r>
                    <m:r>
                      <m:t xml:space="preserve">≈</m:t>
                    </m:r>
                    <m:f>
                      <m:num>
                        <m:r>
                          <m:t xml:space="preserve">2</m:t>
                        </m:r>
                      </m:num>
                      <m:den>
                        <m:r>
                          <m:t xml:space="preserve">π</m:t>
                        </m:r>
                      </m:den>
                    </m:f>
                    <m:nary>
                      <m:naryPr>
                        <m:chr m:val="∫"/>
                      </m:naryPr>
                      <m:sub>
                        <m:r>
                          <m:t xml:space="preserve">0</m:t>
                        </m:r>
                      </m:sub>
                      <m:sup>
                        <m:r>
                          <m:t xml:space="preserve">Ω</m:t>
                        </m:r>
                      </m:sup>
                      <m:e>
                        <m:sSub>
                          <m:e>
                            <m:r>
                              <m:t xml:space="preserve">B</m:t>
                            </m:r>
                          </m:e>
                          <m:sub>
                            <m:r>
                              <m:rPr>
                                <m:lit/>
                                <m:nor/>
                              </m:rPr>
                              <m:t xml:space="preserve">ext</m:t>
                            </m:r>
                          </m:sub>
                        </m:sSub>
                        <m:r>
                          <m:t xml:space="preserve">(</m:t>
                        </m:r>
                        <m:r>
                          <m:t xml:space="preserve">ω</m:t>
                        </m:r>
                        <m:r>
                          <m:t xml:space="preserve">)</m:t>
                        </m:r>
                      </m:e>
                    </m:nary>
                    <m:r>
                      <m:rPr>
                        <m:lit/>
                        <m:nor/>
                      </m:rPr>
                      <m:t xml:space="preserve">cos</m:t>
                    </m:r>
                    <m:r>
                      <m:t xml:space="preserve">(</m:t>
                    </m:r>
                    <m:r>
                      <m:t xml:space="preserve">ωt</m:t>
                    </m:r>
                    <m:r>
                      <m:t xml:space="preserve">)</m:t>
                    </m:r>
                    <m:r>
                      <m:t xml:space="preserve">dω</m:t>
                    </m:r>
                  </m:oMath>
                </a14:m>
              </a:p>
            </p:txBody>
          </p:sp>
        </mc:Choice>
        <mc:Fallback/>
      </mc:AlternateContent>
      <p:sp>
        <p:nvSpPr>
          <p:cNvPr id="226" name="Text Box 7"/>
          <p:cNvSpPr/>
          <p:nvPr/>
        </p:nvSpPr>
        <p:spPr>
          <a:xfrm>
            <a:off x="6156360" y="3068640"/>
            <a:ext cx="244800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Note the differences at t=0</a:t>
            </a:r>
            <a:r>
              <a:rPr b="0" lang="en-AU" sz="1800" spc="-1" strike="noStrike" baseline="30000">
                <a:solidFill>
                  <a:srgbClr val="000000"/>
                </a:solidFill>
                <a:latin typeface="Arial"/>
              </a:rPr>
              <a:t>+</a:t>
            </a: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, and the errors at different time instants.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Box 8"/>
          <p:cNvSpPr/>
          <p:nvPr/>
        </p:nvSpPr>
        <p:spPr>
          <a:xfrm>
            <a:off x="6156360" y="4365720"/>
            <a:ext cx="244800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When doing time-domain identification, it is important to start from a good approx of the retardation function!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4F88B6-C8FD-4D82-9ABD-70A6A3D26312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97C972-FF5A-4093-B2F3-CC17D080404D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Impulse response curve fitting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395280" y="1197000"/>
            <a:ext cx="8229600" cy="67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Given the SISO SS realization of order </a:t>
            </a:r>
            <a:r>
              <a:rPr b="0" i="1" lang="en-AU" sz="2200" spc="-1" strike="noStrike">
                <a:solidFill>
                  <a:srgbClr val="000000"/>
                </a:solidFill>
                <a:latin typeface="Times New Roman"/>
              </a:rPr>
              <a:t>n</a:t>
            </a: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Picture 4" descr=""/>
          <p:cNvPicPr/>
          <p:nvPr/>
        </p:nvPicPr>
        <p:blipFill>
          <a:blip r:embed="rId1"/>
          <a:stretch/>
        </p:blipFill>
        <p:spPr>
          <a:xfrm>
            <a:off x="2700360" y="1771560"/>
            <a:ext cx="4249800" cy="981000"/>
          </a:xfrm>
          <a:prstGeom prst="rect">
            <a:avLst/>
          </a:prstGeom>
          <a:ln w="0">
            <a:noFill/>
          </a:ln>
        </p:spPr>
      </p:pic>
      <p:sp>
        <p:nvSpPr>
          <p:cNvPr id="234" name="Rectangle 5"/>
          <p:cNvSpPr/>
          <p:nvPr/>
        </p:nvSpPr>
        <p:spPr>
          <a:xfrm>
            <a:off x="468360" y="2924280"/>
            <a:ext cx="822960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The parameters can be obtained from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5" name="Picture 6" descr=""/>
          <p:cNvPicPr/>
          <p:nvPr/>
        </p:nvPicPr>
        <p:blipFill>
          <a:blip r:embed="rId2"/>
          <a:stretch/>
        </p:blipFill>
        <p:spPr>
          <a:xfrm>
            <a:off x="2268360" y="3355920"/>
            <a:ext cx="4827600" cy="1741680"/>
          </a:xfrm>
          <a:prstGeom prst="rect">
            <a:avLst/>
          </a:prstGeom>
          <a:ln w="0">
            <a:noFill/>
          </a:ln>
        </p:spPr>
      </p:pic>
      <p:sp>
        <p:nvSpPr>
          <p:cNvPr id="236" name="Rectangle 7"/>
          <p:cNvSpPr/>
          <p:nvPr/>
        </p:nvSpPr>
        <p:spPr>
          <a:xfrm>
            <a:off x="468360" y="5373720"/>
            <a:ext cx="822960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5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996600"/>
                </a:solidFill>
                <a:latin typeface="Arial"/>
              </a:rPr>
              <a:t>The application of this method to marine structures was proposed by Yu and Falnes (1998). </a:t>
            </a:r>
            <a:endParaRPr b="1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5D3A878-0837-459B-8C93-842074386E9E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1FC1A0-DE72-4C7C-AB09-EF23862F4484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Impulse response curve fitting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468360" y="1413000"/>
            <a:ext cx="8424720" cy="468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It is hard to guess the order of the system by looking at the impulse response alone—one should start with lower order and increase it to improve the fit.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The LS-problem is non-linear in the parameters. This problem can be solved with Gaussian-Newton methods.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The Gaussian-Newton methods are known to work well if the parameters’ initial guess are close to the optimal parameters.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Since the initial value of the parameters is difficult to obtain from the impulse response, and these depends on the particular realization being chosen, the method is not very practical.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4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2FB74C-3F7C-46B7-9F7E-B5BE72AC7214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C22095-0473-408B-A9DE-8679AF943E55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Realization theory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468360" y="1125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A key result of realization theory is the following factorization (Ho and Kalman, 1966):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7" name="Picture 4" descr=""/>
          <p:cNvPicPr/>
          <p:nvPr/>
        </p:nvPicPr>
        <p:blipFill>
          <a:blip r:embed="rId1"/>
          <a:stretch/>
        </p:blipFill>
        <p:spPr>
          <a:xfrm>
            <a:off x="1979640" y="2205000"/>
            <a:ext cx="4943520" cy="3689280"/>
          </a:xfrm>
          <a:prstGeom prst="rect">
            <a:avLst/>
          </a:prstGeom>
          <a:ln w="0">
            <a:noFill/>
          </a:ln>
        </p:spPr>
      </p:pic>
      <p:sp>
        <p:nvSpPr>
          <p:cNvPr id="248" name="Rectangle 5"/>
          <p:cNvSpPr/>
          <p:nvPr/>
        </p:nvSpPr>
        <p:spPr>
          <a:xfrm>
            <a:off x="4644360" y="5516640"/>
            <a:ext cx="3166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Extended observability matrix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 6"/>
          <p:cNvSpPr/>
          <p:nvPr/>
        </p:nvSpPr>
        <p:spPr>
          <a:xfrm>
            <a:off x="5078160" y="4076640"/>
            <a:ext cx="3216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Extended controllability matrix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ectangle 7"/>
          <p:cNvSpPr/>
          <p:nvPr/>
        </p:nvSpPr>
        <p:spPr>
          <a:xfrm>
            <a:off x="5149080" y="2924280"/>
            <a:ext cx="353520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Hankel matrix of the impulse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response values (constant along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the anti-diagonals)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Line 8"/>
          <p:cNvSpPr/>
          <p:nvPr/>
        </p:nvSpPr>
        <p:spPr>
          <a:xfrm flipH="1">
            <a:off x="4932360" y="4437000"/>
            <a:ext cx="216000" cy="21600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Line 9"/>
          <p:cNvSpPr/>
          <p:nvPr/>
        </p:nvSpPr>
        <p:spPr>
          <a:xfrm flipH="1" flipV="1">
            <a:off x="3995280" y="5589360"/>
            <a:ext cx="576360" cy="144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Line 10"/>
          <p:cNvSpPr/>
          <p:nvPr/>
        </p:nvSpPr>
        <p:spPr>
          <a:xfrm flipH="1">
            <a:off x="4858920" y="3141720"/>
            <a:ext cx="289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A815D1-0933-4225-9692-AEDC068E5FD1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3DE1D8-622C-4D12-A9D4-49595FE08CFB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Realization theory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68360" y="126828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Kung’s Algorithm (Kung, 1978):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 4"/>
          <p:cNvSpPr/>
          <p:nvPr/>
        </p:nvSpPr>
        <p:spPr>
          <a:xfrm>
            <a:off x="5365080" y="3500280"/>
            <a:ext cx="323028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The number of significant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singular values give the order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of the system: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 5"/>
          <p:cNvSpPr/>
          <p:nvPr/>
        </p:nvSpPr>
        <p:spPr>
          <a:xfrm>
            <a:off x="5149440" y="2349360"/>
            <a:ext cx="3166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Singular value decomposition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Line 6"/>
          <p:cNvSpPr/>
          <p:nvPr/>
        </p:nvSpPr>
        <p:spPr>
          <a:xfrm flipH="1">
            <a:off x="4787640" y="3716280"/>
            <a:ext cx="360360" cy="730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26280" bIns="2628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Picture 7" descr=""/>
          <p:cNvPicPr/>
          <p:nvPr/>
        </p:nvPicPr>
        <p:blipFill>
          <a:blip r:embed="rId1"/>
          <a:stretch/>
        </p:blipFill>
        <p:spPr>
          <a:xfrm>
            <a:off x="2916360" y="2276640"/>
            <a:ext cx="1776240" cy="512640"/>
          </a:xfrm>
          <a:prstGeom prst="rect">
            <a:avLst/>
          </a:prstGeom>
          <a:ln w="0">
            <a:noFill/>
          </a:ln>
        </p:spPr>
      </p:pic>
      <p:pic>
        <p:nvPicPr>
          <p:cNvPr id="263" name="Picture 8" descr=""/>
          <p:cNvPicPr/>
          <p:nvPr/>
        </p:nvPicPr>
        <p:blipFill>
          <a:blip r:embed="rId2"/>
          <a:stretch/>
        </p:blipFill>
        <p:spPr>
          <a:xfrm>
            <a:off x="3276720" y="3284640"/>
            <a:ext cx="1428480" cy="890640"/>
          </a:xfrm>
          <a:prstGeom prst="rect">
            <a:avLst/>
          </a:prstGeom>
          <a:ln w="0">
            <a:noFill/>
          </a:ln>
        </p:spPr>
      </p:pic>
      <p:pic>
        <p:nvPicPr>
          <p:cNvPr id="264" name="Picture 9" descr=""/>
          <p:cNvPicPr/>
          <p:nvPr/>
        </p:nvPicPr>
        <p:blipFill>
          <a:blip r:embed="rId3"/>
          <a:stretch/>
        </p:blipFill>
        <p:spPr>
          <a:xfrm>
            <a:off x="1547640" y="2994120"/>
            <a:ext cx="2073600" cy="1514520"/>
          </a:xfrm>
          <a:prstGeom prst="rect">
            <a:avLst/>
          </a:prstGeom>
          <a:ln w="0">
            <a:noFill/>
          </a:ln>
        </p:spPr>
      </p:pic>
      <p:pic>
        <p:nvPicPr>
          <p:cNvPr id="265" name="Picture 10" descr=""/>
          <p:cNvPicPr/>
          <p:nvPr/>
        </p:nvPicPr>
        <p:blipFill>
          <a:blip r:embed="rId4"/>
          <a:stretch/>
        </p:blipFill>
        <p:spPr>
          <a:xfrm>
            <a:off x="1979640" y="5084640"/>
            <a:ext cx="4151160" cy="852480"/>
          </a:xfrm>
          <a:prstGeom prst="rect">
            <a:avLst/>
          </a:prstGeom>
          <a:ln w="0">
            <a:noFill/>
          </a:ln>
        </p:spPr>
      </p:pic>
      <p:pic>
        <p:nvPicPr>
          <p:cNvPr id="266" name="Picture 11" descr=""/>
          <p:cNvPicPr/>
          <p:nvPr/>
        </p:nvPicPr>
        <p:blipFill>
          <a:blip r:embed="rId5"/>
          <a:stretch/>
        </p:blipFill>
        <p:spPr>
          <a:xfrm>
            <a:off x="7020000" y="4149720"/>
            <a:ext cx="1297080" cy="372960"/>
          </a:xfrm>
          <a:prstGeom prst="rect">
            <a:avLst/>
          </a:prstGeom>
          <a:ln w="0">
            <a:noFill/>
          </a:ln>
        </p:spPr>
      </p:pic>
      <p:sp>
        <p:nvSpPr>
          <p:cNvPr id="267" name="Line 12"/>
          <p:cNvSpPr/>
          <p:nvPr/>
        </p:nvSpPr>
        <p:spPr>
          <a:xfrm flipH="1">
            <a:off x="4716000" y="2565360"/>
            <a:ext cx="360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6C6842-3DB6-43C4-85C8-1EB71F05F900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BE2071-ADF6-4AB7-AFD2-0B299BBC038D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Realization theory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468360" y="126828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Kung’s Algorithm (Kung, 1978):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3" name="Picture 4" descr=""/>
          <p:cNvPicPr/>
          <p:nvPr/>
        </p:nvPicPr>
        <p:blipFill>
          <a:blip r:embed="rId1"/>
          <a:stretch/>
        </p:blipFill>
        <p:spPr>
          <a:xfrm>
            <a:off x="828720" y="2205000"/>
            <a:ext cx="4103640" cy="2544840"/>
          </a:xfrm>
          <a:prstGeom prst="rect">
            <a:avLst/>
          </a:prstGeom>
          <a:ln w="0">
            <a:noFill/>
          </a:ln>
        </p:spPr>
      </p:pic>
      <p:pic>
        <p:nvPicPr>
          <p:cNvPr id="274" name="Picture 5" descr=""/>
          <p:cNvPicPr/>
          <p:nvPr/>
        </p:nvPicPr>
        <p:blipFill>
          <a:blip r:embed="rId2"/>
          <a:stretch/>
        </p:blipFill>
        <p:spPr>
          <a:xfrm>
            <a:off x="5148360" y="2276640"/>
            <a:ext cx="3527280" cy="1568160"/>
          </a:xfrm>
          <a:prstGeom prst="rect">
            <a:avLst/>
          </a:prstGeom>
          <a:ln w="0">
            <a:noFill/>
          </a:ln>
        </p:spPr>
      </p:pic>
      <p:pic>
        <p:nvPicPr>
          <p:cNvPr id="275" name="Picture 6" descr=""/>
          <p:cNvPicPr/>
          <p:nvPr/>
        </p:nvPicPr>
        <p:blipFill>
          <a:blip r:embed="rId3"/>
          <a:stretch/>
        </p:blipFill>
        <p:spPr>
          <a:xfrm>
            <a:off x="5867280" y="4146480"/>
            <a:ext cx="2246400" cy="290520"/>
          </a:xfrm>
          <a:prstGeom prst="rect">
            <a:avLst/>
          </a:prstGeom>
          <a:ln w="0">
            <a:noFill/>
          </a:ln>
        </p:spPr>
      </p:pic>
      <p:sp>
        <p:nvSpPr>
          <p:cNvPr id="276" name="Rectangle 7"/>
          <p:cNvSpPr/>
          <p:nvPr/>
        </p:nvSpPr>
        <p:spPr>
          <a:xfrm>
            <a:off x="468360" y="5319720"/>
            <a:ext cx="8351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996600"/>
                </a:solidFill>
                <a:latin typeface="Arial"/>
              </a:rPr>
              <a:t>The application of this method to marine structures was proposed by Kristiansen and Egeland (2003).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0FCE68-057C-412C-AF8D-D91E8B81C976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46B393-B12C-4AC3-9709-B58BE5269A78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Realization theory 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394920" y="1052640"/>
            <a:ext cx="8497800" cy="496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030" lnSpcReduction="10000"/>
          </a:bodyPr>
          <a:p>
            <a:pPr marL="343080" indent="-343080">
              <a:lnSpc>
                <a:spcPct val="8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The problem is solved in discrete time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Kung’s algorithm obtains the model based on a SVD-factorization of the Hankel matrix of samples of the impulse response.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If the data is noisy or there are errors, it may not be quite clear to determine the order of the system from the singular values.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The conversion from discrete to continuous often gives a matrix </a:t>
            </a:r>
            <a:r>
              <a:rPr b="1" lang="en-AU" sz="1900" spc="-1" strike="noStrike">
                <a:solidFill>
                  <a:srgbClr val="000000"/>
                </a:solidFill>
                <a:latin typeface="Times New Roman"/>
              </a:rPr>
              <a:t>D</a:t>
            </a:r>
            <a:r>
              <a:rPr b="0" lang="en-AU" sz="1900" spc="-1" strike="noStrike">
                <a:solidFill>
                  <a:srgbClr val="000000"/>
                </a:solidFill>
                <a:latin typeface="Times New Roman"/>
              </a:rPr>
              <a:t>c</a:t>
            </a: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 in the state-space realization, which is inconsistent with the dynamics of the problem for the retardation function (relative degree 1).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The MATLAB command</a:t>
            </a:r>
            <a:r>
              <a:rPr b="1" lang="en-AU" sz="19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AU" sz="1900" spc="-1" strike="noStrike">
                <a:solidFill>
                  <a:srgbClr val="000000"/>
                </a:solidFill>
                <a:latin typeface="바탕"/>
              </a:rPr>
              <a:t>imp2ss</a:t>
            </a: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 implements Kung’s algorithm, and chooses the order by neglecting singular values less than 1% of the largest one.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AU" sz="1900" spc="-1" strike="noStrike">
                <a:solidFill>
                  <a:srgbClr val="000000"/>
                </a:solidFill>
                <a:latin typeface="바탕"/>
              </a:rPr>
              <a:t>imp2ss</a:t>
            </a:r>
            <a:r>
              <a:rPr b="0" lang="en-AU" sz="1900" spc="-1" strike="noStrike">
                <a:solidFill>
                  <a:srgbClr val="996600"/>
                </a:solidFill>
                <a:latin typeface="Arial"/>
              </a:rPr>
              <a:t> requires using model order reduction afterwards (Kristiansen et al 2005).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The resulting models may not be passive.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365558-11CA-47EC-A69C-1CECCD053A18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7E019A-6FED-40C7-B863-3AE8572894FD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Picture 4" descr=""/>
          <p:cNvPicPr/>
          <p:nvPr/>
        </p:nvPicPr>
        <p:blipFill>
          <a:blip r:embed="rId1"/>
          <a:stretch/>
        </p:blipFill>
        <p:spPr>
          <a:xfrm>
            <a:off x="611280" y="1700280"/>
            <a:ext cx="5197320" cy="4449600"/>
          </a:xfrm>
          <a:prstGeom prst="rect">
            <a:avLst/>
          </a:prstGeom>
          <a:ln w="0">
            <a:noFill/>
          </a:ln>
        </p:spPr>
      </p:pic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Example Container ship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324000" y="1125000"/>
            <a:ext cx="8229600" cy="118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Singular values of the Hankel matrix of the samples of the impulse response.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Box 5"/>
          <p:cNvSpPr/>
          <p:nvPr/>
        </p:nvSpPr>
        <p:spPr>
          <a:xfrm>
            <a:off x="5867280" y="2708280"/>
            <a:ext cx="2737080" cy="23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These suggest (based on the blue plots)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Order K33(s) = 3 or 4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Oder K35(s) = 5 or 6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Order K55(s) = 3 or 4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Picture 6" descr=""/>
          <p:cNvPicPr/>
          <p:nvPr/>
        </p:nvPicPr>
        <p:blipFill>
          <a:blip r:embed="rId2"/>
          <a:stretch/>
        </p:blipFill>
        <p:spPr>
          <a:xfrm>
            <a:off x="7667640" y="476280"/>
            <a:ext cx="1119240" cy="8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AF73AE-8F12-4666-A185-CFC556029F9C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A0F469-A97E-4920-B399-EAFD33127CCB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Picture 10" descr=""/>
          <p:cNvPicPr/>
          <p:nvPr/>
        </p:nvPicPr>
        <p:blipFill>
          <a:blip r:embed="rId1"/>
          <a:stretch/>
        </p:blipFill>
        <p:spPr>
          <a:xfrm>
            <a:off x="539640" y="2060640"/>
            <a:ext cx="3959280" cy="3389400"/>
          </a:xfrm>
          <a:prstGeom prst="rect">
            <a:avLst/>
          </a:prstGeom>
          <a:ln w="0">
            <a:noFill/>
          </a:ln>
        </p:spPr>
      </p:pic>
      <p:pic>
        <p:nvPicPr>
          <p:cNvPr id="294" name="Picture 12" descr=""/>
          <p:cNvPicPr/>
          <p:nvPr/>
        </p:nvPicPr>
        <p:blipFill>
          <a:blip r:embed="rId2"/>
          <a:stretch/>
        </p:blipFill>
        <p:spPr>
          <a:xfrm>
            <a:off x="4788000" y="2133720"/>
            <a:ext cx="3960720" cy="3392280"/>
          </a:xfrm>
          <a:prstGeom prst="rect">
            <a:avLst/>
          </a:prstGeom>
          <a:ln w="0">
            <a:noFill/>
          </a:ln>
        </p:spPr>
      </p:pic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Example Container ship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324000" y="1125360"/>
            <a:ext cx="8229600" cy="7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62"/>
          </a:bodyPr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Impulse response fitting for K33(t) with a system of order 4.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Identification method: imp2ss + balmr (model order reduction).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 8"/>
          <p:cNvSpPr/>
          <p:nvPr/>
        </p:nvSpPr>
        <p:spPr>
          <a:xfrm>
            <a:off x="1837080" y="1916280"/>
            <a:ext cx="802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K33(t)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13"/>
          <p:cNvSpPr/>
          <p:nvPr/>
        </p:nvSpPr>
        <p:spPr>
          <a:xfrm>
            <a:off x="6302520" y="1844640"/>
            <a:ext cx="955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K33(jw)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Box 14"/>
          <p:cNvSpPr/>
          <p:nvPr/>
        </p:nvSpPr>
        <p:spPr>
          <a:xfrm>
            <a:off x="755640" y="5516640"/>
            <a:ext cx="7561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996600"/>
                </a:solidFill>
                <a:latin typeface="Arial"/>
              </a:rPr>
              <a:t>The identified model is not passive and does not have a zero at s=0.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0" name="Picture 15" descr=""/>
          <p:cNvPicPr/>
          <p:nvPr/>
        </p:nvPicPr>
        <p:blipFill>
          <a:blip r:embed="rId3"/>
          <a:stretch/>
        </p:blipFill>
        <p:spPr>
          <a:xfrm>
            <a:off x="7667640" y="476280"/>
            <a:ext cx="1119240" cy="8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6090FB-0DB8-4D7D-B1EA-D5EE17CAA498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8C85DEB-7A77-404A-BBCA-EA7C7B6334B3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Picture 9" descr=""/>
          <p:cNvPicPr/>
          <p:nvPr/>
        </p:nvPicPr>
        <p:blipFill>
          <a:blip r:embed="rId1"/>
          <a:stretch/>
        </p:blipFill>
        <p:spPr>
          <a:xfrm>
            <a:off x="395280" y="2133720"/>
            <a:ext cx="3887640" cy="3327120"/>
          </a:xfrm>
          <a:prstGeom prst="rect">
            <a:avLst/>
          </a:prstGeom>
          <a:ln w="0">
            <a:noFill/>
          </a:ln>
        </p:spPr>
      </p:pic>
      <p:pic>
        <p:nvPicPr>
          <p:cNvPr id="305" name="Picture 10" descr=""/>
          <p:cNvPicPr/>
          <p:nvPr/>
        </p:nvPicPr>
        <p:blipFill>
          <a:blip r:embed="rId2"/>
          <a:stretch/>
        </p:blipFill>
        <p:spPr>
          <a:xfrm>
            <a:off x="4140360" y="2133720"/>
            <a:ext cx="4176720" cy="3574800"/>
          </a:xfrm>
          <a:prstGeom prst="rect">
            <a:avLst/>
          </a:prstGeom>
          <a:ln w="0">
            <a:noFill/>
          </a:ln>
        </p:spPr>
      </p:pic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Example Container ship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07" name="Rectangle 6"/>
          <p:cNvSpPr/>
          <p:nvPr/>
        </p:nvSpPr>
        <p:spPr>
          <a:xfrm>
            <a:off x="1837080" y="1844640"/>
            <a:ext cx="802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K33(t)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6013800" y="1916280"/>
            <a:ext cx="955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K33(jw)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Box 8"/>
          <p:cNvSpPr/>
          <p:nvPr/>
        </p:nvSpPr>
        <p:spPr>
          <a:xfrm>
            <a:off x="755640" y="5661000"/>
            <a:ext cx="7561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The identified model is passive, but still does not have a zero at s=0.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Picture 11" descr=""/>
          <p:cNvPicPr/>
          <p:nvPr/>
        </p:nvPicPr>
        <p:blipFill>
          <a:blip r:embed="rId3"/>
          <a:stretch/>
        </p:blipFill>
        <p:spPr>
          <a:xfrm>
            <a:off x="7667640" y="476280"/>
            <a:ext cx="1119240" cy="861840"/>
          </a:xfrm>
          <a:prstGeom prst="rect">
            <a:avLst/>
          </a:prstGeom>
          <a:ln w="0">
            <a:noFill/>
          </a:ln>
        </p:spPr>
      </p:pic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324000" y="1125360"/>
            <a:ext cx="8229600" cy="71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Impulse response fitting for K33(t) with a system of order 3.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Identification method: imp2ss + balmr (model order reduction).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837CAFF-4FFD-41D7-BEEB-27F6E0DB3AED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56B77F-17C7-4834-B6FE-A66265AD5D65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5" name="Picture 9" descr=""/>
          <p:cNvPicPr/>
          <p:nvPr/>
        </p:nvPicPr>
        <p:blipFill>
          <a:blip r:embed="rId1"/>
          <a:stretch/>
        </p:blipFill>
        <p:spPr>
          <a:xfrm>
            <a:off x="395280" y="1916280"/>
            <a:ext cx="3743280" cy="3205080"/>
          </a:xfrm>
          <a:prstGeom prst="rect">
            <a:avLst/>
          </a:prstGeom>
          <a:ln w="0">
            <a:noFill/>
          </a:ln>
        </p:spPr>
      </p:pic>
      <p:pic>
        <p:nvPicPr>
          <p:cNvPr id="316" name="Picture 10" descr=""/>
          <p:cNvPicPr/>
          <p:nvPr/>
        </p:nvPicPr>
        <p:blipFill>
          <a:blip r:embed="rId2"/>
          <a:stretch/>
        </p:blipFill>
        <p:spPr>
          <a:xfrm>
            <a:off x="4500720" y="1916280"/>
            <a:ext cx="3830400" cy="3279600"/>
          </a:xfrm>
          <a:prstGeom prst="rect">
            <a:avLst/>
          </a:prstGeom>
          <a:ln w="0">
            <a:noFill/>
          </a:ln>
        </p:spPr>
      </p:pic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Example Container ship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/>
          </p:nvPr>
        </p:nvSpPr>
        <p:spPr>
          <a:xfrm>
            <a:off x="324000" y="1125000"/>
            <a:ext cx="8229600" cy="118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55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200" spc="-1" strike="noStrike">
                <a:solidFill>
                  <a:srgbClr val="000000"/>
                </a:solidFill>
                <a:latin typeface="Arial"/>
              </a:rPr>
              <a:t>Impulse response fitting for K35(t) with a system of order 5.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ectangle 6"/>
          <p:cNvSpPr/>
          <p:nvPr/>
        </p:nvSpPr>
        <p:spPr>
          <a:xfrm>
            <a:off x="1837080" y="1700280"/>
            <a:ext cx="802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K35(t)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ectangle 7"/>
          <p:cNvSpPr/>
          <p:nvPr/>
        </p:nvSpPr>
        <p:spPr>
          <a:xfrm>
            <a:off x="6086520" y="1628640"/>
            <a:ext cx="9550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K35(jw)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Box 8"/>
          <p:cNvSpPr/>
          <p:nvPr/>
        </p:nvSpPr>
        <p:spPr>
          <a:xfrm>
            <a:off x="684360" y="5084640"/>
            <a:ext cx="7561080" cy="10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The identified model is passive, but still does not have a zero at s=0.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Note that the off-diagonal terms do not necessarily have to passive for </a:t>
            </a:r>
            <a:r>
              <a:rPr b="1" lang="en-AU" sz="18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(s) to be passive (Unneland &amp; Perez, 2007).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2" name="Picture 11" descr=""/>
          <p:cNvPicPr/>
          <p:nvPr/>
        </p:nvPicPr>
        <p:blipFill>
          <a:blip r:embed="rId3"/>
          <a:stretch/>
        </p:blipFill>
        <p:spPr>
          <a:xfrm>
            <a:off x="7667640" y="476280"/>
            <a:ext cx="1119240" cy="8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B13D68-1E88-4633-82B4-5F1056E8DF82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88FDE0-E155-4765-A48A-4572A7F0D7BA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800" spc="-1" strike="noStrike">
                <a:solidFill>
                  <a:srgbClr val="006633"/>
                </a:solidFill>
                <a:latin typeface="Tahoma"/>
              </a:rPr>
              <a:t>Comments about Realization Theory</a:t>
            </a:r>
            <a:endParaRPr b="0" lang="en-US" sz="3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468360" y="14126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524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100" spc="-1" strike="noStrike">
                <a:solidFill>
                  <a:srgbClr val="000000"/>
                </a:solidFill>
                <a:latin typeface="Arial"/>
              </a:rPr>
              <a:t>Depending on the hydrodynamic data, it may be necessary to extend the damping at high freq. to have a good estimate the of the impulse response function before doing the idetification.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5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24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100" spc="-1" strike="noStrike">
                <a:solidFill>
                  <a:srgbClr val="000000"/>
                </a:solidFill>
                <a:latin typeface="Arial"/>
              </a:rPr>
              <a:t>Looking at the impulse response fitting alone is not a good criteria—most properties are evident from the freq. response.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24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100" spc="-1" strike="noStrike">
                <a:solidFill>
                  <a:srgbClr val="000000"/>
                </a:solidFill>
                <a:latin typeface="Arial"/>
              </a:rPr>
              <a:t>Imp2ss may require using model order reduction afterwards.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524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24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100" spc="-1" strike="noStrike">
                <a:solidFill>
                  <a:srgbClr val="000000"/>
                </a:solidFill>
                <a:latin typeface="Arial"/>
              </a:rPr>
              <a:t>The models almost never satisfy the low frequency asymptotic values (zero at s=0).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24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100" spc="-1" strike="noStrike">
                <a:solidFill>
                  <a:srgbClr val="000000"/>
                </a:solidFill>
                <a:latin typeface="Arial"/>
              </a:rPr>
              <a:t>High-order models may not be passive; this can solved trying different orders or using a model order reduction method that enforces passivity. 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5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AA7CF0-901A-4B4A-9A4B-1A6FA89B6ED3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ectangle 5"/>
          <p:cNvSpPr/>
          <p:nvPr/>
        </p:nvSpPr>
        <p:spPr>
          <a:xfrm>
            <a:off x="2771640" y="6243480"/>
            <a:ext cx="3600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Rectangle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137278-7D10-4760-A8D6-16FAC0422C1C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914040" y="1523520"/>
            <a:ext cx="7623000" cy="175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5000" spc="-1" strike="noStrike">
                <a:solidFill>
                  <a:srgbClr val="006633"/>
                </a:solidFill>
                <a:latin typeface="Tahoma"/>
              </a:rPr>
              <a:t>Frequency-domain </a:t>
            </a:r>
            <a:br>
              <a:rPr sz="5000"/>
            </a:br>
            <a:r>
              <a:rPr b="0" lang="en-AU" sz="5000" spc="-1" strike="noStrike">
                <a:solidFill>
                  <a:srgbClr val="006633"/>
                </a:solidFill>
                <a:latin typeface="Tahoma"/>
              </a:rPr>
              <a:t>Identification</a:t>
            </a:r>
            <a:endParaRPr b="0" lang="en-US" sz="50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 type="subTitle"/>
          </p:nvPr>
        </p:nvSpPr>
        <p:spPr>
          <a:xfrm>
            <a:off x="1981080" y="3962520"/>
            <a:ext cx="6553440" cy="17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From </a:t>
            </a:r>
            <a:r>
              <a:rPr b="1" lang="en-AU" sz="28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(j</a:t>
            </a:r>
            <a:r>
              <a:rPr b="0" lang="en-AU" sz="2800" spc="-1" strike="noStrike">
                <a:solidFill>
                  <a:srgbClr val="000000"/>
                </a:solidFill>
                <a:latin typeface="Symbol"/>
                <a:ea typeface="Symbol"/>
              </a:rPr>
              <a:t></a:t>
            </a: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) to </a:t>
            </a:r>
            <a:r>
              <a:rPr b="1" lang="en-AU" sz="2800" spc="-1" strike="noStrike">
                <a:solidFill>
                  <a:srgbClr val="000000"/>
                </a:solidFill>
                <a:latin typeface="Arial"/>
              </a:rPr>
              <a:t>K</a:t>
            </a:r>
            <a:r>
              <a:rPr b="0" lang="en-AU" sz="2800" spc="-1" strike="noStrike">
                <a:solidFill>
                  <a:srgbClr val="000000"/>
                </a:solidFill>
                <a:latin typeface="Arial"/>
              </a:rPr>
              <a:t>(s)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A04CEB-57A7-4BB1-B7A8-812151F0FF44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A5BDCD-CE37-4663-898F-52711D55B830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800" spc="-1" strike="noStrike">
                <a:solidFill>
                  <a:srgbClr val="006633"/>
                </a:solidFill>
                <a:latin typeface="Tahoma"/>
              </a:rPr>
              <a:t>Regression in the frequency domain</a:t>
            </a:r>
            <a:endParaRPr b="0" lang="en-US" sz="38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468360" y="1125000"/>
            <a:ext cx="8229600" cy="57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In this method, a rational transfer function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8" name="Picture 4" descr=""/>
          <p:cNvPicPr/>
          <p:nvPr/>
        </p:nvPicPr>
        <p:blipFill>
          <a:blip r:embed="rId1"/>
          <a:stretch/>
        </p:blipFill>
        <p:spPr>
          <a:xfrm>
            <a:off x="1116000" y="1700280"/>
            <a:ext cx="6199200" cy="1035000"/>
          </a:xfrm>
          <a:prstGeom prst="rect">
            <a:avLst/>
          </a:prstGeom>
          <a:ln w="0">
            <a:noFill/>
          </a:ln>
        </p:spPr>
      </p:pic>
      <p:pic>
        <p:nvPicPr>
          <p:cNvPr id="339" name="Picture 5" descr=""/>
          <p:cNvPicPr/>
          <p:nvPr/>
        </p:nvPicPr>
        <p:blipFill>
          <a:blip r:embed="rId2"/>
          <a:stretch/>
        </p:blipFill>
        <p:spPr>
          <a:xfrm>
            <a:off x="2484360" y="2997360"/>
            <a:ext cx="3643560" cy="604800"/>
          </a:xfrm>
          <a:prstGeom prst="rect">
            <a:avLst/>
          </a:prstGeom>
          <a:ln w="0">
            <a:noFill/>
          </a:ln>
        </p:spPr>
      </p:pic>
      <p:sp>
        <p:nvSpPr>
          <p:cNvPr id="340" name="Rectangle 6"/>
          <p:cNvSpPr/>
          <p:nvPr/>
        </p:nvSpPr>
        <p:spPr>
          <a:xfrm>
            <a:off x="468360" y="3716280"/>
            <a:ext cx="822960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is fitted to the frequency response data:  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1" name="Picture 7" descr=""/>
          <p:cNvPicPr/>
          <p:nvPr/>
        </p:nvPicPr>
        <p:blipFill>
          <a:blip r:embed="rId3"/>
          <a:stretch/>
        </p:blipFill>
        <p:spPr>
          <a:xfrm>
            <a:off x="2124000" y="4221000"/>
            <a:ext cx="4667400" cy="919440"/>
          </a:xfrm>
          <a:prstGeom prst="rect">
            <a:avLst/>
          </a:prstGeom>
          <a:ln w="0">
            <a:noFill/>
          </a:ln>
        </p:spPr>
      </p:pic>
      <p:sp>
        <p:nvSpPr>
          <p:cNvPr id="342" name="Rectangle 8"/>
          <p:cNvSpPr/>
          <p:nvPr/>
        </p:nvSpPr>
        <p:spPr>
          <a:xfrm>
            <a:off x="684360" y="5445000"/>
            <a:ext cx="7273800" cy="58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996600"/>
                </a:solidFill>
                <a:latin typeface="Arial"/>
              </a:rPr>
              <a:t>The application of this method to marine structures was proposed by Jeffreys (1984) and Damaren (2000).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E0F38D-1B34-40AA-87F2-DABF1AADD64A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9E39E4-5A87-4F6E-B567-C66888BE1E5F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Quasi-linear regression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395280" y="1197000"/>
            <a:ext cx="8229600" cy="110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5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100" spc="-1" strike="noStrike">
                <a:solidFill>
                  <a:srgbClr val="000000"/>
                </a:solidFill>
                <a:latin typeface="Arial"/>
              </a:rPr>
              <a:t>Levi (1959) proposed the following linearization: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5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8" name="Picture 4" descr=""/>
          <p:cNvPicPr/>
          <p:nvPr/>
        </p:nvPicPr>
        <p:blipFill>
          <a:blip r:embed="rId1"/>
          <a:stretch/>
        </p:blipFill>
        <p:spPr>
          <a:xfrm>
            <a:off x="3059280" y="3789360"/>
            <a:ext cx="2179440" cy="604800"/>
          </a:xfrm>
          <a:prstGeom prst="rect">
            <a:avLst/>
          </a:prstGeom>
          <a:ln w="0">
            <a:noFill/>
          </a:ln>
        </p:spPr>
      </p:pic>
      <p:pic>
        <p:nvPicPr>
          <p:cNvPr id="349" name="Picture 5" descr=""/>
          <p:cNvPicPr/>
          <p:nvPr/>
        </p:nvPicPr>
        <p:blipFill>
          <a:blip r:embed="rId2"/>
          <a:stretch/>
        </p:blipFill>
        <p:spPr>
          <a:xfrm>
            <a:off x="1908000" y="4508640"/>
            <a:ext cx="4667400" cy="919080"/>
          </a:xfrm>
          <a:prstGeom prst="rect">
            <a:avLst/>
          </a:prstGeom>
          <a:ln w="0">
            <a:noFill/>
          </a:ln>
        </p:spPr>
      </p:pic>
      <p:pic>
        <p:nvPicPr>
          <p:cNvPr id="350" name="Picture 7" descr=""/>
          <p:cNvPicPr/>
          <p:nvPr/>
        </p:nvPicPr>
        <p:blipFill>
          <a:blip r:embed="rId3"/>
          <a:stretch/>
        </p:blipFill>
        <p:spPr>
          <a:xfrm>
            <a:off x="1763640" y="1989000"/>
            <a:ext cx="5280120" cy="746280"/>
          </a:xfrm>
          <a:prstGeom prst="rect">
            <a:avLst/>
          </a:prstGeom>
          <a:ln w="0">
            <a:noFill/>
          </a:ln>
        </p:spPr>
      </p:pic>
      <p:sp>
        <p:nvSpPr>
          <p:cNvPr id="351" name="Rectangle 8"/>
          <p:cNvSpPr/>
          <p:nvPr/>
        </p:nvSpPr>
        <p:spPr>
          <a:xfrm>
            <a:off x="324000" y="5661000"/>
            <a:ext cx="864072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90000"/>
              </a:lnSpc>
              <a:spcBef>
                <a:spcPts val="5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100" spc="-1" strike="noStrike">
                <a:solidFill>
                  <a:srgbClr val="000000"/>
                </a:solidFill>
                <a:latin typeface="Arial"/>
              </a:rPr>
              <a:t>which is affine in the parameters and reduces to a linear LS problem.</a:t>
            </a:r>
            <a:endParaRPr b="1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Rectangle 9"/>
          <p:cNvSpPr/>
          <p:nvPr/>
        </p:nvSpPr>
        <p:spPr>
          <a:xfrm>
            <a:off x="241560" y="3141720"/>
            <a:ext cx="83995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000" spc="-1" strike="noStrike">
                <a:solidFill>
                  <a:srgbClr val="000000"/>
                </a:solidFill>
                <a:latin typeface="Arial"/>
              </a:rPr>
              <a:t>This can be obtained If we chose the weights in the nonlinear problem as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53C8A3-22D8-443D-817B-2C165E6BDD8D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BFFEC0-929E-4876-8BD5-C3373793C704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Iterative Quasi-linear regression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468000" y="1052280"/>
            <a:ext cx="821844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24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500" spc="-1" strike="noStrike">
                <a:solidFill>
                  <a:srgbClr val="000000"/>
                </a:solidFill>
                <a:latin typeface="Arial"/>
              </a:rPr>
              <a:t>The quasi-linear regressor tend to have a poor fit a low freq. This can be avoided by solving the linear LS problem iteratively, starting with the quasi-linear regressor and using the parameters obtained to compute a weighing: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Rectangle 7"/>
          <p:cNvSpPr/>
          <p:nvPr/>
        </p:nvSpPr>
        <p:spPr>
          <a:xfrm>
            <a:off x="468360" y="5229360"/>
            <a:ext cx="8229600" cy="11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24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500" spc="-1" strike="noStrike">
                <a:solidFill>
                  <a:srgbClr val="000000"/>
                </a:solidFill>
                <a:latin typeface="Arial"/>
              </a:rPr>
              <a:t>After a few iterations,                                             and the nonlinear problem is recovered.</a:t>
            </a:r>
            <a:endParaRPr b="1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9" name="Picture 8" descr=""/>
          <p:cNvPicPr/>
          <p:nvPr/>
        </p:nvPicPr>
        <p:blipFill>
          <a:blip r:embed="rId1"/>
          <a:stretch/>
        </p:blipFill>
        <p:spPr>
          <a:xfrm>
            <a:off x="826920" y="3141720"/>
            <a:ext cx="7345440" cy="1001520"/>
          </a:xfrm>
          <a:prstGeom prst="rect">
            <a:avLst/>
          </a:prstGeom>
          <a:ln w="0">
            <a:noFill/>
          </a:ln>
        </p:spPr>
      </p:pic>
      <p:pic>
        <p:nvPicPr>
          <p:cNvPr id="360" name="Picture 9" descr=""/>
          <p:cNvPicPr/>
          <p:nvPr/>
        </p:nvPicPr>
        <p:blipFill>
          <a:blip r:embed="rId2"/>
          <a:stretch/>
        </p:blipFill>
        <p:spPr>
          <a:xfrm>
            <a:off x="2340000" y="3933720"/>
            <a:ext cx="3111480" cy="908280"/>
          </a:xfrm>
          <a:prstGeom prst="rect">
            <a:avLst/>
          </a:prstGeom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361" name="Object 10"/>
              <p:cNvSpPr txBox="1"/>
              <p:nvPr/>
            </p:nvSpPr>
            <p:spPr>
              <a:xfrm>
                <a:off x="6156360" y="4149720"/>
                <a:ext cx="1522440" cy="457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=</m:t>
                    </m:r>
                    <m:r>
                      <m:t xml:space="preserve">2</m:t>
                    </m:r>
                    <m:r>
                      <m:t xml:space="preserve">,</m:t>
                    </m:r>
                    <m:r>
                      <m:t xml:space="preserve">3</m:t>
                    </m:r>
                    <m:r>
                      <m:t xml:space="preserve">,</m:t>
                    </m:r>
                    <m:r>
                      <m:t xml:space="preserve">…</m:t>
                    </m:r>
                  </m:oMath>
                </a14:m>
              </a:p>
            </p:txBody>
          </p:sp>
        </mc:Choice>
        <mc:Fallback/>
      </mc:AlternateContent>
      <p:pic>
        <p:nvPicPr>
          <p:cNvPr id="362" name="Picture 12" descr=""/>
          <p:cNvPicPr/>
          <p:nvPr/>
        </p:nvPicPr>
        <p:blipFill>
          <a:blip r:embed="rId3"/>
          <a:stretch/>
        </p:blipFill>
        <p:spPr>
          <a:xfrm>
            <a:off x="3708360" y="5229360"/>
            <a:ext cx="3730680" cy="47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A1C7D52-31BE-43AB-BF89-F928229303FE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E7CB08-93FE-4FC8-838F-AD3AB9895CE4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Minimum order transfer function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468000" y="1267920"/>
            <a:ext cx="8147160" cy="1584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000000"/>
                </a:solidFill>
                <a:latin typeface="Arial"/>
              </a:rPr>
              <a:t>Because of the zero at s=0 and the restriction of relative degree 1, the minimum order TF that can represent a convolution term is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spcBef>
                <a:spcPts val="6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68" name="Object 4"/>
              <p:cNvSpPr txBox="1"/>
              <p:nvPr/>
            </p:nvSpPr>
            <p:spPr>
              <a:xfrm>
                <a:off x="2627280" y="2957400"/>
                <a:ext cx="3835440" cy="1185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Sup>
                      <m:e>
                        <m:r>
                          <m:t xml:space="preserve">K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ij</m:t>
                        </m:r>
                      </m:sub>
                      <m:sup>
                        <m:r>
                          <m:rPr>
                            <m:lit/>
                            <m:nor/>
                          </m:rPr>
                          <m:t xml:space="preserve">min</m:t>
                        </m:r>
                      </m:sup>
                    </m:sSubSup>
                    <m:r>
                      <m:t xml:space="preserve">(</m:t>
                    </m:r>
                    <m:r>
                      <m:t xml:space="preserve">s</m:t>
                    </m:r>
                    <m:r>
                      <m:t xml:space="preserve">)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b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r>
                          <m:t xml:space="preserve">s</m:t>
                        </m:r>
                      </m:num>
                      <m:den>
                        <m:sSup>
                          <m:e>
                            <m:r>
                              <m:t xml:space="preserve">s</m:t>
                            </m:r>
                          </m:e>
                          <m:sup>
                            <m:r>
                              <m:t xml:space="preserve">2</m:t>
                            </m:r>
                          </m:sup>
                        </m:sSup>
                        <m:r>
                          <m:t xml:space="preserve">+</m:t>
                        </m:r>
                        <m:sSub>
                          <m:e>
                            <m:r>
                              <m:t xml:space="preserve">a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  <m:r>
                          <m:t xml:space="preserve">s</m:t>
                        </m:r>
                        <m:r>
                          <m:t xml:space="preserve">+</m:t>
                        </m:r>
                        <m:sSub>
                          <m:e>
                            <m:r>
                              <m:t xml:space="preserve">a</m:t>
                            </m:r>
                          </m:e>
                          <m:sub>
                            <m:r>
                              <m:t xml:space="preserve">0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/>
      </mc:AlternateContent>
      <p:sp>
        <p:nvSpPr>
          <p:cNvPr id="369" name="Rectangle 5"/>
          <p:cNvSpPr/>
          <p:nvPr/>
        </p:nvSpPr>
        <p:spPr>
          <a:xfrm>
            <a:off x="468360" y="4653000"/>
            <a:ext cx="8147160" cy="15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2600" spc="-1" strike="noStrike">
                <a:solidFill>
                  <a:srgbClr val="996600"/>
                </a:solidFill>
                <a:latin typeface="Arial"/>
              </a:rPr>
              <a:t>Therefore, we can start with a system of order n=2, and then increase the order until we improve the fitting at an appropriate level.</a:t>
            </a:r>
            <a:endParaRPr b="1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C6F875-CA71-4918-A3AC-2C9BC157E888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9F4E0EA-F761-4B03-9E14-04B15D49524E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Containership example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374" name="Picture 4" descr=""/>
          <p:cNvPicPr/>
          <p:nvPr/>
        </p:nvPicPr>
        <p:blipFill>
          <a:blip r:embed="rId1"/>
          <a:stretch/>
        </p:blipFill>
        <p:spPr>
          <a:xfrm>
            <a:off x="7667640" y="476280"/>
            <a:ext cx="1119240" cy="861840"/>
          </a:xfrm>
          <a:prstGeom prst="rect">
            <a:avLst/>
          </a:prstGeom>
          <a:ln w="0">
            <a:noFill/>
          </a:ln>
        </p:spPr>
      </p:pic>
      <p:pic>
        <p:nvPicPr>
          <p:cNvPr id="375" name="Picture 6" descr=""/>
          <p:cNvPicPr/>
          <p:nvPr/>
        </p:nvPicPr>
        <p:blipFill>
          <a:blip r:embed="rId2"/>
          <a:stretch/>
        </p:blipFill>
        <p:spPr>
          <a:xfrm>
            <a:off x="826920" y="1628640"/>
            <a:ext cx="5256360" cy="4500720"/>
          </a:xfrm>
          <a:prstGeom prst="rect">
            <a:avLst/>
          </a:prstGeom>
          <a:ln w="0">
            <a:noFill/>
          </a:ln>
        </p:spPr>
      </p:pic>
      <p:sp>
        <p:nvSpPr>
          <p:cNvPr id="376" name="Rectangle 7"/>
          <p:cNvSpPr/>
          <p:nvPr/>
        </p:nvSpPr>
        <p:spPr>
          <a:xfrm>
            <a:off x="685080" y="1052640"/>
            <a:ext cx="69260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Frequency-domain identification of K33(jw) order 3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Identification method: iterative quasi-linear regression (invfreqs.m)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Rectangle 8"/>
          <p:cNvSpPr/>
          <p:nvPr/>
        </p:nvSpPr>
        <p:spPr>
          <a:xfrm>
            <a:off x="6300720" y="2781360"/>
            <a:ext cx="25923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The model is passive and satisfy the asymptotic values.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91DE2A-AC57-4A11-8D76-720A25F719FB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B0DDE6-0CA8-40AE-8C7C-323563CB9769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Containership example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382" name="Picture 3" descr=""/>
          <p:cNvPicPr/>
          <p:nvPr/>
        </p:nvPicPr>
        <p:blipFill>
          <a:blip r:embed="rId1"/>
          <a:stretch/>
        </p:blipFill>
        <p:spPr>
          <a:xfrm>
            <a:off x="7667640" y="333360"/>
            <a:ext cx="1335240" cy="1027080"/>
          </a:xfrm>
          <a:prstGeom prst="rect">
            <a:avLst/>
          </a:prstGeom>
          <a:ln w="0">
            <a:noFill/>
          </a:ln>
        </p:spPr>
      </p:pic>
      <p:pic>
        <p:nvPicPr>
          <p:cNvPr id="383" name="Picture 11" descr=""/>
          <p:cNvPicPr/>
          <p:nvPr/>
        </p:nvPicPr>
        <p:blipFill>
          <a:blip r:embed="rId2"/>
          <a:stretch/>
        </p:blipFill>
        <p:spPr>
          <a:xfrm>
            <a:off x="179280" y="2062080"/>
            <a:ext cx="4680000" cy="4005360"/>
          </a:xfrm>
          <a:prstGeom prst="rect">
            <a:avLst/>
          </a:prstGeom>
          <a:ln w="0">
            <a:noFill/>
          </a:ln>
        </p:spPr>
      </p:pic>
      <p:pic>
        <p:nvPicPr>
          <p:cNvPr id="384" name="Picture 12" descr=""/>
          <p:cNvPicPr/>
          <p:nvPr/>
        </p:nvPicPr>
        <p:blipFill>
          <a:blip r:embed="rId3"/>
          <a:stretch/>
        </p:blipFill>
        <p:spPr>
          <a:xfrm>
            <a:off x="4427640" y="2084400"/>
            <a:ext cx="4716360" cy="4037040"/>
          </a:xfrm>
          <a:prstGeom prst="rect">
            <a:avLst/>
          </a:prstGeom>
          <a:ln w="0">
            <a:noFill/>
          </a:ln>
        </p:spPr>
      </p:pic>
      <p:sp>
        <p:nvSpPr>
          <p:cNvPr id="385" name="Rectangle 13"/>
          <p:cNvSpPr/>
          <p:nvPr/>
        </p:nvSpPr>
        <p:spPr>
          <a:xfrm>
            <a:off x="469080" y="1341360"/>
            <a:ext cx="73710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Frequency-domain identification of K35(jw) order 5 and K55(jw) order 3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Identification method: iterative quasi-linear regression (invfreqs.m) 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792CD02-9C68-415A-AEDB-9FEB434FEB50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464896-1ADF-43BE-B98E-7DB351946DE3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9" name="Picture 5" descr=""/>
          <p:cNvPicPr/>
          <p:nvPr/>
        </p:nvPicPr>
        <p:blipFill>
          <a:blip r:embed="rId1"/>
          <a:stretch/>
        </p:blipFill>
        <p:spPr>
          <a:xfrm>
            <a:off x="1042920" y="765000"/>
            <a:ext cx="6264360" cy="5362920"/>
          </a:xfrm>
          <a:prstGeom prst="rect">
            <a:avLst/>
          </a:prstGeom>
          <a:ln w="0">
            <a:noFill/>
          </a:ln>
        </p:spPr>
      </p:pic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Reconstructing B(</a:t>
            </a:r>
            <a:r>
              <a:rPr b="0" lang="en-AU" sz="4200" spc="-1" strike="noStrike">
                <a:solidFill>
                  <a:srgbClr val="006633"/>
                </a:solidFill>
                <a:latin typeface="Symbol"/>
                <a:ea typeface="Symbol"/>
              </a:rPr>
              <a:t></a:t>
            </a: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) 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391" name="Picture 4" descr=""/>
          <p:cNvPicPr/>
          <p:nvPr/>
        </p:nvPicPr>
        <p:blipFill>
          <a:blip r:embed="rId2"/>
          <a:stretch/>
        </p:blipFill>
        <p:spPr>
          <a:xfrm>
            <a:off x="7667640" y="476280"/>
            <a:ext cx="1119240" cy="86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28330D2-E53B-41BB-8246-6EE708F0AB40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DF57AF-ED82-46F9-8869-AF83413278DF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5" name="Picture 6" descr=""/>
          <p:cNvPicPr/>
          <p:nvPr/>
        </p:nvPicPr>
        <p:blipFill>
          <a:blip r:embed="rId1"/>
          <a:stretch/>
        </p:blipFill>
        <p:spPr>
          <a:xfrm>
            <a:off x="611280" y="1197000"/>
            <a:ext cx="8134200" cy="4537080"/>
          </a:xfrm>
          <a:prstGeom prst="rect">
            <a:avLst/>
          </a:prstGeom>
          <a:ln w="0">
            <a:noFill/>
          </a:ln>
        </p:spPr>
      </p:pic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Reconstructing A(</a:t>
            </a:r>
            <a:r>
              <a:rPr b="0" lang="en-AU" sz="4200" spc="-1" strike="noStrike">
                <a:solidFill>
                  <a:srgbClr val="006633"/>
                </a:solidFill>
                <a:latin typeface="Symbol"/>
                <a:ea typeface="Symbol"/>
              </a:rPr>
              <a:t></a:t>
            </a: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) 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pic>
        <p:nvPicPr>
          <p:cNvPr id="397" name="Picture 4" descr=""/>
          <p:cNvPicPr/>
          <p:nvPr/>
        </p:nvPicPr>
        <p:blipFill>
          <a:blip r:embed="rId2"/>
          <a:stretch/>
        </p:blipFill>
        <p:spPr>
          <a:xfrm>
            <a:off x="7667640" y="476280"/>
            <a:ext cx="1119240" cy="861840"/>
          </a:xfrm>
          <a:prstGeom prst="rect">
            <a:avLst/>
          </a:prstGeom>
          <a:ln w="0">
            <a:noFill/>
          </a:ln>
        </p:spPr>
      </p:pic>
      <p:sp>
        <p:nvSpPr>
          <p:cNvPr id="398" name="Text Box 5"/>
          <p:cNvSpPr/>
          <p:nvPr/>
        </p:nvSpPr>
        <p:spPr>
          <a:xfrm>
            <a:off x="1692360" y="5661000"/>
            <a:ext cx="5976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800" spc="-1" strike="noStrike">
                <a:solidFill>
                  <a:srgbClr val="000000"/>
                </a:solidFill>
                <a:latin typeface="Arial"/>
              </a:rPr>
              <a:t>The model has good fitting at all frequencies.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Date Placeholder 4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E42200-4B75-4388-AB3B-9BB4185A9A60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Footer Placeholder 5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lide Number Placeholder 6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9C6558-F7D3-4286-B123-9517C8BBD4A1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400" spc="-1" strike="noStrike">
                <a:solidFill>
                  <a:srgbClr val="006633"/>
                </a:solidFill>
                <a:latin typeface="Tahoma"/>
              </a:rPr>
              <a:t>Comments about Freq.-dom. regression</a:t>
            </a:r>
            <a:endParaRPr b="0" lang="en-US" sz="34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539280" y="1412640"/>
            <a:ext cx="8218440" cy="453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9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FD-identification avoids having to compute the impulse response from the damping—thus, needing very high-frequency hydrodynamic data.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4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The identification method is simple: a series of linear LS problems—easy to programme.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76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The zero at s=0 and the relative degree can be enforced in the structure of the model, so the asymptotic values are always ensured.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4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The resulting models may be unstable: this is fixed by reflecting the unstable poles about the imaginary axis.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90000"/>
              </a:lnSpc>
              <a:spcBef>
                <a:spcPts val="476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76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900" spc="-1" strike="noStrike">
                <a:solidFill>
                  <a:srgbClr val="000000"/>
                </a:solidFill>
                <a:latin typeface="Arial"/>
              </a:rPr>
              <a:t>The resulting models may not be passive: this can be solved using weights in the LS problem. 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086B1E-DEBB-4136-921B-E44397369CAF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51D75C-051E-46BD-B073-69A1EDAD1374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Simulink Model implementation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468360" y="134136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3000" spc="-1" strike="noStrike">
                <a:solidFill>
                  <a:srgbClr val="000000"/>
                </a:solidFill>
                <a:latin typeface="Arial"/>
              </a:rPr>
              <a:t>After obtaining a state-space representation or the transfers functions, we can assemble a complete model: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9" name="Picture 4" descr=""/>
          <p:cNvPicPr/>
          <p:nvPr/>
        </p:nvPicPr>
        <p:blipFill>
          <a:blip r:embed="rId1"/>
          <a:stretch/>
        </p:blipFill>
        <p:spPr>
          <a:xfrm>
            <a:off x="684360" y="3645000"/>
            <a:ext cx="7740360" cy="177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BF6693-03E6-48D6-83DE-0EBDABDA5726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F16C69-7AB8-4BA5-BCC4-DCDB8975F349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References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/>
          </p:nvPr>
        </p:nvSpPr>
        <p:spPr>
          <a:xfrm>
            <a:off x="468360" y="126828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Perez, T. and T. I. Fossen (2006) “Time-domain Models of Marine Surface Vessels  Based on Seakeeping Computations.” 7th IFAC Conference on Manoeuvring and Control of Marine Vessels MCMC, Portugal, September.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Perez, T. (2007) Identification and Validation of a Time-domain Hydrodynamic Model of a Prototype Hull for a Wave Energy Converter (WEC). Technical Report. Centre for Complex Dynamic Systems and Control. Australia.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Cummins, W., 1962. The impulse response function and ship motions. Schiffstechnik 9 (1661), 101–109.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Ogilvie, T., 1964. Recent progress towards the understanding and prediction of ship motions. In: 6th Symposium on Naval Hydrodynamics.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Kristiansen, E., Egeland, O., 2003. Frequency-dependent added mass in models for controller design for wave motion damping. In: Proceedings of 6th Conference on Maneoeuvering and Control ofMarine Craft, Girona, Spain.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Date Placeholder 3"/>
          <p:cNvSpPr/>
          <p:nvPr/>
        </p:nvSpPr>
        <p:spPr>
          <a:xfrm>
            <a:off x="45720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AB3893-4BCA-4BA1-A7A3-4372C55FEFF6}" type="datetime">
              <a:rPr b="0" lang="en-GB" sz="1200" spc="-1" strike="noStrike">
                <a:solidFill>
                  <a:srgbClr val="000000"/>
                </a:solidFill>
                <a:latin typeface="Garamond"/>
              </a:rPr>
              <a:t>06/06/26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Footer Placeholder 4"/>
          <p:cNvSpPr/>
          <p:nvPr/>
        </p:nvSpPr>
        <p:spPr>
          <a:xfrm>
            <a:off x="2843280" y="6248520"/>
            <a:ext cx="3600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200" spc="-1" strike="noStrike">
                <a:solidFill>
                  <a:srgbClr val="000000"/>
                </a:solidFill>
                <a:latin typeface="Garamond"/>
              </a:rPr>
              <a:t>One-day Tutorial, CAMS'07, Bol, Croatia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lide Number Placeholder 5"/>
          <p:cNvSpPr/>
          <p:nvPr/>
        </p:nvSpPr>
        <p:spPr>
          <a:xfrm>
            <a:off x="655308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8D0D42-B20C-4167-BBD6-133A774CA5E4}" type="slidenum">
              <a:rPr b="0" lang="en-AU" sz="1200" spc="-1" strike="noStrike">
                <a:solidFill>
                  <a:srgbClr val="000000"/>
                </a:solidFill>
                <a:latin typeface="Garamond"/>
              </a:rPr>
              <a:t>&lt;number&gt;</a:t>
            </a:fld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4200" spc="-1" strike="noStrike">
                <a:solidFill>
                  <a:srgbClr val="006633"/>
                </a:solidFill>
                <a:latin typeface="Tahoma"/>
              </a:rPr>
              <a:t>References</a:t>
            </a:r>
            <a:endParaRPr b="0" lang="en-US" sz="4200" spc="-1" strike="noStrike">
              <a:solidFill>
                <a:srgbClr val="006633"/>
              </a:solidFill>
              <a:latin typeface="Tahoma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468360" y="1268280"/>
            <a:ext cx="8229600" cy="453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8030" lnSpcReduction="10000"/>
          </a:bodyPr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Damaren, C.J. (2000). Time-domain floating body dynamics by rational approximations of the radiation impedance and diffraction mapping. Ocean Engineering 27, 687–705.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Yu, Z., Falnes, J., 1998. State-space modelling of dynamic systems in ocean engineering. Journal of Hydrodynamics B(1), 1–17.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Sutulo, S., Guedes-Soares, C., 2005. An implementation of the method of auxiliary state variables for solving seakeeping problems. International shipbuilding progress (Int. shipbuild. prog.) 52, 357–384.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Taghipour, R., Perez, T., Moan, T., 2007a. Hybrid Frequency-Time Domain Models for Dynamic Response Analysis of Marine Structures. (To appear in Ocean Engieering)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0">
              <a:lnSpc>
                <a:spcPct val="80000"/>
              </a:lnSpc>
              <a:spcBef>
                <a:spcPts val="42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AU" sz="1700" spc="-1" strike="noStrike">
                <a:solidFill>
                  <a:srgbClr val="000000"/>
                </a:solidFill>
                <a:latin typeface="Arial"/>
              </a:rPr>
              <a:t>Taghipour, R., Perez, T., Moan, T., 2007b. Time domain hydroelastic analysis of a flexible marine structure using state-space models. In: 26th International Conference on Offshore Mechanics and Arctic Engineering-OMAE 07, San Diego, CA, USA.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25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2007-05-14T14:42:38Z</dcterms:created>
  <dc:creator> </dc:creator>
  <dc:description/>
  <dc:language>en-US</dc:language>
  <cp:lastModifiedBy>Thor I. Fossen</cp:lastModifiedBy>
  <dcterms:modified xsi:type="dcterms:W3CDTF">2007-08-20T14:07:59Z</dcterms:modified>
  <cp:revision>42</cp:revision>
  <dc:subject/>
  <dc:title>CXVXCv</dc:title>
</cp:coreProperties>
</file>