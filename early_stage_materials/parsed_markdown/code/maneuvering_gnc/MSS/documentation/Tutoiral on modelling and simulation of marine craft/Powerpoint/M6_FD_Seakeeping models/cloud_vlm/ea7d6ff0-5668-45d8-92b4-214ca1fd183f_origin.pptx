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_rels/presentation.xml.rels" ContentType="application/vnd.openxmlformats-package.relationships+xml"/>
  <Override PartName="/ppt/media/image13.wmf" ContentType="image/x-wmf"/>
  <Override PartName="/ppt/media/image9.wmf" ContentType="image/x-wmf"/>
  <Override PartName="/ppt/media/image18.wmf" ContentType="image/x-wmf"/>
  <Override PartName="/ppt/media/image20.wmf" ContentType="image/x-wmf"/>
  <Override PartName="/ppt/media/image12.wmf" ContentType="image/x-wmf"/>
  <Override PartName="/ppt/media/image8.wmf" ContentType="image/x-wmf"/>
  <Override PartName="/ppt/media/image17.wmf" ContentType="image/x-wmf"/>
  <Override PartName="/ppt/media/image11.wmf" ContentType="image/x-wmf"/>
  <Override PartName="/ppt/media/image7.wmf" ContentType="image/x-wmf"/>
  <Override PartName="/ppt/media/image16.wmf" ContentType="image/x-wmf"/>
  <Override PartName="/ppt/media/image10.wmf" ContentType="image/x-wmf"/>
  <Override PartName="/ppt/media/image6.wmf" ContentType="image/x-wmf"/>
  <Override PartName="/ppt/media/image25.wmf" ContentType="image/x-wmf"/>
  <Override PartName="/ppt/media/image24.wmf" ContentType="image/x-wmf"/>
  <Override PartName="/ppt/media/image23.wmf" ContentType="image/x-wmf"/>
  <Override PartName="/ppt/media/image22.wmf" ContentType="image/x-wmf"/>
  <Override PartName="/ppt/media/image21.png" ContentType="image/png"/>
  <Override PartName="/ppt/media/image14.png" ContentType="image/png"/>
  <Override PartName="/ppt/media/image5.png" ContentType="image/png"/>
  <Override PartName="/ppt/media/image19.wmf" ContentType="image/x-wmf"/>
  <Override PartName="/ppt/media/image3.png" ContentType="image/png"/>
  <Override PartName="/ppt/media/image15.png" ContentType="image/png"/>
  <Override PartName="/ppt/media/image1.png" ContentType="image/png"/>
  <Override PartName="/ppt/media/image2.png" ContentType="image/png"/>
  <Override PartName="/ppt/media/image4.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_rels/slide15.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27.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35.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2.xml" ContentType="application/vnd.openxmlformats-officedocument.presentationml.slide+xml"/>
  <Override PartName="/ppt/slides/slide34.xml" ContentType="application/vnd.openxmlformats-officedocument.presentationml.slide+xml"/>
  <Override PartName="/ppt/slides/slide23.xml" ContentType="application/vnd.openxmlformats-officedocument.presentationml.slide+xml"/>
  <Override PartName="/ppt/slides/slide35.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notesSlides/_rels/notesSlide23.xml.rels" ContentType="application/vnd.openxmlformats-package.relationships+xml"/>
  <Override PartName="/ppt/notesSlides/_rels/notesSlide22.xml.rels" ContentType="application/vnd.openxmlformats-package.relationships+xml"/>
  <Override PartName="/ppt/notesSlides/_rels/notesSlide6.xml.rels" ContentType="application/vnd.openxmlformats-package.relationships+xml"/>
  <Override PartName="/ppt/notesSlides/_rels/notesSlide15.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_rels/notesSlide35.xml.rels" ContentType="application/vnd.openxmlformats-package.relationships+xml"/>
  <Override PartName="/ppt/notesSlides/_rels/notesSlide34.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33.xml.rels" ContentType="application/vnd.openxmlformats-package.relationships+xml"/>
  <Override PartName="/ppt/notesSlides/_rels/notesSlide32.xml.rels" ContentType="application/vnd.openxmlformats-package.relationships+xml"/>
  <Override PartName="/ppt/notesSlides/_rels/notesSlide31.xml.rels" ContentType="application/vnd.openxmlformats-package.relationships+xml"/>
  <Override PartName="/ppt/notesSlides/_rels/notesSlide29.xml.rels" ContentType="application/vnd.openxmlformats-package.relationships+xml"/>
  <Override PartName="/ppt/notesSlides/_rels/notesSlide30.xml.rels" ContentType="application/vnd.openxmlformats-package.relationships+xml"/>
  <Override PartName="/ppt/notesSlides/_rels/notesSlide28.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10.xml.rels" ContentType="application/vnd.openxmlformats-package.relationships+xml"/>
  <Override PartName="/ppt/notesSlides/_rels/notesSlide1.xml.rels" ContentType="application/vnd.openxmlformats-package.relationships+xml"/>
  <Override PartName="/ppt/notesSlides/_rels/notesSlide27.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2.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_rels/notesSlide9.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14.xml.rels" ContentType="application/vnd.openxmlformats-package.relationships+xml"/>
  <Override PartName="/ppt/notesSlides/_rels/notesSlide5.xml.rels" ContentType="application/vnd.openxmlformats-package.relationships+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5.xml" ContentType="application/vnd.openxmlformats-officedocument.presentationml.notesSlide+xml"/>
  <Override PartName="/ppt/notesSlides/notesSlide8.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8.xml" ContentType="application/vnd.openxmlformats-officedocument.presentationml.notesSlide+xml"/>
  <Override PartName="/ppt/notesSlides/notesSlide2.xml" ContentType="application/vnd.openxmlformats-officedocument.presentationml.notesSlide+xml"/>
  <Override PartName="/ppt/notesSlides/notesSlide30.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10.xml" ContentType="application/vnd.openxmlformats-officedocument.presentationml.notesSlide+xml"/>
  <Override PartName="/ppt/notesSlides/notesSlide34.xml" ContentType="application/vnd.openxmlformats-officedocument.presentationml.notesSlide+xml"/>
  <Override PartName="/ppt/notesSlides/notesSlide11.xml" ContentType="application/vnd.openxmlformats-officedocument.presentationml.notesSlide+xml"/>
  <Override PartName="/ppt/notesSlides/notesSlide35.xml" ContentType="application/vnd.openxmlformats-officedocument.presentationml.notesSlide+xml"/>
  <Override PartName="/ppt/notesSlides/notesSlide1.xml" ContentType="application/vnd.openxmlformats-officedocument.presentationml.notesSlide+xml"/>
  <Override PartName="/ppt/notesSlides/notesSlide27.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21.xml" ContentType="application/vnd.openxmlformats-officedocument.presentationml.notesSlide+xml"/>
  <Override PartName="/ppt/notesSlides/notesSlide5.xml" ContentType="application/vnd.openxmlformats-officedocument.presentationml.notesSlide+xml"/>
  <Override PartName="/ppt/notesSlides/notesSlide22.xml" ContentType="application/vnd.openxmlformats-officedocument.presentationml.notesSlide+xml"/>
  <Override PartName="/ppt/notesSlides/notesSlide6.xml" ContentType="application/vnd.openxmlformats-officedocument.presentationml.notesSlide+xml"/>
  <Override PartName="/ppt/notesSlides/notesSlide23.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
          <p:cNvSpPr/>
          <p:nvPr/>
        </p:nvSpPr>
        <p:spPr>
          <a:xfrm>
            <a:off x="0" y="0"/>
            <a:ext cx="6858000" cy="9144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7" name="PlaceHolder 1"/>
          <p:cNvSpPr>
            <a:spLocks noGrp="1"/>
          </p:cNvSpPr>
          <p:nvPr>
            <p:ph type="hdr"/>
          </p:nvPr>
        </p:nvSpPr>
        <p:spPr>
          <a:xfrm>
            <a:off x="-360" y="0"/>
            <a:ext cx="2971800" cy="457200"/>
          </a:xfrm>
          <a:prstGeom prst="rect">
            <a:avLst/>
          </a:prstGeom>
          <a:noFill/>
          <a:ln w="0">
            <a:noFill/>
          </a:ln>
        </p:spPr>
        <p:txBody>
          <a:bodyPr lIns="90000" rIns="90000" tIns="46800" bIns="46800" anchor="t">
            <a:noAutofit/>
          </a:bodyPr>
          <a:p>
            <a:pPr indent="0">
              <a:buNone/>
            </a:pPr>
            <a:endParaRPr b="0" lang="en-US" sz="2400" spc="-1" strike="noStrike">
              <a:solidFill>
                <a:srgbClr val="000000"/>
              </a:solidFill>
              <a:latin typeface="Times New Roman"/>
            </a:endParaRPr>
          </a:p>
        </p:txBody>
      </p:sp>
      <p:sp>
        <p:nvSpPr>
          <p:cNvPr id="18" name="PlaceHolder 2"/>
          <p:cNvSpPr>
            <a:spLocks noGrp="1"/>
          </p:cNvSpPr>
          <p:nvPr>
            <p:ph type="dt" idx="7"/>
          </p:nvPr>
        </p:nvSpPr>
        <p:spPr>
          <a:xfrm>
            <a:off x="3884400" y="0"/>
            <a:ext cx="2971800" cy="457200"/>
          </a:xfrm>
          <a:prstGeom prst="rect">
            <a:avLst/>
          </a:prstGeom>
          <a:noFill/>
          <a:ln w="0">
            <a:noFill/>
          </a:ln>
        </p:spPr>
        <p:txBody>
          <a:bodyPr lIns="90000" rIns="90000" tIns="46800" bIns="46800" anchor="t">
            <a:noAutofit/>
          </a:bodyPr>
          <a:p>
            <a:pPr indent="0">
              <a:buNone/>
            </a:pPr>
            <a:endParaRPr b="0" lang="en-US" sz="2400" spc="-1" strike="noStrike">
              <a:solidFill>
                <a:srgbClr val="000000"/>
              </a:solidFill>
              <a:latin typeface="Times New Roman"/>
            </a:endParaRPr>
          </a:p>
        </p:txBody>
      </p:sp>
      <p:sp>
        <p:nvSpPr>
          <p:cNvPr id="19" name="PlaceHolder 3"/>
          <p:cNvSpPr>
            <a:spLocks noGrp="1"/>
          </p:cNvSpPr>
          <p:nvPr>
            <p:ph type="sldImg"/>
          </p:nvPr>
        </p:nvSpPr>
        <p:spPr>
          <a:xfrm>
            <a:off x="1143000" y="685440"/>
            <a:ext cx="4572000" cy="3429000"/>
          </a:xfrm>
          <a:prstGeom prst="rect">
            <a:avLst/>
          </a:prstGeom>
          <a:noFill/>
          <a:ln w="9360">
            <a:solidFill>
              <a:srgbClr val="000000"/>
            </a:solidFill>
            <a:miter/>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200" spc="-1" strike="noStrike">
                <a:solidFill>
                  <a:srgbClr val="006633"/>
                </a:solidFill>
                <a:latin typeface="Tahoma"/>
              </a:rPr>
              <a:t>Click to move the slide</a:t>
            </a:r>
            <a:endParaRPr b="0" lang="en-US" sz="4200" spc="-1" strike="noStrike">
              <a:solidFill>
                <a:srgbClr val="006633"/>
              </a:solidFill>
              <a:latin typeface="Tahoma"/>
            </a:endParaRPr>
          </a:p>
        </p:txBody>
      </p:sp>
      <p:sp>
        <p:nvSpPr>
          <p:cNvPr id="20" name="PlaceHolder 4"/>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Click to edit the notes format</a:t>
            </a:r>
            <a:endParaRPr b="0" lang="en-US" sz="1200" spc="-1" strike="noStrike">
              <a:solidFill>
                <a:srgbClr val="000000"/>
              </a:solidFill>
              <a:latin typeface="Arial"/>
            </a:endParaRPr>
          </a:p>
        </p:txBody>
      </p:sp>
      <p:sp>
        <p:nvSpPr>
          <p:cNvPr id="21" name="PlaceHolder 5"/>
          <p:cNvSpPr>
            <a:spLocks noGrp="1"/>
          </p:cNvSpPr>
          <p:nvPr>
            <p:ph type="ftr" idx="8"/>
          </p:nvPr>
        </p:nvSpPr>
        <p:spPr>
          <a:xfrm>
            <a:off x="-360" y="8685360"/>
            <a:ext cx="2971800" cy="457200"/>
          </a:xfrm>
          <a:prstGeom prst="rect">
            <a:avLst/>
          </a:prstGeom>
          <a:noFill/>
          <a:ln w="0">
            <a:noFill/>
          </a:ln>
        </p:spPr>
        <p:txBody>
          <a:bodyPr lIns="90000" rIns="90000" tIns="46800" bIns="46800" anchor="b">
            <a:noAutofit/>
          </a:bodyPr>
          <a:p>
            <a:pPr indent="0">
              <a:buNone/>
            </a:pPr>
            <a:endParaRPr b="0" lang="en-US" sz="2400" spc="-1" strike="noStrike">
              <a:solidFill>
                <a:srgbClr val="000000"/>
              </a:solidFill>
              <a:latin typeface="Times New Roman"/>
            </a:endParaRPr>
          </a:p>
        </p:txBody>
      </p:sp>
      <p:sp>
        <p:nvSpPr>
          <p:cNvPr id="22" name="PlaceHolder 6"/>
          <p:cNvSpPr>
            <a:spLocks noGrp="1"/>
          </p:cNvSpPr>
          <p:nvPr>
            <p:ph type="sldNum" idx="9"/>
          </p:nvPr>
        </p:nvSpPr>
        <p:spPr>
          <a:xfrm>
            <a:off x="3884400" y="8685360"/>
            <a:ext cx="2971800" cy="457200"/>
          </a:xfrm>
          <a:prstGeom prst="rect">
            <a:avLst/>
          </a:prstGeom>
          <a:noFill/>
          <a:ln w="0">
            <a:noFill/>
          </a:ln>
        </p:spPr>
        <p:txBody>
          <a:bodyPr lIns="90000" rIns="90000" tIns="46800" bIns="46800" anchor="b">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AU" sz="1200" spc="-1" strike="noStrike">
                <a:solidFill>
                  <a:srgbClr val="000000"/>
                </a:solidFill>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3D31985-3517-42E7-8937-71008576EFFB}" type="slidenum">
              <a:rPr b="0" lang="en-AU"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ECF276F-B917-4A8C-96BD-128BE445DDA0}"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61" name="PlaceHolder 1"/>
          <p:cNvSpPr>
            <a:spLocks noGrp="1"/>
          </p:cNvSpPr>
          <p:nvPr>
            <p:ph type="sldImg"/>
          </p:nvPr>
        </p:nvSpPr>
        <p:spPr>
          <a:xfrm>
            <a:off x="1143000" y="685800"/>
            <a:ext cx="4572000" cy="3429000"/>
          </a:xfrm>
          <a:prstGeom prst="rect">
            <a:avLst/>
          </a:prstGeom>
          <a:ln w="0">
            <a:noFill/>
          </a:ln>
        </p:spPr>
      </p:sp>
      <p:sp>
        <p:nvSpPr>
          <p:cNvPr id="362"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E569E75-07DC-4C8C-B064-AC09D6DBAE64}"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64" name="PlaceHolder 1"/>
          <p:cNvSpPr>
            <a:spLocks noGrp="1"/>
          </p:cNvSpPr>
          <p:nvPr>
            <p:ph type="sldImg"/>
          </p:nvPr>
        </p:nvSpPr>
        <p:spPr>
          <a:xfrm>
            <a:off x="1143000" y="685800"/>
            <a:ext cx="4572000" cy="3429000"/>
          </a:xfrm>
          <a:prstGeom prst="rect">
            <a:avLst/>
          </a:prstGeom>
          <a:ln w="0">
            <a:noFill/>
          </a:ln>
        </p:spPr>
      </p:sp>
      <p:sp>
        <p:nvSpPr>
          <p:cNvPr id="365"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B9DBEBB-C4F4-4D4A-A7CD-8CC9F1A56062}"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67" name="PlaceHolder 1"/>
          <p:cNvSpPr>
            <a:spLocks noGrp="1"/>
          </p:cNvSpPr>
          <p:nvPr>
            <p:ph type="sldImg"/>
          </p:nvPr>
        </p:nvSpPr>
        <p:spPr>
          <a:xfrm>
            <a:off x="1143000" y="685800"/>
            <a:ext cx="4572000" cy="3429000"/>
          </a:xfrm>
          <a:prstGeom prst="rect">
            <a:avLst/>
          </a:prstGeom>
          <a:ln w="0">
            <a:noFill/>
          </a:ln>
        </p:spPr>
      </p:sp>
      <p:sp>
        <p:nvSpPr>
          <p:cNvPr id="368"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EB0BA48-F8FA-4080-A6CF-D65D5BBE25A3}"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70" name="PlaceHolder 1"/>
          <p:cNvSpPr>
            <a:spLocks noGrp="1"/>
          </p:cNvSpPr>
          <p:nvPr>
            <p:ph type="sldImg"/>
          </p:nvPr>
        </p:nvSpPr>
        <p:spPr>
          <a:xfrm>
            <a:off x="1143000" y="685800"/>
            <a:ext cx="4572000" cy="3429000"/>
          </a:xfrm>
          <a:prstGeom prst="rect">
            <a:avLst/>
          </a:prstGeom>
          <a:ln w="0">
            <a:noFill/>
          </a:ln>
        </p:spPr>
      </p:sp>
      <p:sp>
        <p:nvSpPr>
          <p:cNvPr id="371"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6BFDE32-64A5-47DA-8199-FC3A788F28D0}"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73" name="PlaceHolder 1"/>
          <p:cNvSpPr>
            <a:spLocks noGrp="1"/>
          </p:cNvSpPr>
          <p:nvPr>
            <p:ph type="sldImg"/>
          </p:nvPr>
        </p:nvSpPr>
        <p:spPr>
          <a:xfrm>
            <a:off x="1143000" y="685800"/>
            <a:ext cx="4572000" cy="3429000"/>
          </a:xfrm>
          <a:prstGeom prst="rect">
            <a:avLst/>
          </a:prstGeom>
          <a:ln w="0">
            <a:noFill/>
          </a:ln>
        </p:spPr>
      </p:sp>
      <p:sp>
        <p:nvSpPr>
          <p:cNvPr id="374"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7B92B91-FDF1-4003-BCB7-401219060B28}"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76" name="PlaceHolder 1"/>
          <p:cNvSpPr>
            <a:spLocks noGrp="1"/>
          </p:cNvSpPr>
          <p:nvPr>
            <p:ph type="sldImg"/>
          </p:nvPr>
        </p:nvSpPr>
        <p:spPr>
          <a:xfrm>
            <a:off x="1143000" y="685800"/>
            <a:ext cx="4572000" cy="3429000"/>
          </a:xfrm>
          <a:prstGeom prst="rect">
            <a:avLst/>
          </a:prstGeom>
          <a:ln w="0">
            <a:noFill/>
          </a:ln>
        </p:spPr>
      </p:sp>
      <p:sp>
        <p:nvSpPr>
          <p:cNvPr id="377"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AEC6B66-0943-4B63-94E7-B32127922C04}"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79" name="PlaceHolder 1"/>
          <p:cNvSpPr>
            <a:spLocks noGrp="1"/>
          </p:cNvSpPr>
          <p:nvPr>
            <p:ph type="sldImg"/>
          </p:nvPr>
        </p:nvSpPr>
        <p:spPr>
          <a:xfrm>
            <a:off x="1143000" y="685800"/>
            <a:ext cx="4572000" cy="3429000"/>
          </a:xfrm>
          <a:prstGeom prst="rect">
            <a:avLst/>
          </a:prstGeom>
          <a:ln w="0">
            <a:noFill/>
          </a:ln>
        </p:spPr>
      </p:sp>
      <p:sp>
        <p:nvSpPr>
          <p:cNvPr id="380"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48302DB-0956-4E42-A414-A9CFA048555F}"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82" name="PlaceHolder 1"/>
          <p:cNvSpPr>
            <a:spLocks noGrp="1"/>
          </p:cNvSpPr>
          <p:nvPr>
            <p:ph type="sldImg"/>
          </p:nvPr>
        </p:nvSpPr>
        <p:spPr>
          <a:xfrm>
            <a:off x="1143000" y="685800"/>
            <a:ext cx="4572000" cy="3429000"/>
          </a:xfrm>
          <a:prstGeom prst="rect">
            <a:avLst/>
          </a:prstGeom>
          <a:ln w="0">
            <a:noFill/>
          </a:ln>
        </p:spPr>
      </p:sp>
      <p:sp>
        <p:nvSpPr>
          <p:cNvPr id="383"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C5595ED-EE97-48CC-93E0-5136B794EEF3}"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85" name="PlaceHolder 1"/>
          <p:cNvSpPr>
            <a:spLocks noGrp="1"/>
          </p:cNvSpPr>
          <p:nvPr>
            <p:ph type="sldImg"/>
          </p:nvPr>
        </p:nvSpPr>
        <p:spPr>
          <a:xfrm>
            <a:off x="1143000" y="685800"/>
            <a:ext cx="4572000" cy="3429000"/>
          </a:xfrm>
          <a:prstGeom prst="rect">
            <a:avLst/>
          </a:prstGeom>
          <a:ln w="0">
            <a:noFill/>
          </a:ln>
        </p:spPr>
      </p:sp>
      <p:sp>
        <p:nvSpPr>
          <p:cNvPr id="386"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914465D-14B3-4135-852A-C29BFD366B8A}"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88" name="PlaceHolder 1"/>
          <p:cNvSpPr>
            <a:spLocks noGrp="1"/>
          </p:cNvSpPr>
          <p:nvPr>
            <p:ph type="sldImg"/>
          </p:nvPr>
        </p:nvSpPr>
        <p:spPr>
          <a:xfrm>
            <a:off x="1143000" y="685800"/>
            <a:ext cx="4572000" cy="3429000"/>
          </a:xfrm>
          <a:prstGeom prst="rect">
            <a:avLst/>
          </a:prstGeom>
          <a:ln w="0">
            <a:noFill/>
          </a:ln>
        </p:spPr>
      </p:sp>
      <p:sp>
        <p:nvSpPr>
          <p:cNvPr id="389"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B610941-C186-45F2-BE1D-C0CCDA9A8E85}"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91" name="PlaceHolder 1"/>
          <p:cNvSpPr>
            <a:spLocks noGrp="1"/>
          </p:cNvSpPr>
          <p:nvPr>
            <p:ph type="sldImg"/>
          </p:nvPr>
        </p:nvSpPr>
        <p:spPr>
          <a:xfrm>
            <a:off x="1143000" y="685800"/>
            <a:ext cx="4572000" cy="3429000"/>
          </a:xfrm>
          <a:prstGeom prst="rect">
            <a:avLst/>
          </a:prstGeom>
          <a:ln w="0">
            <a:noFill/>
          </a:ln>
        </p:spPr>
      </p:sp>
      <p:sp>
        <p:nvSpPr>
          <p:cNvPr id="392"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B655035-1A6E-46FC-9E0D-FAA07BEF689E}"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94" name="PlaceHolder 1"/>
          <p:cNvSpPr>
            <a:spLocks noGrp="1"/>
          </p:cNvSpPr>
          <p:nvPr>
            <p:ph type="sldImg"/>
          </p:nvPr>
        </p:nvSpPr>
        <p:spPr>
          <a:xfrm>
            <a:off x="1143000" y="685800"/>
            <a:ext cx="4572000" cy="3429000"/>
          </a:xfrm>
          <a:prstGeom prst="rect">
            <a:avLst/>
          </a:prstGeom>
          <a:ln w="0">
            <a:noFill/>
          </a:ln>
        </p:spPr>
      </p:sp>
      <p:sp>
        <p:nvSpPr>
          <p:cNvPr id="395"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B65B1CD-D481-4984-90C1-DFA2CDBB4698}"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97" name="PlaceHolder 1"/>
          <p:cNvSpPr>
            <a:spLocks noGrp="1"/>
          </p:cNvSpPr>
          <p:nvPr>
            <p:ph type="sldImg"/>
          </p:nvPr>
        </p:nvSpPr>
        <p:spPr>
          <a:xfrm>
            <a:off x="1293840" y="798480"/>
            <a:ext cx="4271760" cy="3203640"/>
          </a:xfrm>
          <a:prstGeom prst="rect">
            <a:avLst/>
          </a:prstGeom>
          <a:ln w="0">
            <a:noFill/>
          </a:ln>
        </p:spPr>
      </p:sp>
      <p:sp>
        <p:nvSpPr>
          <p:cNvPr id="398" name="PlaceHolder 2"/>
          <p:cNvSpPr>
            <a:spLocks noGrp="1"/>
          </p:cNvSpPr>
          <p:nvPr>
            <p:ph type="body"/>
          </p:nvPr>
        </p:nvSpPr>
        <p:spPr>
          <a:xfrm>
            <a:off x="915840" y="4346280"/>
            <a:ext cx="5026320" cy="38494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F20CA17-86E8-4742-9B90-6BDEDA1AF401}"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00" name="PlaceHolder 1"/>
          <p:cNvSpPr>
            <a:spLocks noGrp="1"/>
          </p:cNvSpPr>
          <p:nvPr>
            <p:ph type="sldImg"/>
          </p:nvPr>
        </p:nvSpPr>
        <p:spPr>
          <a:xfrm>
            <a:off x="1143000" y="685800"/>
            <a:ext cx="4572000" cy="3429000"/>
          </a:xfrm>
          <a:prstGeom prst="rect">
            <a:avLst/>
          </a:prstGeom>
          <a:ln w="0">
            <a:noFill/>
          </a:ln>
        </p:spPr>
      </p:sp>
      <p:sp>
        <p:nvSpPr>
          <p:cNvPr id="401"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F18FBB8-5175-4403-BA42-DCFEDE6BD677}"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03" name="PlaceHolder 1"/>
          <p:cNvSpPr>
            <a:spLocks noGrp="1"/>
          </p:cNvSpPr>
          <p:nvPr>
            <p:ph type="sldImg"/>
          </p:nvPr>
        </p:nvSpPr>
        <p:spPr>
          <a:xfrm>
            <a:off x="1143000" y="685800"/>
            <a:ext cx="4572000" cy="3429000"/>
          </a:xfrm>
          <a:prstGeom prst="rect">
            <a:avLst/>
          </a:prstGeom>
          <a:ln w="0">
            <a:noFill/>
          </a:ln>
        </p:spPr>
      </p:sp>
      <p:sp>
        <p:nvSpPr>
          <p:cNvPr id="404"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C06CDE5-98CC-483B-B52A-05C48BEE3786}"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06" name="PlaceHolder 1"/>
          <p:cNvSpPr>
            <a:spLocks noGrp="1"/>
          </p:cNvSpPr>
          <p:nvPr>
            <p:ph type="sldImg"/>
          </p:nvPr>
        </p:nvSpPr>
        <p:spPr>
          <a:xfrm>
            <a:off x="1143000" y="685800"/>
            <a:ext cx="4572000" cy="3429000"/>
          </a:xfrm>
          <a:prstGeom prst="rect">
            <a:avLst/>
          </a:prstGeom>
          <a:ln w="0">
            <a:noFill/>
          </a:ln>
        </p:spPr>
      </p:sp>
      <p:sp>
        <p:nvSpPr>
          <p:cNvPr id="407"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93127C6-7ADC-4051-A325-623484E93B0F}"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09" name="PlaceHolder 1"/>
          <p:cNvSpPr>
            <a:spLocks noGrp="1"/>
          </p:cNvSpPr>
          <p:nvPr>
            <p:ph type="sldImg"/>
          </p:nvPr>
        </p:nvSpPr>
        <p:spPr>
          <a:xfrm>
            <a:off x="1143000" y="685800"/>
            <a:ext cx="4572000" cy="3429000"/>
          </a:xfrm>
          <a:prstGeom prst="rect">
            <a:avLst/>
          </a:prstGeom>
          <a:ln w="0">
            <a:noFill/>
          </a:ln>
        </p:spPr>
      </p:sp>
      <p:sp>
        <p:nvSpPr>
          <p:cNvPr id="410"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545BB96-79B0-48CC-91C2-A449E602D9D8}"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12" name="PlaceHolder 1"/>
          <p:cNvSpPr>
            <a:spLocks noGrp="1"/>
          </p:cNvSpPr>
          <p:nvPr>
            <p:ph type="sldImg"/>
          </p:nvPr>
        </p:nvSpPr>
        <p:spPr>
          <a:xfrm>
            <a:off x="1143000" y="685800"/>
            <a:ext cx="4572000" cy="3429000"/>
          </a:xfrm>
          <a:prstGeom prst="rect">
            <a:avLst/>
          </a:prstGeom>
          <a:ln w="0">
            <a:noFill/>
          </a:ln>
        </p:spPr>
      </p:sp>
      <p:sp>
        <p:nvSpPr>
          <p:cNvPr id="413"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AA070F2-BF3E-4925-AAE6-D1E271813022}"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15" name="PlaceHolder 1"/>
          <p:cNvSpPr>
            <a:spLocks noGrp="1"/>
          </p:cNvSpPr>
          <p:nvPr>
            <p:ph type="sldImg"/>
          </p:nvPr>
        </p:nvSpPr>
        <p:spPr>
          <a:xfrm>
            <a:off x="1143000" y="685800"/>
            <a:ext cx="4572000" cy="3429000"/>
          </a:xfrm>
          <a:prstGeom prst="rect">
            <a:avLst/>
          </a:prstGeom>
          <a:ln w="0">
            <a:noFill/>
          </a:ln>
        </p:spPr>
      </p:sp>
      <p:sp>
        <p:nvSpPr>
          <p:cNvPr id="416"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CD0C153-9225-456B-968B-BA2754FC20E2}"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18" name="PlaceHolder 1"/>
          <p:cNvSpPr>
            <a:spLocks noGrp="1"/>
          </p:cNvSpPr>
          <p:nvPr>
            <p:ph type="sldImg"/>
          </p:nvPr>
        </p:nvSpPr>
        <p:spPr>
          <a:xfrm>
            <a:off x="1143000" y="685800"/>
            <a:ext cx="4572000" cy="3429000"/>
          </a:xfrm>
          <a:prstGeom prst="rect">
            <a:avLst/>
          </a:prstGeom>
          <a:ln w="0">
            <a:noFill/>
          </a:ln>
        </p:spPr>
      </p:sp>
      <p:sp>
        <p:nvSpPr>
          <p:cNvPr id="419"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0"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2B11CA0-FC0D-4A79-B048-ACD3F96B3020}"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21" name="PlaceHolder 1"/>
          <p:cNvSpPr>
            <a:spLocks noGrp="1"/>
          </p:cNvSpPr>
          <p:nvPr>
            <p:ph type="sldImg"/>
          </p:nvPr>
        </p:nvSpPr>
        <p:spPr>
          <a:xfrm>
            <a:off x="1143000" y="685800"/>
            <a:ext cx="4572000" cy="3429000"/>
          </a:xfrm>
          <a:prstGeom prst="rect">
            <a:avLst/>
          </a:prstGeom>
          <a:ln w="0">
            <a:noFill/>
          </a:ln>
        </p:spPr>
      </p:sp>
      <p:sp>
        <p:nvSpPr>
          <p:cNvPr id="422"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E0BB4BC-6C6A-4BCD-979B-FD80FE9BE913}"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24" name="PlaceHolder 1"/>
          <p:cNvSpPr>
            <a:spLocks noGrp="1"/>
          </p:cNvSpPr>
          <p:nvPr>
            <p:ph type="sldImg"/>
          </p:nvPr>
        </p:nvSpPr>
        <p:spPr>
          <a:xfrm>
            <a:off x="1143000" y="685800"/>
            <a:ext cx="4572000" cy="3429000"/>
          </a:xfrm>
          <a:prstGeom prst="rect">
            <a:avLst/>
          </a:prstGeom>
          <a:ln w="0">
            <a:noFill/>
          </a:ln>
        </p:spPr>
      </p:sp>
      <p:sp>
        <p:nvSpPr>
          <p:cNvPr id="425"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5A2465E-1A5F-4E1B-AE16-DEC3103D22DE}"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27" name="PlaceHolder 1"/>
          <p:cNvSpPr>
            <a:spLocks noGrp="1"/>
          </p:cNvSpPr>
          <p:nvPr>
            <p:ph type="sldImg"/>
          </p:nvPr>
        </p:nvSpPr>
        <p:spPr>
          <a:xfrm>
            <a:off x="1143000" y="685800"/>
            <a:ext cx="4572000" cy="3429000"/>
          </a:xfrm>
          <a:prstGeom prst="rect">
            <a:avLst/>
          </a:prstGeom>
          <a:ln w="0">
            <a:noFill/>
          </a:ln>
        </p:spPr>
      </p:sp>
      <p:sp>
        <p:nvSpPr>
          <p:cNvPr id="428"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C9639DC-2B0B-40BE-BCBF-1E1F1963737D}"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30" name="PlaceHolder 1"/>
          <p:cNvSpPr>
            <a:spLocks noGrp="1"/>
          </p:cNvSpPr>
          <p:nvPr>
            <p:ph type="sldImg"/>
          </p:nvPr>
        </p:nvSpPr>
        <p:spPr>
          <a:xfrm>
            <a:off x="1143000" y="685800"/>
            <a:ext cx="4572000" cy="3429000"/>
          </a:xfrm>
          <a:prstGeom prst="rect">
            <a:avLst/>
          </a:prstGeom>
          <a:ln w="0">
            <a:noFill/>
          </a:ln>
        </p:spPr>
      </p:sp>
      <p:sp>
        <p:nvSpPr>
          <p:cNvPr id="431"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4B0AC7F-0A5B-44D8-86C7-E42725161602}"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33" name="PlaceHolder 1"/>
          <p:cNvSpPr>
            <a:spLocks noGrp="1"/>
          </p:cNvSpPr>
          <p:nvPr>
            <p:ph type="sldImg"/>
          </p:nvPr>
        </p:nvSpPr>
        <p:spPr>
          <a:xfrm>
            <a:off x="1143000" y="685800"/>
            <a:ext cx="4572000" cy="3429000"/>
          </a:xfrm>
          <a:prstGeom prst="rect">
            <a:avLst/>
          </a:prstGeom>
          <a:ln w="0">
            <a:noFill/>
          </a:ln>
        </p:spPr>
      </p:sp>
      <p:sp>
        <p:nvSpPr>
          <p:cNvPr id="434"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D6909F4-901E-4B2D-886B-790FB243C98C}"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36" name="PlaceHolder 1"/>
          <p:cNvSpPr>
            <a:spLocks noGrp="1"/>
          </p:cNvSpPr>
          <p:nvPr>
            <p:ph type="sldImg"/>
          </p:nvPr>
        </p:nvSpPr>
        <p:spPr>
          <a:xfrm>
            <a:off x="1143000" y="685800"/>
            <a:ext cx="4572000" cy="3429000"/>
          </a:xfrm>
          <a:prstGeom prst="rect">
            <a:avLst/>
          </a:prstGeom>
          <a:ln w="0">
            <a:noFill/>
          </a:ln>
        </p:spPr>
      </p:sp>
      <p:sp>
        <p:nvSpPr>
          <p:cNvPr id="437"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8"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BCEF2DD-3E46-44BA-A8DE-63A9AAD670C5}"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39" name="PlaceHolder 1"/>
          <p:cNvSpPr>
            <a:spLocks noGrp="1"/>
          </p:cNvSpPr>
          <p:nvPr>
            <p:ph type="sldImg"/>
          </p:nvPr>
        </p:nvSpPr>
        <p:spPr>
          <a:xfrm>
            <a:off x="1143000" y="685800"/>
            <a:ext cx="4572000" cy="3429000"/>
          </a:xfrm>
          <a:prstGeom prst="rect">
            <a:avLst/>
          </a:prstGeom>
          <a:ln w="0">
            <a:noFill/>
          </a:ln>
        </p:spPr>
      </p:sp>
      <p:sp>
        <p:nvSpPr>
          <p:cNvPr id="440"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0D4E9A0-AB40-49EC-A2C5-3FA495FA0095}"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42" name="PlaceHolder 1"/>
          <p:cNvSpPr>
            <a:spLocks noGrp="1"/>
          </p:cNvSpPr>
          <p:nvPr>
            <p:ph type="sldImg"/>
          </p:nvPr>
        </p:nvSpPr>
        <p:spPr>
          <a:xfrm>
            <a:off x="1143000" y="685800"/>
            <a:ext cx="4572000" cy="3429000"/>
          </a:xfrm>
          <a:prstGeom prst="rect">
            <a:avLst/>
          </a:prstGeom>
          <a:ln w="0">
            <a:noFill/>
          </a:ln>
        </p:spPr>
      </p:sp>
      <p:sp>
        <p:nvSpPr>
          <p:cNvPr id="443"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C6C3010-9C9C-4A8B-BE35-5B75B7FC1294}"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45" name="PlaceHolder 1"/>
          <p:cNvSpPr>
            <a:spLocks noGrp="1"/>
          </p:cNvSpPr>
          <p:nvPr>
            <p:ph type="sldImg"/>
          </p:nvPr>
        </p:nvSpPr>
        <p:spPr>
          <a:xfrm>
            <a:off x="1143000" y="685800"/>
            <a:ext cx="4572000" cy="3429000"/>
          </a:xfrm>
          <a:prstGeom prst="rect">
            <a:avLst/>
          </a:prstGeom>
          <a:ln w="0">
            <a:noFill/>
          </a:ln>
        </p:spPr>
      </p:sp>
      <p:sp>
        <p:nvSpPr>
          <p:cNvPr id="446"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7"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3091700-CD0B-47FD-BE5D-A901170FD9C4}"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48" name="PlaceHolder 1"/>
          <p:cNvSpPr>
            <a:spLocks noGrp="1"/>
          </p:cNvSpPr>
          <p:nvPr>
            <p:ph type="sldImg"/>
          </p:nvPr>
        </p:nvSpPr>
        <p:spPr>
          <a:xfrm>
            <a:off x="1143000" y="685800"/>
            <a:ext cx="4572000" cy="3429000"/>
          </a:xfrm>
          <a:prstGeom prst="rect">
            <a:avLst/>
          </a:prstGeom>
          <a:ln w="0">
            <a:noFill/>
          </a:ln>
        </p:spPr>
      </p:sp>
      <p:sp>
        <p:nvSpPr>
          <p:cNvPr id="449"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0"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A0893C6-5A26-406F-9AA9-F270F56076C6}"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51" name="PlaceHolder 1"/>
          <p:cNvSpPr>
            <a:spLocks noGrp="1"/>
          </p:cNvSpPr>
          <p:nvPr>
            <p:ph type="sldImg"/>
          </p:nvPr>
        </p:nvSpPr>
        <p:spPr>
          <a:xfrm>
            <a:off x="1143000" y="685800"/>
            <a:ext cx="4572000" cy="3429000"/>
          </a:xfrm>
          <a:prstGeom prst="rect">
            <a:avLst/>
          </a:prstGeom>
          <a:ln w="0">
            <a:noFill/>
          </a:ln>
        </p:spPr>
      </p:sp>
      <p:sp>
        <p:nvSpPr>
          <p:cNvPr id="452"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3"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59A48DA-8664-4409-A1EE-61A3923DBBF2}"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54" name="PlaceHolder 1"/>
          <p:cNvSpPr>
            <a:spLocks noGrp="1"/>
          </p:cNvSpPr>
          <p:nvPr>
            <p:ph type="sldImg"/>
          </p:nvPr>
        </p:nvSpPr>
        <p:spPr>
          <a:xfrm>
            <a:off x="1143000" y="685800"/>
            <a:ext cx="4572000" cy="3429000"/>
          </a:xfrm>
          <a:prstGeom prst="rect">
            <a:avLst/>
          </a:prstGeom>
          <a:ln w="0">
            <a:noFill/>
          </a:ln>
        </p:spPr>
      </p:sp>
      <p:sp>
        <p:nvSpPr>
          <p:cNvPr id="455"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6"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6087F0E-D5E1-4812-834F-104547AA75C5}"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57" name="PlaceHolder 1"/>
          <p:cNvSpPr>
            <a:spLocks noGrp="1"/>
          </p:cNvSpPr>
          <p:nvPr>
            <p:ph type="sldImg"/>
          </p:nvPr>
        </p:nvSpPr>
        <p:spPr>
          <a:xfrm>
            <a:off x="1143000" y="685800"/>
            <a:ext cx="4572000" cy="3429000"/>
          </a:xfrm>
          <a:prstGeom prst="rect">
            <a:avLst/>
          </a:prstGeom>
          <a:ln w="0">
            <a:noFill/>
          </a:ln>
        </p:spPr>
      </p:sp>
      <p:sp>
        <p:nvSpPr>
          <p:cNvPr id="458"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9"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BC1E02D-9CA8-4C7A-8057-7D039C6D0BF9}"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60" name="PlaceHolder 1"/>
          <p:cNvSpPr>
            <a:spLocks noGrp="1"/>
          </p:cNvSpPr>
          <p:nvPr>
            <p:ph type="sldImg"/>
          </p:nvPr>
        </p:nvSpPr>
        <p:spPr>
          <a:xfrm>
            <a:off x="1143000" y="685800"/>
            <a:ext cx="4572000" cy="3429000"/>
          </a:xfrm>
          <a:prstGeom prst="rect">
            <a:avLst/>
          </a:prstGeom>
          <a:ln w="0">
            <a:noFill/>
          </a:ln>
        </p:spPr>
      </p:sp>
      <p:sp>
        <p:nvSpPr>
          <p:cNvPr id="461"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2"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798F383-DD91-4546-970F-C6D75C3FF137}"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63" name="PlaceHolder 1"/>
          <p:cNvSpPr>
            <a:spLocks noGrp="1"/>
          </p:cNvSpPr>
          <p:nvPr>
            <p:ph type="sldImg"/>
          </p:nvPr>
        </p:nvSpPr>
        <p:spPr>
          <a:xfrm>
            <a:off x="1143000" y="685800"/>
            <a:ext cx="4572000" cy="3429000"/>
          </a:xfrm>
          <a:prstGeom prst="rect">
            <a:avLst/>
          </a:prstGeom>
          <a:ln w="0">
            <a:noFill/>
          </a:ln>
        </p:spPr>
      </p:sp>
      <p:sp>
        <p:nvSpPr>
          <p:cNvPr id="464"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D550F91C-4B3B-4216-9942-F3C9B38BF825}"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0A1B67AD-BFF3-416C-820B-D9B27D42D2FF}" type="slidenum">
              <a:t>&lt;#&gt;</a:t>
            </a:fld>
          </a:p>
        </p:txBody>
      </p:sp>
      <p:sp>
        <p:nvSpPr>
          <p:cNvPr id="4" name="PlaceHolder 3"/>
          <p:cNvSpPr>
            <a:spLocks noGrp="1"/>
          </p:cNvSpPr>
          <p:nvPr>
            <p:ph type="dt" idx="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7920"/>
            <a:ext cx="8229600" cy="113976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200" spc="-1" strike="noStrike">
                <a:solidFill>
                  <a:srgbClr val="006633"/>
                </a:solidFill>
                <a:latin typeface="Tahoma"/>
              </a:rPr>
              <a:t>Click to edit the title text format</a:t>
            </a:r>
            <a:endParaRPr b="0" lang="en-US" sz="4200" spc="-1" strike="noStrike">
              <a:solidFill>
                <a:srgbClr val="006633"/>
              </a:solidFill>
              <a:latin typeface="Tahoma"/>
            </a:endParaRPr>
          </a:p>
        </p:txBody>
      </p:sp>
      <p:sp>
        <p:nvSpPr>
          <p:cNvPr id="1" name="PlaceHolder 2"/>
          <p:cNvSpPr>
            <a:spLocks noGrp="1"/>
          </p:cNvSpPr>
          <p:nvPr>
            <p:ph type="body"/>
          </p:nvPr>
        </p:nvSpPr>
        <p:spPr>
          <a:xfrm>
            <a:off x="457200" y="1599840"/>
            <a:ext cx="8229600" cy="4530600"/>
          </a:xfrm>
          <a:prstGeom prst="rect">
            <a:avLst/>
          </a:prstGeom>
          <a:noFill/>
          <a:ln w="0">
            <a:noFill/>
          </a:ln>
        </p:spPr>
        <p:txBody>
          <a:bodyPr lIns="90000" rIns="90000" tIns="46800" bIns="46800" anchor="t">
            <a:normAutofit/>
          </a:bodyPr>
          <a:p>
            <a:pPr marL="343080" indent="-34308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Click to edit the outline text format</a:t>
            </a:r>
            <a:endParaRPr b="0" lang="en-US" sz="3000" spc="-1" strike="noStrike">
              <a:solidFill>
                <a:srgbClr val="000000"/>
              </a:solidFill>
              <a:latin typeface="Arial"/>
            </a:endParaRPr>
          </a:p>
          <a:p>
            <a:pPr lvl="1" marL="669960" indent="-325440">
              <a:spcBef>
                <a:spcPts val="751"/>
              </a:spcBef>
              <a:buClr>
                <a:srgbClr val="3b812f"/>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Second Outline Level</a:t>
            </a:r>
            <a:endParaRPr b="0" lang="en-US" sz="3000" spc="-1" strike="noStrike">
              <a:solidFill>
                <a:srgbClr val="000000"/>
              </a:solidFill>
              <a:latin typeface="Arial"/>
            </a:endParaRPr>
          </a:p>
          <a:p>
            <a:pPr lvl="2" marL="1022400" indent="-35100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Third Outline Level</a:t>
            </a:r>
            <a:endParaRPr b="0" lang="en-US" sz="3000" spc="-1" strike="noStrike">
              <a:solidFill>
                <a:srgbClr val="000000"/>
              </a:solidFill>
              <a:latin typeface="Arial"/>
            </a:endParaRPr>
          </a:p>
          <a:p>
            <a:pPr lvl="3" marL="1339920" indent="-316080">
              <a:spcBef>
                <a:spcPts val="751"/>
              </a:spcBef>
              <a:buClr>
                <a:srgbClr val="3b812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Fourth Outline Level</a:t>
            </a:r>
            <a:endParaRPr b="0" lang="en-US" sz="3000" spc="-1" strike="noStrike">
              <a:solidFill>
                <a:srgbClr val="000000"/>
              </a:solidFill>
              <a:latin typeface="Arial"/>
            </a:endParaRPr>
          </a:p>
          <a:p>
            <a:pPr lvl="4" marL="1681200" indent="-339840">
              <a:spcBef>
                <a:spcPts val="751"/>
              </a:spcBef>
              <a:buClr>
                <a:srgbClr val="cc99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Fifth Outline Level</a:t>
            </a:r>
            <a:endParaRPr b="0" lang="en-US" sz="3000" spc="-1" strike="noStrike">
              <a:solidFill>
                <a:srgbClr val="000000"/>
              </a:solidFill>
              <a:latin typeface="Arial"/>
            </a:endParaRPr>
          </a:p>
          <a:p>
            <a:pPr lvl="5" marL="1681200" indent="-339840">
              <a:spcBef>
                <a:spcPts val="751"/>
              </a:spcBef>
              <a:buClr>
                <a:srgbClr val="0000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Sixth Outline Level</a:t>
            </a:r>
            <a:endParaRPr b="0" lang="en-US" sz="3000" spc="-1" strike="noStrike">
              <a:solidFill>
                <a:srgbClr val="000000"/>
              </a:solidFill>
              <a:latin typeface="Arial"/>
            </a:endParaRPr>
          </a:p>
          <a:p>
            <a:pPr lvl="6" marL="1681200" indent="-339840">
              <a:spcBef>
                <a:spcPts val="751"/>
              </a:spcBef>
              <a:buClr>
                <a:srgbClr val="0000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Seventh Outline Level</a:t>
            </a:r>
            <a:endParaRPr b="0" lang="en-US" sz="3000" spc="-1" strike="noStrike">
              <a:solidFill>
                <a:srgbClr val="000000"/>
              </a:solidFill>
              <a:latin typeface="Arial"/>
            </a:endParaRPr>
          </a:p>
        </p:txBody>
      </p:sp>
      <p:sp>
        <p:nvSpPr>
          <p:cNvPr id="2" name="PlaceHolder 3"/>
          <p:cNvSpPr>
            <a:spLocks noGrp="1"/>
          </p:cNvSpPr>
          <p:nvPr>
            <p:ph type="dt" idx="1"/>
          </p:nvPr>
        </p:nvSpPr>
        <p:spPr>
          <a:xfrm>
            <a:off x="456840" y="6243480"/>
            <a:ext cx="2133720" cy="45720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GB" sz="1200" spc="-1" strike="noStrike">
                <a:solidFill>
                  <a:srgbClr val="000000"/>
                </a:solidFill>
                <a:latin typeface="Garamond"/>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022F32E-8DC6-42FA-A605-A6A203FE4F43}" type="datetime">
              <a:rPr b="0" lang="en-GB" sz="1200" spc="-1" strike="noStrike">
                <a:solidFill>
                  <a:srgbClr val="000000"/>
                </a:solidFill>
                <a:latin typeface="Garamond"/>
              </a:rPr>
              <a:t>06/06/26</a:t>
            </a:fld>
            <a:endParaRPr b="0" lang="en-US" sz="1200" spc="-1" strike="noStrike">
              <a:solidFill>
                <a:srgbClr val="000000"/>
              </a:solidFill>
              <a:latin typeface="Times New Roman"/>
            </a:endParaRPr>
          </a:p>
        </p:txBody>
      </p:sp>
      <p:sp>
        <p:nvSpPr>
          <p:cNvPr id="3" name="PlaceHolder 4"/>
          <p:cNvSpPr>
            <a:spLocks noGrp="1"/>
          </p:cNvSpPr>
          <p:nvPr>
            <p:ph type="ftr" idx="2"/>
          </p:nvPr>
        </p:nvSpPr>
        <p:spPr>
          <a:xfrm>
            <a:off x="2842920" y="6248520"/>
            <a:ext cx="3600360" cy="45720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AU" sz="1200" spc="-1" strike="noStrike">
                <a:solidFill>
                  <a:srgbClr val="000000"/>
                </a:solidFill>
                <a:latin typeface="Garamond"/>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Times New Roman"/>
            </a:endParaRPr>
          </a:p>
        </p:txBody>
      </p:sp>
      <p:sp>
        <p:nvSpPr>
          <p:cNvPr id="4" name="PlaceHolder 5"/>
          <p:cNvSpPr>
            <a:spLocks noGrp="1"/>
          </p:cNvSpPr>
          <p:nvPr>
            <p:ph type="sldNum" idx="3"/>
          </p:nvPr>
        </p:nvSpPr>
        <p:spPr>
          <a:xfrm>
            <a:off x="6552720" y="6243480"/>
            <a:ext cx="2133720" cy="45720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AU" sz="1200" spc="-1" strike="noStrike">
                <a:solidFill>
                  <a:srgbClr val="000000"/>
                </a:solidFill>
                <a:latin typeface="Garamond"/>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A2EBD32-2092-49D3-9E12-8EACA5027ED2}" type="slidenum">
              <a:rPr b="0" lang="en-AU" sz="1200" spc="-1" strike="noStrike">
                <a:solidFill>
                  <a:srgbClr val="000000"/>
                </a:solidFill>
                <a:latin typeface="Garamond"/>
              </a:rPr>
              <a:t>&lt;number&gt;</a:t>
            </a:fld>
            <a:endParaRPr b="0" lang="en-US" sz="1200" spc="-1" strike="noStrike">
              <a:solidFill>
                <a:srgbClr val="000000"/>
              </a:solidFill>
              <a:latin typeface="Times New Roman"/>
            </a:endParaRPr>
          </a:p>
        </p:txBody>
      </p:sp>
      <p:sp>
        <p:nvSpPr>
          <p:cNvPr id="5" name="Freeform 7"/>
          <p:cNvSpPr/>
          <p:nvPr/>
        </p:nvSpPr>
        <p:spPr>
          <a:xfrm>
            <a:off x="380880" y="228600"/>
            <a:ext cx="8229600" cy="609480"/>
          </a:xfrm>
          <a:prstGeom prst="pie">
            <a:avLst/>
          </a:prstGeom>
          <a:noFill/>
          <a:ln w="19080">
            <a:solidFill>
              <a:srgbClr val="cc9900"/>
            </a:solidFill>
            <a:miter/>
          </a:ln>
        </p:spPr>
        <p:style>
          <a:lnRef idx="0"/>
          <a:fillRef idx="0"/>
          <a:effectRef idx="0"/>
          <a:fontRef idx="minor"/>
        </p:style>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6" name="Line 8"/>
          <p:cNvSpPr/>
          <p:nvPr/>
        </p:nvSpPr>
        <p:spPr>
          <a:xfrm>
            <a:off x="457200" y="6172200"/>
            <a:ext cx="8229600" cy="0"/>
          </a:xfrm>
          <a:prstGeom prst="line">
            <a:avLst/>
          </a:prstGeom>
          <a:ln w="19080">
            <a:solidFill>
              <a:srgbClr val="cc99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pic>
        <p:nvPicPr>
          <p:cNvPr id="7" name="Picture 10" descr=""/>
          <p:cNvPicPr/>
          <p:nvPr/>
        </p:nvPicPr>
        <p:blipFill>
          <a:blip r:embed="rId2"/>
          <a:stretch/>
        </p:blipFill>
        <p:spPr>
          <a:xfrm>
            <a:off x="1692360" y="6237360"/>
            <a:ext cx="1276200" cy="498240"/>
          </a:xfrm>
          <a:prstGeom prst="rect">
            <a:avLst/>
          </a:prstGeom>
          <a:ln w="0">
            <a:noFill/>
          </a:ln>
        </p:spPr>
      </p:pic>
      <p:pic>
        <p:nvPicPr>
          <p:cNvPr id="8" name="Picture 12" descr=""/>
          <p:cNvPicPr/>
          <p:nvPr/>
        </p:nvPicPr>
        <p:blipFill>
          <a:blip r:embed="rId3"/>
          <a:stretch/>
        </p:blipFill>
        <p:spPr>
          <a:xfrm>
            <a:off x="6084720" y="6237360"/>
            <a:ext cx="1644840" cy="47952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Freeform 7"/>
          <p:cNvSpPr/>
          <p:nvPr/>
        </p:nvSpPr>
        <p:spPr>
          <a:xfrm>
            <a:off x="609480" y="1219320"/>
            <a:ext cx="7925040" cy="914400"/>
          </a:xfrm>
          <a:prstGeom prst="pie">
            <a:avLst/>
          </a:prstGeom>
          <a:noFill/>
          <a:ln w="25560">
            <a:solidFill>
              <a:srgbClr val="cc9900"/>
            </a:solidFill>
            <a:miter/>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10" name="Line 8"/>
          <p:cNvSpPr/>
          <p:nvPr/>
        </p:nvSpPr>
        <p:spPr>
          <a:xfrm>
            <a:off x="1981080" y="3962520"/>
            <a:ext cx="6512040" cy="0"/>
          </a:xfrm>
          <a:prstGeom prst="line">
            <a:avLst/>
          </a:prstGeom>
          <a:ln w="19080">
            <a:solidFill>
              <a:srgbClr val="cc99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1" name="PlaceHolder 1"/>
          <p:cNvSpPr>
            <a:spLocks noGrp="1"/>
          </p:cNvSpPr>
          <p:nvPr>
            <p:ph type="title"/>
          </p:nvPr>
        </p:nvSpPr>
        <p:spPr>
          <a:xfrm>
            <a:off x="457200" y="277920"/>
            <a:ext cx="8229600" cy="113976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200" spc="-1" strike="noStrike">
                <a:solidFill>
                  <a:srgbClr val="006633"/>
                </a:solidFill>
                <a:latin typeface="Tahoma"/>
              </a:rPr>
              <a:t>Click to edit the title text format</a:t>
            </a:r>
            <a:endParaRPr b="0" lang="en-US" sz="4200" spc="-1" strike="noStrike">
              <a:solidFill>
                <a:srgbClr val="006633"/>
              </a:solidFill>
              <a:latin typeface="Tahoma"/>
            </a:endParaRPr>
          </a:p>
        </p:txBody>
      </p:sp>
      <p:sp>
        <p:nvSpPr>
          <p:cNvPr id="12" name="PlaceHolder 2"/>
          <p:cNvSpPr>
            <a:spLocks noGrp="1"/>
          </p:cNvSpPr>
          <p:nvPr>
            <p:ph type="body"/>
          </p:nvPr>
        </p:nvSpPr>
        <p:spPr>
          <a:xfrm>
            <a:off x="457200" y="1599840"/>
            <a:ext cx="8229600" cy="4530600"/>
          </a:xfrm>
          <a:prstGeom prst="rect">
            <a:avLst/>
          </a:prstGeom>
          <a:noFill/>
          <a:ln w="0">
            <a:noFill/>
          </a:ln>
        </p:spPr>
        <p:txBody>
          <a:bodyPr lIns="90000" rIns="90000" tIns="46800" bIns="46800" anchor="t">
            <a:normAutofit/>
          </a:bodyPr>
          <a:p>
            <a:pPr marL="343080" indent="-34308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Click to edit the outline text format</a:t>
            </a:r>
            <a:endParaRPr b="0" lang="en-US" sz="3000" spc="-1" strike="noStrike">
              <a:solidFill>
                <a:srgbClr val="000000"/>
              </a:solidFill>
              <a:latin typeface="Arial"/>
            </a:endParaRPr>
          </a:p>
          <a:p>
            <a:pPr lvl="1" marL="669960" indent="-325440">
              <a:spcBef>
                <a:spcPts val="751"/>
              </a:spcBef>
              <a:buClr>
                <a:srgbClr val="3b812f"/>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Second Outline Level</a:t>
            </a:r>
            <a:endParaRPr b="0" lang="en-US" sz="3000" spc="-1" strike="noStrike">
              <a:solidFill>
                <a:srgbClr val="000000"/>
              </a:solidFill>
              <a:latin typeface="Arial"/>
            </a:endParaRPr>
          </a:p>
          <a:p>
            <a:pPr lvl="2" marL="1022400" indent="-35100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Third Outline Level</a:t>
            </a:r>
            <a:endParaRPr b="0" lang="en-US" sz="3000" spc="-1" strike="noStrike">
              <a:solidFill>
                <a:srgbClr val="000000"/>
              </a:solidFill>
              <a:latin typeface="Arial"/>
            </a:endParaRPr>
          </a:p>
          <a:p>
            <a:pPr lvl="3" marL="1339920" indent="-316080">
              <a:spcBef>
                <a:spcPts val="751"/>
              </a:spcBef>
              <a:buClr>
                <a:srgbClr val="3b812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Fourth Outline Level</a:t>
            </a:r>
            <a:endParaRPr b="0" lang="en-US" sz="3000" spc="-1" strike="noStrike">
              <a:solidFill>
                <a:srgbClr val="000000"/>
              </a:solidFill>
              <a:latin typeface="Arial"/>
            </a:endParaRPr>
          </a:p>
          <a:p>
            <a:pPr lvl="4" marL="1681200" indent="-339840">
              <a:spcBef>
                <a:spcPts val="751"/>
              </a:spcBef>
              <a:buClr>
                <a:srgbClr val="cc99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Fifth Outline Level</a:t>
            </a:r>
            <a:endParaRPr b="0" lang="en-US" sz="3000" spc="-1" strike="noStrike">
              <a:solidFill>
                <a:srgbClr val="000000"/>
              </a:solidFill>
              <a:latin typeface="Arial"/>
            </a:endParaRPr>
          </a:p>
          <a:p>
            <a:pPr lvl="5" marL="1681200" indent="-339840">
              <a:spcBef>
                <a:spcPts val="751"/>
              </a:spcBef>
              <a:buClr>
                <a:srgbClr val="0000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Sixth Outline Level</a:t>
            </a:r>
            <a:endParaRPr b="0" lang="en-US" sz="3000" spc="-1" strike="noStrike">
              <a:solidFill>
                <a:srgbClr val="000000"/>
              </a:solidFill>
              <a:latin typeface="Arial"/>
            </a:endParaRPr>
          </a:p>
          <a:p>
            <a:pPr lvl="6" marL="1681200" indent="-339840">
              <a:spcBef>
                <a:spcPts val="751"/>
              </a:spcBef>
              <a:buClr>
                <a:srgbClr val="0000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Seventh Outline Level</a:t>
            </a:r>
            <a:endParaRPr b="0" lang="en-US" sz="3000" spc="-1" strike="noStrike">
              <a:solidFill>
                <a:srgbClr val="000000"/>
              </a:solidFill>
              <a:latin typeface="Arial"/>
            </a:endParaRPr>
          </a:p>
        </p:txBody>
      </p:sp>
      <p:sp>
        <p:nvSpPr>
          <p:cNvPr id="13" name="PlaceHolder 3"/>
          <p:cNvSpPr>
            <a:spLocks noGrp="1"/>
          </p:cNvSpPr>
          <p:nvPr>
            <p:ph type="dt" idx="4"/>
          </p:nvPr>
        </p:nvSpPr>
        <p:spPr>
          <a:xfrm>
            <a:off x="456840" y="6243480"/>
            <a:ext cx="2133720" cy="45720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GB" sz="1200" spc="-1" strike="noStrike">
                <a:solidFill>
                  <a:srgbClr val="000000"/>
                </a:solidFill>
                <a:latin typeface="Garamond"/>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FD6EB6C-CCA0-49AA-8035-9FF37A92123F}" type="datetime">
              <a:rPr b="0" lang="en-GB" sz="1200" spc="-1" strike="noStrike">
                <a:solidFill>
                  <a:srgbClr val="000000"/>
                </a:solidFill>
                <a:latin typeface="Garamond"/>
              </a:rPr>
              <a:t>06/06/26</a:t>
            </a:fld>
            <a:endParaRPr b="0" lang="en-US" sz="1200" spc="-1" strike="noStrike">
              <a:solidFill>
                <a:srgbClr val="000000"/>
              </a:solidFill>
              <a:latin typeface="Times New Roman"/>
            </a:endParaRPr>
          </a:p>
        </p:txBody>
      </p:sp>
      <p:sp>
        <p:nvSpPr>
          <p:cNvPr id="14" name="PlaceHolder 4"/>
          <p:cNvSpPr>
            <a:spLocks noGrp="1"/>
          </p:cNvSpPr>
          <p:nvPr>
            <p:ph type="ftr" idx="5"/>
          </p:nvPr>
        </p:nvSpPr>
        <p:spPr>
          <a:xfrm>
            <a:off x="2771640" y="6243480"/>
            <a:ext cx="3600720" cy="45720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AU" sz="1200" spc="-1" strike="noStrike">
                <a:solidFill>
                  <a:srgbClr val="000000"/>
                </a:solidFill>
                <a:latin typeface="Garamond"/>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Times New Roman"/>
            </a:endParaRPr>
          </a:p>
        </p:txBody>
      </p:sp>
      <p:sp>
        <p:nvSpPr>
          <p:cNvPr id="15" name="PlaceHolder 5"/>
          <p:cNvSpPr>
            <a:spLocks noGrp="1"/>
          </p:cNvSpPr>
          <p:nvPr>
            <p:ph type="sldNum" idx="6"/>
          </p:nvPr>
        </p:nvSpPr>
        <p:spPr>
          <a:xfrm>
            <a:off x="6552720" y="6243480"/>
            <a:ext cx="2133720" cy="45720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AU" sz="1200" spc="-1" strike="noStrike">
                <a:solidFill>
                  <a:srgbClr val="000000"/>
                </a:solidFill>
                <a:latin typeface="Garamond"/>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6685524-3354-4139-A5E3-81507DE9F800}" type="slidenum">
              <a:rPr b="0" lang="en-AU" sz="1200" spc="-1" strike="noStrike">
                <a:solidFill>
                  <a:srgbClr val="000000"/>
                </a:solidFill>
                <a:latin typeface="Garamond"/>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2.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6.wmf"/><Relationship Id="rId2" Type="http://schemas.openxmlformats.org/officeDocument/2006/relationships/image" Target="../media/image7.wmf"/><Relationship Id="rId3" Type="http://schemas.openxmlformats.org/officeDocument/2006/relationships/image" Target="../media/image7.wmf"/><Relationship Id="rId4" Type="http://schemas.openxmlformats.org/officeDocument/2006/relationships/image" Target="../media/image8.wmf"/><Relationship Id="rId5" Type="http://schemas.openxmlformats.org/officeDocument/2006/relationships/image" Target="../media/image9.wmf"/><Relationship Id="rId6" Type="http://schemas.openxmlformats.org/officeDocument/2006/relationships/image" Target="../media/image10.wmf"/><Relationship Id="rId7" Type="http://schemas.openxmlformats.org/officeDocument/2006/relationships/image" Target="../media/image11.wmf"/><Relationship Id="rId8" Type="http://schemas.openxmlformats.org/officeDocument/2006/relationships/slideLayout" Target="../slideLayouts/slideLayout1.xml"/><Relationship Id="rId9"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1.wmf"/><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2.wmf"/><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3.wmf"/><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wmf"/><Relationship Id="rId5" Type="http://schemas.openxmlformats.org/officeDocument/2006/relationships/slideLayout" Target="../slideLayouts/slideLayout1.xml"/><Relationship Id="rId6"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7.wmf"/><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7.wmf"/><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7.wmf"/><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8.wmf"/><Relationship Id="rId2" Type="http://schemas.openxmlformats.org/officeDocument/2006/relationships/image" Target="../media/image19.wmf"/><Relationship Id="rId3" Type="http://schemas.openxmlformats.org/officeDocument/2006/relationships/image" Target="../media/image19.wmf"/><Relationship Id="rId4" Type="http://schemas.openxmlformats.org/officeDocument/2006/relationships/image" Target="../media/image18.wmf"/><Relationship Id="rId5" Type="http://schemas.openxmlformats.org/officeDocument/2006/relationships/slideLayout" Target="../slideLayouts/slideLayout1.xml"/><Relationship Id="rId6"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20.wmf"/><Relationship Id="rId2" Type="http://schemas.openxmlformats.org/officeDocument/2006/relationships/image" Target="../media/image21.png"/><Relationship Id="rId3" Type="http://schemas.openxmlformats.org/officeDocument/2006/relationships/image" Target="../media/image22.wmf"/><Relationship Id="rId4" Type="http://schemas.openxmlformats.org/officeDocument/2006/relationships/slideLayout" Target="../slideLayouts/slideLayout1.xml"/><Relationship Id="rId5"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22.wmf"/><Relationship Id="rId2" Type="http://schemas.openxmlformats.org/officeDocument/2006/relationships/image" Target="../media/image23.wmf"/><Relationship Id="rId3" Type="http://schemas.openxmlformats.org/officeDocument/2006/relationships/image" Target="../media/image24.wmf"/><Relationship Id="rId4" Type="http://schemas.openxmlformats.org/officeDocument/2006/relationships/slideLayout" Target="../slideLayouts/slideLayout1.xml"/><Relationship Id="rId5"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25.wmf"/><Relationship Id="rId2" Type="http://schemas.openxmlformats.org/officeDocument/2006/relationships/slideLayout" Target="../slideLayouts/slideLayout1.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hyperlink" Target="http://www.ocp.tudelft.nl/mt/journee/" TargetMode="External"/><Relationship Id="rId2" Type="http://schemas.openxmlformats.org/officeDocument/2006/relationships/slideLayout" Target="../slideLayouts/slideLayout1.xml"/><Relationship Id="rId3" Type="http://schemas.openxmlformats.org/officeDocument/2006/relationships/notesSlide" Target="../notesSlides/notesSlide3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 name="Rectangle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D5FFE61-02C5-4D22-A001-DF05C3C251F9}"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4" name="Rectangle 5"/>
          <p:cNvSpPr/>
          <p:nvPr/>
        </p:nvSpPr>
        <p:spPr>
          <a:xfrm>
            <a:off x="2771640" y="6243480"/>
            <a:ext cx="360072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5" name="Rectangle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407DF3B-C3AE-4D2F-BF24-443A1C381F2A}"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6" name="PlaceHolder 1"/>
          <p:cNvSpPr>
            <a:spLocks noGrp="1"/>
          </p:cNvSpPr>
          <p:nvPr>
            <p:ph type="title"/>
          </p:nvPr>
        </p:nvSpPr>
        <p:spPr>
          <a:xfrm>
            <a:off x="755640" y="1341000"/>
            <a:ext cx="7694640" cy="2592360"/>
          </a:xfrm>
          <a:prstGeom prst="rect">
            <a:avLst/>
          </a:prstGeom>
          <a:noFill/>
          <a:ln w="0">
            <a:noFill/>
          </a:ln>
        </p:spPr>
        <p:txBody>
          <a:bodyPr lIns="91440" rIns="91440" tIns="45720" bIns="45720" anchor="t">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600" spc="-1" strike="noStrike">
                <a:solidFill>
                  <a:srgbClr val="006633"/>
                </a:solidFill>
                <a:latin typeface="Tahoma"/>
              </a:rPr>
              <a:t>Seakeeping Models in the Frequency Domain</a:t>
            </a:r>
            <a:br>
              <a:rPr sz="3400"/>
            </a:br>
            <a:br>
              <a:rPr sz="3400"/>
            </a:br>
            <a:r>
              <a:rPr b="0" lang="en-AU" sz="3400" spc="-1" strike="noStrike">
                <a:solidFill>
                  <a:srgbClr val="006633"/>
                </a:solidFill>
                <a:latin typeface="Tahoma"/>
              </a:rPr>
              <a:t>(Module 6)</a:t>
            </a:r>
            <a:endParaRPr b="0" lang="en-US" sz="3400" spc="-1" strike="noStrike">
              <a:solidFill>
                <a:srgbClr val="006633"/>
              </a:solidFill>
              <a:latin typeface="Tahoma"/>
            </a:endParaRPr>
          </a:p>
        </p:txBody>
      </p:sp>
      <p:pic>
        <p:nvPicPr>
          <p:cNvPr id="27" name="Picture 5" descr=""/>
          <p:cNvPicPr/>
          <p:nvPr/>
        </p:nvPicPr>
        <p:blipFill>
          <a:blip r:embed="rId1"/>
          <a:stretch/>
        </p:blipFill>
        <p:spPr>
          <a:xfrm>
            <a:off x="1979640" y="5300640"/>
            <a:ext cx="2320920" cy="890640"/>
          </a:xfrm>
          <a:prstGeom prst="rect">
            <a:avLst/>
          </a:prstGeom>
          <a:ln w="0">
            <a:noFill/>
          </a:ln>
        </p:spPr>
      </p:pic>
      <p:sp>
        <p:nvSpPr>
          <p:cNvPr id="28" name="Rectangle 7"/>
          <p:cNvSpPr/>
          <p:nvPr/>
        </p:nvSpPr>
        <p:spPr>
          <a:xfrm>
            <a:off x="1547640" y="4005360"/>
            <a:ext cx="3241800" cy="1224000"/>
          </a:xfrm>
          <a:prstGeom prst="rect">
            <a:avLst/>
          </a:prstGeom>
          <a:noFill/>
          <a:ln w="0">
            <a:noFill/>
          </a:ln>
        </p:spPr>
        <p:style>
          <a:lnRef idx="0"/>
          <a:fillRef idx="0"/>
          <a:effectRef idx="0"/>
          <a:fontRef idx="minor"/>
        </p:style>
        <p:txBody>
          <a:bodyPr lIns="90000" rIns="90000" tIns="46800" bIns="46800" anchor="t">
            <a:noAutofit/>
          </a:bodyPr>
          <a:p>
            <a:pP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800" spc="-1" strike="noStrike">
                <a:solidFill>
                  <a:srgbClr val="000000"/>
                </a:solidFill>
                <a:latin typeface="Arial"/>
              </a:rPr>
              <a:t>Dr Tristan Perez </a:t>
            </a:r>
            <a:r>
              <a:rPr b="0" lang="en-AU" sz="2800" spc="-1" strike="noStrike">
                <a:solidFill>
                  <a:srgbClr val="000000"/>
                </a:solidFill>
                <a:latin typeface="Arial"/>
              </a:rPr>
              <a:t>	</a:t>
            </a:r>
            <a:endParaRPr b="0" lang="en-US" sz="2800" spc="-1" strike="noStrike">
              <a:solidFill>
                <a:srgbClr val="000000"/>
              </a:solidFill>
              <a:latin typeface="Arial"/>
            </a:endParaRPr>
          </a:p>
          <a:p>
            <a:pPr>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Centre for Complex Dynamic Systems and Control (CDSC)</a:t>
            </a:r>
            <a:endParaRPr b="0" lang="en-US" sz="1800" spc="-1" strike="noStrike">
              <a:solidFill>
                <a:srgbClr val="000000"/>
              </a:solidFill>
              <a:latin typeface="Arial"/>
            </a:endParaRPr>
          </a:p>
        </p:txBody>
      </p:sp>
      <p:sp>
        <p:nvSpPr>
          <p:cNvPr id="29" name="Rectangle 11"/>
          <p:cNvSpPr/>
          <p:nvPr/>
        </p:nvSpPr>
        <p:spPr>
          <a:xfrm>
            <a:off x="4932360" y="4005360"/>
            <a:ext cx="3745080" cy="1224000"/>
          </a:xfrm>
          <a:prstGeom prst="rect">
            <a:avLst/>
          </a:prstGeom>
          <a:noFill/>
          <a:ln w="0">
            <a:noFill/>
          </a:ln>
        </p:spPr>
        <p:style>
          <a:lnRef idx="0"/>
          <a:fillRef idx="0"/>
          <a:effectRef idx="0"/>
          <a:fontRef idx="minor"/>
        </p:style>
        <p:txBody>
          <a:bodyPr lIns="90000" rIns="90000" tIns="46800" bIns="46800" anchor="t">
            <a:noAutofit/>
          </a:bodyPr>
          <a:p>
            <a:pP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800" spc="-1" strike="noStrike">
                <a:solidFill>
                  <a:srgbClr val="000000"/>
                </a:solidFill>
                <a:latin typeface="Arial"/>
              </a:rPr>
              <a:t>Prof. Thor I Fossen</a:t>
            </a:r>
            <a:endParaRPr b="0" lang="en-US" sz="2800" spc="-1" strike="noStrike">
              <a:solidFill>
                <a:srgbClr val="000000"/>
              </a:solidFill>
              <a:latin typeface="Arial"/>
            </a:endParaRPr>
          </a:p>
          <a:p>
            <a:pPr>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Department of Engineering Cybernetics</a:t>
            </a:r>
            <a:endParaRPr b="0" lang="en-US" sz="1800" spc="-1" strike="noStrike">
              <a:solidFill>
                <a:srgbClr val="000000"/>
              </a:solidFill>
              <a:latin typeface="Arial"/>
            </a:endParaRPr>
          </a:p>
        </p:txBody>
      </p:sp>
      <p:pic>
        <p:nvPicPr>
          <p:cNvPr id="30" name="Picture 12" descr=""/>
          <p:cNvPicPr/>
          <p:nvPr/>
        </p:nvPicPr>
        <p:blipFill>
          <a:blip r:embed="rId2"/>
          <a:stretch/>
        </p:blipFill>
        <p:spPr>
          <a:xfrm>
            <a:off x="5651640" y="5445000"/>
            <a:ext cx="2436840" cy="70956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B731A2F-408E-45A6-A4DF-6A11F0173955}"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2"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3"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36D9BA3-F61A-49A3-AF7A-28F0DBC081B5}"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4"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Linear hydrodynamic forces in waves</a:t>
            </a:r>
            <a:endParaRPr b="0" lang="en-US" sz="3800" spc="-1" strike="noStrike">
              <a:solidFill>
                <a:srgbClr val="006633"/>
              </a:solidFill>
              <a:latin typeface="Tahoma"/>
            </a:endParaRPr>
          </a:p>
        </p:txBody>
      </p:sp>
      <p:sp>
        <p:nvSpPr>
          <p:cNvPr id="35" name="PlaceHolder 2"/>
          <p:cNvSpPr>
            <a:spLocks noGrp="1"/>
          </p:cNvSpPr>
          <p:nvPr>
            <p:ph/>
          </p:nvPr>
        </p:nvSpPr>
        <p:spPr>
          <a:xfrm>
            <a:off x="394920" y="1484280"/>
            <a:ext cx="8218440" cy="4608720"/>
          </a:xfrm>
          <a:prstGeom prst="rect">
            <a:avLst/>
          </a:prstGeom>
          <a:noFill/>
          <a:ln w="0">
            <a:noFill/>
          </a:ln>
        </p:spPr>
        <p:txBody>
          <a:bodyPr lIns="91440" rIns="91440" tIns="45720" bIns="45720" anchor="t">
            <a:normAutofit/>
          </a:bodyPr>
          <a:p>
            <a:pPr marL="343080" indent="-343080">
              <a:spcBef>
                <a:spcPts val="49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000" spc="-1" strike="noStrike">
                <a:solidFill>
                  <a:srgbClr val="000000"/>
                </a:solidFill>
                <a:latin typeface="Arial"/>
              </a:rPr>
              <a:t>Linear theory can describe hydrodynamic loads to a great extent in low to medium sea states (depending on the size of the ship)</a:t>
            </a:r>
            <a:endParaRPr b="0" lang="en-US" sz="2000" spc="-1" strike="noStrike">
              <a:solidFill>
                <a:srgbClr val="000000"/>
              </a:solidFill>
              <a:latin typeface="Arial"/>
            </a:endParaRPr>
          </a:p>
          <a:p>
            <a:pPr marL="343080" indent="-343080">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pc="-1" strike="noStrike">
              <a:solidFill>
                <a:srgbClr val="000000"/>
              </a:solidFill>
              <a:latin typeface="Arial"/>
            </a:endParaRPr>
          </a:p>
          <a:p>
            <a:pPr marL="343080" indent="-343080">
              <a:spcBef>
                <a:spcPts val="49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000" spc="-1" strike="noStrike">
                <a:solidFill>
                  <a:srgbClr val="000000"/>
                </a:solidFill>
                <a:latin typeface="Arial"/>
              </a:rPr>
              <a:t>Linear means that the loads and the motion are proportional to the wave amplitudes.</a:t>
            </a:r>
            <a:endParaRPr b="0" lang="en-US" sz="2000" spc="-1" strike="noStrike">
              <a:solidFill>
                <a:srgbClr val="000000"/>
              </a:solidFill>
              <a:latin typeface="Arial"/>
            </a:endParaRPr>
          </a:p>
          <a:p>
            <a:pPr marL="343080" indent="0">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pc="-1" strike="noStrike">
              <a:solidFill>
                <a:srgbClr val="000000"/>
              </a:solidFill>
              <a:latin typeface="Arial"/>
            </a:endParaRPr>
          </a:p>
          <a:p>
            <a:pPr marL="343080" indent="-343080">
              <a:spcBef>
                <a:spcPts val="49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000" spc="-1" strike="noStrike">
                <a:solidFill>
                  <a:srgbClr val="000000"/>
                </a:solidFill>
                <a:latin typeface="Arial"/>
              </a:rPr>
              <a:t>Linearity means superposition: the loads and responses due to irregular seas can be obtained by linear combination of responses to regular or sinusoidal seas.</a:t>
            </a:r>
            <a:endParaRPr b="0" lang="en-US" sz="2000" spc="-1" strike="noStrike">
              <a:solidFill>
                <a:srgbClr val="000000"/>
              </a:solidFill>
              <a:latin typeface="Arial"/>
            </a:endParaRPr>
          </a:p>
          <a:p>
            <a:pPr marL="343080" indent="0">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pc="-1" strike="noStrike">
              <a:solidFill>
                <a:srgbClr val="000000"/>
              </a:solidFill>
              <a:latin typeface="Arial"/>
            </a:endParaRPr>
          </a:p>
          <a:p>
            <a:pPr marL="343080" indent="-343080">
              <a:spcBef>
                <a:spcPts val="49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000" spc="-1" strike="noStrike">
                <a:solidFill>
                  <a:srgbClr val="000000"/>
                </a:solidFill>
                <a:latin typeface="Arial"/>
              </a:rPr>
              <a:t>Also due to the linearity assumption, the study can be performed either in time or frequency domain. </a:t>
            </a:r>
            <a:endParaRPr b="0" lang="en-US" sz="2000" spc="-1" strike="noStrike">
              <a:solidFill>
                <a:srgbClr val="000000"/>
              </a:solidFill>
              <a:latin typeface="Arial"/>
            </a:endParaRPr>
          </a:p>
          <a:p>
            <a:pPr marL="343080" indent="0">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E4824CB-631F-44AE-82C5-11E058880BB0}"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7"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8"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C8667FC-5D24-4E9B-8F5E-23C515F0F37A}"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9"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Linear hydrodynamic forces</a:t>
            </a:r>
            <a:endParaRPr b="0" lang="en-US" sz="4200" spc="-1" strike="noStrike">
              <a:solidFill>
                <a:srgbClr val="006633"/>
              </a:solidFill>
              <a:latin typeface="Tahoma"/>
            </a:endParaRPr>
          </a:p>
        </p:txBody>
      </p:sp>
      <mc:AlternateContent>
        <mc:Choice xmlns:a14="http://schemas.microsoft.com/office/drawing/2010/main" Requires="a14">
          <p:sp>
            <p:nvSpPr>
              <p:cNvPr id="40" name="Object 5"/>
              <p:cNvSpPr txBox="1"/>
              <p:nvPr/>
            </p:nvSpPr>
            <p:spPr>
              <a:xfrm>
                <a:off x="3852720" y="1482840"/>
                <a:ext cx="3283200" cy="608040"/>
              </a:xfrm>
              <a:prstGeom prst="rect">
                <a:avLst/>
              </a:prstGeom>
            </p:spPr>
            <p:txBody>
              <a:bodyPr/>
              <a:p>
                <a14:m>
                  <m:oMath xmlns:m="http://schemas.openxmlformats.org/officeDocument/2006/math">
                    <m:sSub>
                      <m:e>
                        <m:r>
                          <m:t xml:space="preserve">τ</m:t>
                        </m:r>
                      </m:e>
                      <m:sub>
                        <m:r>
                          <m:rPr>
                            <m:lit/>
                            <m:nor/>
                          </m:rPr>
                          <m:t xml:space="preserve">hyd</m:t>
                        </m:r>
                      </m:sub>
                    </m:sSub>
                    <m:r>
                      <m:t xml:space="preserve">=</m:t>
                    </m:r>
                    <m:sSub>
                      <m:e>
                        <m:r>
                          <m:t xml:space="preserve">τ</m:t>
                        </m:r>
                      </m:e>
                      <m:sub>
                        <m:r>
                          <m:rPr>
                            <m:lit/>
                            <m:nor/>
                          </m:rPr>
                          <m:t xml:space="preserve">rad</m:t>
                        </m:r>
                      </m:sub>
                    </m:sSub>
                    <m:r>
                      <m:t xml:space="preserve">+</m:t>
                    </m:r>
                    <m:sSub>
                      <m:e>
                        <m:r>
                          <m:t xml:space="preserve">τ</m:t>
                        </m:r>
                      </m:e>
                      <m:sub>
                        <m:r>
                          <m:rPr>
                            <m:lit/>
                            <m:nor/>
                          </m:rPr>
                          <m:t xml:space="preserve">rest</m:t>
                        </m:r>
                      </m:sub>
                    </m:sSub>
                    <m:r>
                      <m:t xml:space="preserve">+</m:t>
                    </m:r>
                    <m:sSub>
                      <m:e>
                        <m:r>
                          <m:t xml:space="preserve">τ</m:t>
                        </m:r>
                      </m:e>
                      <m:sub>
                        <m:r>
                          <m:rPr>
                            <m:lit/>
                            <m:nor/>
                          </m:rPr>
                          <m:t xml:space="preserve">exc</m:t>
                        </m:r>
                      </m:sub>
                    </m:sSub>
                  </m:oMath>
                </a14:m>
              </a:p>
            </p:txBody>
          </p:sp>
        </mc:Choice>
        <mc:Fallback/>
      </mc:AlternateContent>
      <p:sp>
        <p:nvSpPr>
          <p:cNvPr id="41" name="Rectangle 7"/>
          <p:cNvSpPr/>
          <p:nvPr/>
        </p:nvSpPr>
        <p:spPr>
          <a:xfrm>
            <a:off x="2556000" y="2421000"/>
            <a:ext cx="1081080" cy="718920"/>
          </a:xfrm>
          <a:prstGeom prst="rect">
            <a:avLst/>
          </a:prstGeom>
          <a:solidFill>
            <a:srgbClr val="cc99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42" name="Rectangle 8"/>
          <p:cNvSpPr/>
          <p:nvPr/>
        </p:nvSpPr>
        <p:spPr>
          <a:xfrm>
            <a:off x="4645080" y="2421000"/>
            <a:ext cx="1295280" cy="792000"/>
          </a:xfrm>
          <a:prstGeom prst="rect">
            <a:avLst/>
          </a:prstGeom>
          <a:solidFill>
            <a:srgbClr val="cc99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43" name="Text Box 9"/>
          <p:cNvSpPr/>
          <p:nvPr/>
        </p:nvSpPr>
        <p:spPr>
          <a:xfrm>
            <a:off x="2627280" y="2492280"/>
            <a:ext cx="936720" cy="64260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LinearLoads</a:t>
            </a:r>
            <a:endParaRPr b="0" lang="en-US" sz="1800" spc="-1" strike="noStrike">
              <a:solidFill>
                <a:srgbClr val="000000"/>
              </a:solidFill>
              <a:latin typeface="Arial"/>
            </a:endParaRPr>
          </a:p>
        </p:txBody>
      </p:sp>
      <p:sp>
        <p:nvSpPr>
          <p:cNvPr id="44" name="Text Box 10"/>
          <p:cNvSpPr/>
          <p:nvPr/>
        </p:nvSpPr>
        <p:spPr>
          <a:xfrm>
            <a:off x="4716360" y="2492280"/>
            <a:ext cx="1152720" cy="64260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Linear eq of motion</a:t>
            </a:r>
            <a:endParaRPr b="0" lang="en-US" sz="1800" spc="-1" strike="noStrike">
              <a:solidFill>
                <a:srgbClr val="000000"/>
              </a:solidFill>
              <a:latin typeface="Arial"/>
            </a:endParaRPr>
          </a:p>
        </p:txBody>
      </p:sp>
      <p:sp>
        <p:nvSpPr>
          <p:cNvPr id="45" name="Line 11"/>
          <p:cNvSpPr/>
          <p:nvPr/>
        </p:nvSpPr>
        <p:spPr>
          <a:xfrm>
            <a:off x="3635280" y="2779560"/>
            <a:ext cx="1009800" cy="0"/>
          </a:xfrm>
          <a:prstGeom prst="line">
            <a:avLst/>
          </a:prstGeom>
          <a:ln w="38160">
            <a:solidFill>
              <a:srgbClr val="000000"/>
            </a:solidFill>
            <a:miter/>
            <a:tailEnd len="med" type="arrow"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6" name="Line 12"/>
          <p:cNvSpPr/>
          <p:nvPr/>
        </p:nvSpPr>
        <p:spPr>
          <a:xfrm>
            <a:off x="1836720" y="2779560"/>
            <a:ext cx="720720" cy="0"/>
          </a:xfrm>
          <a:prstGeom prst="line">
            <a:avLst/>
          </a:prstGeom>
          <a:ln w="38160">
            <a:solidFill>
              <a:srgbClr val="000000"/>
            </a:solidFill>
            <a:miter/>
            <a:tailEnd len="med" type="arrow"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7" name="Line 13"/>
          <p:cNvSpPr/>
          <p:nvPr/>
        </p:nvSpPr>
        <p:spPr>
          <a:xfrm>
            <a:off x="5940360" y="2779560"/>
            <a:ext cx="1009800" cy="0"/>
          </a:xfrm>
          <a:prstGeom prst="line">
            <a:avLst/>
          </a:prstGeom>
          <a:ln w="38160">
            <a:solidFill>
              <a:srgbClr val="000000"/>
            </a:solidFill>
            <a:miter/>
            <a:tailEnd len="med" type="arrow"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48" name="Text Box 14"/>
          <p:cNvSpPr/>
          <p:nvPr/>
        </p:nvSpPr>
        <p:spPr>
          <a:xfrm>
            <a:off x="755640" y="2563920"/>
            <a:ext cx="9367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waves</a:t>
            </a:r>
            <a:endParaRPr b="0" lang="en-US" sz="1800" spc="-1" strike="noStrike">
              <a:solidFill>
                <a:srgbClr val="000000"/>
              </a:solidFill>
              <a:latin typeface="Arial"/>
            </a:endParaRPr>
          </a:p>
        </p:txBody>
      </p:sp>
      <p:sp>
        <p:nvSpPr>
          <p:cNvPr id="49" name="Text Box 15"/>
          <p:cNvSpPr/>
          <p:nvPr/>
        </p:nvSpPr>
        <p:spPr>
          <a:xfrm>
            <a:off x="7164360" y="2492280"/>
            <a:ext cx="9367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Motion</a:t>
            </a:r>
            <a:endParaRPr b="0" lang="en-US" sz="1800" spc="-1" strike="noStrike">
              <a:solidFill>
                <a:srgbClr val="000000"/>
              </a:solidFill>
              <a:latin typeface="Arial"/>
            </a:endParaRPr>
          </a:p>
        </p:txBody>
      </p:sp>
      <p:sp>
        <p:nvSpPr>
          <p:cNvPr id="50" name="Line 16"/>
          <p:cNvSpPr/>
          <p:nvPr/>
        </p:nvSpPr>
        <p:spPr>
          <a:xfrm flipV="1">
            <a:off x="3060720" y="3139920"/>
            <a:ext cx="0" cy="648000"/>
          </a:xfrm>
          <a:prstGeom prst="line">
            <a:avLst/>
          </a:prstGeom>
          <a:ln w="38160">
            <a:solidFill>
              <a:srgbClr val="000000"/>
            </a:solidFill>
            <a:miter/>
            <a:tailEnd len="med" type="arrow"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51" name="Line 17"/>
          <p:cNvSpPr/>
          <p:nvPr/>
        </p:nvSpPr>
        <p:spPr>
          <a:xfrm>
            <a:off x="3060720" y="3787920"/>
            <a:ext cx="3095640" cy="0"/>
          </a:xfrm>
          <a:prstGeom prst="line">
            <a:avLst/>
          </a:prstGeom>
          <a:ln w="38160">
            <a:solidFill>
              <a:srgbClr val="0000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52" name="Line 18"/>
          <p:cNvSpPr/>
          <p:nvPr/>
        </p:nvSpPr>
        <p:spPr>
          <a:xfrm flipV="1">
            <a:off x="6156360" y="2779200"/>
            <a:ext cx="0" cy="1008360"/>
          </a:xfrm>
          <a:prstGeom prst="line">
            <a:avLst/>
          </a:prstGeom>
          <a:ln w="38160">
            <a:solidFill>
              <a:srgbClr val="0000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53" name="Line 20"/>
          <p:cNvSpPr/>
          <p:nvPr/>
        </p:nvSpPr>
        <p:spPr>
          <a:xfrm flipV="1">
            <a:off x="3924360" y="2130480"/>
            <a:ext cx="144360" cy="50472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54" name="Text Box 21"/>
          <p:cNvSpPr/>
          <p:nvPr/>
        </p:nvSpPr>
        <p:spPr>
          <a:xfrm>
            <a:off x="1547640" y="4365720"/>
            <a:ext cx="5905800" cy="16084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Some of the loads depend on the excitation due to the waves, while other depend on the motion of the vessel itself.  </a:t>
            </a:r>
            <a:endParaRPr b="0" lang="en-US" sz="1800" spc="-1" strike="noStrike">
              <a:solidFill>
                <a:srgbClr val="000000"/>
              </a:solidFill>
              <a:latin typeface="Arial"/>
            </a:endParaRPr>
          </a:p>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The second type of loads give the system a feedback structure.</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BE5CD6D-84E8-4B33-A745-EF095F049EFE}"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56"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57"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535D67F-3538-4F52-A23D-9BBBB8BE0899}"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58"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Adding nonlinear forces</a:t>
            </a:r>
            <a:endParaRPr b="0" lang="en-US" sz="4200" spc="-1" strike="noStrike">
              <a:solidFill>
                <a:srgbClr val="006633"/>
              </a:solidFill>
              <a:latin typeface="Tahoma"/>
            </a:endParaRPr>
          </a:p>
        </p:txBody>
      </p:sp>
      <p:sp>
        <p:nvSpPr>
          <p:cNvPr id="59" name="PlaceHolder 2"/>
          <p:cNvSpPr>
            <a:spLocks noGrp="1"/>
          </p:cNvSpPr>
          <p:nvPr>
            <p:ph/>
          </p:nvPr>
        </p:nvSpPr>
        <p:spPr>
          <a:xfrm>
            <a:off x="394920" y="1196640"/>
            <a:ext cx="8218440" cy="863640"/>
          </a:xfrm>
          <a:prstGeom prst="rect">
            <a:avLst/>
          </a:prstGeom>
          <a:noFill/>
          <a:ln w="0">
            <a:noFill/>
          </a:ln>
        </p:spPr>
        <p:txBody>
          <a:bodyPr lIns="91440" rIns="91440" tIns="45720" bIns="45720" anchor="t">
            <a:normAutofit/>
          </a:bodyPr>
          <a:p>
            <a:pPr marL="343080" indent="-343080">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000" spc="-1" strike="noStrike">
                <a:solidFill>
                  <a:srgbClr val="000000"/>
                </a:solidFill>
                <a:latin typeface="Arial"/>
              </a:rPr>
              <a:t>Once we have a linear time-domain model, nonlinear loads can be added due to the assumption of force superposition:</a:t>
            </a:r>
            <a:endParaRPr b="0" lang="en-US" sz="2000" spc="-1" strike="noStrike">
              <a:solidFill>
                <a:srgbClr val="000000"/>
              </a:solidFill>
              <a:latin typeface="Arial"/>
            </a:endParaRPr>
          </a:p>
        </p:txBody>
      </p:sp>
      <p:sp>
        <p:nvSpPr>
          <p:cNvPr id="60" name="Rectangle 4"/>
          <p:cNvSpPr/>
          <p:nvPr/>
        </p:nvSpPr>
        <p:spPr>
          <a:xfrm>
            <a:off x="2195640" y="2708280"/>
            <a:ext cx="1081080" cy="719280"/>
          </a:xfrm>
          <a:prstGeom prst="rect">
            <a:avLst/>
          </a:prstGeom>
          <a:solidFill>
            <a:srgbClr val="cc99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61" name="Rectangle 5"/>
          <p:cNvSpPr/>
          <p:nvPr/>
        </p:nvSpPr>
        <p:spPr>
          <a:xfrm>
            <a:off x="5221440" y="2708280"/>
            <a:ext cx="1295280" cy="792000"/>
          </a:xfrm>
          <a:prstGeom prst="rect">
            <a:avLst/>
          </a:prstGeom>
          <a:solidFill>
            <a:srgbClr val="cc99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62" name="Text Box 6"/>
          <p:cNvSpPr/>
          <p:nvPr/>
        </p:nvSpPr>
        <p:spPr>
          <a:xfrm>
            <a:off x="2266920" y="2779560"/>
            <a:ext cx="936720" cy="64260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LinearLoads</a:t>
            </a:r>
            <a:endParaRPr b="0" lang="en-US" sz="1800" spc="-1" strike="noStrike">
              <a:solidFill>
                <a:srgbClr val="000000"/>
              </a:solidFill>
              <a:latin typeface="Arial"/>
            </a:endParaRPr>
          </a:p>
        </p:txBody>
      </p:sp>
      <p:sp>
        <p:nvSpPr>
          <p:cNvPr id="63" name="Text Box 7"/>
          <p:cNvSpPr/>
          <p:nvPr/>
        </p:nvSpPr>
        <p:spPr>
          <a:xfrm>
            <a:off x="5292720" y="2779560"/>
            <a:ext cx="1152360" cy="64260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Linear eq of motion</a:t>
            </a:r>
            <a:endParaRPr b="0" lang="en-US" sz="1800" spc="-1" strike="noStrike">
              <a:solidFill>
                <a:srgbClr val="000000"/>
              </a:solidFill>
              <a:latin typeface="Arial"/>
            </a:endParaRPr>
          </a:p>
        </p:txBody>
      </p:sp>
      <p:sp>
        <p:nvSpPr>
          <p:cNvPr id="64" name="Line 8"/>
          <p:cNvSpPr/>
          <p:nvPr/>
        </p:nvSpPr>
        <p:spPr>
          <a:xfrm flipV="1">
            <a:off x="4572000" y="3067200"/>
            <a:ext cx="649440" cy="1440"/>
          </a:xfrm>
          <a:prstGeom prst="line">
            <a:avLst/>
          </a:prstGeom>
          <a:ln w="38160">
            <a:solidFill>
              <a:srgbClr val="000000"/>
            </a:solidFill>
            <a:miter/>
            <a:tailEnd len="med" type="arrow" w="med"/>
          </a:ln>
        </p:spPr>
        <p:style>
          <a:lnRef idx="0"/>
          <a:fillRef idx="0"/>
          <a:effectRef idx="0"/>
          <a:fontRef idx="minor"/>
        </p:style>
        <p:txBody>
          <a:bodyPr lIns="90000" rIns="90000" tIns="-45360" bIns="-45360" anchor="t">
            <a:noAutofit/>
          </a:bodyPr>
          <a:p>
            <a:endParaRPr b="0" lang="en-US" sz="1800" spc="-1" strike="noStrike">
              <a:solidFill>
                <a:srgbClr val="000000"/>
              </a:solidFill>
              <a:latin typeface="Arial"/>
            </a:endParaRPr>
          </a:p>
        </p:txBody>
      </p:sp>
      <p:sp>
        <p:nvSpPr>
          <p:cNvPr id="65" name="Line 9"/>
          <p:cNvSpPr/>
          <p:nvPr/>
        </p:nvSpPr>
        <p:spPr>
          <a:xfrm>
            <a:off x="1476360" y="3067200"/>
            <a:ext cx="720720" cy="0"/>
          </a:xfrm>
          <a:prstGeom prst="line">
            <a:avLst/>
          </a:prstGeom>
          <a:ln w="38160">
            <a:solidFill>
              <a:srgbClr val="000000"/>
            </a:solidFill>
            <a:miter/>
            <a:tailEnd len="med" type="arrow"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66" name="Line 10"/>
          <p:cNvSpPr/>
          <p:nvPr/>
        </p:nvSpPr>
        <p:spPr>
          <a:xfrm>
            <a:off x="6516720" y="3067200"/>
            <a:ext cx="1009440" cy="0"/>
          </a:xfrm>
          <a:prstGeom prst="line">
            <a:avLst/>
          </a:prstGeom>
          <a:ln w="38160">
            <a:solidFill>
              <a:srgbClr val="000000"/>
            </a:solidFill>
            <a:miter/>
            <a:tailEnd len="med" type="arrow"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67" name="Text Box 11"/>
          <p:cNvSpPr/>
          <p:nvPr/>
        </p:nvSpPr>
        <p:spPr>
          <a:xfrm>
            <a:off x="684360" y="2852640"/>
            <a:ext cx="93636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waves</a:t>
            </a:r>
            <a:endParaRPr b="0" lang="en-US" sz="1800" spc="-1" strike="noStrike">
              <a:solidFill>
                <a:srgbClr val="000000"/>
              </a:solidFill>
              <a:latin typeface="Arial"/>
            </a:endParaRPr>
          </a:p>
        </p:txBody>
      </p:sp>
      <p:sp>
        <p:nvSpPr>
          <p:cNvPr id="68" name="Text Box 12"/>
          <p:cNvSpPr/>
          <p:nvPr/>
        </p:nvSpPr>
        <p:spPr>
          <a:xfrm>
            <a:off x="7596360" y="2852640"/>
            <a:ext cx="93636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Motion</a:t>
            </a:r>
            <a:endParaRPr b="0" lang="en-US" sz="1800" spc="-1" strike="noStrike">
              <a:solidFill>
                <a:srgbClr val="000000"/>
              </a:solidFill>
              <a:latin typeface="Arial"/>
            </a:endParaRPr>
          </a:p>
        </p:txBody>
      </p:sp>
      <p:sp>
        <p:nvSpPr>
          <p:cNvPr id="69" name="Line 13"/>
          <p:cNvSpPr/>
          <p:nvPr/>
        </p:nvSpPr>
        <p:spPr>
          <a:xfrm>
            <a:off x="2700360" y="2059920"/>
            <a:ext cx="0" cy="647640"/>
          </a:xfrm>
          <a:prstGeom prst="line">
            <a:avLst/>
          </a:prstGeom>
          <a:ln w="38160">
            <a:solidFill>
              <a:srgbClr val="000000"/>
            </a:solidFill>
            <a:miter/>
            <a:tailEnd len="med" type="arrow"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70" name="Line 14"/>
          <p:cNvSpPr/>
          <p:nvPr/>
        </p:nvSpPr>
        <p:spPr>
          <a:xfrm>
            <a:off x="2700360" y="2060640"/>
            <a:ext cx="4032360" cy="0"/>
          </a:xfrm>
          <a:prstGeom prst="line">
            <a:avLst/>
          </a:prstGeom>
          <a:ln w="38160">
            <a:solidFill>
              <a:srgbClr val="0000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71" name="Line 15"/>
          <p:cNvSpPr/>
          <p:nvPr/>
        </p:nvSpPr>
        <p:spPr>
          <a:xfrm flipV="1">
            <a:off x="6732720" y="2060280"/>
            <a:ext cx="0" cy="2881080"/>
          </a:xfrm>
          <a:prstGeom prst="line">
            <a:avLst/>
          </a:prstGeom>
          <a:ln w="38160">
            <a:solidFill>
              <a:srgbClr val="0000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72" name="Text Box 16"/>
          <p:cNvSpPr/>
          <p:nvPr/>
        </p:nvSpPr>
        <p:spPr>
          <a:xfrm>
            <a:off x="4429080" y="2565360"/>
            <a:ext cx="93672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Loads</a:t>
            </a:r>
            <a:endParaRPr b="0" lang="en-US" sz="1800" spc="-1" strike="noStrike">
              <a:solidFill>
                <a:srgbClr val="000000"/>
              </a:solidFill>
              <a:latin typeface="Arial"/>
            </a:endParaRPr>
          </a:p>
        </p:txBody>
      </p:sp>
      <p:sp>
        <p:nvSpPr>
          <p:cNvPr id="73" name="Oval 17"/>
          <p:cNvSpPr/>
          <p:nvPr/>
        </p:nvSpPr>
        <p:spPr>
          <a:xfrm>
            <a:off x="4282920" y="2924280"/>
            <a:ext cx="289080" cy="288720"/>
          </a:xfrm>
          <a:prstGeom prst="ellipse">
            <a:avLst/>
          </a:prstGeom>
          <a:solidFill>
            <a:srgbClr val="cc9900"/>
          </a:solidFill>
          <a:ln w="381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74" name="Line 18"/>
          <p:cNvSpPr/>
          <p:nvPr/>
        </p:nvSpPr>
        <p:spPr>
          <a:xfrm>
            <a:off x="3276720" y="3068640"/>
            <a:ext cx="1009440" cy="0"/>
          </a:xfrm>
          <a:prstGeom prst="line">
            <a:avLst/>
          </a:prstGeom>
          <a:ln w="38160">
            <a:solidFill>
              <a:srgbClr val="000000"/>
            </a:solidFill>
            <a:miter/>
            <a:tailEnd len="med" type="arrow"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75" name="Rectangle 19"/>
          <p:cNvSpPr/>
          <p:nvPr/>
        </p:nvSpPr>
        <p:spPr>
          <a:xfrm>
            <a:off x="2197080" y="3860640"/>
            <a:ext cx="1295280" cy="719280"/>
          </a:xfrm>
          <a:prstGeom prst="rect">
            <a:avLst/>
          </a:prstGeom>
          <a:solidFill>
            <a:srgbClr val="cc9900"/>
          </a:solidFill>
          <a:ln w="9360">
            <a:solidFill>
              <a:srgbClr val="000000"/>
            </a:solidFill>
            <a:miter/>
          </a:ln>
        </p:spPr>
        <p:style>
          <a:lnRef idx="0"/>
          <a:fillRef idx="0"/>
          <a:effectRef idx="0"/>
          <a:fontRef idx="minor"/>
        </p:style>
        <p:txBody>
          <a:bodyPr wrap="none" lIns="90000" rIns="90000" tIns="46800" bIns="4680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76" name="Text Box 20"/>
          <p:cNvSpPr/>
          <p:nvPr/>
        </p:nvSpPr>
        <p:spPr>
          <a:xfrm>
            <a:off x="2268360" y="3932280"/>
            <a:ext cx="1295640" cy="64260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Nonlinear Loads</a:t>
            </a:r>
            <a:endParaRPr b="0" lang="en-US" sz="1800" spc="-1" strike="noStrike">
              <a:solidFill>
                <a:srgbClr val="000000"/>
              </a:solidFill>
              <a:latin typeface="Arial"/>
            </a:endParaRPr>
          </a:p>
        </p:txBody>
      </p:sp>
      <p:sp>
        <p:nvSpPr>
          <p:cNvPr id="77" name="Line 21"/>
          <p:cNvSpPr/>
          <p:nvPr/>
        </p:nvSpPr>
        <p:spPr>
          <a:xfrm>
            <a:off x="1620720" y="3068640"/>
            <a:ext cx="0" cy="1152360"/>
          </a:xfrm>
          <a:prstGeom prst="line">
            <a:avLst/>
          </a:prstGeom>
          <a:ln w="38160">
            <a:solidFill>
              <a:srgbClr val="0000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78" name="Line 22"/>
          <p:cNvSpPr/>
          <p:nvPr/>
        </p:nvSpPr>
        <p:spPr>
          <a:xfrm>
            <a:off x="1620720" y="4221000"/>
            <a:ext cx="574920" cy="0"/>
          </a:xfrm>
          <a:prstGeom prst="line">
            <a:avLst/>
          </a:prstGeom>
          <a:ln w="38160">
            <a:solidFill>
              <a:srgbClr val="000000"/>
            </a:solidFill>
            <a:miter/>
            <a:tailEnd len="med" type="arrow"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79" name="Line 23"/>
          <p:cNvSpPr/>
          <p:nvPr/>
        </p:nvSpPr>
        <p:spPr>
          <a:xfrm flipV="1">
            <a:off x="4429080" y="3213000"/>
            <a:ext cx="0" cy="1008000"/>
          </a:xfrm>
          <a:prstGeom prst="line">
            <a:avLst/>
          </a:prstGeom>
          <a:ln w="38160">
            <a:solidFill>
              <a:srgbClr val="000000"/>
            </a:solidFill>
            <a:miter/>
            <a:tailEnd len="med" type="arrow"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80" name="Line 24"/>
          <p:cNvSpPr/>
          <p:nvPr/>
        </p:nvSpPr>
        <p:spPr>
          <a:xfrm>
            <a:off x="3492360" y="4221000"/>
            <a:ext cx="936720" cy="0"/>
          </a:xfrm>
          <a:prstGeom prst="line">
            <a:avLst/>
          </a:prstGeom>
          <a:ln w="38160">
            <a:solidFill>
              <a:srgbClr val="0000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81" name="Line 25"/>
          <p:cNvSpPr/>
          <p:nvPr/>
        </p:nvSpPr>
        <p:spPr>
          <a:xfrm>
            <a:off x="2700360" y="4941720"/>
            <a:ext cx="4032360" cy="0"/>
          </a:xfrm>
          <a:prstGeom prst="line">
            <a:avLst/>
          </a:prstGeom>
          <a:ln w="38160">
            <a:solidFill>
              <a:srgbClr val="0000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82" name="Line 26"/>
          <p:cNvSpPr/>
          <p:nvPr/>
        </p:nvSpPr>
        <p:spPr>
          <a:xfrm flipV="1">
            <a:off x="2700360" y="4581000"/>
            <a:ext cx="0" cy="360360"/>
          </a:xfrm>
          <a:prstGeom prst="line">
            <a:avLst/>
          </a:prstGeom>
          <a:ln w="38160">
            <a:solidFill>
              <a:srgbClr val="000000"/>
            </a:solidFill>
            <a:miter/>
            <a:tailEnd len="med" type="arrow"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83" name="Rectangle 27"/>
          <p:cNvSpPr/>
          <p:nvPr/>
        </p:nvSpPr>
        <p:spPr>
          <a:xfrm>
            <a:off x="395280" y="5157720"/>
            <a:ext cx="8218440" cy="86364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000" spc="-1" strike="noStrike">
                <a:solidFill>
                  <a:srgbClr val="000000"/>
                </a:solidFill>
                <a:latin typeface="Arial"/>
              </a:rPr>
              <a:t>So, the linear model should not be seen as a limitation; rather as a basis upon which we can build nonlinear models based on the assumption of force superposition.</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35D02DC-0648-49AD-904B-7FEDEFD48EB0}"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85"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86"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758C5BA-F175-4814-8912-F151FD42E9CD}"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pic>
        <p:nvPicPr>
          <p:cNvPr id="87" name="Picture 30" descr=""/>
          <p:cNvPicPr/>
          <p:nvPr/>
        </p:nvPicPr>
        <p:blipFill>
          <a:blip r:embed="rId1"/>
          <a:stretch/>
        </p:blipFill>
        <p:spPr>
          <a:xfrm>
            <a:off x="1476360" y="4365720"/>
            <a:ext cx="5905440" cy="1779480"/>
          </a:xfrm>
          <a:prstGeom prst="rect">
            <a:avLst/>
          </a:prstGeom>
          <a:ln w="0">
            <a:noFill/>
          </a:ln>
        </p:spPr>
      </p:pic>
      <p:sp>
        <p:nvSpPr>
          <p:cNvPr id="88"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Linear hydrodynamic analysis</a:t>
            </a:r>
            <a:endParaRPr b="0" lang="en-US" sz="4200" spc="-1" strike="noStrike">
              <a:solidFill>
                <a:srgbClr val="006633"/>
              </a:solidFill>
              <a:latin typeface="Tahoma"/>
            </a:endParaRPr>
          </a:p>
        </p:txBody>
      </p:sp>
      <p:sp>
        <p:nvSpPr>
          <p:cNvPr id="89" name="PlaceHolder 2"/>
          <p:cNvSpPr>
            <a:spLocks noGrp="1"/>
          </p:cNvSpPr>
          <p:nvPr>
            <p:ph/>
          </p:nvPr>
        </p:nvSpPr>
        <p:spPr>
          <a:xfrm>
            <a:off x="394920" y="1125360"/>
            <a:ext cx="8218440" cy="3600720"/>
          </a:xfrm>
          <a:prstGeom prst="rect">
            <a:avLst/>
          </a:prstGeom>
          <a:noFill/>
          <a:ln w="0">
            <a:noFill/>
          </a:ln>
        </p:spPr>
        <p:txBody>
          <a:bodyPr lIns="91440" rIns="91440" tIns="45720" bIns="45720" anchor="t">
            <a:normAutofit fontScale="98030" lnSpcReduction="10000"/>
          </a:bodyPr>
          <a:p>
            <a:pPr marL="343080" indent="-343080">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Due to linearity, we can study the problem for sinusoidal excitation and then use these results to obtain solutions to non-sinusoidal cases via superposition. </a:t>
            </a:r>
            <a:endParaRPr b="0" lang="en-US" sz="1800" spc="-1" strike="noStrike">
              <a:solidFill>
                <a:srgbClr val="000000"/>
              </a:solidFill>
              <a:latin typeface="Arial"/>
            </a:endParaRPr>
          </a:p>
          <a:p>
            <a:pPr marL="343080" indent="-343080">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marL="343080" indent="-343080">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The hydrodynamic problem of obtaining loads and motion for sinusoidal waves can be separated into two sub-problems:</a:t>
            </a:r>
            <a:endParaRPr b="0" lang="en-US" sz="1800" spc="-1" strike="noStrike">
              <a:solidFill>
                <a:srgbClr val="000000"/>
              </a:solidFill>
              <a:latin typeface="Arial"/>
            </a:endParaRPr>
          </a:p>
          <a:p>
            <a:pPr marL="343080" indent="-343080">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marL="343080" indent="-343080">
              <a:lnSpc>
                <a:spcPct val="80000"/>
              </a:lnSpc>
              <a:spcBef>
                <a:spcPts val="4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cc9900"/>
                </a:solidFill>
                <a:latin typeface="Arial"/>
              </a:rPr>
              <a:t>Excitation problem</a:t>
            </a:r>
            <a:r>
              <a:rPr b="0" lang="en-AU" sz="1800" spc="-1" strike="noStrike">
                <a:solidFill>
                  <a:srgbClr val="000000"/>
                </a:solidFill>
                <a:latin typeface="Arial"/>
              </a:rPr>
              <a:t>: The ship is restrained from moving and kept in its mean position, and the excitation loads are obtained as a result of changes in pressure due to the incoming waves.</a:t>
            </a:r>
            <a:endParaRPr b="0" lang="en-US" sz="1800" spc="-1" strike="noStrike">
              <a:solidFill>
                <a:srgbClr val="000000"/>
              </a:solidFill>
              <a:latin typeface="Arial"/>
            </a:endParaRPr>
          </a:p>
          <a:p>
            <a:pPr marL="343080" indent="-343080">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marL="343080" indent="-343080">
              <a:lnSpc>
                <a:spcPct val="80000"/>
              </a:lnSpc>
              <a:spcBef>
                <a:spcPts val="4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cc9900"/>
                </a:solidFill>
                <a:latin typeface="Arial"/>
              </a:rPr>
              <a:t>Radiation problem</a:t>
            </a:r>
            <a:r>
              <a:rPr b="0" lang="en-AU" sz="1800" spc="-1" strike="noStrike">
                <a:solidFill>
                  <a:srgbClr val="000000"/>
                </a:solidFill>
                <a:latin typeface="Arial"/>
              </a:rPr>
              <a:t>: The ship is forced to oscillate in calm water in each DOF with a frequency equal to the wave excitation frequency. </a:t>
            </a:r>
            <a:endParaRPr b="0" lang="en-US" sz="1800" spc="-1" strike="noStrike">
              <a:solidFill>
                <a:srgbClr val="000000"/>
              </a:solidFill>
              <a:latin typeface="Arial"/>
            </a:endParaRPr>
          </a:p>
          <a:p>
            <a:pPr marL="343080" indent="-343080">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marL="343080" indent="-343080">
              <a:lnSpc>
                <a:spcPct val="80000"/>
              </a:lnSpc>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D4E0E09-8EA2-4F87-9795-365D1BF5E52C}"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91"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92"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C3D5C4B-CCF0-4468-B6D2-B1799A6A327B}"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93"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Radiation forces</a:t>
            </a:r>
            <a:endParaRPr b="0" lang="en-US" sz="4200" spc="-1" strike="noStrike">
              <a:solidFill>
                <a:srgbClr val="006633"/>
              </a:solidFill>
              <a:latin typeface="Tahoma"/>
            </a:endParaRPr>
          </a:p>
        </p:txBody>
      </p:sp>
      <p:sp>
        <p:nvSpPr>
          <p:cNvPr id="94" name="PlaceHolder 2"/>
          <p:cNvSpPr>
            <a:spLocks noGrp="1"/>
          </p:cNvSpPr>
          <p:nvPr>
            <p:ph/>
          </p:nvPr>
        </p:nvSpPr>
        <p:spPr>
          <a:xfrm>
            <a:off x="468360" y="1412640"/>
            <a:ext cx="8229600" cy="4105080"/>
          </a:xfrm>
          <a:prstGeom prst="rect">
            <a:avLst/>
          </a:prstGeom>
          <a:noFill/>
          <a:ln w="0">
            <a:noFill/>
          </a:ln>
        </p:spPr>
        <p:txBody>
          <a:bodyPr lIns="91440" rIns="91440" tIns="45720" bIns="45720" anchor="t">
            <a:normAutofit/>
          </a:bodyPr>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Radiation loads appear due to the motion of the ship—the change in momentum of the fluid due to the motion of the hull changes the pressure on the hull, which induce the loads.</a:t>
            </a:r>
            <a:endParaRPr b="0" lang="en-US" sz="2600" spc="-1" strike="noStrike">
              <a:solidFill>
                <a:srgbClr val="000000"/>
              </a:solidFill>
              <a:latin typeface="Arial"/>
            </a:endParaRPr>
          </a:p>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 </a:t>
            </a:r>
            <a:endParaRPr b="0" lang="en-US" sz="2600" spc="-1" strike="noStrike">
              <a:solidFill>
                <a:srgbClr val="000000"/>
              </a:solidFill>
              <a:latin typeface="Arial"/>
            </a:endParaRPr>
          </a:p>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These loads have two components</a:t>
            </a:r>
            <a:endParaRPr b="0" lang="en-US" sz="2600" spc="-1" strike="noStrike">
              <a:solidFill>
                <a:srgbClr val="000000"/>
              </a:solidFill>
              <a:latin typeface="Arial"/>
            </a:endParaRPr>
          </a:p>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600" spc="-1" strike="noStrike">
              <a:solidFill>
                <a:srgbClr val="000000"/>
              </a:solidFill>
              <a:latin typeface="Arial"/>
            </a:endParaRPr>
          </a:p>
          <a:p>
            <a:pPr lvl="1" marL="669960" indent="-325440">
              <a:spcBef>
                <a:spcPts val="550"/>
              </a:spcBef>
              <a:buClr>
                <a:srgbClr val="3b812f"/>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200" spc="-1" strike="noStrike">
                <a:solidFill>
                  <a:srgbClr val="000000"/>
                </a:solidFill>
                <a:latin typeface="Arial"/>
              </a:rPr>
              <a:t>Proportional to the accelerations</a:t>
            </a:r>
            <a:endParaRPr b="0" lang="en-US" sz="2200" spc="-1" strike="noStrike">
              <a:solidFill>
                <a:srgbClr val="000000"/>
              </a:solidFill>
              <a:latin typeface="Arial"/>
            </a:endParaRPr>
          </a:p>
          <a:p>
            <a:pPr lvl="1" marL="669960" indent="-325440">
              <a:spcBef>
                <a:spcPts val="550"/>
              </a:spcBef>
              <a:buClr>
                <a:srgbClr val="3b812f"/>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200" spc="-1" strike="noStrike">
                <a:solidFill>
                  <a:srgbClr val="000000"/>
                </a:solidFill>
                <a:latin typeface="Arial"/>
              </a:rPr>
              <a:t>Proportional to the velocities</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ACAB3BE-20DD-44BB-9027-825E44BA1C04}"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96"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97"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D74A7BC-A787-4DDB-A5E9-4293645ECCB5}"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98"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Radiation forces</a:t>
            </a:r>
            <a:endParaRPr b="0" lang="en-US" sz="4200" spc="-1" strike="noStrike">
              <a:solidFill>
                <a:srgbClr val="006633"/>
              </a:solidFill>
              <a:latin typeface="Tahoma"/>
            </a:endParaRPr>
          </a:p>
        </p:txBody>
      </p:sp>
      <p:sp>
        <p:nvSpPr>
          <p:cNvPr id="99" name="PlaceHolder 2"/>
          <p:cNvSpPr>
            <a:spLocks noGrp="1"/>
          </p:cNvSpPr>
          <p:nvPr>
            <p:ph/>
          </p:nvPr>
        </p:nvSpPr>
        <p:spPr>
          <a:xfrm>
            <a:off x="3348000" y="1483920"/>
            <a:ext cx="5329440" cy="289080"/>
          </a:xfrm>
          <a:prstGeom prst="rect">
            <a:avLst/>
          </a:prstGeom>
          <a:noFill/>
          <a:ln w="0">
            <a:noFill/>
          </a:ln>
        </p:spPr>
        <p:txBody>
          <a:bodyPr lIns="91440" rIns="91440" tIns="45720" bIns="45720" anchor="t">
            <a:normAutofit/>
          </a:bodyPr>
          <a:p>
            <a:pPr marL="343080" indent="-343080">
              <a:lnSpc>
                <a:spcPct val="80000"/>
              </a:lnSpc>
              <a:spcBef>
                <a:spcPts val="3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500" spc="-1" strike="noStrike">
                <a:solidFill>
                  <a:srgbClr val="afbf39"/>
                </a:solidFill>
                <a:latin typeface="Arial"/>
              </a:rPr>
              <a:t>free surface condition (dynamic+kinematic conditions)</a:t>
            </a:r>
            <a:endParaRPr b="0" lang="en-US" sz="1500" spc="-1" strike="noStrike">
              <a:solidFill>
                <a:srgbClr val="000000"/>
              </a:solidFill>
              <a:latin typeface="Arial"/>
            </a:endParaRPr>
          </a:p>
        </p:txBody>
      </p:sp>
      <p:grpSp>
        <p:nvGrpSpPr>
          <p:cNvPr id="100" name="Group 4"/>
          <p:cNvGrpSpPr/>
          <p:nvPr/>
        </p:nvGrpSpPr>
        <p:grpSpPr>
          <a:xfrm>
            <a:off x="3419640" y="3500280"/>
            <a:ext cx="5329080" cy="2584440"/>
            <a:chOff x="3419640" y="3500280"/>
            <a:chExt cx="5329080" cy="2584440"/>
          </a:xfrm>
        </p:grpSpPr>
        <p:pic>
          <p:nvPicPr>
            <p:cNvPr id="101" name="Picture 5" descr=""/>
            <p:cNvPicPr/>
            <p:nvPr/>
          </p:nvPicPr>
          <p:blipFill>
            <a:blip r:embed="rId1"/>
            <a:stretch/>
          </p:blipFill>
          <p:spPr>
            <a:xfrm>
              <a:off x="3419640" y="3500280"/>
              <a:ext cx="5329080" cy="2584440"/>
            </a:xfrm>
            <a:prstGeom prst="rect">
              <a:avLst/>
            </a:prstGeom>
            <a:ln w="0">
              <a:noFill/>
            </a:ln>
          </p:spPr>
        </p:pic>
        <p:pic>
          <p:nvPicPr>
            <p:cNvPr id="102" name="Picture 6" descr=""/>
            <p:cNvPicPr/>
            <p:nvPr/>
          </p:nvPicPr>
          <p:blipFill>
            <a:blip r:embed="rId2"/>
            <a:stretch/>
          </p:blipFill>
          <p:spPr>
            <a:xfrm>
              <a:off x="4691160" y="5053680"/>
              <a:ext cx="795240" cy="603720"/>
            </a:xfrm>
            <a:prstGeom prst="rect">
              <a:avLst/>
            </a:prstGeom>
            <a:ln w="0">
              <a:noFill/>
            </a:ln>
          </p:spPr>
        </p:pic>
        <p:pic>
          <p:nvPicPr>
            <p:cNvPr id="103" name="Picture 7" descr=""/>
            <p:cNvPicPr/>
            <p:nvPr/>
          </p:nvPicPr>
          <p:blipFill>
            <a:blip r:embed="rId3"/>
            <a:stretch/>
          </p:blipFill>
          <p:spPr>
            <a:xfrm>
              <a:off x="7014240" y="3845520"/>
              <a:ext cx="1052280" cy="603720"/>
            </a:xfrm>
            <a:prstGeom prst="rect">
              <a:avLst/>
            </a:prstGeom>
            <a:ln w="0">
              <a:noFill/>
            </a:ln>
          </p:spPr>
        </p:pic>
      </p:grpSp>
      <p:pic>
        <p:nvPicPr>
          <p:cNvPr id="104" name="Picture 8" descr=""/>
          <p:cNvPicPr/>
          <p:nvPr/>
        </p:nvPicPr>
        <p:blipFill>
          <a:blip r:embed="rId4"/>
          <a:stretch/>
        </p:blipFill>
        <p:spPr>
          <a:xfrm>
            <a:off x="466560" y="1916280"/>
            <a:ext cx="2122560" cy="779400"/>
          </a:xfrm>
          <a:prstGeom prst="rect">
            <a:avLst/>
          </a:prstGeom>
          <a:ln w="0">
            <a:noFill/>
          </a:ln>
        </p:spPr>
      </p:pic>
      <p:pic>
        <p:nvPicPr>
          <p:cNvPr id="105" name="Picture 10" descr=""/>
          <p:cNvPicPr/>
          <p:nvPr/>
        </p:nvPicPr>
        <p:blipFill>
          <a:blip r:embed="rId5"/>
          <a:stretch/>
        </p:blipFill>
        <p:spPr>
          <a:xfrm>
            <a:off x="466560" y="1341360"/>
            <a:ext cx="2914920" cy="612720"/>
          </a:xfrm>
          <a:prstGeom prst="rect">
            <a:avLst/>
          </a:prstGeom>
          <a:ln w="0">
            <a:noFill/>
          </a:ln>
        </p:spPr>
      </p:pic>
      <p:pic>
        <p:nvPicPr>
          <p:cNvPr id="106" name="Picture 11" descr=""/>
          <p:cNvPicPr/>
          <p:nvPr/>
        </p:nvPicPr>
        <p:blipFill>
          <a:blip r:embed="rId6"/>
          <a:stretch/>
        </p:blipFill>
        <p:spPr>
          <a:xfrm>
            <a:off x="611280" y="2708280"/>
            <a:ext cx="1725480" cy="685800"/>
          </a:xfrm>
          <a:prstGeom prst="rect">
            <a:avLst/>
          </a:prstGeom>
          <a:ln w="0">
            <a:noFill/>
          </a:ln>
        </p:spPr>
      </p:pic>
      <p:sp>
        <p:nvSpPr>
          <p:cNvPr id="107" name="Rectangle 12"/>
          <p:cNvSpPr/>
          <p:nvPr/>
        </p:nvSpPr>
        <p:spPr>
          <a:xfrm>
            <a:off x="395280" y="981000"/>
            <a:ext cx="3168720" cy="36036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80000"/>
              </a:lnSpc>
              <a:spcBef>
                <a:spcPts val="3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500" spc="-1" strike="noStrike">
                <a:solidFill>
                  <a:srgbClr val="000000"/>
                </a:solidFill>
                <a:latin typeface="Arial"/>
              </a:rPr>
              <a:t>Boundary conditions:</a:t>
            </a:r>
            <a:endParaRPr b="0" lang="en-US" sz="1500" spc="-1" strike="noStrike">
              <a:solidFill>
                <a:srgbClr val="000000"/>
              </a:solidFill>
              <a:latin typeface="Arial"/>
            </a:endParaRPr>
          </a:p>
        </p:txBody>
      </p:sp>
      <p:sp>
        <p:nvSpPr>
          <p:cNvPr id="108" name="Rectangle 13"/>
          <p:cNvSpPr/>
          <p:nvPr/>
        </p:nvSpPr>
        <p:spPr>
          <a:xfrm>
            <a:off x="3274920" y="2133720"/>
            <a:ext cx="3168720" cy="36036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80000"/>
              </a:lnSpc>
              <a:spcBef>
                <a:spcPts val="3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500" spc="-1" strike="noStrike">
                <a:solidFill>
                  <a:srgbClr val="afbf39"/>
                </a:solidFill>
                <a:latin typeface="Arial"/>
              </a:rPr>
              <a:t>sea bed condition</a:t>
            </a:r>
            <a:endParaRPr b="0" lang="en-US" sz="1500" spc="-1" strike="noStrike">
              <a:solidFill>
                <a:srgbClr val="000000"/>
              </a:solidFill>
              <a:latin typeface="Arial"/>
            </a:endParaRPr>
          </a:p>
        </p:txBody>
      </p:sp>
      <p:sp>
        <p:nvSpPr>
          <p:cNvPr id="109" name="Rectangle 14"/>
          <p:cNvSpPr/>
          <p:nvPr/>
        </p:nvSpPr>
        <p:spPr>
          <a:xfrm>
            <a:off x="3274920" y="2781360"/>
            <a:ext cx="3168720" cy="36036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80000"/>
              </a:lnSpc>
              <a:spcBef>
                <a:spcPts val="3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500" spc="-1" strike="noStrike">
                <a:solidFill>
                  <a:srgbClr val="afbf39"/>
                </a:solidFill>
                <a:latin typeface="Arial"/>
              </a:rPr>
              <a:t>dynamic body condition</a:t>
            </a:r>
            <a:endParaRPr b="0" lang="en-US" sz="1500" spc="-1" strike="noStrike">
              <a:solidFill>
                <a:srgbClr val="000000"/>
              </a:solidFill>
              <a:latin typeface="Arial"/>
            </a:endParaRPr>
          </a:p>
        </p:txBody>
      </p:sp>
      <p:sp>
        <p:nvSpPr>
          <p:cNvPr id="110" name="Rectangle 15"/>
          <p:cNvSpPr/>
          <p:nvPr/>
        </p:nvSpPr>
        <p:spPr>
          <a:xfrm>
            <a:off x="3203640" y="3429000"/>
            <a:ext cx="3168720" cy="36036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80000"/>
              </a:lnSpc>
              <a:spcBef>
                <a:spcPts val="3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500" spc="-1" strike="noStrike">
                <a:solidFill>
                  <a:srgbClr val="afbf39"/>
                </a:solidFill>
                <a:latin typeface="Arial"/>
              </a:rPr>
              <a:t>radiation condition</a:t>
            </a:r>
            <a:endParaRPr b="0" lang="en-US" sz="1500" spc="-1" strike="noStrike">
              <a:solidFill>
                <a:srgbClr val="000000"/>
              </a:solidFill>
              <a:latin typeface="Arial"/>
            </a:endParaRPr>
          </a:p>
        </p:txBody>
      </p:sp>
      <mc:AlternateContent>
        <mc:Choice xmlns:a14="http://schemas.microsoft.com/office/drawing/2010/main" Requires="a14">
          <p:sp>
            <p:nvSpPr>
              <p:cNvPr id="111" name="Object 16"/>
              <p:cNvSpPr txBox="1"/>
              <p:nvPr/>
            </p:nvSpPr>
            <p:spPr>
              <a:xfrm>
                <a:off x="684360" y="4508640"/>
                <a:ext cx="2219040" cy="699840"/>
              </a:xfrm>
              <a:prstGeom prst="rect">
                <a:avLst/>
              </a:prstGeom>
            </p:spPr>
            <p:txBody>
              <a:bodyPr/>
              <a:p>
                <a14:m>
                  <m:oMath xmlns:m="http://schemas.openxmlformats.org/officeDocument/2006/math">
                    <m:sSub>
                      <m:e>
                        <m:r>
                          <m:t xml:space="preserve">Φ</m:t>
                        </m:r>
                      </m:e>
                      <m:sub>
                        <m:r>
                          <m:rPr>
                            <m:lit/>
                            <m:nor/>
                          </m:rPr>
                          <m:t xml:space="preserve">rad</m:t>
                        </m:r>
                      </m:sub>
                    </m:sSub>
                    <m:r>
                      <m:t xml:space="preserve">=</m:t>
                    </m:r>
                    <m:nary>
                      <m:naryPr>
                        <m:chr m:val="∑"/>
                        <m:subHide m:val="1"/>
                        <m:supHide m:val="1"/>
                      </m:naryPr>
                      <m:sub/>
                      <m:sup/>
                      <m:e>
                        <m:sSub>
                          <m:e>
                            <m:r>
                              <m:t xml:space="preserve">Φ</m:t>
                            </m:r>
                          </m:e>
                          <m:sub>
                            <m:r>
                              <m:t xml:space="preserve">j</m:t>
                            </m:r>
                          </m:sub>
                        </m:sSub>
                      </m:e>
                    </m:nary>
                  </m:oMath>
                </a14:m>
              </a:p>
            </p:txBody>
          </p:sp>
        </mc:Choice>
        <mc:Fallback/>
      </mc:AlternateContent>
      <mc:AlternateContent>
        <mc:Choice xmlns:a14="http://schemas.microsoft.com/office/drawing/2010/main" Requires="a14">
          <p:sp>
            <p:nvSpPr>
              <p:cNvPr id="112" name="Object 17"/>
              <p:cNvSpPr txBox="1"/>
              <p:nvPr/>
            </p:nvSpPr>
            <p:spPr>
              <a:xfrm>
                <a:off x="3995640" y="4869000"/>
                <a:ext cx="1606680" cy="555480"/>
              </a:xfrm>
              <a:prstGeom prst="rect">
                <a:avLst/>
              </a:prstGeom>
            </p:spPr>
            <p:txBody>
              <a:bodyPr/>
              <a:p>
                <a14:m>
                  <m:oMath xmlns:m="http://schemas.openxmlformats.org/officeDocument/2006/math">
                    <m:sSup>
                      <m:e>
                        <m:r>
                          <m:t xml:space="preserve">∇</m:t>
                        </m:r>
                      </m:e>
                      <m:sup>
                        <m:r>
                          <m:t xml:space="preserve">2</m:t>
                        </m:r>
                      </m:sup>
                    </m:sSup>
                    <m:sSub>
                      <m:e>
                        <m:r>
                          <m:t xml:space="preserve">Φ</m:t>
                        </m:r>
                      </m:e>
                      <m:sub>
                        <m:r>
                          <m:rPr>
                            <m:lit/>
                            <m:nor/>
                          </m:rPr>
                          <m:t xml:space="preserve">rad</m:t>
                        </m:r>
                      </m:sub>
                    </m:sSub>
                    <m:r>
                      <m:t xml:space="preserve">=</m:t>
                    </m:r>
                    <m:r>
                      <m:t xml:space="preserve">0</m:t>
                    </m:r>
                  </m:oMath>
                </a14:m>
              </a:p>
            </p:txBody>
          </p:sp>
        </mc:Choice>
        <mc:Fallback/>
      </mc:AlternateContent>
      <p:pic>
        <p:nvPicPr>
          <p:cNvPr id="113" name="Picture 18" descr=""/>
          <p:cNvPicPr/>
          <p:nvPr/>
        </p:nvPicPr>
        <p:blipFill>
          <a:blip r:embed="rId7"/>
          <a:stretch/>
        </p:blipFill>
        <p:spPr>
          <a:xfrm>
            <a:off x="5867280" y="2133720"/>
            <a:ext cx="2882880" cy="1585800"/>
          </a:xfrm>
          <a:prstGeom prst="rect">
            <a:avLst/>
          </a:prstGeom>
          <a:ln w="0">
            <a:noFill/>
          </a:ln>
        </p:spPr>
      </p:pic>
      <p:sp>
        <p:nvSpPr>
          <p:cNvPr id="114" name="Rectangle 19"/>
          <p:cNvSpPr/>
          <p:nvPr/>
        </p:nvSpPr>
        <p:spPr>
          <a:xfrm>
            <a:off x="395280" y="3429000"/>
            <a:ext cx="3168720" cy="36036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80000"/>
              </a:lnSpc>
              <a:spcBef>
                <a:spcPts val="3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500" spc="-1" strike="noStrike">
                <a:solidFill>
                  <a:srgbClr val="000000"/>
                </a:solidFill>
                <a:latin typeface="Arial"/>
              </a:rPr>
              <a:t>Regular outgoing waves</a:t>
            </a:r>
            <a:endParaRPr b="0" lang="en-US" sz="1500" spc="-1" strike="noStrike">
              <a:solidFill>
                <a:srgbClr val="000000"/>
              </a:solidFill>
              <a:latin typeface="Arial"/>
            </a:endParaRPr>
          </a:p>
          <a:p>
            <a:pPr marL="343080" indent="-343080">
              <a:lnSpc>
                <a:spcPct val="80000"/>
              </a:lnSpc>
              <a:spcBef>
                <a:spcPts val="3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500" spc="-1" strike="noStrike">
                <a:solidFill>
                  <a:srgbClr val="000000"/>
                </a:solidFill>
                <a:latin typeface="Arial"/>
              </a:rPr>
              <a:t>are observed at large distance from the vessel</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CA70DCB-84D7-4A33-B730-5F024562EF3B}"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16"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17"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E9CDE48-7F5B-44C5-B5E1-E8CE8EE24FC0}"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18"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Computing forces</a:t>
            </a:r>
            <a:endParaRPr b="0" lang="en-US" sz="4200" spc="-1" strike="noStrike">
              <a:solidFill>
                <a:srgbClr val="006633"/>
              </a:solidFill>
              <a:latin typeface="Tahoma"/>
            </a:endParaRPr>
          </a:p>
        </p:txBody>
      </p:sp>
      <p:sp>
        <p:nvSpPr>
          <p:cNvPr id="119" name="PlaceHolder 2"/>
          <p:cNvSpPr>
            <a:spLocks noGrp="1"/>
          </p:cNvSpPr>
          <p:nvPr>
            <p:ph/>
          </p:nvPr>
        </p:nvSpPr>
        <p:spPr>
          <a:xfrm>
            <a:off x="539640" y="1125360"/>
            <a:ext cx="6778800" cy="1252800"/>
          </a:xfrm>
          <a:prstGeom prst="rect">
            <a:avLst/>
          </a:prstGeom>
          <a:noFill/>
          <a:ln w="0">
            <a:noFill/>
          </a:ln>
        </p:spPr>
        <p:txBody>
          <a:bodyPr lIns="91440" rIns="91440" tIns="45720" bIns="45720" anchor="t">
            <a:normAutofit/>
          </a:bodyPr>
          <a:p>
            <a:pPr marL="343080" indent="-343080">
              <a:lnSpc>
                <a:spcPct val="90000"/>
              </a:lnSpc>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Forces and moments are obtained by integrating the pressure over the average wetted surface </a:t>
            </a:r>
            <a:r>
              <a:rPr b="0" i="1" lang="en-AU" sz="2600" spc="-1" strike="noStrike">
                <a:solidFill>
                  <a:srgbClr val="000000"/>
                </a:solidFill>
                <a:latin typeface="Times New Roman"/>
              </a:rPr>
              <a:t>Sw</a:t>
            </a:r>
            <a:r>
              <a:rPr b="0" lang="en-AU" sz="2600" spc="-1" strike="noStrike">
                <a:solidFill>
                  <a:srgbClr val="000000"/>
                </a:solidFill>
                <a:latin typeface="Arial"/>
              </a:rPr>
              <a:t>: </a:t>
            </a:r>
            <a:endParaRPr b="0" lang="en-US" sz="2600" spc="-1" strike="noStrike">
              <a:solidFill>
                <a:srgbClr val="000000"/>
              </a:solidFill>
              <a:latin typeface="Arial"/>
            </a:endParaRPr>
          </a:p>
        </p:txBody>
      </p:sp>
      <p:sp>
        <p:nvSpPr>
          <p:cNvPr id="120" name="Rectangle 4"/>
          <p:cNvSpPr/>
          <p:nvPr/>
        </p:nvSpPr>
        <p:spPr>
          <a:xfrm>
            <a:off x="468360" y="2492280"/>
            <a:ext cx="3168720" cy="36036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80000"/>
              </a:lnSpc>
              <a:spcBef>
                <a:spcPts val="4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700" spc="-1" strike="noStrike">
                <a:solidFill>
                  <a:srgbClr val="996600"/>
                </a:solidFill>
                <a:latin typeface="Arial"/>
              </a:rPr>
              <a:t>Radiation forces and moments:</a:t>
            </a:r>
            <a:endParaRPr b="0" lang="en-US" sz="1700" spc="-1" strike="noStrike">
              <a:solidFill>
                <a:srgbClr val="000000"/>
              </a:solidFill>
              <a:latin typeface="Arial"/>
            </a:endParaRPr>
          </a:p>
        </p:txBody>
      </p:sp>
      <p:sp>
        <p:nvSpPr>
          <p:cNvPr id="121" name="Rectangle 8"/>
          <p:cNvSpPr/>
          <p:nvPr/>
        </p:nvSpPr>
        <p:spPr>
          <a:xfrm>
            <a:off x="7667640" y="2997360"/>
            <a:ext cx="1224000" cy="201600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80000"/>
              </a:lnSpc>
              <a:spcBef>
                <a:spcPts val="3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500" spc="-1" strike="noStrike">
                <a:solidFill>
                  <a:srgbClr val="996600"/>
                </a:solidFill>
                <a:latin typeface="Arial"/>
              </a:rPr>
              <a:t>DOF:</a:t>
            </a:r>
            <a:endParaRPr b="0" lang="en-US" sz="1500" spc="-1" strike="noStrike">
              <a:solidFill>
                <a:srgbClr val="000000"/>
              </a:solidFill>
              <a:latin typeface="Arial"/>
            </a:endParaRPr>
          </a:p>
          <a:p>
            <a:pPr marL="343080" indent="-343080">
              <a:lnSpc>
                <a:spcPct val="80000"/>
              </a:lnSpc>
              <a:spcBef>
                <a:spcPts val="3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500" spc="-1" strike="noStrike">
                <a:solidFill>
                  <a:srgbClr val="996600"/>
                </a:solidFill>
                <a:latin typeface="Arial"/>
              </a:rPr>
              <a:t> </a:t>
            </a:r>
            <a:endParaRPr b="0" lang="en-US" sz="1500" spc="-1" strike="noStrike">
              <a:solidFill>
                <a:srgbClr val="000000"/>
              </a:solidFill>
              <a:latin typeface="Arial"/>
            </a:endParaRPr>
          </a:p>
          <a:p>
            <a:pPr marL="343080" indent="-343080">
              <a:lnSpc>
                <a:spcPct val="80000"/>
              </a:lnSpc>
              <a:spcBef>
                <a:spcPts val="3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500" spc="-1" strike="noStrike">
                <a:solidFill>
                  <a:srgbClr val="996600"/>
                </a:solidFill>
                <a:latin typeface="Arial"/>
              </a:rPr>
              <a:t>	</a:t>
            </a:r>
            <a:r>
              <a:rPr b="0" lang="en-AU" sz="1500" spc="-1" strike="noStrike">
                <a:solidFill>
                  <a:srgbClr val="996600"/>
                </a:solidFill>
                <a:latin typeface="Arial"/>
              </a:rPr>
              <a:t>1-surge</a:t>
            </a:r>
            <a:endParaRPr b="0" lang="en-US" sz="1500" spc="-1" strike="noStrike">
              <a:solidFill>
                <a:srgbClr val="000000"/>
              </a:solidFill>
              <a:latin typeface="Arial"/>
            </a:endParaRPr>
          </a:p>
          <a:p>
            <a:pPr marL="343080" indent="-343080">
              <a:lnSpc>
                <a:spcPct val="80000"/>
              </a:lnSpc>
              <a:spcBef>
                <a:spcPts val="3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500" spc="-1" strike="noStrike">
                <a:solidFill>
                  <a:srgbClr val="996600"/>
                </a:solidFill>
                <a:latin typeface="Arial"/>
              </a:rPr>
              <a:t>	</a:t>
            </a:r>
            <a:r>
              <a:rPr b="0" lang="en-AU" sz="1500" spc="-1" strike="noStrike">
                <a:solidFill>
                  <a:srgbClr val="996600"/>
                </a:solidFill>
                <a:latin typeface="Arial"/>
              </a:rPr>
              <a:t>2-sway</a:t>
            </a:r>
            <a:endParaRPr b="0" lang="en-US" sz="1500" spc="-1" strike="noStrike">
              <a:solidFill>
                <a:srgbClr val="000000"/>
              </a:solidFill>
              <a:latin typeface="Arial"/>
            </a:endParaRPr>
          </a:p>
          <a:p>
            <a:pPr marL="343080" indent="-343080">
              <a:lnSpc>
                <a:spcPct val="80000"/>
              </a:lnSpc>
              <a:spcBef>
                <a:spcPts val="3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500" spc="-1" strike="noStrike">
                <a:solidFill>
                  <a:srgbClr val="996600"/>
                </a:solidFill>
                <a:latin typeface="Arial"/>
              </a:rPr>
              <a:t>	</a:t>
            </a:r>
            <a:r>
              <a:rPr b="0" lang="en-AU" sz="1500" spc="-1" strike="noStrike">
                <a:solidFill>
                  <a:srgbClr val="996600"/>
                </a:solidFill>
                <a:latin typeface="Arial"/>
              </a:rPr>
              <a:t>3-heave</a:t>
            </a:r>
            <a:endParaRPr b="0" lang="en-US" sz="1500" spc="-1" strike="noStrike">
              <a:solidFill>
                <a:srgbClr val="000000"/>
              </a:solidFill>
              <a:latin typeface="Arial"/>
            </a:endParaRPr>
          </a:p>
          <a:p>
            <a:pPr marL="343080" indent="-343080">
              <a:lnSpc>
                <a:spcPct val="80000"/>
              </a:lnSpc>
              <a:spcBef>
                <a:spcPts val="3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500" spc="-1" strike="noStrike">
                <a:solidFill>
                  <a:srgbClr val="996600"/>
                </a:solidFill>
                <a:latin typeface="Arial"/>
              </a:rPr>
              <a:t>	</a:t>
            </a:r>
            <a:r>
              <a:rPr b="0" lang="en-AU" sz="1500" spc="-1" strike="noStrike">
                <a:solidFill>
                  <a:srgbClr val="996600"/>
                </a:solidFill>
                <a:latin typeface="Arial"/>
              </a:rPr>
              <a:t>4-roll</a:t>
            </a:r>
            <a:endParaRPr b="0" lang="en-US" sz="1500" spc="-1" strike="noStrike">
              <a:solidFill>
                <a:srgbClr val="000000"/>
              </a:solidFill>
              <a:latin typeface="Arial"/>
            </a:endParaRPr>
          </a:p>
          <a:p>
            <a:pPr marL="343080" indent="-343080">
              <a:lnSpc>
                <a:spcPct val="80000"/>
              </a:lnSpc>
              <a:spcBef>
                <a:spcPts val="3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500" spc="-1" strike="noStrike">
                <a:solidFill>
                  <a:srgbClr val="996600"/>
                </a:solidFill>
                <a:latin typeface="Arial"/>
              </a:rPr>
              <a:t>	</a:t>
            </a:r>
            <a:r>
              <a:rPr b="0" lang="en-AU" sz="1500" spc="-1" strike="noStrike">
                <a:solidFill>
                  <a:srgbClr val="996600"/>
                </a:solidFill>
                <a:latin typeface="Arial"/>
              </a:rPr>
              <a:t>5-pitch</a:t>
            </a:r>
            <a:endParaRPr b="0" lang="en-US" sz="1500" spc="-1" strike="noStrike">
              <a:solidFill>
                <a:srgbClr val="000000"/>
              </a:solidFill>
              <a:latin typeface="Arial"/>
            </a:endParaRPr>
          </a:p>
          <a:p>
            <a:pPr marL="343080" indent="-343080">
              <a:lnSpc>
                <a:spcPct val="80000"/>
              </a:lnSpc>
              <a:spcBef>
                <a:spcPts val="3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500" spc="-1" strike="noStrike">
                <a:solidFill>
                  <a:srgbClr val="996600"/>
                </a:solidFill>
                <a:latin typeface="Arial"/>
              </a:rPr>
              <a:t>	</a:t>
            </a:r>
            <a:r>
              <a:rPr b="0" lang="en-AU" sz="1500" spc="-1" strike="noStrike">
                <a:solidFill>
                  <a:srgbClr val="996600"/>
                </a:solidFill>
                <a:latin typeface="Arial"/>
              </a:rPr>
              <a:t>6-yaw</a:t>
            </a:r>
            <a:endParaRPr b="0" lang="en-US" sz="1500" spc="-1" strike="noStrike">
              <a:solidFill>
                <a:srgbClr val="000000"/>
              </a:solidFill>
              <a:latin typeface="Arial"/>
            </a:endParaRPr>
          </a:p>
        </p:txBody>
      </p:sp>
      <p:sp>
        <p:nvSpPr>
          <p:cNvPr id="122" name="Line 9"/>
          <p:cNvSpPr/>
          <p:nvPr/>
        </p:nvSpPr>
        <p:spPr>
          <a:xfrm flipH="1">
            <a:off x="6300720" y="3213000"/>
            <a:ext cx="1440000" cy="50328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23" name="Line 10"/>
          <p:cNvSpPr/>
          <p:nvPr/>
        </p:nvSpPr>
        <p:spPr>
          <a:xfrm flipH="1">
            <a:off x="6516720" y="3213000"/>
            <a:ext cx="1224000" cy="1152720"/>
          </a:xfrm>
          <a:prstGeom prst="line">
            <a:avLst/>
          </a:prstGeom>
          <a:ln w="936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mc:AlternateContent>
        <mc:Choice xmlns:a14="http://schemas.microsoft.com/office/drawing/2010/main" Requires="a14">
          <p:sp>
            <p:nvSpPr>
              <p:cNvPr id="124" name="Object 11"/>
              <p:cNvSpPr txBox="1"/>
              <p:nvPr/>
            </p:nvSpPr>
            <p:spPr>
              <a:xfrm>
                <a:off x="1476360" y="3429000"/>
                <a:ext cx="4897440" cy="1457280"/>
              </a:xfrm>
              <a:prstGeom prst="rect">
                <a:avLst/>
              </a:prstGeom>
            </p:spPr>
            <p:txBody>
              <a:bodyPr/>
              <a:p>
                <a14:m>
                  <m:oMath xmlns:m="http://schemas.openxmlformats.org/officeDocument/2006/math">
                    <m:sSub>
                      <m:e>
                        <m:r>
                          <m:t xml:space="preserve">τ</m:t>
                        </m:r>
                      </m:e>
                      <m:sub>
                        <m:r>
                          <m:rPr>
                            <m:lit/>
                            <m:nor/>
                          </m:rPr>
                          <m:t xml:space="preserve">rad</m:t>
                        </m:r>
                        <m:r>
                          <m:t xml:space="preserve">,</m:t>
                        </m:r>
                        <m:r>
                          <m:t xml:space="preserve">i</m:t>
                        </m:r>
                      </m:sub>
                    </m:sSub>
                    <m:r>
                      <m:t xml:space="preserve">=</m:t>
                    </m:r>
                    <m:d>
                      <m:dPr>
                        <m:begChr m:val="{"/>
                        <m:endChr m:val=""/>
                      </m:dPr>
                      <m:e>
                        <m:m>
                          <m:mr>
                            <m:e>
                              <m:r>
                                <m:t xml:space="preserve">−</m:t>
                              </m:r>
                              <m:nary>
                                <m:naryPr>
                                  <m:chr m:val="∬"/>
                                  <m:subHide m:val="1"/>
                                  <m:supHide m:val="1"/>
                                </m:naryPr>
                                <m:sub/>
                                <m:sup/>
                                <m:e>
                                  <m:d>
                                    <m:dPr>
                                      <m:begChr m:val="("/>
                                      <m:endChr m:val=")"/>
                                    </m:dPr>
                                    <m:e>
                                      <m:f>
                                        <m:num>
                                          <m:r>
                                            <m:t xml:space="preserve">∂</m:t>
                                          </m:r>
                                          <m:sSub>
                                            <m:e>
                                              <m:r>
                                                <m:t xml:space="preserve">Φ</m:t>
                                              </m:r>
                                            </m:e>
                                            <m:sub>
                                              <m:r>
                                                <m:rPr>
                                                  <m:lit/>
                                                  <m:nor/>
                                                </m:rPr>
                                                <m:t xml:space="preserve">rad</m:t>
                                              </m:r>
                                            </m:sub>
                                          </m:sSub>
                                        </m:num>
                                        <m:den>
                                          <m:r>
                                            <m:t xml:space="preserve">∂</m:t>
                                          </m:r>
                                          <m:r>
                                            <m:t xml:space="preserve">t</m:t>
                                          </m:r>
                                        </m:den>
                                      </m:f>
                                    </m:e>
                                  </m:d>
                                </m:e>
                              </m:nary>
                              <m:r>
                                <m:t xml:space="preserve"> </m:t>
                              </m:r>
                              <m:sSub>
                                <m:e>
                                  <m:d>
                                    <m:dPr>
                                      <m:begChr m:val="("/>
                                      <m:endChr m:val=")"/>
                                    </m:dPr>
                                    <m:e>
                                      <m:r>
                                        <m:t xml:space="preserve">n</m:t>
                                      </m:r>
                                    </m:e>
                                  </m:d>
                                </m:e>
                                <m:sub>
                                  <m:r>
                                    <m:t xml:space="preserve">i</m:t>
                                  </m:r>
                                </m:sub>
                              </m:sSub>
                              <m:r>
                                <m:rPr>
                                  <m:lit/>
                                  <m:nor/>
                                </m:rPr>
                                <m:t xml:space="preserve">ds</m:t>
                              </m:r>
                              <m:r>
                                <m:t xml:space="preserve"> </m:t>
                              </m:r>
                              <m:r>
                                <m:t xml:space="preserve">i</m:t>
                              </m:r>
                              <m:r>
                                <m:t xml:space="preserve">=</m:t>
                              </m:r>
                              <m:r>
                                <m:t xml:space="preserve">1</m:t>
                              </m:r>
                              <m:r>
                                <m:t xml:space="preserve">,</m:t>
                              </m:r>
                              <m:r>
                                <m:t xml:space="preserve">2</m:t>
                              </m:r>
                              <m:r>
                                <m:t xml:space="preserve">,</m:t>
                              </m:r>
                              <m:r>
                                <m:t xml:space="preserve">3</m:t>
                              </m:r>
                              <m:r>
                                <m:rPr>
                                  <m:lit/>
                                  <m:nor/>
                                </m:rPr>
                                <m:t xml:space="preserve">.</m:t>
                              </m:r>
                            </m:e>
                          </m:mr>
                          <m:mr>
                            <m:e>
                              <m:r>
                                <m:t xml:space="preserve">−</m:t>
                              </m:r>
                              <m:nary>
                                <m:naryPr>
                                  <m:chr m:val="∬"/>
                                  <m:subHide m:val="1"/>
                                  <m:supHide m:val="1"/>
                                </m:naryPr>
                                <m:sub/>
                                <m:sup/>
                                <m:e>
                                  <m:d>
                                    <m:dPr>
                                      <m:begChr m:val="("/>
                                      <m:endChr m:val=")"/>
                                    </m:dPr>
                                    <m:e>
                                      <m:f>
                                        <m:num>
                                          <m:r>
                                            <m:t xml:space="preserve">∂</m:t>
                                          </m:r>
                                          <m:sSub>
                                            <m:e>
                                              <m:r>
                                                <m:t xml:space="preserve">Φ</m:t>
                                              </m:r>
                                            </m:e>
                                            <m:sub>
                                              <m:r>
                                                <m:rPr>
                                                  <m:lit/>
                                                  <m:nor/>
                                                </m:rPr>
                                                <m:t xml:space="preserve">rad</m:t>
                                              </m:r>
                                            </m:sub>
                                          </m:sSub>
                                        </m:num>
                                        <m:den>
                                          <m:r>
                                            <m:t xml:space="preserve">∂</m:t>
                                          </m:r>
                                          <m:r>
                                            <m:t xml:space="preserve">t</m:t>
                                          </m:r>
                                        </m:den>
                                      </m:f>
                                    </m:e>
                                  </m:d>
                                </m:e>
                              </m:nary>
                              <m:r>
                                <m:t xml:space="preserve"> </m:t>
                              </m:r>
                              <m:sSub>
                                <m:e>
                                  <m:d>
                                    <m:dPr>
                                      <m:begChr m:val="("/>
                                      <m:endChr m:val=")"/>
                                    </m:dPr>
                                    <m:e>
                                      <m:r>
                                        <m:t xml:space="preserve">r</m:t>
                                      </m:r>
                                      <m:r>
                                        <m:t xml:space="preserve">×</m:t>
                                      </m:r>
                                      <m:r>
                                        <m:t xml:space="preserve">n</m:t>
                                      </m:r>
                                    </m:e>
                                  </m:d>
                                </m:e>
                                <m:sub>
                                  <m:r>
                                    <m:t xml:space="preserve">i</m:t>
                                  </m:r>
                                  <m:r>
                                    <m:t xml:space="preserve">−</m:t>
                                  </m:r>
                                  <m:r>
                                    <m:t xml:space="preserve">3</m:t>
                                  </m:r>
                                </m:sub>
                              </m:sSub>
                              <m:r>
                                <m:rPr>
                                  <m:lit/>
                                  <m:nor/>
                                </m:rPr>
                                <m:t xml:space="preserve">ds</m:t>
                              </m:r>
                              <m:r>
                                <m:t xml:space="preserve"> </m:t>
                              </m:r>
                              <m:r>
                                <m:t xml:space="preserve">i</m:t>
                              </m:r>
                              <m:r>
                                <m:t xml:space="preserve">=</m:t>
                              </m:r>
                              <m:r>
                                <m:t xml:space="preserve">4</m:t>
                              </m:r>
                              <m:r>
                                <m:t xml:space="preserve">,</m:t>
                              </m:r>
                              <m:r>
                                <m:t xml:space="preserve">5</m:t>
                              </m:r>
                              <m:r>
                                <m:t xml:space="preserve">,</m:t>
                              </m:r>
                              <m:r>
                                <m:t xml:space="preserve">6</m:t>
                              </m:r>
                              <m:r>
                                <m:rPr>
                                  <m:lit/>
                                  <m:nor/>
                                </m:rPr>
                                <m:t xml:space="preserve">.</m:t>
                              </m:r>
                            </m:e>
                          </m:mr>
                        </m:m>
                      </m:e>
                    </m:d>
                  </m:oMath>
                </a14:m>
              </a:p>
            </p:txBody>
          </p:sp>
        </mc:Choice>
        <mc:Fallback/>
      </mc:AlternateContent>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49627C6-D9C8-46CB-AF21-EB1F72416ABB}"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26"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27"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2DA203C-F7CB-4B41-87F0-6E9744BFE54D}"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28"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Radiation forces for regular motion</a:t>
            </a:r>
            <a:endParaRPr b="0" lang="en-US" sz="3800" spc="-1" strike="noStrike">
              <a:solidFill>
                <a:srgbClr val="006633"/>
              </a:solidFill>
              <a:latin typeface="Tahoma"/>
            </a:endParaRPr>
          </a:p>
        </p:txBody>
      </p:sp>
      <p:sp>
        <p:nvSpPr>
          <p:cNvPr id="129" name="PlaceHolder 2"/>
          <p:cNvSpPr>
            <a:spLocks noGrp="1"/>
          </p:cNvSpPr>
          <p:nvPr>
            <p:ph/>
          </p:nvPr>
        </p:nvSpPr>
        <p:spPr>
          <a:xfrm>
            <a:off x="468360" y="1196640"/>
            <a:ext cx="5688000" cy="965160"/>
          </a:xfrm>
          <a:prstGeom prst="rect">
            <a:avLst/>
          </a:prstGeom>
          <a:noFill/>
          <a:ln w="0">
            <a:noFill/>
          </a:ln>
        </p:spPr>
        <p:txBody>
          <a:bodyPr lIns="91440" rIns="91440" tIns="45720" bIns="45720" anchor="t">
            <a:normAutofit/>
          </a:bodyPr>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If the motion of the vessel on the DOF </a:t>
            </a:r>
            <a:r>
              <a:rPr b="0" i="1" lang="en-AU" sz="2600" spc="-1" strike="noStrike">
                <a:solidFill>
                  <a:srgbClr val="000000"/>
                </a:solidFill>
                <a:latin typeface="Times New Roman"/>
              </a:rPr>
              <a:t>i</a:t>
            </a:r>
            <a:r>
              <a:rPr b="0" lang="en-AU" sz="2600" spc="-1" strike="noStrike">
                <a:solidFill>
                  <a:srgbClr val="000000"/>
                </a:solidFill>
                <a:latin typeface="Arial"/>
              </a:rPr>
              <a:t> is harmonic:</a:t>
            </a:r>
            <a:endParaRPr b="0" lang="en-US" sz="2600" spc="-1" strike="noStrike">
              <a:solidFill>
                <a:srgbClr val="000000"/>
              </a:solidFill>
              <a:latin typeface="Arial"/>
            </a:endParaRPr>
          </a:p>
        </p:txBody>
      </p:sp>
      <mc:AlternateContent>
        <mc:Choice xmlns:a14="http://schemas.microsoft.com/office/drawing/2010/main" Requires="a14">
          <p:sp>
            <p:nvSpPr>
              <p:cNvPr id="130" name="Object 6"/>
              <p:cNvSpPr txBox="1"/>
              <p:nvPr/>
            </p:nvSpPr>
            <p:spPr>
              <a:xfrm>
                <a:off x="1258920" y="5157720"/>
                <a:ext cx="4965840" cy="766800"/>
              </a:xfrm>
              <a:prstGeom prst="rect">
                <a:avLst/>
              </a:prstGeom>
            </p:spPr>
            <p:txBody>
              <a:bodyPr/>
              <a:p>
                <a14:m>
                  <m:oMath xmlns:m="http://schemas.openxmlformats.org/officeDocument/2006/math">
                    <m:sSub>
                      <m:e>
                        <m:r>
                          <m:t xml:space="preserve">τ</m:t>
                        </m:r>
                      </m:e>
                      <m:sub>
                        <m:r>
                          <m:rPr>
                            <m:lit/>
                            <m:nor/>
                          </m:rPr>
                          <m:t xml:space="preserve">rad</m:t>
                        </m:r>
                        <m:r>
                          <m:t xml:space="preserve">,</m:t>
                        </m:r>
                        <m:r>
                          <m:t xml:space="preserve">j</m:t>
                        </m:r>
                      </m:sub>
                    </m:sSub>
                    <m:r>
                      <m:t xml:space="preserve">=</m:t>
                    </m:r>
                    <m:r>
                      <m:t xml:space="preserve">−</m:t>
                    </m:r>
                    <m:sSub>
                      <m:e>
                        <m:r>
                          <m:t xml:space="preserve">A</m:t>
                        </m:r>
                      </m:e>
                      <m:sub>
                        <m:r>
                          <m:rPr>
                            <m:lit/>
                            <m:nor/>
                          </m:rPr>
                          <m:t xml:space="preserve">ij</m:t>
                        </m:r>
                      </m:sub>
                    </m:sSub>
                    <m:r>
                      <m:t xml:space="preserve">(</m:t>
                    </m:r>
                    <m:r>
                      <m:t xml:space="preserve">ω</m:t>
                    </m:r>
                    <m:r>
                      <m:t xml:space="preserve">)</m:t>
                    </m:r>
                    <m:r>
                      <m:t xml:space="preserve"> </m:t>
                    </m:r>
                    <m:sSub>
                      <m:e>
                        <m:acc>
                          <m:accPr>
                            <m:chr m:val="¨"/>
                          </m:accPr>
                          <m:e>
                            <m:r>
                              <m:t xml:space="preserve">ξ</m:t>
                            </m:r>
                          </m:e>
                        </m:acc>
                      </m:e>
                      <m:sub>
                        <m:r>
                          <m:t xml:space="preserve">i</m:t>
                        </m:r>
                      </m:sub>
                    </m:sSub>
                    <m:r>
                      <m:t xml:space="preserve">−</m:t>
                    </m:r>
                    <m:sSub>
                      <m:e>
                        <m:r>
                          <m:t xml:space="preserve">B</m:t>
                        </m:r>
                      </m:e>
                      <m:sub>
                        <m:r>
                          <m:rPr>
                            <m:lit/>
                            <m:nor/>
                          </m:rPr>
                          <m:t xml:space="preserve">ij</m:t>
                        </m:r>
                      </m:sub>
                    </m:sSub>
                    <m:r>
                      <m:t xml:space="preserve">(</m:t>
                    </m:r>
                    <m:r>
                      <m:t xml:space="preserve">ω</m:t>
                    </m:r>
                    <m:r>
                      <m:t xml:space="preserve">)</m:t>
                    </m:r>
                    <m:r>
                      <m:t xml:space="preserve"> </m:t>
                    </m:r>
                    <m:sSub>
                      <m:e>
                        <m:acc>
                          <m:accPr>
                            <m:chr m:val="˙"/>
                          </m:accPr>
                          <m:e>
                            <m:r>
                              <m:t xml:space="preserve">ξ</m:t>
                            </m:r>
                          </m:e>
                        </m:acc>
                      </m:e>
                      <m:sub>
                        <m:r>
                          <m:t xml:space="preserve">i</m:t>
                        </m:r>
                      </m:sub>
                    </m:sSub>
                  </m:oMath>
                </a14:m>
              </a:p>
            </p:txBody>
          </p:sp>
        </mc:Choice>
        <mc:Fallback/>
      </mc:AlternateContent>
      <mc:AlternateContent>
        <mc:Choice xmlns:a14="http://schemas.microsoft.com/office/drawing/2010/main" Requires="a14">
          <p:sp>
            <p:nvSpPr>
              <p:cNvPr id="131" name="Object 8"/>
              <p:cNvSpPr txBox="1"/>
              <p:nvPr/>
            </p:nvSpPr>
            <p:spPr>
              <a:xfrm>
                <a:off x="3203640" y="2708280"/>
                <a:ext cx="2155680" cy="577800"/>
              </a:xfrm>
              <a:prstGeom prst="rect">
                <a:avLst/>
              </a:prstGeom>
            </p:spPr>
            <p:txBody>
              <a:bodyPr/>
              <a:p>
                <a14:m>
                  <m:oMath xmlns:m="http://schemas.openxmlformats.org/officeDocument/2006/math">
                    <m:sSub>
                      <m:e>
                        <m:r>
                          <m:t xml:space="preserve">ξ</m:t>
                        </m:r>
                      </m:e>
                      <m:sub>
                        <m:r>
                          <m:t xml:space="preserve">i</m:t>
                        </m:r>
                      </m:sub>
                    </m:sSub>
                    <m:r>
                      <m:t xml:space="preserve">=</m:t>
                    </m:r>
                    <m:acc>
                      <m:accPr>
                        <m:chr m:val="¯"/>
                      </m:accPr>
                      <m:e>
                        <m:r>
                          <m:t xml:space="preserve">ξ</m:t>
                        </m:r>
                      </m:e>
                    </m:acc>
                    <m:r>
                      <m:rPr>
                        <m:lit/>
                        <m:nor/>
                      </m:rPr>
                      <m:t xml:space="preserve">cos</m:t>
                    </m:r>
                    <m:r>
                      <m:t xml:space="preserve">(</m:t>
                    </m:r>
                    <m:r>
                      <m:t xml:space="preserve">ω</m:t>
                    </m:r>
                    <m:r>
                      <m:t xml:space="preserve"> </m:t>
                    </m:r>
                    <m:r>
                      <m:t xml:space="preserve">t</m:t>
                    </m:r>
                    <m:r>
                      <m:t xml:space="preserve">)</m:t>
                    </m:r>
                  </m:oMath>
                </a14:m>
              </a:p>
            </p:txBody>
          </p:sp>
        </mc:Choice>
        <mc:Fallback/>
      </mc:AlternateContent>
      <p:sp>
        <p:nvSpPr>
          <p:cNvPr id="132" name="Rectangle 9"/>
          <p:cNvSpPr/>
          <p:nvPr/>
        </p:nvSpPr>
        <p:spPr>
          <a:xfrm>
            <a:off x="468360" y="3645000"/>
            <a:ext cx="7848720" cy="96516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6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Then, after integrating the pressure over the surface of the hull,  the radiation forces in the DOF </a:t>
            </a:r>
            <a:r>
              <a:rPr b="0" i="1" lang="en-AU" sz="2600" spc="-1" strike="noStrike">
                <a:solidFill>
                  <a:srgbClr val="000000"/>
                </a:solidFill>
                <a:latin typeface="Times New Roman"/>
              </a:rPr>
              <a:t>j</a:t>
            </a:r>
            <a:r>
              <a:rPr b="0" lang="en-AU" sz="2600" spc="-1" strike="noStrike">
                <a:solidFill>
                  <a:srgbClr val="000000"/>
                </a:solidFill>
                <a:latin typeface="Arial"/>
              </a:rPr>
              <a:t> due to the motion in the DOF</a:t>
            </a:r>
            <a:r>
              <a:rPr b="0" i="1" lang="en-AU" sz="2600" spc="-1" strike="noStrike">
                <a:solidFill>
                  <a:srgbClr val="000000"/>
                </a:solidFill>
                <a:latin typeface="Times New Roman"/>
              </a:rPr>
              <a:t> i</a:t>
            </a:r>
            <a:r>
              <a:rPr b="0" lang="en-AU" sz="2600" spc="-1" strike="noStrike">
                <a:solidFill>
                  <a:srgbClr val="000000"/>
                </a:solidFill>
                <a:latin typeface="Arial"/>
              </a:rPr>
              <a:t> take the following form:</a:t>
            </a:r>
            <a:endParaRPr b="0" lang="en-US" sz="2600" spc="-1" strike="noStrike">
              <a:solidFill>
                <a:srgbClr val="000000"/>
              </a:solidFill>
              <a:latin typeface="Arial"/>
            </a:endParaRPr>
          </a:p>
        </p:txBody>
      </p:sp>
      <p:pic>
        <p:nvPicPr>
          <p:cNvPr id="133" name="Picture 10" descr=""/>
          <p:cNvPicPr/>
          <p:nvPr/>
        </p:nvPicPr>
        <p:blipFill>
          <a:blip r:embed="rId1"/>
          <a:stretch/>
        </p:blipFill>
        <p:spPr>
          <a:xfrm>
            <a:off x="5940360" y="1197000"/>
            <a:ext cx="2882880" cy="1585800"/>
          </a:xfrm>
          <a:prstGeom prst="rect">
            <a:avLst/>
          </a:prstGeom>
          <a:ln w="0">
            <a:noFill/>
          </a:ln>
        </p:spPr>
      </p:pic>
      <p:sp>
        <p:nvSpPr>
          <p:cNvPr id="134" name="Rectangle 11"/>
          <p:cNvSpPr/>
          <p:nvPr/>
        </p:nvSpPr>
        <p:spPr>
          <a:xfrm>
            <a:off x="6659640" y="5373720"/>
            <a:ext cx="2087640" cy="36036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80000"/>
              </a:lnSpc>
              <a:spcBef>
                <a:spcPts val="4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700" spc="-1" strike="noStrike">
                <a:solidFill>
                  <a:srgbClr val="996600"/>
                </a:solidFill>
                <a:latin typeface="Arial"/>
                <a:ea typeface="Arial"/>
              </a:rPr>
              <a:t>←</a:t>
            </a:r>
            <a:r>
              <a:rPr b="0" lang="en-AU" sz="1700" spc="-1" strike="noStrike">
                <a:solidFill>
                  <a:srgbClr val="996600"/>
                </a:solidFill>
                <a:latin typeface="Arial"/>
              </a:rPr>
              <a:t> </a:t>
            </a:r>
            <a:r>
              <a:rPr b="0" lang="en-AU" sz="1700" spc="-1" strike="noStrike">
                <a:solidFill>
                  <a:srgbClr val="996600"/>
                </a:solidFill>
                <a:latin typeface="Arial"/>
              </a:rPr>
              <a:t>Only in steady state condition.</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C8CE077-9E11-47C6-96F2-A41C755938D4}"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36"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37"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226253F-BD9F-4207-AFE0-6CC431978ADE}"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38"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Radiation forces for regular motion</a:t>
            </a:r>
            <a:endParaRPr b="0" lang="en-US" sz="3800" spc="-1" strike="noStrike">
              <a:solidFill>
                <a:srgbClr val="006633"/>
              </a:solidFill>
              <a:latin typeface="Tahoma"/>
            </a:endParaRPr>
          </a:p>
        </p:txBody>
      </p:sp>
      <mc:AlternateContent>
        <mc:Choice xmlns:a14="http://schemas.microsoft.com/office/drawing/2010/main" Requires="a14">
          <p:sp>
            <p:nvSpPr>
              <p:cNvPr id="139" name="Object 4"/>
              <p:cNvSpPr txBox="1"/>
              <p:nvPr/>
            </p:nvSpPr>
            <p:spPr>
              <a:xfrm>
                <a:off x="1835280" y="1052640"/>
                <a:ext cx="4965480" cy="766800"/>
              </a:xfrm>
              <a:prstGeom prst="rect">
                <a:avLst/>
              </a:prstGeom>
            </p:spPr>
            <p:txBody>
              <a:bodyPr/>
              <a:p>
                <a14:m>
                  <m:oMath xmlns:m="http://schemas.openxmlformats.org/officeDocument/2006/math">
                    <m:sSub>
                      <m:e>
                        <m:r>
                          <m:t xml:space="preserve">τ</m:t>
                        </m:r>
                      </m:e>
                      <m:sub>
                        <m:r>
                          <m:rPr>
                            <m:lit/>
                            <m:nor/>
                          </m:rPr>
                          <m:t xml:space="preserve">rad</m:t>
                        </m:r>
                        <m:r>
                          <m:t xml:space="preserve">,</m:t>
                        </m:r>
                        <m:r>
                          <m:t xml:space="preserve">j</m:t>
                        </m:r>
                      </m:sub>
                    </m:sSub>
                    <m:r>
                      <m:t xml:space="preserve">=</m:t>
                    </m:r>
                    <m:r>
                      <m:t xml:space="preserve">−</m:t>
                    </m:r>
                    <m:sSub>
                      <m:e>
                        <m:r>
                          <m:t xml:space="preserve">A</m:t>
                        </m:r>
                      </m:e>
                      <m:sub>
                        <m:r>
                          <m:rPr>
                            <m:lit/>
                            <m:nor/>
                          </m:rPr>
                          <m:t xml:space="preserve">ij</m:t>
                        </m:r>
                      </m:sub>
                    </m:sSub>
                    <m:r>
                      <m:t xml:space="preserve">(</m:t>
                    </m:r>
                    <m:r>
                      <m:t xml:space="preserve">ω</m:t>
                    </m:r>
                    <m:r>
                      <m:t xml:space="preserve">)</m:t>
                    </m:r>
                    <m:r>
                      <m:t xml:space="preserve"> </m:t>
                    </m:r>
                    <m:sSub>
                      <m:e>
                        <m:acc>
                          <m:accPr>
                            <m:chr m:val="¨"/>
                          </m:accPr>
                          <m:e>
                            <m:r>
                              <m:t xml:space="preserve">ξ</m:t>
                            </m:r>
                          </m:e>
                        </m:acc>
                      </m:e>
                      <m:sub>
                        <m:r>
                          <m:t xml:space="preserve">i</m:t>
                        </m:r>
                      </m:sub>
                    </m:sSub>
                    <m:r>
                      <m:t xml:space="preserve">−</m:t>
                    </m:r>
                    <m:sSub>
                      <m:e>
                        <m:r>
                          <m:t xml:space="preserve">B</m:t>
                        </m:r>
                      </m:e>
                      <m:sub>
                        <m:r>
                          <m:rPr>
                            <m:lit/>
                            <m:nor/>
                          </m:rPr>
                          <m:t xml:space="preserve">ij</m:t>
                        </m:r>
                      </m:sub>
                    </m:sSub>
                    <m:r>
                      <m:t xml:space="preserve">(</m:t>
                    </m:r>
                    <m:r>
                      <m:t xml:space="preserve">ω</m:t>
                    </m:r>
                    <m:r>
                      <m:t xml:space="preserve">)</m:t>
                    </m:r>
                    <m:r>
                      <m:t xml:space="preserve"> </m:t>
                    </m:r>
                    <m:sSub>
                      <m:e>
                        <m:acc>
                          <m:accPr>
                            <m:chr m:val="˙"/>
                          </m:accPr>
                          <m:e>
                            <m:r>
                              <m:t xml:space="preserve">ξ</m:t>
                            </m:r>
                          </m:e>
                        </m:acc>
                      </m:e>
                      <m:sub>
                        <m:r>
                          <m:t xml:space="preserve">i</m:t>
                        </m:r>
                      </m:sub>
                    </m:sSub>
                  </m:oMath>
                </a14:m>
              </a:p>
            </p:txBody>
          </p:sp>
        </mc:Choice>
        <mc:Fallback/>
      </mc:AlternateContent>
      <p:sp>
        <p:nvSpPr>
          <p:cNvPr id="140" name="Rectangle 6"/>
          <p:cNvSpPr/>
          <p:nvPr/>
        </p:nvSpPr>
        <p:spPr>
          <a:xfrm>
            <a:off x="611280" y="2060640"/>
            <a:ext cx="8064360" cy="403236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550"/>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200" spc="-1" strike="noStrike">
                <a:solidFill>
                  <a:srgbClr val="000000"/>
                </a:solidFill>
                <a:latin typeface="Arial"/>
              </a:rPr>
              <a:t>The coefficients that multiply the accelerations are called </a:t>
            </a:r>
            <a:r>
              <a:rPr b="0" lang="en-AU" sz="2200" spc="-1" strike="noStrike">
                <a:solidFill>
                  <a:srgbClr val="996600"/>
                </a:solidFill>
                <a:latin typeface="Arial"/>
              </a:rPr>
              <a:t>added mass coefficients </a:t>
            </a:r>
            <a:r>
              <a:rPr b="0" lang="en-AU" sz="2200" spc="-1" strike="noStrike">
                <a:solidFill>
                  <a:srgbClr val="000000"/>
                </a:solidFill>
                <a:latin typeface="Arial"/>
              </a:rPr>
              <a:t>even though not all of them have units of mass. The added mass terms give the forces due to the accelerations of the fluid as the vessel oscillations—the whole fluid will oscillate with different fluid particle amplitudes.</a:t>
            </a:r>
            <a:endParaRPr b="0" lang="en-US" sz="2200" spc="-1" strike="noStrike">
              <a:solidFill>
                <a:srgbClr val="000000"/>
              </a:solidFill>
              <a:latin typeface="Arial"/>
            </a:endParaRPr>
          </a:p>
          <a:p>
            <a:pPr marL="343080" indent="-343080">
              <a:spcBef>
                <a:spcPts val="5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200" spc="-1" strike="noStrike">
              <a:solidFill>
                <a:srgbClr val="000000"/>
              </a:solidFill>
              <a:latin typeface="Arial"/>
            </a:endParaRPr>
          </a:p>
          <a:p>
            <a:pPr marL="343080" indent="-343080">
              <a:spcBef>
                <a:spcPts val="550"/>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200" spc="-1" strike="noStrike">
                <a:solidFill>
                  <a:srgbClr val="000000"/>
                </a:solidFill>
                <a:latin typeface="Arial"/>
              </a:rPr>
              <a:t>The coefficients proportional to the velocities are called </a:t>
            </a:r>
            <a:r>
              <a:rPr b="0" lang="en-AU" sz="2200" spc="-1" strike="noStrike">
                <a:solidFill>
                  <a:srgbClr val="996600"/>
                </a:solidFill>
                <a:latin typeface="Arial"/>
              </a:rPr>
              <a:t>potential damping coefficients</a:t>
            </a:r>
            <a:r>
              <a:rPr b="0" lang="en-AU" sz="2200" spc="-1" strike="noStrike">
                <a:solidFill>
                  <a:srgbClr val="000000"/>
                </a:solidFill>
                <a:latin typeface="Arial"/>
              </a:rPr>
              <a:t>. The potential damping terms represent the energy carried away by the waves generated due to the motion of the hull.</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C23C478-3CFF-4113-8DD4-70981BEE0705}"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42"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43"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D2AD706-70FF-433F-9A19-1D5739AD6621}"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44"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Added mass and damping</a:t>
            </a:r>
            <a:endParaRPr b="0" lang="en-US" sz="4200" spc="-1" strike="noStrike">
              <a:solidFill>
                <a:srgbClr val="006633"/>
              </a:solidFill>
              <a:latin typeface="Tahoma"/>
            </a:endParaRPr>
          </a:p>
        </p:txBody>
      </p:sp>
      <p:sp>
        <p:nvSpPr>
          <p:cNvPr id="145" name="PlaceHolder 2"/>
          <p:cNvSpPr>
            <a:spLocks noGrp="1"/>
          </p:cNvSpPr>
          <p:nvPr>
            <p:ph/>
          </p:nvPr>
        </p:nvSpPr>
        <p:spPr>
          <a:xfrm>
            <a:off x="395280" y="1341360"/>
            <a:ext cx="3889440" cy="1440000"/>
          </a:xfrm>
          <a:prstGeom prst="rect">
            <a:avLst/>
          </a:prstGeom>
          <a:noFill/>
          <a:ln w="0">
            <a:noFill/>
          </a:ln>
        </p:spPr>
        <p:txBody>
          <a:bodyPr lIns="91440" rIns="91440" tIns="45720" bIns="45720" anchor="t">
            <a:normAutofit/>
          </a:bodyPr>
          <a:p>
            <a:pPr marL="343080" indent="-343080">
              <a:lnSpc>
                <a:spcPct val="9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Example of added mass and potential damping in heave of a symmetric rectangular barge 8x4x45m:</a:t>
            </a:r>
            <a:endParaRPr b="0" lang="en-US" sz="2100" spc="-1" strike="noStrike">
              <a:solidFill>
                <a:srgbClr val="000000"/>
              </a:solidFill>
              <a:latin typeface="Arial"/>
            </a:endParaRPr>
          </a:p>
        </p:txBody>
      </p:sp>
      <p:pic>
        <p:nvPicPr>
          <p:cNvPr id="146" name="Picture 4" descr=""/>
          <p:cNvPicPr/>
          <p:nvPr/>
        </p:nvPicPr>
        <p:blipFill>
          <a:blip r:embed="rId1"/>
          <a:stretch/>
        </p:blipFill>
        <p:spPr>
          <a:xfrm>
            <a:off x="4427640" y="1557360"/>
            <a:ext cx="4275000" cy="3956040"/>
          </a:xfrm>
          <a:prstGeom prst="rect">
            <a:avLst/>
          </a:prstGeom>
          <a:ln w="0">
            <a:noFill/>
          </a:ln>
        </p:spPr>
      </p:pic>
      <p:sp>
        <p:nvSpPr>
          <p:cNvPr id="147" name="Rectangle 5"/>
          <p:cNvSpPr/>
          <p:nvPr/>
        </p:nvSpPr>
        <p:spPr>
          <a:xfrm>
            <a:off x="468360" y="3500280"/>
            <a:ext cx="3960720" cy="1944720"/>
          </a:xfrm>
          <a:prstGeom prst="rect">
            <a:avLst/>
          </a:prstGeom>
          <a:noFill/>
          <a:ln w="0">
            <a:noFill/>
          </a:ln>
        </p:spPr>
        <p:style>
          <a:lnRef idx="0"/>
          <a:fillRef idx="0"/>
          <a:effectRef idx="0"/>
          <a:fontRef idx="minor"/>
        </p:style>
        <p:txBody>
          <a:bodyPr lIns="90000" rIns="90000" tIns="46800" bIns="46800" anchor="t">
            <a:noAutofit/>
          </a:bodyPr>
          <a:p>
            <a:pPr marL="343080" indent="-343080">
              <a:lnSpc>
                <a:spcPct val="90000"/>
              </a:lnSpc>
              <a:spcBef>
                <a:spcPts val="5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The added mass and damping coefficients depend on </a:t>
            </a:r>
            <a:endParaRPr b="0" lang="en-US" sz="2100" spc="-1" strike="noStrike">
              <a:solidFill>
                <a:srgbClr val="000000"/>
              </a:solidFill>
              <a:latin typeface="Arial"/>
            </a:endParaRPr>
          </a:p>
          <a:p>
            <a:pPr marL="343080" indent="-343080">
              <a:lnSpc>
                <a:spcPct val="90000"/>
              </a:lnSpc>
              <a:spcBef>
                <a:spcPts val="5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9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Shape of the hull</a:t>
            </a:r>
            <a:endParaRPr b="0" lang="en-US" sz="2100" spc="-1" strike="noStrike">
              <a:solidFill>
                <a:srgbClr val="000000"/>
              </a:solidFill>
              <a:latin typeface="Arial"/>
            </a:endParaRPr>
          </a:p>
          <a:p>
            <a:pPr marL="343080" indent="-343080">
              <a:lnSpc>
                <a:spcPct val="9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Forward speed</a:t>
            </a:r>
            <a:endParaRPr b="0" lang="en-US" sz="2100" spc="-1" strike="noStrike">
              <a:solidFill>
                <a:srgbClr val="000000"/>
              </a:solidFill>
              <a:latin typeface="Arial"/>
            </a:endParaRPr>
          </a:p>
          <a:p>
            <a:pPr marL="343080" indent="-343080">
              <a:lnSpc>
                <a:spcPct val="9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100" spc="-1" strike="noStrike">
                <a:solidFill>
                  <a:srgbClr val="000000"/>
                </a:solidFill>
                <a:latin typeface="Arial"/>
              </a:rPr>
              <a:t>Water depth</a:t>
            </a:r>
            <a:endParaRPr b="0" lang="en-US"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87AE66F-BF4E-4C50-8B26-0D380FCEAA9A}"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49"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50"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D3E952C-CFAB-4735-89E6-9AD2A1D22190}"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51"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Symmetry</a:t>
            </a:r>
            <a:endParaRPr b="0" lang="en-US" sz="4200" spc="-1" strike="noStrike">
              <a:solidFill>
                <a:srgbClr val="006633"/>
              </a:solidFill>
              <a:latin typeface="Tahoma"/>
            </a:endParaRPr>
          </a:p>
        </p:txBody>
      </p:sp>
      <p:sp>
        <p:nvSpPr>
          <p:cNvPr id="152" name="PlaceHolder 2"/>
          <p:cNvSpPr>
            <a:spLocks noGrp="1"/>
          </p:cNvSpPr>
          <p:nvPr>
            <p:ph/>
          </p:nvPr>
        </p:nvSpPr>
        <p:spPr>
          <a:xfrm>
            <a:off x="539640" y="1196640"/>
            <a:ext cx="8002800" cy="4530600"/>
          </a:xfrm>
          <a:prstGeom prst="rect">
            <a:avLst/>
          </a:prstGeom>
          <a:noFill/>
          <a:ln w="0">
            <a:noFill/>
          </a:ln>
        </p:spPr>
        <p:txBody>
          <a:bodyPr lIns="91440" rIns="91440" tIns="45720" bIns="45720" anchor="t">
            <a:normAutofit/>
          </a:bodyPr>
          <a:p>
            <a:pPr marL="343080" indent="-343080">
              <a:spcBef>
                <a:spcPts val="550"/>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200" spc="-1" strike="noStrike">
                <a:solidFill>
                  <a:srgbClr val="000000"/>
                </a:solidFill>
                <a:latin typeface="Arial"/>
              </a:rPr>
              <a:t>There is a total of 36 added mass and 36 damping coefficients.</a:t>
            </a:r>
            <a:endParaRPr b="0" lang="en-US" sz="2200" spc="-1" strike="noStrike">
              <a:solidFill>
                <a:srgbClr val="000000"/>
              </a:solidFill>
              <a:latin typeface="Arial"/>
            </a:endParaRPr>
          </a:p>
          <a:p>
            <a:pPr marL="343080" indent="-34308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200" spc="-1" strike="noStrike">
              <a:solidFill>
                <a:srgbClr val="000000"/>
              </a:solidFill>
              <a:latin typeface="Arial"/>
            </a:endParaRPr>
          </a:p>
          <a:p>
            <a:pPr marL="343080" indent="-343080">
              <a:spcBef>
                <a:spcPts val="550"/>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200" spc="-1" strike="noStrike">
                <a:solidFill>
                  <a:srgbClr val="000000"/>
                </a:solidFill>
                <a:latin typeface="Arial"/>
              </a:rPr>
              <a:t>If the structure has zero speed and a plane of symmetry, half of the coefficients are zero. (for this to hold with forward speed, the plane of symmetry has to be parallel to the forward direction.)</a:t>
            </a:r>
            <a:endParaRPr b="0" lang="en-US" sz="2200" spc="-1" strike="noStrike">
              <a:solidFill>
                <a:srgbClr val="000000"/>
              </a:solidFill>
              <a:latin typeface="Arial"/>
            </a:endParaRPr>
          </a:p>
          <a:p>
            <a:pPr marL="343080" indent="-34308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200" spc="-1" strike="noStrike">
              <a:solidFill>
                <a:srgbClr val="000000"/>
              </a:solidFill>
              <a:latin typeface="Arial"/>
            </a:endParaRPr>
          </a:p>
          <a:p>
            <a:pPr marL="343080" indent="-343080">
              <a:spcBef>
                <a:spcPts val="550"/>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200" spc="-1" strike="noStrike">
                <a:solidFill>
                  <a:srgbClr val="000000"/>
                </a:solidFill>
                <a:latin typeface="Arial"/>
              </a:rPr>
              <a:t>If the structure has zero speed and there is no current, then the matrices of added mass and damping are symmetric:</a:t>
            </a:r>
            <a:br>
              <a:rPr sz="2200"/>
            </a:br>
            <a:r>
              <a:rPr b="0" lang="en-AU" sz="2200" spc="-1" strike="noStrike">
                <a:solidFill>
                  <a:srgbClr val="000000"/>
                </a:solidFill>
                <a:latin typeface="Arial"/>
              </a:rPr>
              <a:t> </a:t>
            </a:r>
            <a:endParaRPr b="0" lang="en-US" sz="2200" spc="-1" strike="noStrike">
              <a:solidFill>
                <a:srgbClr val="000000"/>
              </a:solidFill>
              <a:latin typeface="Arial"/>
            </a:endParaRPr>
          </a:p>
          <a:p>
            <a:pPr marL="343080" indent="-34308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200" spc="-1" strike="noStrike">
              <a:solidFill>
                <a:srgbClr val="000000"/>
              </a:solidFill>
              <a:latin typeface="Arial"/>
            </a:endParaRPr>
          </a:p>
        </p:txBody>
      </p:sp>
      <mc:AlternateContent>
        <mc:Choice xmlns:a14="http://schemas.microsoft.com/office/drawing/2010/main" Requires="a14">
          <p:sp>
            <p:nvSpPr>
              <p:cNvPr id="153" name="Object 5"/>
              <p:cNvSpPr txBox="1"/>
              <p:nvPr/>
            </p:nvSpPr>
            <p:spPr>
              <a:xfrm>
                <a:off x="3492360" y="5084640"/>
                <a:ext cx="1871640" cy="936720"/>
              </a:xfrm>
              <a:prstGeom prst="rect">
                <a:avLst/>
              </a:prstGeom>
            </p:spPr>
            <p:txBody>
              <a:bodyPr/>
              <a:p>
                <a14:m>
                  <m:oMath xmlns:m="http://schemas.openxmlformats.org/officeDocument/2006/math">
                    <m:eqArr>
                      <m:e>
                        <m:sSub>
                          <m:e>
                            <m:r>
                              <m:t xml:space="preserve">A</m:t>
                            </m:r>
                          </m:e>
                          <m:sub>
                            <m:r>
                              <m:rPr>
                                <m:lit/>
                                <m:nor/>
                              </m:rPr>
                              <m:t xml:space="preserve">ij</m:t>
                            </m:r>
                          </m:sub>
                        </m:sSub>
                        <m:r>
                          <m:t xml:space="preserve">(</m:t>
                        </m:r>
                        <m:r>
                          <m:t xml:space="preserve">ω</m:t>
                        </m:r>
                        <m:r>
                          <m:t xml:space="preserve">)</m:t>
                        </m:r>
                        <m:r>
                          <m:t xml:space="preserve">=</m:t>
                        </m:r>
                        <m:sSub>
                          <m:e>
                            <m:r>
                              <m:t xml:space="preserve">A</m:t>
                            </m:r>
                          </m:e>
                          <m:sub>
                            <m:r>
                              <m:rPr>
                                <m:lit/>
                                <m:nor/>
                              </m:rPr>
                              <m:t xml:space="preserve">ji</m:t>
                            </m:r>
                          </m:sub>
                        </m:sSub>
                        <m:r>
                          <m:t xml:space="preserve">(</m:t>
                        </m:r>
                        <m:r>
                          <m:t xml:space="preserve">ω</m:t>
                        </m:r>
                        <m:r>
                          <m:t xml:space="preserve">)</m:t>
                        </m:r>
                      </m:e>
                      <m:e>
                        <m:sSub>
                          <m:e>
                            <m:r>
                              <m:t xml:space="preserve">B</m:t>
                            </m:r>
                          </m:e>
                          <m:sub>
                            <m:r>
                              <m:rPr>
                                <m:lit/>
                                <m:nor/>
                              </m:rPr>
                              <m:t xml:space="preserve">ij</m:t>
                            </m:r>
                          </m:sub>
                        </m:sSub>
                        <m:r>
                          <m:t xml:space="preserve">(</m:t>
                        </m:r>
                        <m:r>
                          <m:t xml:space="preserve">ω</m:t>
                        </m:r>
                        <m:r>
                          <m:t xml:space="preserve">)</m:t>
                        </m:r>
                        <m:r>
                          <m:t xml:space="preserve">=</m:t>
                        </m:r>
                        <m:sSub>
                          <m:e>
                            <m:r>
                              <m:t xml:space="preserve">B</m:t>
                            </m:r>
                          </m:e>
                          <m:sub>
                            <m:r>
                              <m:rPr>
                                <m:lit/>
                                <m:nor/>
                              </m:rPr>
                              <m:t xml:space="preserve">ji</m:t>
                            </m:r>
                          </m:sub>
                        </m:sSub>
                        <m:r>
                          <m:t xml:space="preserve">(</m:t>
                        </m:r>
                        <m:r>
                          <m:t xml:space="preserve">ω</m:t>
                        </m:r>
                        <m:r>
                          <m:t xml:space="preserve">)</m:t>
                        </m:r>
                      </m:e>
                    </m:eqArr>
                  </m:oMath>
                </a14:m>
              </a:p>
            </p:txBody>
          </p:sp>
        </mc:Choice>
        <mc:Fallback/>
      </mc:AlternateContent>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E7E570A-2560-4649-9CDA-5214E61DB3CE}"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55"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56"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23DFCED-E295-41B4-BD51-1925DBF45211}"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pic>
        <p:nvPicPr>
          <p:cNvPr id="157" name="Picture 9" descr=""/>
          <p:cNvPicPr/>
          <p:nvPr/>
        </p:nvPicPr>
        <p:blipFill>
          <a:blip r:embed="rId1"/>
          <a:stretch/>
        </p:blipFill>
        <p:spPr>
          <a:xfrm>
            <a:off x="6124680" y="163440"/>
            <a:ext cx="2869920" cy="2770200"/>
          </a:xfrm>
          <a:prstGeom prst="rect">
            <a:avLst/>
          </a:prstGeom>
          <a:ln w="0">
            <a:noFill/>
          </a:ln>
        </p:spPr>
      </p:pic>
      <p:sp>
        <p:nvSpPr>
          <p:cNvPr id="158"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3800" spc="-1" strike="noStrike">
                <a:solidFill>
                  <a:srgbClr val="006633"/>
                </a:solidFill>
                <a:latin typeface="Tahoma"/>
              </a:rPr>
              <a:t>Restoring forces (linear)</a:t>
            </a:r>
            <a:endParaRPr b="0" lang="en-US" sz="3800" spc="-1" strike="noStrike">
              <a:solidFill>
                <a:srgbClr val="006633"/>
              </a:solidFill>
              <a:latin typeface="Tahoma"/>
            </a:endParaRPr>
          </a:p>
        </p:txBody>
      </p:sp>
      <p:sp>
        <p:nvSpPr>
          <p:cNvPr id="159" name="PlaceHolder 2"/>
          <p:cNvSpPr>
            <a:spLocks noGrp="1"/>
          </p:cNvSpPr>
          <p:nvPr>
            <p:ph/>
          </p:nvPr>
        </p:nvSpPr>
        <p:spPr>
          <a:xfrm>
            <a:off x="250560" y="981000"/>
            <a:ext cx="6049800" cy="959040"/>
          </a:xfrm>
          <a:prstGeom prst="rect">
            <a:avLst/>
          </a:prstGeom>
          <a:noFill/>
          <a:ln w="0">
            <a:noFill/>
          </a:ln>
        </p:spPr>
        <p:txBody>
          <a:bodyPr lIns="91440" rIns="91440" tIns="45720" bIns="45720" anchor="t">
            <a:normAutofit/>
          </a:bodyPr>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2600" spc="-1" strike="noStrike">
                <a:solidFill>
                  <a:srgbClr val="000000"/>
                </a:solidFill>
                <a:latin typeface="Arial"/>
              </a:rPr>
              <a:t>The resotring forces are due to changes in displacement: </a:t>
            </a:r>
            <a:endParaRPr b="0" lang="en-US" sz="2600" spc="-1" strike="noStrike">
              <a:solidFill>
                <a:srgbClr val="000000"/>
              </a:solidFill>
              <a:latin typeface="Arial"/>
            </a:endParaRPr>
          </a:p>
        </p:txBody>
      </p:sp>
      <p:pic>
        <p:nvPicPr>
          <p:cNvPr id="160" name="Picture 4" descr=""/>
          <p:cNvPicPr/>
          <p:nvPr/>
        </p:nvPicPr>
        <p:blipFill>
          <a:blip r:embed="rId2"/>
          <a:stretch/>
        </p:blipFill>
        <p:spPr>
          <a:xfrm>
            <a:off x="3828960" y="1989000"/>
            <a:ext cx="1524240" cy="532080"/>
          </a:xfrm>
          <a:prstGeom prst="rect">
            <a:avLst/>
          </a:prstGeom>
          <a:ln w="0">
            <a:noFill/>
          </a:ln>
        </p:spPr>
      </p:pic>
      <p:pic>
        <p:nvPicPr>
          <p:cNvPr id="161" name="Picture 5" descr=""/>
          <p:cNvPicPr/>
          <p:nvPr/>
        </p:nvPicPr>
        <p:blipFill>
          <a:blip r:embed="rId3"/>
          <a:stretch/>
        </p:blipFill>
        <p:spPr>
          <a:xfrm>
            <a:off x="455760" y="2970360"/>
            <a:ext cx="4011480" cy="2160360"/>
          </a:xfrm>
          <a:prstGeom prst="rect">
            <a:avLst/>
          </a:prstGeom>
          <a:ln w="0">
            <a:noFill/>
          </a:ln>
        </p:spPr>
      </p:pic>
      <p:pic>
        <p:nvPicPr>
          <p:cNvPr id="162" name="Picture 6" descr=""/>
          <p:cNvPicPr/>
          <p:nvPr/>
        </p:nvPicPr>
        <p:blipFill>
          <a:blip r:embed="rId4"/>
          <a:stretch/>
        </p:blipFill>
        <p:spPr>
          <a:xfrm>
            <a:off x="4619520" y="2913120"/>
            <a:ext cx="4146480" cy="2295360"/>
          </a:xfrm>
          <a:prstGeom prst="rect">
            <a:avLst/>
          </a:prstGeom>
          <a:ln w="0">
            <a:noFill/>
          </a:ln>
        </p:spPr>
      </p:pic>
      <mc:AlternateContent>
        <mc:Choice xmlns:a14="http://schemas.microsoft.com/office/drawing/2010/main" Requires="a14">
          <p:sp>
            <p:nvSpPr>
              <p:cNvPr id="163" name="Object 7"/>
              <p:cNvSpPr txBox="1"/>
              <p:nvPr/>
            </p:nvSpPr>
            <p:spPr>
              <a:xfrm>
                <a:off x="2806560" y="1976400"/>
                <a:ext cx="981360" cy="601560"/>
              </a:xfrm>
              <a:prstGeom prst="rect">
                <a:avLst/>
              </a:prstGeom>
            </p:spPr>
            <p:txBody>
              <a:bodyPr/>
              <a:p>
                <a14:m>
                  <m:oMath xmlns:m="http://schemas.openxmlformats.org/officeDocument/2006/math">
                    <m:sSub>
                      <m:e>
                        <m:r>
                          <m:t xml:space="preserve">τ</m:t>
                        </m:r>
                      </m:e>
                      <m:sub>
                        <m:r>
                          <m:rPr>
                            <m:lit/>
                            <m:nor/>
                          </m:rPr>
                          <m:t xml:space="preserve">rest</m:t>
                        </m:r>
                      </m:sub>
                    </m:sSub>
                    <m:r>
                      <m:t xml:space="preserve">=</m:t>
                    </m:r>
                  </m:oMath>
                </a14:m>
              </a:p>
            </p:txBody>
          </p:sp>
        </mc:Choice>
        <mc:Fallback/>
      </mc:AlternateContent>
      <p:sp>
        <p:nvSpPr>
          <p:cNvPr id="164" name="Text Box 8"/>
          <p:cNvSpPr/>
          <p:nvPr/>
        </p:nvSpPr>
        <p:spPr>
          <a:xfrm>
            <a:off x="5908680" y="2997360"/>
            <a:ext cx="2284560" cy="736920"/>
          </a:xfrm>
          <a:prstGeom prst="rect">
            <a:avLst/>
          </a:prstGeom>
          <a:noFill/>
          <a:ln w="0">
            <a:noFill/>
          </a:ln>
        </p:spPr>
        <p:style>
          <a:lnRef idx="0"/>
          <a:fillRef idx="0"/>
          <a:effectRef idx="0"/>
          <a:fontRef idx="minor"/>
        </p:style>
        <p:txBody>
          <a:bodyPr lIns="90360" rIns="90360" tIns="44280" bIns="44280" anchor="t">
            <a:spAutoFit/>
          </a:bodyPr>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1600" spc="-1" strike="noStrike">
                <a:solidFill>
                  <a:srgbClr val="0000ff"/>
                </a:solidFill>
                <a:latin typeface="Times New Roman"/>
              </a:rPr>
              <a:t>(</a:t>
            </a:r>
            <a:r>
              <a:rPr b="0" i="1" lang="nb-NO" sz="1600" spc="-1" strike="noStrike">
                <a:solidFill>
                  <a:srgbClr val="0000ff"/>
                </a:solidFill>
                <a:latin typeface="Times New Roman"/>
              </a:rPr>
              <a:t>A</a:t>
            </a:r>
            <a:r>
              <a:rPr b="0" i="1" lang="nb-NO" sz="1600" spc="-1" strike="noStrike" baseline="-25000">
                <a:solidFill>
                  <a:srgbClr val="0000ff"/>
                </a:solidFill>
                <a:latin typeface="Times New Roman"/>
              </a:rPr>
              <a:t>wp</a:t>
            </a:r>
            <a:r>
              <a:rPr b="0" lang="nb-NO" sz="1600" spc="-1" strike="noStrike">
                <a:solidFill>
                  <a:srgbClr val="0000ff"/>
                </a:solidFill>
                <a:latin typeface="Times New Roman"/>
              </a:rPr>
              <a:t> waterplane area)</a:t>
            </a:r>
            <a:endParaRPr b="0" lang="en-US" sz="1600" spc="-1" strike="noStrike">
              <a:solidFill>
                <a:srgbClr val="000000"/>
              </a:solidFill>
              <a:latin typeface="Arial"/>
            </a:endParaRPr>
          </a:p>
          <a:p>
            <a:pP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pc="-1" strike="noStrike">
              <a:solidFill>
                <a:srgbClr val="000000"/>
              </a:solidFill>
              <a:latin typeface="Arial"/>
            </a:endParaRPr>
          </a:p>
        </p:txBody>
      </p:sp>
      <p:sp>
        <p:nvSpPr>
          <p:cNvPr id="165" name="Line 10"/>
          <p:cNvSpPr/>
          <p:nvPr/>
        </p:nvSpPr>
        <p:spPr>
          <a:xfrm flipH="1" flipV="1">
            <a:off x="7291080" y="1190160"/>
            <a:ext cx="1098360" cy="3049560"/>
          </a:xfrm>
          <a:prstGeom prst="line">
            <a:avLst/>
          </a:prstGeom>
          <a:ln w="12600">
            <a:solidFill>
              <a:srgbClr val="0000ff"/>
            </a:solidFill>
            <a:miter/>
            <a:tailEnd len="med" type="triangle" w="med"/>
          </a:ln>
        </p:spPr>
        <p:style>
          <a:lnRef idx="0"/>
          <a:fillRef idx="0"/>
          <a:effectRef idx="0"/>
          <a:fontRef idx="minor"/>
        </p:style>
        <p:txBody>
          <a:bodyPr lIns="90360" rIns="90360" tIns="44280" bIns="44280" anchor="ctr">
            <a:noAutofit/>
          </a:bodyPr>
          <a:p>
            <a:endParaRPr b="0" lang="en-US" sz="1800" spc="-1" strike="noStrike">
              <a:solidFill>
                <a:srgbClr val="000000"/>
              </a:solidFill>
              <a:latin typeface="Arial"/>
            </a:endParaRPr>
          </a:p>
        </p:txBody>
      </p:sp>
      <p:sp>
        <p:nvSpPr>
          <p:cNvPr id="166" name="Rectangle 11"/>
          <p:cNvSpPr/>
          <p:nvPr/>
        </p:nvSpPr>
        <p:spPr>
          <a:xfrm>
            <a:off x="468360" y="5516640"/>
            <a:ext cx="8251920" cy="49032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5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2200" spc="-1" strike="noStrike">
                <a:solidFill>
                  <a:srgbClr val="000000"/>
                </a:solidFill>
                <a:latin typeface="Arial"/>
              </a:rPr>
              <a:t>These are computed for calm water—Calm water stability.   </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03FE58C-8C0E-4A37-853A-E08A35AD041B}"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68"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69"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11872E2-56A6-47D8-BB32-7936FC840436}"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70"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Linear Wave Excitation</a:t>
            </a:r>
            <a:endParaRPr b="0" lang="en-US" sz="4200" spc="-1" strike="noStrike">
              <a:solidFill>
                <a:srgbClr val="006633"/>
              </a:solidFill>
              <a:latin typeface="Tahoma"/>
            </a:endParaRPr>
          </a:p>
        </p:txBody>
      </p:sp>
      <p:sp>
        <p:nvSpPr>
          <p:cNvPr id="171" name="PlaceHolder 2"/>
          <p:cNvSpPr>
            <a:spLocks noGrp="1"/>
          </p:cNvSpPr>
          <p:nvPr>
            <p:ph/>
          </p:nvPr>
        </p:nvSpPr>
        <p:spPr>
          <a:xfrm>
            <a:off x="457200" y="1599840"/>
            <a:ext cx="8229600" cy="4530600"/>
          </a:xfrm>
          <a:prstGeom prst="rect">
            <a:avLst/>
          </a:prstGeom>
          <a:noFill/>
          <a:ln w="0">
            <a:noFill/>
          </a:ln>
        </p:spPr>
        <p:txBody>
          <a:bodyPr lIns="91440" rIns="91440" tIns="45720" bIns="45720" anchor="t">
            <a:normAutofit/>
          </a:bodyPr>
          <a:p>
            <a:pPr marL="343080" indent="-343080">
              <a:spcBef>
                <a:spcPts val="64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The </a:t>
            </a:r>
            <a:r>
              <a:rPr b="0" lang="en-AU" sz="2600" spc="-1" strike="noStrike">
                <a:solidFill>
                  <a:srgbClr val="996600"/>
                </a:solidFill>
                <a:latin typeface="Arial"/>
              </a:rPr>
              <a:t>linear wave excitation</a:t>
            </a:r>
            <a:r>
              <a:rPr b="0" lang="en-AU" sz="2600" spc="-1" strike="noStrike">
                <a:solidFill>
                  <a:srgbClr val="000000"/>
                </a:solidFill>
                <a:latin typeface="Arial"/>
              </a:rPr>
              <a:t> or </a:t>
            </a:r>
            <a:r>
              <a:rPr b="0" lang="en-AU" sz="2600" spc="-1" strike="noStrike">
                <a:solidFill>
                  <a:srgbClr val="996600"/>
                </a:solidFill>
                <a:latin typeface="Arial"/>
              </a:rPr>
              <a:t>1</a:t>
            </a:r>
            <a:r>
              <a:rPr b="0" lang="en-AU" sz="2600" spc="-1" strike="noStrike" baseline="30000">
                <a:solidFill>
                  <a:srgbClr val="996600"/>
                </a:solidFill>
                <a:latin typeface="Arial"/>
              </a:rPr>
              <a:t>st</a:t>
            </a:r>
            <a:r>
              <a:rPr b="0" lang="en-AU" sz="2600" spc="-1" strike="noStrike">
                <a:solidFill>
                  <a:srgbClr val="996600"/>
                </a:solidFill>
                <a:latin typeface="Arial"/>
              </a:rPr>
              <a:t> order waves excitation</a:t>
            </a:r>
            <a:r>
              <a:rPr b="0" lang="en-AU" sz="2600" spc="-1" strike="noStrike">
                <a:solidFill>
                  <a:srgbClr val="000000"/>
                </a:solidFill>
                <a:latin typeface="Arial"/>
              </a:rPr>
              <a:t> are the loads on the structure when it is restrained from oscillating and there are incident waves. The linear assumption assumes the loads are proportional to the wave amplitude.</a:t>
            </a:r>
            <a:endParaRPr b="0" lang="en-US" sz="2600" spc="-1" strike="noStrike">
              <a:solidFill>
                <a:srgbClr val="000000"/>
              </a:solidFill>
              <a:latin typeface="Arial"/>
            </a:endParaRPr>
          </a:p>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600" spc="-1" strike="noStrike">
              <a:solidFill>
                <a:srgbClr val="000000"/>
              </a:solidFill>
              <a:latin typeface="Arial"/>
            </a:endParaRPr>
          </a:p>
          <a:p>
            <a:pPr marL="343080" indent="-343080">
              <a:spcBef>
                <a:spcPts val="64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1</a:t>
            </a:r>
            <a:r>
              <a:rPr b="0" lang="en-AU" sz="2600" spc="-1" strike="noStrike" baseline="30000">
                <a:solidFill>
                  <a:srgbClr val="000000"/>
                </a:solidFill>
                <a:latin typeface="Arial"/>
              </a:rPr>
              <a:t>st</a:t>
            </a:r>
            <a:r>
              <a:rPr b="0" lang="en-AU" sz="2600" spc="-1" strike="noStrike">
                <a:solidFill>
                  <a:srgbClr val="000000"/>
                </a:solidFill>
                <a:latin typeface="Arial"/>
              </a:rPr>
              <a:t> order wave loads are separated into two components:</a:t>
            </a:r>
            <a:endParaRPr b="0" lang="en-US" sz="2600" spc="-1" strike="noStrike">
              <a:solidFill>
                <a:srgbClr val="000000"/>
              </a:solidFill>
              <a:latin typeface="Arial"/>
            </a:endParaRPr>
          </a:p>
          <a:p>
            <a:pPr lvl="1" marL="669960" indent="-325440">
              <a:spcBef>
                <a:spcPts val="550"/>
              </a:spcBef>
              <a:buClr>
                <a:srgbClr val="3b812f"/>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200" spc="-1" strike="noStrike">
                <a:solidFill>
                  <a:srgbClr val="000000"/>
                </a:solidFill>
                <a:latin typeface="Arial"/>
              </a:rPr>
              <a:t>Froude-Kriloff</a:t>
            </a:r>
            <a:endParaRPr b="0" lang="en-US" sz="2200" spc="-1" strike="noStrike">
              <a:solidFill>
                <a:srgbClr val="000000"/>
              </a:solidFill>
              <a:latin typeface="Arial"/>
            </a:endParaRPr>
          </a:p>
          <a:p>
            <a:pPr lvl="1" marL="669960" indent="-325440">
              <a:spcBef>
                <a:spcPts val="550"/>
              </a:spcBef>
              <a:buClr>
                <a:srgbClr val="3b812f"/>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200" spc="-1" strike="noStrike">
                <a:solidFill>
                  <a:srgbClr val="000000"/>
                </a:solidFill>
                <a:latin typeface="Arial"/>
              </a:rPr>
              <a:t>Diffraction</a:t>
            </a:r>
            <a:endParaRPr b="0" lang="en-US" sz="2200" spc="-1" strike="noStrike">
              <a:solidFill>
                <a:srgbClr val="000000"/>
              </a:solidFill>
              <a:latin typeface="Arial"/>
            </a:endParaRPr>
          </a:p>
        </p:txBody>
      </p:sp>
      <p:pic>
        <p:nvPicPr>
          <p:cNvPr id="172" name="Picture 4" descr=""/>
          <p:cNvPicPr/>
          <p:nvPr/>
        </p:nvPicPr>
        <p:blipFill>
          <a:blip r:embed="rId1"/>
          <a:stretch/>
        </p:blipFill>
        <p:spPr>
          <a:xfrm>
            <a:off x="6877080" y="333360"/>
            <a:ext cx="1755720" cy="140976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EE028D9-8934-4BC9-83F7-1E43FD163540}"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74"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75"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D306D84-1B84-4749-878F-C6D7B15929B2}"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76"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Froude-Kriloff loads</a:t>
            </a:r>
            <a:endParaRPr b="0" lang="en-US" sz="4200" spc="-1" strike="noStrike">
              <a:solidFill>
                <a:srgbClr val="006633"/>
              </a:solidFill>
              <a:latin typeface="Tahoma"/>
            </a:endParaRPr>
          </a:p>
        </p:txBody>
      </p:sp>
      <p:sp>
        <p:nvSpPr>
          <p:cNvPr id="177" name="PlaceHolder 2"/>
          <p:cNvSpPr>
            <a:spLocks noGrp="1"/>
          </p:cNvSpPr>
          <p:nvPr>
            <p:ph/>
          </p:nvPr>
        </p:nvSpPr>
        <p:spPr>
          <a:xfrm>
            <a:off x="457200" y="1599840"/>
            <a:ext cx="8229600" cy="4530600"/>
          </a:xfrm>
          <a:prstGeom prst="rect">
            <a:avLst/>
          </a:prstGeom>
          <a:noFill/>
          <a:ln w="0">
            <a:noFill/>
          </a:ln>
        </p:spPr>
        <p:txBody>
          <a:bodyPr lIns="91440" rIns="91440" tIns="45720" bIns="45720" anchor="t">
            <a:normAutofit/>
          </a:bodyPr>
          <a:p>
            <a:pPr marL="343080" indent="-34308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The </a:t>
            </a:r>
            <a:r>
              <a:rPr b="0" lang="en-AU" sz="3000" spc="-1" strike="noStrike">
                <a:solidFill>
                  <a:srgbClr val="996600"/>
                </a:solidFill>
                <a:latin typeface="Arial"/>
              </a:rPr>
              <a:t>Froude-Kriloff loads</a:t>
            </a:r>
            <a:r>
              <a:rPr b="0" lang="en-AU" sz="3000" spc="-1" strike="noStrike">
                <a:solidFill>
                  <a:srgbClr val="000000"/>
                </a:solidFill>
                <a:latin typeface="Arial"/>
              </a:rPr>
              <a:t> are obtained by integrating the pressure due to undisturbed wave field over the mean wetted surface of the body—It is assumed that the body does not disturb the wave field.</a:t>
            </a:r>
            <a:endParaRPr b="0" lang="en-US" sz="3000" spc="-1" strike="noStrike">
              <a:solidFill>
                <a:srgbClr val="000000"/>
              </a:solidFill>
              <a:latin typeface="Arial"/>
            </a:endParaRPr>
          </a:p>
          <a:p>
            <a:pPr marL="343080" indent="-343080">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 </a:t>
            </a:r>
            <a:endParaRPr b="0" lang="en-US" sz="3000" spc="-1" strike="noStrike">
              <a:solidFill>
                <a:srgbClr val="000000"/>
              </a:solidFill>
              <a:latin typeface="Arial"/>
            </a:endParaRPr>
          </a:p>
          <a:p>
            <a:pPr marL="343080" indent="-34308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These can be considered within a nonlinear framework by integrating over the instantaneous wetter surface.</a:t>
            </a:r>
            <a:endParaRPr b="0" lang="en-US" sz="3000" spc="-1" strike="noStrike">
              <a:solidFill>
                <a:srgbClr val="000000"/>
              </a:solidFill>
              <a:latin typeface="Arial"/>
            </a:endParaRPr>
          </a:p>
          <a:p>
            <a:pPr marL="343080" indent="-343080">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3000" spc="-1" strike="noStrike">
              <a:solidFill>
                <a:srgbClr val="000000"/>
              </a:solidFill>
              <a:latin typeface="Arial"/>
            </a:endParaRPr>
          </a:p>
        </p:txBody>
      </p:sp>
      <p:pic>
        <p:nvPicPr>
          <p:cNvPr id="178" name="Picture 4" descr=""/>
          <p:cNvPicPr/>
          <p:nvPr/>
        </p:nvPicPr>
        <p:blipFill>
          <a:blip r:embed="rId1"/>
          <a:stretch/>
        </p:blipFill>
        <p:spPr>
          <a:xfrm>
            <a:off x="6877080" y="333360"/>
            <a:ext cx="1755720" cy="140976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38197AF-8703-4094-BA46-9D20EA3CBBB4}"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80"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81"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FD78A4A-1C14-42F1-833F-88D105C1DA60}"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82"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Diffraction loads</a:t>
            </a:r>
            <a:endParaRPr b="0" lang="en-US" sz="4200" spc="-1" strike="noStrike">
              <a:solidFill>
                <a:srgbClr val="006633"/>
              </a:solidFill>
              <a:latin typeface="Tahoma"/>
            </a:endParaRPr>
          </a:p>
        </p:txBody>
      </p:sp>
      <p:sp>
        <p:nvSpPr>
          <p:cNvPr id="183" name="PlaceHolder 2"/>
          <p:cNvSpPr>
            <a:spLocks noGrp="1"/>
          </p:cNvSpPr>
          <p:nvPr>
            <p:ph/>
          </p:nvPr>
        </p:nvSpPr>
        <p:spPr>
          <a:xfrm>
            <a:off x="457200" y="1599840"/>
            <a:ext cx="8229600" cy="4530600"/>
          </a:xfrm>
          <a:prstGeom prst="rect">
            <a:avLst/>
          </a:prstGeom>
          <a:noFill/>
          <a:ln w="0">
            <a:noFill/>
          </a:ln>
        </p:spPr>
        <p:txBody>
          <a:bodyPr lIns="91440" rIns="91440" tIns="45720" bIns="45720" anchor="t">
            <a:normAutofit/>
          </a:bodyPr>
          <a:p>
            <a:pPr marL="343080" indent="-343080">
              <a:lnSpc>
                <a:spcPct val="80000"/>
              </a:lnSpc>
              <a:spcBef>
                <a:spcPts val="64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The </a:t>
            </a:r>
            <a:r>
              <a:rPr b="0" lang="en-AU" sz="2600" spc="-1" strike="noStrike">
                <a:solidFill>
                  <a:srgbClr val="996600"/>
                </a:solidFill>
                <a:latin typeface="Arial"/>
              </a:rPr>
              <a:t>diffraction loads</a:t>
            </a:r>
            <a:r>
              <a:rPr b="0" lang="en-AU" sz="2600" spc="-1" strike="noStrike">
                <a:solidFill>
                  <a:srgbClr val="000000"/>
                </a:solidFill>
                <a:latin typeface="Arial"/>
              </a:rPr>
              <a:t> appear due to the change in the wave field by the presence of the body.</a:t>
            </a:r>
            <a:endParaRPr b="0" lang="en-US" sz="2600" spc="-1" strike="noStrike">
              <a:solidFill>
                <a:srgbClr val="000000"/>
              </a:solidFill>
              <a:latin typeface="Arial"/>
            </a:endParaRPr>
          </a:p>
          <a:p>
            <a:pPr marL="343080" indent="-343080">
              <a:lnSpc>
                <a:spcPct val="80000"/>
              </a:lnSpc>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 </a:t>
            </a:r>
            <a:endParaRPr b="0" lang="en-US" sz="2600" spc="-1" strike="noStrike">
              <a:solidFill>
                <a:srgbClr val="000000"/>
              </a:solidFill>
              <a:latin typeface="Arial"/>
            </a:endParaRPr>
          </a:p>
          <a:p>
            <a:pPr marL="343080" indent="-343080">
              <a:lnSpc>
                <a:spcPct val="80000"/>
              </a:lnSpc>
              <a:spcBef>
                <a:spcPts val="64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These can be computed in a similar way as the radiation forces by considering a BVP; the main difference is that the boundary condition on the body:</a:t>
            </a:r>
            <a:endParaRPr b="0" lang="en-US" sz="2600" spc="-1" strike="noStrike">
              <a:solidFill>
                <a:srgbClr val="000000"/>
              </a:solidFill>
              <a:latin typeface="Arial"/>
            </a:endParaRPr>
          </a:p>
          <a:p>
            <a:pPr lvl="1" marL="669960" indent="-325440">
              <a:lnSpc>
                <a:spcPct val="80000"/>
              </a:lnSpc>
              <a:spcBef>
                <a:spcPts val="601"/>
              </a:spcBef>
              <a:buClr>
                <a:srgbClr val="3b812f"/>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The velocity due to the diffraction potential has to be equal and opposite to the velocity due to undisturbed wave potential.</a:t>
            </a:r>
            <a:endParaRPr b="0" lang="en-US" sz="2400" spc="-1" strike="noStrike">
              <a:solidFill>
                <a:srgbClr val="000000"/>
              </a:solidFill>
              <a:latin typeface="Arial"/>
            </a:endParaRPr>
          </a:p>
          <a:p>
            <a:pPr lvl="1" marL="669960" indent="-325440">
              <a:lnSpc>
                <a:spcPct val="8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Arial"/>
            </a:endParaRPr>
          </a:p>
          <a:p>
            <a:pPr lvl="1" marL="669960" indent="-325440">
              <a:lnSpc>
                <a:spcPct val="8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996600"/>
                </a:solidFill>
                <a:latin typeface="Arial"/>
              </a:rPr>
              <a:t>This body condition ensures there will be no fluid transport through the body.</a:t>
            </a:r>
            <a:endParaRPr b="0" lang="en-US" sz="2400" spc="-1" strike="noStrike">
              <a:solidFill>
                <a:srgbClr val="000000"/>
              </a:solidFill>
              <a:latin typeface="Arial"/>
            </a:endParaRPr>
          </a:p>
        </p:txBody>
      </p:sp>
      <p:pic>
        <p:nvPicPr>
          <p:cNvPr id="184" name="Picture 4" descr=""/>
          <p:cNvPicPr/>
          <p:nvPr/>
        </p:nvPicPr>
        <p:blipFill>
          <a:blip r:embed="rId1"/>
          <a:stretch/>
        </p:blipFill>
        <p:spPr>
          <a:xfrm>
            <a:off x="6877080" y="333360"/>
            <a:ext cx="1755720" cy="140976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6443B61-78EE-4D4E-A3CA-0E01A0220D31}"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86"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87"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485C365-110A-4FAB-8666-B9CAA5D16EDB}"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88"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RAOS—Frequency response functions </a:t>
            </a:r>
            <a:endParaRPr b="0" lang="en-US" sz="3800" spc="-1" strike="noStrike">
              <a:solidFill>
                <a:srgbClr val="006633"/>
              </a:solidFill>
              <a:latin typeface="Tahoma"/>
            </a:endParaRPr>
          </a:p>
        </p:txBody>
      </p:sp>
      <p:pic>
        <p:nvPicPr>
          <p:cNvPr id="189" name="Picture 4" descr=""/>
          <p:cNvPicPr/>
          <p:nvPr/>
        </p:nvPicPr>
        <p:blipFill>
          <a:blip r:embed="rId1"/>
          <a:stretch/>
        </p:blipFill>
        <p:spPr>
          <a:xfrm>
            <a:off x="7020000" y="4724280"/>
            <a:ext cx="865080" cy="655920"/>
          </a:xfrm>
          <a:prstGeom prst="rect">
            <a:avLst/>
          </a:prstGeom>
          <a:ln w="0">
            <a:noFill/>
          </a:ln>
        </p:spPr>
      </p:pic>
      <p:sp>
        <p:nvSpPr>
          <p:cNvPr id="190" name="Rectangle 6"/>
          <p:cNvSpPr/>
          <p:nvPr/>
        </p:nvSpPr>
        <p:spPr>
          <a:xfrm>
            <a:off x="181080" y="3949560"/>
            <a:ext cx="2757240" cy="41292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ff"/>
                </a:solidFill>
                <a:latin typeface="Arial"/>
              </a:rPr>
              <a:t>Sea surface elevation</a:t>
            </a:r>
            <a:endParaRPr b="0" lang="en-US" sz="2000" spc="-1" strike="noStrike">
              <a:solidFill>
                <a:srgbClr val="000000"/>
              </a:solidFill>
              <a:latin typeface="Arial"/>
            </a:endParaRPr>
          </a:p>
        </p:txBody>
      </p:sp>
      <p:sp>
        <p:nvSpPr>
          <p:cNvPr id="191" name="Rectangle 7"/>
          <p:cNvSpPr/>
          <p:nvPr/>
        </p:nvSpPr>
        <p:spPr>
          <a:xfrm>
            <a:off x="1703520" y="2271600"/>
            <a:ext cx="1984320" cy="733680"/>
          </a:xfrm>
          <a:prstGeom prst="rect">
            <a:avLst/>
          </a:prstGeom>
          <a:noFill/>
          <a:ln w="0">
            <a:noFill/>
          </a:ln>
        </p:spPr>
        <p:style>
          <a:lnRef idx="0"/>
          <a:fillRef idx="0"/>
          <a:effectRef idx="0"/>
          <a:fontRef idx="minor"/>
        </p:style>
        <p:txBody>
          <a:bodyPr lIns="90000" rIns="90000" tIns="46800" bIns="46800" anchor="t">
            <a:noAutofit/>
          </a:bodyPr>
          <a:p>
            <a:pPr marL="343080" indent="-343080" algn="ctr">
              <a:lnSpc>
                <a:spcPct val="80000"/>
              </a:lnSpc>
              <a:spcBef>
                <a:spcPts val="5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pc="-1" strike="noStrike">
                <a:solidFill>
                  <a:srgbClr val="0000ff"/>
                </a:solidFill>
                <a:latin typeface="Arial"/>
              </a:rPr>
              <a:t>Force RAO</a:t>
            </a:r>
            <a:endParaRPr b="0" lang="en-US" sz="2200" spc="-1" strike="noStrike">
              <a:solidFill>
                <a:srgbClr val="000000"/>
              </a:solidFill>
              <a:latin typeface="Arial"/>
            </a:endParaRPr>
          </a:p>
        </p:txBody>
      </p:sp>
      <p:sp>
        <p:nvSpPr>
          <p:cNvPr id="192" name="Rectangle 8"/>
          <p:cNvSpPr/>
          <p:nvPr/>
        </p:nvSpPr>
        <p:spPr>
          <a:xfrm>
            <a:off x="1552680" y="2028960"/>
            <a:ext cx="2246040" cy="914400"/>
          </a:xfrm>
          <a:prstGeom prst="rect">
            <a:avLst/>
          </a:prstGeom>
          <a:noFill/>
          <a:ln w="28440">
            <a:solidFill>
              <a:srgbClr val="0000ff"/>
            </a:solidFill>
            <a:miter/>
          </a:ln>
        </p:spPr>
        <p:style>
          <a:lnRef idx="0"/>
          <a:fillRef idx="0"/>
          <a:effectRef idx="0"/>
          <a:fontRef idx="minor"/>
        </p:style>
        <p:txBody>
          <a:bodyPr wrap="none" lIns="90360" rIns="90360" tIns="44280" bIns="4428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193" name="Line 9"/>
          <p:cNvSpPr/>
          <p:nvPr/>
        </p:nvSpPr>
        <p:spPr>
          <a:xfrm>
            <a:off x="968400" y="2490840"/>
            <a:ext cx="561960" cy="0"/>
          </a:xfrm>
          <a:prstGeom prst="line">
            <a:avLst/>
          </a:prstGeom>
          <a:ln w="28440">
            <a:solidFill>
              <a:srgbClr val="0000ff"/>
            </a:solidFill>
            <a:miter/>
            <a:tailEnd len="med" type="triangle" w="med"/>
          </a:ln>
        </p:spPr>
        <p:style>
          <a:lnRef idx="0"/>
          <a:fillRef idx="0"/>
          <a:effectRef idx="0"/>
          <a:fontRef idx="minor"/>
        </p:style>
        <p:txBody>
          <a:bodyPr lIns="90360" rIns="90360" tIns="-44280" bIns="-44280" anchor="ctr">
            <a:noAutofit/>
          </a:bodyPr>
          <a:p>
            <a:endParaRPr b="0" lang="en-US" sz="1800" spc="-1" strike="noStrike">
              <a:solidFill>
                <a:srgbClr val="000000"/>
              </a:solidFill>
              <a:latin typeface="Arial"/>
            </a:endParaRPr>
          </a:p>
        </p:txBody>
      </p:sp>
      <p:sp>
        <p:nvSpPr>
          <p:cNvPr id="194" name="Line 10"/>
          <p:cNvSpPr/>
          <p:nvPr/>
        </p:nvSpPr>
        <p:spPr>
          <a:xfrm>
            <a:off x="3780000" y="2421000"/>
            <a:ext cx="720720" cy="0"/>
          </a:xfrm>
          <a:prstGeom prst="line">
            <a:avLst/>
          </a:prstGeom>
          <a:ln w="28440">
            <a:solidFill>
              <a:srgbClr val="0000ff"/>
            </a:solidFill>
            <a:miter/>
            <a:tailEnd len="med" type="triangle" w="med"/>
          </a:ln>
        </p:spPr>
        <p:style>
          <a:lnRef idx="0"/>
          <a:fillRef idx="0"/>
          <a:effectRef idx="0"/>
          <a:fontRef idx="minor"/>
        </p:style>
        <p:txBody>
          <a:bodyPr lIns="90360" rIns="90360" tIns="-44280" bIns="-44280" anchor="ctr">
            <a:noAutofit/>
          </a:bodyPr>
          <a:p>
            <a:endParaRPr b="0" lang="en-US" sz="1800" spc="-1" strike="noStrike">
              <a:solidFill>
                <a:srgbClr val="000000"/>
              </a:solidFill>
              <a:latin typeface="Arial"/>
            </a:endParaRPr>
          </a:p>
        </p:txBody>
      </p:sp>
      <p:sp>
        <p:nvSpPr>
          <p:cNvPr id="195" name="AutoShape 11"/>
          <p:cNvSpPr/>
          <p:nvPr/>
        </p:nvSpPr>
        <p:spPr>
          <a:xfrm rot="5400000">
            <a:off x="4600440" y="136440"/>
            <a:ext cx="560520" cy="6897600"/>
          </a:xfrm>
          <a:custGeom>
            <a:avLst/>
            <a:gdLst>
              <a:gd name="textAreaLeft" fmla="*/ 0 w 560520"/>
              <a:gd name="textAreaRight" fmla="*/ 202320 w 560520"/>
              <a:gd name="textAreaTop" fmla="*/ 179640 h 6897600"/>
              <a:gd name="textAreaBottom" fmla="*/ 6717960 h 6897600"/>
            </a:gdLst>
            <a:ahLst/>
            <a:rect l="textAreaLeft" t="textAreaTop" r="textAreaRight" b="textAreaBottom"/>
            <a:pathLst>
              <a:path w="21600" h="21600">
                <a:moveTo>
                  <a:pt x="0" y="0"/>
                </a:moveTo>
                <a:cubicBezTo>
                  <a:pt x="5400" y="0"/>
                  <a:pt x="10800" y="900"/>
                  <a:pt x="10800" y="1800"/>
                </a:cubicBezTo>
                <a:lnTo>
                  <a:pt x="10800" y="9000"/>
                </a:lnTo>
                <a:cubicBezTo>
                  <a:pt x="10800" y="9900"/>
                  <a:pt x="16200" y="10800"/>
                  <a:pt x="21600" y="10800"/>
                </a:cubicBezTo>
                <a:cubicBezTo>
                  <a:pt x="16200" y="10800"/>
                  <a:pt x="10800" y="11700"/>
                  <a:pt x="10800" y="12600"/>
                </a:cubicBezTo>
                <a:lnTo>
                  <a:pt x="10800" y="19800"/>
                </a:lnTo>
                <a:cubicBezTo>
                  <a:pt x="10800" y="20700"/>
                  <a:pt x="5400" y="21600"/>
                  <a:pt x="0" y="21600"/>
                </a:cubicBezTo>
              </a:path>
            </a:pathLst>
          </a:custGeom>
          <a:noFill/>
          <a:ln w="12600">
            <a:solidFill>
              <a:srgbClr val="0000ff"/>
            </a:solidFill>
            <a:miter/>
          </a:ln>
        </p:spPr>
        <p:style>
          <a:lnRef idx="0"/>
          <a:fillRef idx="0"/>
          <a:effectRef idx="0"/>
          <a:fontRef idx="minor"/>
        </p:style>
        <p:txBody>
          <a:bodyPr wrap="none" lIns="90360" rIns="90360" tIns="44280" bIns="4428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196" name="Rectangle 12"/>
          <p:cNvSpPr/>
          <p:nvPr/>
        </p:nvSpPr>
        <p:spPr>
          <a:xfrm>
            <a:off x="3598920" y="3984480"/>
            <a:ext cx="2657520" cy="555840"/>
          </a:xfrm>
          <a:prstGeom prst="rect">
            <a:avLst/>
          </a:prstGeom>
          <a:noFill/>
          <a:ln w="0">
            <a:noFill/>
          </a:ln>
        </p:spPr>
        <p:style>
          <a:lnRef idx="0"/>
          <a:fillRef idx="0"/>
          <a:effectRef idx="0"/>
          <a:fontRef idx="minor"/>
        </p:style>
        <p:txBody>
          <a:bodyPr lIns="90000" rIns="90000" tIns="46800" bIns="46800" anchor="t">
            <a:noAutofit/>
          </a:bodyPr>
          <a:p>
            <a:pPr marL="343080" indent="-343080" algn="ctr">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2000" spc="-1" strike="noStrike">
                <a:solidFill>
                  <a:srgbClr val="0000ff"/>
                </a:solidFill>
                <a:latin typeface="Arial"/>
              </a:rPr>
              <a:t>combined</a:t>
            </a:r>
            <a:endParaRPr b="0" lang="en-US" sz="2000" spc="-1" strike="noStrike">
              <a:solidFill>
                <a:srgbClr val="000000"/>
              </a:solidFill>
              <a:latin typeface="Arial"/>
            </a:endParaRPr>
          </a:p>
        </p:txBody>
      </p:sp>
      <p:pic>
        <p:nvPicPr>
          <p:cNvPr id="197" name="Picture 13" descr=""/>
          <p:cNvPicPr/>
          <p:nvPr/>
        </p:nvPicPr>
        <p:blipFill>
          <a:blip r:embed="rId2"/>
          <a:stretch/>
        </p:blipFill>
        <p:spPr>
          <a:xfrm>
            <a:off x="1901880" y="4740120"/>
            <a:ext cx="712800" cy="588960"/>
          </a:xfrm>
          <a:prstGeom prst="rect">
            <a:avLst/>
          </a:prstGeom>
          <a:ln w="0">
            <a:noFill/>
          </a:ln>
        </p:spPr>
      </p:pic>
      <p:sp>
        <p:nvSpPr>
          <p:cNvPr id="198" name="Rectangle 14"/>
          <p:cNvSpPr/>
          <p:nvPr/>
        </p:nvSpPr>
        <p:spPr>
          <a:xfrm>
            <a:off x="3925800" y="4834080"/>
            <a:ext cx="1984320" cy="733320"/>
          </a:xfrm>
          <a:prstGeom prst="rect">
            <a:avLst/>
          </a:prstGeom>
          <a:noFill/>
          <a:ln w="0">
            <a:noFill/>
          </a:ln>
        </p:spPr>
        <p:style>
          <a:lnRef idx="0"/>
          <a:fillRef idx="0"/>
          <a:effectRef idx="0"/>
          <a:fontRef idx="minor"/>
        </p:style>
        <p:txBody>
          <a:bodyPr lIns="90000" rIns="90000" tIns="46800" bIns="46800" anchor="t">
            <a:noAutofit/>
          </a:bodyPr>
          <a:p>
            <a:pPr marL="343080" indent="-343080" algn="ctr">
              <a:lnSpc>
                <a:spcPct val="80000"/>
              </a:lnSpc>
              <a:spcBef>
                <a:spcPts val="5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pc="-1" strike="noStrike">
                <a:solidFill>
                  <a:srgbClr val="0000ff"/>
                </a:solidFill>
                <a:latin typeface="Arial"/>
              </a:rPr>
              <a:t>Motion RAO</a:t>
            </a:r>
            <a:endParaRPr b="0" lang="en-US" sz="2200" spc="-1" strike="noStrike">
              <a:solidFill>
                <a:srgbClr val="000000"/>
              </a:solidFill>
              <a:latin typeface="Arial"/>
            </a:endParaRPr>
          </a:p>
        </p:txBody>
      </p:sp>
      <p:sp>
        <p:nvSpPr>
          <p:cNvPr id="199" name="Rectangle 15"/>
          <p:cNvSpPr/>
          <p:nvPr/>
        </p:nvSpPr>
        <p:spPr>
          <a:xfrm>
            <a:off x="3774960" y="4591080"/>
            <a:ext cx="2246400" cy="914400"/>
          </a:xfrm>
          <a:prstGeom prst="rect">
            <a:avLst/>
          </a:prstGeom>
          <a:noFill/>
          <a:ln w="28440">
            <a:solidFill>
              <a:srgbClr val="0000ff"/>
            </a:solidFill>
            <a:miter/>
          </a:ln>
        </p:spPr>
        <p:style>
          <a:lnRef idx="0"/>
          <a:fillRef idx="0"/>
          <a:effectRef idx="0"/>
          <a:fontRef idx="minor"/>
        </p:style>
        <p:txBody>
          <a:bodyPr wrap="none" lIns="90360" rIns="90360" tIns="44280" bIns="4428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200" name="Line 16"/>
          <p:cNvSpPr/>
          <p:nvPr/>
        </p:nvSpPr>
        <p:spPr>
          <a:xfrm>
            <a:off x="2860560" y="5052960"/>
            <a:ext cx="892440" cy="0"/>
          </a:xfrm>
          <a:prstGeom prst="line">
            <a:avLst/>
          </a:prstGeom>
          <a:ln w="28440">
            <a:solidFill>
              <a:srgbClr val="0000ff"/>
            </a:solidFill>
            <a:miter/>
            <a:tailEnd len="med" type="triangle" w="med"/>
          </a:ln>
        </p:spPr>
        <p:style>
          <a:lnRef idx="0"/>
          <a:fillRef idx="0"/>
          <a:effectRef idx="0"/>
          <a:fontRef idx="minor"/>
        </p:style>
        <p:txBody>
          <a:bodyPr lIns="90360" rIns="90360" tIns="-44280" bIns="-44280" anchor="ctr">
            <a:noAutofit/>
          </a:bodyPr>
          <a:p>
            <a:endParaRPr b="0" lang="en-US" sz="1800" spc="-1" strike="noStrike">
              <a:solidFill>
                <a:srgbClr val="000000"/>
              </a:solidFill>
              <a:latin typeface="Arial"/>
            </a:endParaRPr>
          </a:p>
        </p:txBody>
      </p:sp>
      <p:sp>
        <p:nvSpPr>
          <p:cNvPr id="201" name="Line 17"/>
          <p:cNvSpPr/>
          <p:nvPr/>
        </p:nvSpPr>
        <p:spPr>
          <a:xfrm>
            <a:off x="6054840" y="5064120"/>
            <a:ext cx="892080" cy="0"/>
          </a:xfrm>
          <a:prstGeom prst="line">
            <a:avLst/>
          </a:prstGeom>
          <a:ln w="28440">
            <a:solidFill>
              <a:srgbClr val="0000ff"/>
            </a:solidFill>
            <a:miter/>
            <a:tailEnd len="med" type="triangle" w="med"/>
          </a:ln>
        </p:spPr>
        <p:style>
          <a:lnRef idx="0"/>
          <a:fillRef idx="0"/>
          <a:effectRef idx="0"/>
          <a:fontRef idx="minor"/>
        </p:style>
        <p:txBody>
          <a:bodyPr lIns="90360" rIns="90360" tIns="-44280" bIns="-44280" anchor="ctr">
            <a:noAutofit/>
          </a:bodyPr>
          <a:p>
            <a:endParaRPr b="0" lang="en-US" sz="1800" spc="-1" strike="noStrike">
              <a:solidFill>
                <a:srgbClr val="000000"/>
              </a:solidFill>
              <a:latin typeface="Arial"/>
            </a:endParaRPr>
          </a:p>
        </p:txBody>
      </p:sp>
      <p:pic>
        <p:nvPicPr>
          <p:cNvPr id="202" name="Picture 18" descr=""/>
          <p:cNvPicPr/>
          <p:nvPr/>
        </p:nvPicPr>
        <p:blipFill>
          <a:blip r:embed="rId3"/>
          <a:stretch/>
        </p:blipFill>
        <p:spPr>
          <a:xfrm>
            <a:off x="179280" y="2173320"/>
            <a:ext cx="712800" cy="588960"/>
          </a:xfrm>
          <a:prstGeom prst="rect">
            <a:avLst/>
          </a:prstGeom>
          <a:ln w="0">
            <a:noFill/>
          </a:ln>
        </p:spPr>
      </p:pic>
      <p:sp>
        <p:nvSpPr>
          <p:cNvPr id="203" name="Rectangle 19"/>
          <p:cNvSpPr/>
          <p:nvPr/>
        </p:nvSpPr>
        <p:spPr>
          <a:xfrm>
            <a:off x="4500720" y="2006640"/>
            <a:ext cx="3159000" cy="903240"/>
          </a:xfrm>
          <a:prstGeom prst="rect">
            <a:avLst/>
          </a:prstGeom>
          <a:noFill/>
          <a:ln w="28440">
            <a:solidFill>
              <a:srgbClr val="0000ff"/>
            </a:solidFill>
            <a:miter/>
          </a:ln>
        </p:spPr>
        <p:style>
          <a:lnRef idx="0"/>
          <a:fillRef idx="0"/>
          <a:effectRef idx="0"/>
          <a:fontRef idx="minor"/>
        </p:style>
        <p:txBody>
          <a:bodyPr wrap="none" lIns="90360" rIns="90360" tIns="44280" bIns="4428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204" name="Line 20"/>
          <p:cNvSpPr/>
          <p:nvPr/>
        </p:nvSpPr>
        <p:spPr>
          <a:xfrm>
            <a:off x="7686720" y="2471760"/>
            <a:ext cx="550800" cy="0"/>
          </a:xfrm>
          <a:prstGeom prst="line">
            <a:avLst/>
          </a:prstGeom>
          <a:ln w="28440">
            <a:solidFill>
              <a:srgbClr val="0000ff"/>
            </a:solidFill>
            <a:miter/>
            <a:tailEnd len="med" type="triangle" w="med"/>
          </a:ln>
        </p:spPr>
        <p:style>
          <a:lnRef idx="0"/>
          <a:fillRef idx="0"/>
          <a:effectRef idx="0"/>
          <a:fontRef idx="minor"/>
        </p:style>
        <p:txBody>
          <a:bodyPr lIns="90360" rIns="90360" tIns="-44280" bIns="-44280" anchor="ctr">
            <a:noAutofit/>
          </a:bodyPr>
          <a:p>
            <a:endParaRPr b="0" lang="en-US" sz="1800" spc="-1" strike="noStrike">
              <a:solidFill>
                <a:srgbClr val="000000"/>
              </a:solidFill>
              <a:latin typeface="Arial"/>
            </a:endParaRPr>
          </a:p>
        </p:txBody>
      </p:sp>
      <p:pic>
        <p:nvPicPr>
          <p:cNvPr id="205" name="Picture 22" descr=""/>
          <p:cNvPicPr/>
          <p:nvPr/>
        </p:nvPicPr>
        <p:blipFill>
          <a:blip r:embed="rId4"/>
          <a:stretch/>
        </p:blipFill>
        <p:spPr>
          <a:xfrm>
            <a:off x="8204040" y="2106720"/>
            <a:ext cx="865440" cy="655560"/>
          </a:xfrm>
          <a:prstGeom prst="rect">
            <a:avLst/>
          </a:prstGeom>
          <a:ln w="0">
            <a:noFill/>
          </a:ln>
        </p:spPr>
      </p:pic>
      <p:sp>
        <p:nvSpPr>
          <p:cNvPr id="206" name="Rectangle 23"/>
          <p:cNvSpPr/>
          <p:nvPr/>
        </p:nvSpPr>
        <p:spPr>
          <a:xfrm>
            <a:off x="8039160" y="4221000"/>
            <a:ext cx="1104840" cy="41292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ff"/>
                </a:solidFill>
                <a:latin typeface="Arial"/>
              </a:rPr>
              <a:t>motion</a:t>
            </a:r>
            <a:endParaRPr b="0" lang="en-US" sz="2000" spc="-1" strike="noStrike">
              <a:solidFill>
                <a:srgbClr val="000000"/>
              </a:solidFill>
              <a:latin typeface="Arial"/>
            </a:endParaRPr>
          </a:p>
        </p:txBody>
      </p:sp>
      <p:sp>
        <p:nvSpPr>
          <p:cNvPr id="207" name="Line 24"/>
          <p:cNvSpPr/>
          <p:nvPr/>
        </p:nvSpPr>
        <p:spPr>
          <a:xfrm flipH="1" flipV="1">
            <a:off x="655200" y="2792160"/>
            <a:ext cx="352440" cy="1035000"/>
          </a:xfrm>
          <a:prstGeom prst="line">
            <a:avLst/>
          </a:prstGeom>
          <a:ln w="12600">
            <a:solidFill>
              <a:srgbClr val="0000ff"/>
            </a:solidFill>
            <a:miter/>
            <a:tailEnd len="med" type="triangle" w="med"/>
          </a:ln>
        </p:spPr>
        <p:style>
          <a:lnRef idx="0"/>
          <a:fillRef idx="0"/>
          <a:effectRef idx="0"/>
          <a:fontRef idx="minor"/>
        </p:style>
        <p:txBody>
          <a:bodyPr lIns="90360" rIns="90360" tIns="44280" bIns="44280" anchor="ctr">
            <a:noAutofit/>
          </a:bodyPr>
          <a:p>
            <a:endParaRPr b="0" lang="en-US" sz="1800" spc="-1" strike="noStrike">
              <a:solidFill>
                <a:srgbClr val="000000"/>
              </a:solidFill>
              <a:latin typeface="Arial"/>
            </a:endParaRPr>
          </a:p>
        </p:txBody>
      </p:sp>
      <p:sp>
        <p:nvSpPr>
          <p:cNvPr id="208" name="Line 25"/>
          <p:cNvSpPr/>
          <p:nvPr/>
        </p:nvSpPr>
        <p:spPr>
          <a:xfrm>
            <a:off x="1569960" y="4389480"/>
            <a:ext cx="330120" cy="561960"/>
          </a:xfrm>
          <a:prstGeom prst="line">
            <a:avLst/>
          </a:prstGeom>
          <a:ln w="12600">
            <a:solidFill>
              <a:srgbClr val="0000ff"/>
            </a:solidFill>
            <a:miter/>
            <a:tailEnd len="med" type="triangle" w="med"/>
          </a:ln>
        </p:spPr>
        <p:style>
          <a:lnRef idx="0"/>
          <a:fillRef idx="0"/>
          <a:effectRef idx="0"/>
          <a:fontRef idx="minor"/>
        </p:style>
        <p:txBody>
          <a:bodyPr lIns="90360" rIns="90360" tIns="44280" bIns="44280" anchor="ctr">
            <a:noAutofit/>
          </a:bodyPr>
          <a:p>
            <a:endParaRPr b="0" lang="en-US" sz="1800" spc="-1" strike="noStrike">
              <a:solidFill>
                <a:srgbClr val="000000"/>
              </a:solidFill>
              <a:latin typeface="Arial"/>
            </a:endParaRPr>
          </a:p>
        </p:txBody>
      </p:sp>
      <p:sp>
        <p:nvSpPr>
          <p:cNvPr id="209" name="Line 26"/>
          <p:cNvSpPr/>
          <p:nvPr/>
        </p:nvSpPr>
        <p:spPr>
          <a:xfrm flipV="1">
            <a:off x="8172360" y="2707920"/>
            <a:ext cx="441360" cy="1420920"/>
          </a:xfrm>
          <a:prstGeom prst="line">
            <a:avLst/>
          </a:prstGeom>
          <a:ln w="12600">
            <a:solidFill>
              <a:srgbClr val="0000ff"/>
            </a:solidFill>
            <a:miter/>
            <a:tailEnd len="med" type="triangle" w="med"/>
          </a:ln>
        </p:spPr>
        <p:style>
          <a:lnRef idx="0"/>
          <a:fillRef idx="0"/>
          <a:effectRef idx="0"/>
          <a:fontRef idx="minor"/>
        </p:style>
        <p:txBody>
          <a:bodyPr lIns="90360" rIns="90360" tIns="44280" bIns="44280" anchor="ctr">
            <a:noAutofit/>
          </a:bodyPr>
          <a:p>
            <a:endParaRPr b="0" lang="en-US" sz="1800" spc="-1" strike="noStrike">
              <a:solidFill>
                <a:srgbClr val="000000"/>
              </a:solidFill>
              <a:latin typeface="Arial"/>
            </a:endParaRPr>
          </a:p>
        </p:txBody>
      </p:sp>
      <p:sp>
        <p:nvSpPr>
          <p:cNvPr id="210" name="Line 27"/>
          <p:cNvSpPr/>
          <p:nvPr/>
        </p:nvSpPr>
        <p:spPr>
          <a:xfrm flipH="1">
            <a:off x="7956360" y="4653000"/>
            <a:ext cx="385560" cy="407880"/>
          </a:xfrm>
          <a:prstGeom prst="line">
            <a:avLst/>
          </a:prstGeom>
          <a:ln w="12600">
            <a:solidFill>
              <a:srgbClr val="0000ff"/>
            </a:solidFill>
            <a:miter/>
            <a:tailEnd len="med" type="triangle" w="med"/>
          </a:ln>
        </p:spPr>
        <p:style>
          <a:lnRef idx="0"/>
          <a:fillRef idx="0"/>
          <a:effectRef idx="0"/>
          <a:fontRef idx="minor"/>
        </p:style>
        <p:txBody>
          <a:bodyPr lIns="90360" rIns="90360" tIns="44280" bIns="44280" anchor="ctr">
            <a:noAutofit/>
          </a:bodyPr>
          <a:p>
            <a:endParaRPr b="0" lang="en-US" sz="1800" spc="-1" strike="noStrike">
              <a:solidFill>
                <a:srgbClr val="000000"/>
              </a:solidFill>
              <a:latin typeface="Arial"/>
            </a:endParaRPr>
          </a:p>
        </p:txBody>
      </p:sp>
      <mc:AlternateContent>
        <mc:Choice xmlns:a14="http://schemas.microsoft.com/office/drawing/2010/main" Requires="a14">
          <p:sp>
            <p:nvSpPr>
              <p:cNvPr id="211" name="Object 28"/>
              <p:cNvSpPr txBox="1"/>
              <p:nvPr/>
            </p:nvSpPr>
            <p:spPr>
              <a:xfrm>
                <a:off x="3851280" y="1557360"/>
                <a:ext cx="576360" cy="517680"/>
              </a:xfrm>
              <a:prstGeom prst="rect">
                <a:avLst/>
              </a:prstGeom>
            </p:spPr>
            <p:txBody>
              <a:bodyPr/>
              <a:p>
                <a14:m>
                  <m:oMath xmlns:m="http://schemas.openxmlformats.org/officeDocument/2006/math">
                    <m:sSub>
                      <m:e>
                        <m:r>
                          <m:t xml:space="preserve">τ</m:t>
                        </m:r>
                      </m:e>
                      <m:sub>
                        <m:r>
                          <m:rPr>
                            <m:lit/>
                            <m:nor/>
                          </m:rPr>
                          <m:t xml:space="preserve">exc</m:t>
                        </m:r>
                      </m:sub>
                    </m:sSub>
                  </m:oMath>
                </a14:m>
              </a:p>
            </p:txBody>
          </p:sp>
        </mc:Choice>
        <mc:Fallback/>
      </mc:AlternateContent>
      <p:sp>
        <p:nvSpPr>
          <p:cNvPr id="212" name="Rectangle 30"/>
          <p:cNvSpPr/>
          <p:nvPr/>
        </p:nvSpPr>
        <p:spPr>
          <a:xfrm>
            <a:off x="4859280" y="2133720"/>
            <a:ext cx="2376720" cy="733320"/>
          </a:xfrm>
          <a:prstGeom prst="rect">
            <a:avLst/>
          </a:prstGeom>
          <a:noFill/>
          <a:ln w="0">
            <a:noFill/>
          </a:ln>
        </p:spPr>
        <p:style>
          <a:lnRef idx="0"/>
          <a:fillRef idx="0"/>
          <a:effectRef idx="0"/>
          <a:fontRef idx="minor"/>
        </p:style>
        <p:txBody>
          <a:bodyPr lIns="90000" rIns="90000" tIns="46800" bIns="46800" anchor="t">
            <a:noAutofit/>
          </a:bodyPr>
          <a:p>
            <a:pPr marL="343080" indent="-343080" algn="ctr">
              <a:lnSpc>
                <a:spcPct val="80000"/>
              </a:lnSpc>
              <a:spcBef>
                <a:spcPts val="5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pc="-1" strike="noStrike">
                <a:solidFill>
                  <a:srgbClr val="0000ff"/>
                </a:solidFill>
                <a:latin typeface="Arial"/>
              </a:rPr>
              <a:t>Force to Motion RAO</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8BF6F4A-AD9E-4E3A-9A47-99279FA29E7C}"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14"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15"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B073D5B-F931-4041-A279-905D5F70C4DB}"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16"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Force RAO</a:t>
            </a:r>
            <a:endParaRPr b="0" lang="en-US" sz="4200" spc="-1" strike="noStrike">
              <a:solidFill>
                <a:srgbClr val="006633"/>
              </a:solidFill>
              <a:latin typeface="Tahoma"/>
            </a:endParaRPr>
          </a:p>
        </p:txBody>
      </p:sp>
      <p:sp>
        <p:nvSpPr>
          <p:cNvPr id="217" name="PlaceHolder 2"/>
          <p:cNvSpPr>
            <a:spLocks noGrp="1"/>
          </p:cNvSpPr>
          <p:nvPr>
            <p:ph/>
          </p:nvPr>
        </p:nvSpPr>
        <p:spPr>
          <a:xfrm>
            <a:off x="395280" y="981000"/>
            <a:ext cx="4038480" cy="749520"/>
          </a:xfrm>
          <a:prstGeom prst="rect">
            <a:avLst/>
          </a:prstGeom>
          <a:noFill/>
          <a:ln w="0">
            <a:noFill/>
          </a:ln>
        </p:spPr>
        <p:txBody>
          <a:bodyPr lIns="91440" rIns="91440" tIns="45720" bIns="45720" anchor="t">
            <a:normAutofit/>
          </a:bodyPr>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For a regular wave</a:t>
            </a:r>
            <a:endParaRPr b="0" lang="en-US" sz="2600" spc="-1" strike="noStrike">
              <a:solidFill>
                <a:srgbClr val="000000"/>
              </a:solidFill>
              <a:latin typeface="Arial"/>
            </a:endParaRPr>
          </a:p>
        </p:txBody>
      </p:sp>
      <mc:AlternateContent>
        <mc:Choice xmlns:a14="http://schemas.microsoft.com/office/drawing/2010/main" Requires="a14">
          <p:sp>
            <p:nvSpPr>
              <p:cNvPr id="218" name="Object 4"/>
              <p:cNvSpPr txBox="1"/>
              <p:nvPr/>
            </p:nvSpPr>
            <p:spPr>
              <a:xfrm>
                <a:off x="3492360" y="1460520"/>
                <a:ext cx="2232000" cy="469800"/>
              </a:xfrm>
              <a:prstGeom prst="rect">
                <a:avLst/>
              </a:prstGeom>
            </p:spPr>
            <p:txBody>
              <a:bodyPr/>
              <a:p>
                <a14:m>
                  <m:oMath xmlns:m="http://schemas.openxmlformats.org/officeDocument/2006/math">
                    <m:r>
                      <m:t xml:space="preserve">ζ</m:t>
                    </m:r>
                    <m:r>
                      <m:t xml:space="preserve">=</m:t>
                    </m:r>
                    <m:acc>
                      <m:accPr>
                        <m:chr m:val="¯"/>
                      </m:accPr>
                      <m:e>
                        <m:r>
                          <m:t xml:space="preserve">ζ</m:t>
                        </m:r>
                      </m:e>
                    </m:acc>
                    <m:r>
                      <m:rPr>
                        <m:lit/>
                        <m:nor/>
                      </m:rPr>
                      <m:t xml:space="preserve">cos</m:t>
                    </m:r>
                    <m:r>
                      <m:t xml:space="preserve">(</m:t>
                    </m:r>
                    <m:r>
                      <m:t xml:space="preserve">ω</m:t>
                    </m:r>
                    <m:r>
                      <m:t xml:space="preserve"> </m:t>
                    </m:r>
                    <m:r>
                      <m:t xml:space="preserve">t</m:t>
                    </m:r>
                    <m:r>
                      <m:t xml:space="preserve">+</m:t>
                    </m:r>
                    <m:sSub>
                      <m:e>
                        <m:r>
                          <m:t xml:space="preserve">ϕ</m:t>
                        </m:r>
                      </m:e>
                      <m:sub>
                        <m:r>
                          <m:t xml:space="preserve">ζ</m:t>
                        </m:r>
                      </m:sub>
                    </m:sSub>
                    <m:r>
                      <m:t xml:space="preserve">)</m:t>
                    </m:r>
                  </m:oMath>
                </a14:m>
              </a:p>
            </p:txBody>
          </p:sp>
        </mc:Choice>
        <mc:Fallback/>
      </mc:AlternateContent>
      <p:sp>
        <p:nvSpPr>
          <p:cNvPr id="219" name="Rectangle 6"/>
          <p:cNvSpPr/>
          <p:nvPr/>
        </p:nvSpPr>
        <p:spPr>
          <a:xfrm>
            <a:off x="324000" y="2205000"/>
            <a:ext cx="6192720" cy="74916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6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The linear excitation forces will be</a:t>
            </a:r>
            <a:endParaRPr b="0" lang="en-US" sz="2600" spc="-1" strike="noStrike">
              <a:solidFill>
                <a:srgbClr val="000000"/>
              </a:solidFill>
              <a:latin typeface="Arial"/>
            </a:endParaRPr>
          </a:p>
        </p:txBody>
      </p:sp>
      <mc:AlternateContent>
        <mc:Choice xmlns:a14="http://schemas.microsoft.com/office/drawing/2010/main" Requires="a14">
          <p:sp>
            <p:nvSpPr>
              <p:cNvPr id="220" name="Object 7"/>
              <p:cNvSpPr txBox="1"/>
              <p:nvPr/>
            </p:nvSpPr>
            <p:spPr>
              <a:xfrm>
                <a:off x="1995480" y="2708280"/>
                <a:ext cx="4721400" cy="677880"/>
              </a:xfrm>
              <a:prstGeom prst="rect">
                <a:avLst/>
              </a:prstGeom>
            </p:spPr>
            <p:txBody>
              <a:bodyPr/>
              <a:p>
                <a14:m>
                  <m:oMath xmlns:m="http://schemas.openxmlformats.org/officeDocument/2006/math">
                    <m:sSub>
                      <m:e>
                        <m:r>
                          <m:t xml:space="preserve">τ</m:t>
                        </m:r>
                      </m:e>
                      <m:sub>
                        <m:r>
                          <m:rPr>
                            <m:lit/>
                            <m:nor/>
                          </m:rPr>
                          <m:t xml:space="preserve">exc</m:t>
                        </m:r>
                        <m:r>
                          <m:t xml:space="preserve">,</m:t>
                        </m:r>
                        <m:r>
                          <m:t xml:space="preserve">i</m:t>
                        </m:r>
                      </m:sub>
                    </m:sSub>
                    <m:r>
                      <m:t xml:space="preserve">=</m:t>
                    </m:r>
                    <m:sSub>
                      <m:e>
                        <m:acc>
                          <m:accPr>
                            <m:chr m:val="¯"/>
                          </m:accPr>
                          <m:e>
                            <m:r>
                              <m:t xml:space="preserve">τ</m:t>
                            </m:r>
                          </m:e>
                        </m:acc>
                      </m:e>
                      <m:sub>
                        <m:r>
                          <m:t xml:space="preserve">i</m:t>
                        </m:r>
                      </m:sub>
                    </m:sSub>
                    <m:r>
                      <m:t xml:space="preserve">(</m:t>
                    </m:r>
                    <m:r>
                      <m:t xml:space="preserve">ω</m:t>
                    </m:r>
                    <m:r>
                      <m:t xml:space="preserve">)</m:t>
                    </m:r>
                    <m:r>
                      <m:rPr>
                        <m:lit/>
                        <m:nor/>
                      </m:rPr>
                      <m:t xml:space="preserve">cos</m:t>
                    </m:r>
                    <m:r>
                      <m:t xml:space="preserve">[</m:t>
                    </m:r>
                    <m:r>
                      <m:t xml:space="preserve">ω</m:t>
                    </m:r>
                    <m:r>
                      <m:t xml:space="preserve"> </m:t>
                    </m:r>
                    <m:r>
                      <m:t xml:space="preserve">t</m:t>
                    </m:r>
                    <m:r>
                      <m:t xml:space="preserve">+</m:t>
                    </m:r>
                    <m:sSub>
                      <m:e>
                        <m:r>
                          <m:t xml:space="preserve">ϕ</m:t>
                        </m:r>
                      </m:e>
                      <m:sub>
                        <m:r>
                          <m:t xml:space="preserve">τi</m:t>
                        </m:r>
                      </m:sub>
                    </m:sSub>
                    <m:r>
                      <m:t xml:space="preserve">(</m:t>
                    </m:r>
                    <m:r>
                      <m:t xml:space="preserve">ω</m:t>
                    </m:r>
                    <m:r>
                      <m:t xml:space="preserve">)</m:t>
                    </m:r>
                    <m:r>
                      <m:t xml:space="preserve">]</m:t>
                    </m:r>
                  </m:oMath>
                </a14:m>
              </a:p>
            </p:txBody>
          </p:sp>
        </mc:Choice>
        <mc:Fallback/>
      </mc:AlternateContent>
      <p:sp>
        <p:nvSpPr>
          <p:cNvPr id="221" name="Rectangle 8"/>
          <p:cNvSpPr/>
          <p:nvPr/>
        </p:nvSpPr>
        <p:spPr>
          <a:xfrm>
            <a:off x="324000" y="3645000"/>
            <a:ext cx="8496000" cy="259236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5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200" spc="-1" strike="noStrike">
                <a:solidFill>
                  <a:srgbClr val="000000"/>
                </a:solidFill>
                <a:latin typeface="Arial"/>
              </a:rPr>
              <a:t>The amplitude and phase of the excitation force depend on </a:t>
            </a:r>
            <a:endParaRPr b="0" lang="en-US" sz="2200" spc="-1" strike="noStrike">
              <a:solidFill>
                <a:srgbClr val="000000"/>
              </a:solidFill>
              <a:latin typeface="Arial"/>
            </a:endParaRPr>
          </a:p>
          <a:p>
            <a:pPr marL="343080" indent="-343080">
              <a:spcBef>
                <a:spcPts val="5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200" spc="-1" strike="noStrike">
              <a:solidFill>
                <a:srgbClr val="000000"/>
              </a:solidFill>
              <a:latin typeface="Arial"/>
            </a:endParaRPr>
          </a:p>
          <a:p>
            <a:pPr marL="343080" indent="-343080">
              <a:spcBef>
                <a:spcPts val="550"/>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200" spc="-1" strike="noStrike">
                <a:solidFill>
                  <a:srgbClr val="000000"/>
                </a:solidFill>
                <a:latin typeface="Arial"/>
              </a:rPr>
              <a:t>Wave Frequency</a:t>
            </a:r>
            <a:endParaRPr b="0" lang="en-US" sz="2200" spc="-1" strike="noStrike">
              <a:solidFill>
                <a:srgbClr val="000000"/>
              </a:solidFill>
              <a:latin typeface="Arial"/>
            </a:endParaRPr>
          </a:p>
          <a:p>
            <a:pPr marL="343080" indent="-343080">
              <a:spcBef>
                <a:spcPts val="550"/>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200" spc="-1" strike="noStrike">
                <a:solidFill>
                  <a:srgbClr val="000000"/>
                </a:solidFill>
                <a:latin typeface="Arial"/>
              </a:rPr>
              <a:t>Encounter angle</a:t>
            </a:r>
            <a:endParaRPr b="0" lang="en-US" sz="2200" spc="-1" strike="noStrike">
              <a:solidFill>
                <a:srgbClr val="000000"/>
              </a:solidFill>
              <a:latin typeface="Arial"/>
            </a:endParaRPr>
          </a:p>
          <a:p>
            <a:pPr marL="343080" indent="-343080">
              <a:spcBef>
                <a:spcPts val="550"/>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200" spc="-1" strike="noStrike">
                <a:solidFill>
                  <a:srgbClr val="000000"/>
                </a:solidFill>
                <a:latin typeface="Arial"/>
              </a:rPr>
              <a:t>Wave amplitude</a:t>
            </a:r>
            <a:endParaRPr b="0" lang="en-US" sz="2200" spc="-1" strike="noStrike">
              <a:solidFill>
                <a:srgbClr val="000000"/>
              </a:solidFill>
              <a:latin typeface="Arial"/>
            </a:endParaRPr>
          </a:p>
          <a:p>
            <a:pPr marL="343080" indent="-343080">
              <a:spcBef>
                <a:spcPts val="550"/>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200" spc="-1" strike="noStrike">
                <a:solidFill>
                  <a:srgbClr val="000000"/>
                </a:solidFill>
                <a:latin typeface="Arial"/>
              </a:rPr>
              <a:t>Forward speed</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69AD2C2-07E7-447E-B60C-B8CF2C57F5DF}"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23"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24"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8F71B9D-ECE4-47D0-890F-231A14666DD8}"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25"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Force RAO</a:t>
            </a:r>
            <a:endParaRPr b="0" lang="en-US" sz="4200" spc="-1" strike="noStrike">
              <a:solidFill>
                <a:srgbClr val="006633"/>
              </a:solidFill>
              <a:latin typeface="Tahoma"/>
            </a:endParaRPr>
          </a:p>
        </p:txBody>
      </p:sp>
      <mc:AlternateContent>
        <mc:Choice xmlns:a14="http://schemas.microsoft.com/office/drawing/2010/main" Requires="a14">
          <p:sp>
            <p:nvSpPr>
              <p:cNvPr id="226" name="Object 4"/>
              <p:cNvSpPr txBox="1"/>
              <p:nvPr/>
            </p:nvSpPr>
            <p:spPr>
              <a:xfrm>
                <a:off x="684360" y="1413000"/>
                <a:ext cx="7513560" cy="1168200"/>
              </a:xfrm>
              <a:prstGeom prst="rect">
                <a:avLst/>
              </a:prstGeom>
            </p:spPr>
            <p:txBody>
              <a:bodyPr/>
              <a:p>
                <a14:m>
                  <m:oMath xmlns:m="http://schemas.openxmlformats.org/officeDocument/2006/math">
                    <m:sSub>
                      <m:e>
                        <m:r>
                          <m:t xml:space="preserve">τ</m:t>
                        </m:r>
                      </m:e>
                      <m:sub>
                        <m:r>
                          <m:rPr>
                            <m:lit/>
                            <m:nor/>
                          </m:rPr>
                          <m:t xml:space="preserve">exc</m:t>
                        </m:r>
                        <m:r>
                          <m:t xml:space="preserve">,</m:t>
                        </m:r>
                        <m:r>
                          <m:t xml:space="preserve">i</m:t>
                        </m:r>
                      </m:sub>
                    </m:sSub>
                    <m:r>
                      <m:t xml:space="preserve">(</m:t>
                    </m:r>
                    <m:r>
                      <m:t xml:space="preserve">t</m:t>
                    </m:r>
                    <m:r>
                      <m:t xml:space="preserve">)</m:t>
                    </m:r>
                    <m:r>
                      <m:t xml:space="preserve">=</m:t>
                    </m:r>
                    <m:limLow>
                      <m:e>
                        <m:groupChr>
                          <m:groupChrPr>
                            <m:chr m:val="⏟"/>
                            <m:pos m:val="bot"/>
                            <m:vertJc m:val="top"/>
                          </m:groupChrPr>
                          <m:e>
                            <m:acc>
                              <m:accPr>
                                <m:chr m:val="¯"/>
                              </m:accPr>
                              <m:e>
                                <m:r>
                                  <m:t xml:space="preserve">ζ</m:t>
                                </m:r>
                              </m:e>
                            </m:acc>
                            <m:r>
                              <m:t xml:space="preserve"> </m:t>
                            </m:r>
                            <m:d>
                              <m:dPr>
                                <m:begChr m:val="|"/>
                                <m:endChr m:val="|"/>
                              </m:dPr>
                              <m:e>
                                <m:sSub>
                                  <m:e>
                                    <m:r>
                                      <m:t xml:space="preserve">F</m:t>
                                    </m:r>
                                  </m:e>
                                  <m:sub>
                                    <m:r>
                                      <m:t xml:space="preserve">i</m:t>
                                    </m:r>
                                  </m:sub>
                                </m:sSub>
                                <m:r>
                                  <m:t xml:space="preserve">(</m:t>
                                </m:r>
                                <m:r>
                                  <m:t xml:space="preserve">jω</m:t>
                                </m:r>
                                <m:r>
                                  <m:t xml:space="preserve">)</m:t>
                                </m:r>
                              </m:e>
                            </m:d>
                          </m:e>
                        </m:groupChr>
                      </m:e>
                      <m:lim>
                        <m:sSub>
                          <m:e>
                            <m:acc>
                              <m:accPr>
                                <m:chr m:val="¯"/>
                              </m:accPr>
                              <m:e>
                                <m:r>
                                  <m:t xml:space="preserve">τ</m:t>
                                </m:r>
                              </m:e>
                            </m:acc>
                          </m:e>
                          <m:sub>
                            <m:r>
                              <m:t xml:space="preserve">i</m:t>
                            </m:r>
                          </m:sub>
                        </m:sSub>
                        <m:r>
                          <m:t xml:space="preserve">(</m:t>
                        </m:r>
                        <m:r>
                          <m:t xml:space="preserve">ω</m:t>
                        </m:r>
                        <m:r>
                          <m:t xml:space="preserve">)</m:t>
                        </m:r>
                      </m:lim>
                    </m:limLow>
                    <m:r>
                      <m:rPr>
                        <m:lit/>
                        <m:nor/>
                      </m:rPr>
                      <m:t xml:space="preserve">cos</m:t>
                    </m:r>
                    <m:r>
                      <m:t xml:space="preserve">(</m:t>
                    </m:r>
                    <m:r>
                      <m:t xml:space="preserve">ω</m:t>
                    </m:r>
                    <m:r>
                      <m:t xml:space="preserve"> </m:t>
                    </m:r>
                    <m:r>
                      <m:t xml:space="preserve">t</m:t>
                    </m:r>
                    <m:r>
                      <m:t xml:space="preserve">+</m:t>
                    </m:r>
                    <m:limLow>
                      <m:e>
                        <m:groupChr>
                          <m:groupChrPr>
                            <m:chr m:val="⏟"/>
                            <m:pos m:val="bot"/>
                            <m:vertJc m:val="top"/>
                          </m:groupChrPr>
                          <m:e>
                            <m:sSub>
                              <m:e>
                                <m:r>
                                  <m:t xml:space="preserve">ϕ</m:t>
                                </m:r>
                              </m:e>
                              <m:sub>
                                <m:r>
                                  <m:t xml:space="preserve">ζ</m:t>
                                </m:r>
                              </m:sub>
                            </m:sSub>
                            <m:r>
                              <m:t xml:space="preserve">+</m:t>
                            </m:r>
                            <m:r>
                              <m:rPr>
                                <m:lit/>
                                <m:nor/>
                              </m:rPr>
                              <m:t xml:space="preserve">arg</m:t>
                            </m:r>
                            <m:r>
                              <m:t xml:space="preserve">[</m:t>
                            </m:r>
                            <m:sSub>
                              <m:e>
                                <m:r>
                                  <m:t xml:space="preserve">F</m:t>
                                </m:r>
                              </m:e>
                              <m:sub>
                                <m:r>
                                  <m:t xml:space="preserve">i</m:t>
                                </m:r>
                              </m:sub>
                            </m:sSub>
                            <m:r>
                              <m:t xml:space="preserve">(</m:t>
                            </m:r>
                            <m:r>
                              <m:t xml:space="preserve">jω</m:t>
                            </m:r>
                            <m:r>
                              <m:t xml:space="preserve">)</m:t>
                            </m:r>
                            <m:r>
                              <m:t xml:space="preserve">]</m:t>
                            </m:r>
                          </m:e>
                        </m:groupChr>
                      </m:e>
                      <m:lim>
                        <m:sSub>
                          <m:e>
                            <m:r>
                              <m:t xml:space="preserve">ϕ</m:t>
                            </m:r>
                          </m:e>
                          <m:sub>
                            <m:r>
                              <m:t xml:space="preserve">τ</m:t>
                            </m:r>
                            <m:r>
                              <m:t xml:space="preserve">,</m:t>
                            </m:r>
                            <m:r>
                              <m:t xml:space="preserve">i</m:t>
                            </m:r>
                          </m:sub>
                        </m:sSub>
                        <m:r>
                          <m:t xml:space="preserve">(</m:t>
                        </m:r>
                        <m:r>
                          <m:t xml:space="preserve">ω</m:t>
                        </m:r>
                        <m:r>
                          <m:t xml:space="preserve">)</m:t>
                        </m:r>
                      </m:lim>
                    </m:limLow>
                    <m:r>
                      <m:t xml:space="preserve">)</m:t>
                    </m:r>
                  </m:oMath>
                </a14:m>
              </a:p>
            </p:txBody>
          </p:sp>
        </mc:Choice>
        <mc:Fallback/>
      </mc:AlternateContent>
      <p:pic>
        <p:nvPicPr>
          <p:cNvPr id="227" name="Picture 13" descr=""/>
          <p:cNvPicPr/>
          <p:nvPr/>
        </p:nvPicPr>
        <p:blipFill>
          <a:blip r:embed="rId1"/>
          <a:stretch/>
        </p:blipFill>
        <p:spPr>
          <a:xfrm>
            <a:off x="1258920" y="3141720"/>
            <a:ext cx="3062160" cy="2867040"/>
          </a:xfrm>
          <a:prstGeom prst="rect">
            <a:avLst/>
          </a:prstGeom>
          <a:ln w="0">
            <a:noFill/>
          </a:ln>
        </p:spPr>
      </p:pic>
      <p:pic>
        <p:nvPicPr>
          <p:cNvPr id="228" name="Picture 14" descr=""/>
          <p:cNvPicPr/>
          <p:nvPr/>
        </p:nvPicPr>
        <p:blipFill>
          <a:blip r:embed="rId2"/>
          <a:stretch/>
        </p:blipFill>
        <p:spPr>
          <a:xfrm>
            <a:off x="4788000" y="3357720"/>
            <a:ext cx="3186000" cy="2744640"/>
          </a:xfrm>
          <a:prstGeom prst="rect">
            <a:avLst/>
          </a:prstGeom>
          <a:ln w="0">
            <a:noFill/>
          </a:ln>
        </p:spPr>
      </p:pic>
      <p:sp>
        <p:nvSpPr>
          <p:cNvPr id="229" name="Rectangle 15"/>
          <p:cNvSpPr/>
          <p:nvPr/>
        </p:nvSpPr>
        <p:spPr>
          <a:xfrm>
            <a:off x="395280" y="2852640"/>
            <a:ext cx="7272360" cy="43200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000" spc="-1" strike="noStrike">
                <a:solidFill>
                  <a:srgbClr val="000000"/>
                </a:solidFill>
                <a:latin typeface="Arial"/>
              </a:rPr>
              <a:t>Example heave Force RAO (</a:t>
            </a:r>
            <a:r>
              <a:rPr b="0" i="1" lang="en-AU" sz="2000" spc="-1" strike="noStrike">
                <a:solidFill>
                  <a:srgbClr val="000000"/>
                </a:solidFill>
                <a:latin typeface="Times New Roman"/>
              </a:rPr>
              <a:t>i</a:t>
            </a:r>
            <a:r>
              <a:rPr b="0" lang="en-AU" sz="2000" spc="-1" strike="noStrike">
                <a:solidFill>
                  <a:srgbClr val="000000"/>
                </a:solidFill>
                <a:latin typeface="Times New Roman"/>
              </a:rPr>
              <a:t>=3</a:t>
            </a:r>
            <a:r>
              <a:rPr b="0" lang="en-AU" sz="2000" spc="-1" strike="noStrike">
                <a:solidFill>
                  <a:srgbClr val="000000"/>
                </a:solidFill>
                <a:latin typeface="Arial"/>
              </a:rPr>
              <a:t>) for a barge (8x4x45m):</a:t>
            </a:r>
            <a:endParaRPr b="0" lang="en-US" sz="2000" spc="-1" strike="noStrike">
              <a:solidFill>
                <a:srgbClr val="000000"/>
              </a:solidFill>
              <a:latin typeface="Arial"/>
            </a:endParaRPr>
          </a:p>
        </p:txBody>
      </p:sp>
      <p:pic>
        <p:nvPicPr>
          <p:cNvPr id="230" name="Picture 16" descr=""/>
          <p:cNvPicPr/>
          <p:nvPr/>
        </p:nvPicPr>
        <p:blipFill>
          <a:blip r:embed="rId3"/>
          <a:stretch/>
        </p:blipFill>
        <p:spPr>
          <a:xfrm>
            <a:off x="2484360" y="5877000"/>
            <a:ext cx="736560" cy="24768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AB5BBA1-BBDA-4101-82DF-D943F6256353}"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32"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33"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FECA75E-CB00-4989-ADFC-E6006DD30D5C}"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34"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Motion RAO</a:t>
            </a:r>
            <a:endParaRPr b="0" lang="en-US" sz="4200" spc="-1" strike="noStrike">
              <a:solidFill>
                <a:srgbClr val="006633"/>
              </a:solidFill>
              <a:latin typeface="Tahoma"/>
            </a:endParaRPr>
          </a:p>
        </p:txBody>
      </p:sp>
      <mc:AlternateContent>
        <mc:Choice xmlns:a14="http://schemas.microsoft.com/office/drawing/2010/main" Requires="a14">
          <p:sp>
            <p:nvSpPr>
              <p:cNvPr id="235" name="Object 4"/>
              <p:cNvSpPr txBox="1"/>
              <p:nvPr/>
            </p:nvSpPr>
            <p:spPr>
              <a:xfrm>
                <a:off x="755640" y="1484280"/>
                <a:ext cx="7343640" cy="1168560"/>
              </a:xfrm>
              <a:prstGeom prst="rect">
                <a:avLst/>
              </a:prstGeom>
            </p:spPr>
            <p:txBody>
              <a:bodyPr/>
              <a:p>
                <a14:m>
                  <m:oMath xmlns:m="http://schemas.openxmlformats.org/officeDocument/2006/math">
                    <m:sSub>
                      <m:e>
                        <m:r>
                          <m:t xml:space="preserve">ξ</m:t>
                        </m:r>
                      </m:e>
                      <m:sub>
                        <m:r>
                          <m:t xml:space="preserve">i</m:t>
                        </m:r>
                      </m:sub>
                    </m:sSub>
                    <m:r>
                      <m:t xml:space="preserve">(</m:t>
                    </m:r>
                    <m:r>
                      <m:t xml:space="preserve">t</m:t>
                    </m:r>
                    <m:r>
                      <m:t xml:space="preserve">)</m:t>
                    </m:r>
                    <m:r>
                      <m:t xml:space="preserve">=</m:t>
                    </m:r>
                    <m:limLow>
                      <m:e>
                        <m:groupChr>
                          <m:groupChrPr>
                            <m:chr m:val="⏟"/>
                            <m:pos m:val="bot"/>
                            <m:vertJc m:val="top"/>
                          </m:groupChrPr>
                          <m:e>
                            <m:acc>
                              <m:accPr>
                                <m:chr m:val="¯"/>
                              </m:accPr>
                              <m:e>
                                <m:r>
                                  <m:t xml:space="preserve">ζ</m:t>
                                </m:r>
                              </m:e>
                            </m:acc>
                            <m:r>
                              <m:t xml:space="preserve"> </m:t>
                            </m:r>
                            <m:d>
                              <m:dPr>
                                <m:begChr m:val="|"/>
                                <m:endChr m:val="|"/>
                              </m:dPr>
                              <m:e>
                                <m:sSub>
                                  <m:e>
                                    <m:r>
                                      <m:t xml:space="preserve">H</m:t>
                                    </m:r>
                                  </m:e>
                                  <m:sub>
                                    <m:r>
                                      <m:t xml:space="preserve">i</m:t>
                                    </m:r>
                                  </m:sub>
                                </m:sSub>
                                <m:r>
                                  <m:t xml:space="preserve">(</m:t>
                                </m:r>
                                <m:r>
                                  <m:t xml:space="preserve">jω</m:t>
                                </m:r>
                                <m:r>
                                  <m:t xml:space="preserve">)</m:t>
                                </m:r>
                              </m:e>
                            </m:d>
                          </m:e>
                        </m:groupChr>
                      </m:e>
                      <m:lim>
                        <m:sSub>
                          <m:e>
                            <m:acc>
                              <m:accPr>
                                <m:chr m:val="¯"/>
                              </m:accPr>
                              <m:e>
                                <m:r>
                                  <m:t xml:space="preserve">ξ</m:t>
                                </m:r>
                              </m:e>
                            </m:acc>
                          </m:e>
                          <m:sub>
                            <m:r>
                              <m:t xml:space="preserve">i</m:t>
                            </m:r>
                          </m:sub>
                        </m:sSub>
                        <m:r>
                          <m:t xml:space="preserve">(</m:t>
                        </m:r>
                        <m:r>
                          <m:t xml:space="preserve">ω</m:t>
                        </m:r>
                        <m:r>
                          <m:t xml:space="preserve">)</m:t>
                        </m:r>
                      </m:lim>
                    </m:limLow>
                    <m:r>
                      <m:rPr>
                        <m:lit/>
                        <m:nor/>
                      </m:rPr>
                      <m:t xml:space="preserve">cos</m:t>
                    </m:r>
                    <m:r>
                      <m:t xml:space="preserve">(</m:t>
                    </m:r>
                    <m:r>
                      <m:t xml:space="preserve">ω</m:t>
                    </m:r>
                    <m:r>
                      <m:t xml:space="preserve"> </m:t>
                    </m:r>
                    <m:r>
                      <m:t xml:space="preserve">t</m:t>
                    </m:r>
                    <m:r>
                      <m:t xml:space="preserve">+</m:t>
                    </m:r>
                    <m:limLow>
                      <m:e>
                        <m:groupChr>
                          <m:groupChrPr>
                            <m:chr m:val="⏟"/>
                            <m:pos m:val="bot"/>
                            <m:vertJc m:val="top"/>
                          </m:groupChrPr>
                          <m:e>
                            <m:sSub>
                              <m:e>
                                <m:r>
                                  <m:t xml:space="preserve">ϕ</m:t>
                                </m:r>
                              </m:e>
                              <m:sub>
                                <m:r>
                                  <m:t xml:space="preserve">ζ</m:t>
                                </m:r>
                              </m:sub>
                            </m:sSub>
                            <m:r>
                              <m:t xml:space="preserve">+</m:t>
                            </m:r>
                            <m:r>
                              <m:rPr>
                                <m:lit/>
                                <m:nor/>
                              </m:rPr>
                              <m:t xml:space="preserve">arg</m:t>
                            </m:r>
                            <m:r>
                              <m:t xml:space="preserve">[</m:t>
                            </m:r>
                            <m:sSub>
                              <m:e>
                                <m:r>
                                  <m:t xml:space="preserve">H</m:t>
                                </m:r>
                              </m:e>
                              <m:sub>
                                <m:r>
                                  <m:t xml:space="preserve">i</m:t>
                                </m:r>
                              </m:sub>
                            </m:sSub>
                            <m:r>
                              <m:t xml:space="preserve">(</m:t>
                            </m:r>
                            <m:r>
                              <m:t xml:space="preserve">jω</m:t>
                            </m:r>
                            <m:r>
                              <m:t xml:space="preserve">)</m:t>
                            </m:r>
                            <m:r>
                              <m:t xml:space="preserve">]</m:t>
                            </m:r>
                          </m:e>
                        </m:groupChr>
                      </m:e>
                      <m:lim>
                        <m:sSub>
                          <m:e>
                            <m:r>
                              <m:t xml:space="preserve">ϕ</m:t>
                            </m:r>
                          </m:e>
                          <m:sub>
                            <m:r>
                              <m:t xml:space="preserve">ξ</m:t>
                            </m:r>
                            <m:r>
                              <m:t xml:space="preserve">,</m:t>
                            </m:r>
                            <m:r>
                              <m:t xml:space="preserve">i</m:t>
                            </m:r>
                          </m:sub>
                        </m:sSub>
                        <m:r>
                          <m:t xml:space="preserve">(</m:t>
                        </m:r>
                        <m:r>
                          <m:t xml:space="preserve">ω</m:t>
                        </m:r>
                        <m:r>
                          <m:t xml:space="preserve">)</m:t>
                        </m:r>
                      </m:lim>
                    </m:limLow>
                    <m:r>
                      <m:t xml:space="preserve">)</m:t>
                    </m:r>
                  </m:oMath>
                </a14:m>
              </a:p>
            </p:txBody>
          </p:sp>
        </mc:Choice>
        <mc:Fallback/>
      </mc:AlternateContent>
      <p:sp>
        <p:nvSpPr>
          <p:cNvPr id="236" name="Rectangle 7"/>
          <p:cNvSpPr/>
          <p:nvPr/>
        </p:nvSpPr>
        <p:spPr>
          <a:xfrm>
            <a:off x="395280" y="2852640"/>
            <a:ext cx="7272360" cy="43200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000" spc="-1" strike="noStrike">
                <a:solidFill>
                  <a:srgbClr val="000000"/>
                </a:solidFill>
                <a:latin typeface="Arial"/>
              </a:rPr>
              <a:t>Example motion Force RAO (</a:t>
            </a:r>
            <a:r>
              <a:rPr b="0" i="1" lang="en-AU" sz="2000" spc="-1" strike="noStrike">
                <a:solidFill>
                  <a:srgbClr val="000000"/>
                </a:solidFill>
                <a:latin typeface="Times New Roman"/>
              </a:rPr>
              <a:t>i</a:t>
            </a:r>
            <a:r>
              <a:rPr b="0" lang="en-AU" sz="2000" spc="-1" strike="noStrike">
                <a:solidFill>
                  <a:srgbClr val="000000"/>
                </a:solidFill>
                <a:latin typeface="Times New Roman"/>
              </a:rPr>
              <a:t>=3</a:t>
            </a:r>
            <a:r>
              <a:rPr b="0" lang="en-AU" sz="2000" spc="-1" strike="noStrike">
                <a:solidFill>
                  <a:srgbClr val="000000"/>
                </a:solidFill>
                <a:latin typeface="Arial"/>
              </a:rPr>
              <a:t>) for a barge (8x4x45m):</a:t>
            </a:r>
            <a:endParaRPr b="0" lang="en-US" sz="2000" spc="-1" strike="noStrike">
              <a:solidFill>
                <a:srgbClr val="000000"/>
              </a:solidFill>
              <a:latin typeface="Arial"/>
            </a:endParaRPr>
          </a:p>
        </p:txBody>
      </p:sp>
      <p:pic>
        <p:nvPicPr>
          <p:cNvPr id="237" name="Picture 8" descr=""/>
          <p:cNvPicPr/>
          <p:nvPr/>
        </p:nvPicPr>
        <p:blipFill>
          <a:blip r:embed="rId1"/>
          <a:stretch/>
        </p:blipFill>
        <p:spPr>
          <a:xfrm>
            <a:off x="2124000" y="5877000"/>
            <a:ext cx="736560" cy="247680"/>
          </a:xfrm>
          <a:prstGeom prst="rect">
            <a:avLst/>
          </a:prstGeom>
          <a:ln w="0">
            <a:noFill/>
          </a:ln>
        </p:spPr>
      </p:pic>
      <p:pic>
        <p:nvPicPr>
          <p:cNvPr id="238" name="Picture 10" descr=""/>
          <p:cNvPicPr/>
          <p:nvPr/>
        </p:nvPicPr>
        <p:blipFill>
          <a:blip r:embed="rId2"/>
          <a:stretch/>
        </p:blipFill>
        <p:spPr>
          <a:xfrm>
            <a:off x="1042920" y="3141720"/>
            <a:ext cx="2808360" cy="2701800"/>
          </a:xfrm>
          <a:prstGeom prst="rect">
            <a:avLst/>
          </a:prstGeom>
          <a:ln w="0">
            <a:noFill/>
          </a:ln>
        </p:spPr>
      </p:pic>
      <p:pic>
        <p:nvPicPr>
          <p:cNvPr id="239" name="Picture 11" descr=""/>
          <p:cNvPicPr/>
          <p:nvPr/>
        </p:nvPicPr>
        <p:blipFill>
          <a:blip r:embed="rId3"/>
          <a:stretch/>
        </p:blipFill>
        <p:spPr>
          <a:xfrm>
            <a:off x="4859280" y="3500280"/>
            <a:ext cx="2808360" cy="235584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F43B1A6-6BAE-4B50-9BEB-B0329ECFEE15}"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41"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42"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3D56AA2-FBF6-4EFA-8079-14D8A2AC3110}"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43"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Force to motion FRF</a:t>
            </a:r>
            <a:endParaRPr b="0" lang="en-US" sz="4200" spc="-1" strike="noStrike">
              <a:solidFill>
                <a:srgbClr val="006633"/>
              </a:solidFill>
              <a:latin typeface="Tahoma"/>
            </a:endParaRPr>
          </a:p>
        </p:txBody>
      </p:sp>
      <p:sp>
        <p:nvSpPr>
          <p:cNvPr id="244" name="PlaceHolder 2"/>
          <p:cNvSpPr>
            <a:spLocks noGrp="1"/>
          </p:cNvSpPr>
          <p:nvPr>
            <p:ph/>
          </p:nvPr>
        </p:nvSpPr>
        <p:spPr>
          <a:xfrm>
            <a:off x="456840" y="1600200"/>
            <a:ext cx="7931160" cy="1108080"/>
          </a:xfrm>
          <a:prstGeom prst="rect">
            <a:avLst/>
          </a:prstGeom>
          <a:noFill/>
          <a:ln w="0">
            <a:noFill/>
          </a:ln>
        </p:spPr>
        <p:txBody>
          <a:bodyPr lIns="91440" rIns="91440" tIns="45720" bIns="45720" anchor="t">
            <a:normAutofit/>
          </a:bodyPr>
          <a:p>
            <a:pPr marL="343080" indent="-34308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200" spc="-1" strike="noStrike">
                <a:solidFill>
                  <a:srgbClr val="000000"/>
                </a:solidFill>
                <a:latin typeface="Arial"/>
              </a:rPr>
              <a:t>Using the added mass and damping with the linear (seakeeping) equation of motion we can obtain the  </a:t>
            </a:r>
            <a:r>
              <a:rPr b="0" lang="en-AU" sz="2200" spc="-1" strike="noStrike">
                <a:solidFill>
                  <a:srgbClr val="996600"/>
                </a:solidFill>
                <a:latin typeface="Arial"/>
              </a:rPr>
              <a:t>force to motion frequency response function</a:t>
            </a:r>
            <a:r>
              <a:rPr b="0" lang="en-AU" sz="2200" spc="-1" strike="noStrike">
                <a:solidFill>
                  <a:srgbClr val="000000"/>
                </a:solidFill>
                <a:latin typeface="Arial"/>
              </a:rPr>
              <a:t>:</a:t>
            </a:r>
            <a:endParaRPr b="0" lang="en-US" sz="2200" spc="-1" strike="noStrike">
              <a:solidFill>
                <a:srgbClr val="000000"/>
              </a:solidFill>
              <a:latin typeface="Arial"/>
            </a:endParaRPr>
          </a:p>
        </p:txBody>
      </p:sp>
      <mc:AlternateContent>
        <mc:Choice xmlns:a14="http://schemas.microsoft.com/office/drawing/2010/main" Requires="a14">
          <p:sp>
            <p:nvSpPr>
              <p:cNvPr id="245" name="Object 4"/>
              <p:cNvSpPr txBox="1"/>
              <p:nvPr/>
            </p:nvSpPr>
            <p:spPr>
              <a:xfrm>
                <a:off x="1042920" y="4437000"/>
                <a:ext cx="6767640" cy="581040"/>
              </a:xfrm>
              <a:prstGeom prst="rect">
                <a:avLst/>
              </a:prstGeom>
            </p:spPr>
            <p:txBody>
              <a:bodyPr/>
              <a:p>
                <a14:m>
                  <m:oMath xmlns:m="http://schemas.openxmlformats.org/officeDocument/2006/math">
                    <m:r>
                      <m:t xml:space="preserve">[</m:t>
                    </m:r>
                    <m:sSub>
                      <m:e>
                        <m:r>
                          <m:t xml:space="preserve">M</m:t>
                        </m:r>
                      </m:e>
                      <m:sub>
                        <m:r>
                          <m:rPr>
                            <m:lit/>
                            <m:nor/>
                          </m:rPr>
                          <m:t xml:space="preserve">RB</m:t>
                        </m:r>
                      </m:sub>
                    </m:sSub>
                    <m:r>
                      <m:t xml:space="preserve">+</m:t>
                    </m:r>
                    <m:r>
                      <m:t xml:space="preserve">A</m:t>
                    </m:r>
                    <m:r>
                      <m:t xml:space="preserve">(</m:t>
                    </m:r>
                    <m:r>
                      <m:t xml:space="preserve">ω</m:t>
                    </m:r>
                    <m:r>
                      <m:t xml:space="preserve">)</m:t>
                    </m:r>
                    <m:r>
                      <m:t xml:space="preserve">]</m:t>
                    </m:r>
                    <m:acc>
                      <m:accPr>
                        <m:chr m:val="¨"/>
                      </m:accPr>
                      <m:e>
                        <m:r>
                          <m:t xml:space="preserve">ξ</m:t>
                        </m:r>
                      </m:e>
                    </m:acc>
                    <m:r>
                      <m:t xml:space="preserve">(</m:t>
                    </m:r>
                    <m:r>
                      <m:t xml:space="preserve">t</m:t>
                    </m:r>
                    <m:r>
                      <m:t xml:space="preserve">)</m:t>
                    </m:r>
                    <m:r>
                      <m:t xml:space="preserve">+</m:t>
                    </m:r>
                    <m:r>
                      <m:t xml:space="preserve">B</m:t>
                    </m:r>
                    <m:r>
                      <m:t xml:space="preserve">(</m:t>
                    </m:r>
                    <m:r>
                      <m:t xml:space="preserve">ω</m:t>
                    </m:r>
                    <m:r>
                      <m:t xml:space="preserve">)</m:t>
                    </m:r>
                    <m:acc>
                      <m:accPr>
                        <m:chr m:val="˙"/>
                      </m:accPr>
                      <m:e>
                        <m:r>
                          <m:t xml:space="preserve">ξ</m:t>
                        </m:r>
                      </m:e>
                    </m:acc>
                    <m:r>
                      <m:t xml:space="preserve">(</m:t>
                    </m:r>
                    <m:r>
                      <m:t xml:space="preserve">t</m:t>
                    </m:r>
                    <m:r>
                      <m:t xml:space="preserve">)</m:t>
                    </m:r>
                    <m:r>
                      <m:t xml:space="preserve">+</m:t>
                    </m:r>
                    <m:r>
                      <m:rPr>
                        <m:lit/>
                        <m:nor/>
                      </m:rPr>
                      <m:t xml:space="preserve">Gξ</m:t>
                    </m:r>
                    <m:r>
                      <m:t xml:space="preserve">(</m:t>
                    </m:r>
                    <m:r>
                      <m:t xml:space="preserve">t</m:t>
                    </m:r>
                    <m:r>
                      <m:t xml:space="preserve">)</m:t>
                    </m:r>
                    <m:r>
                      <m:t xml:space="preserve">=</m:t>
                    </m:r>
                    <m:sSub>
                      <m:e>
                        <m:r>
                          <m:t xml:space="preserve">τ</m:t>
                        </m:r>
                      </m:e>
                      <m:sub>
                        <m:r>
                          <m:rPr>
                            <m:lit/>
                            <m:nor/>
                          </m:rPr>
                          <m:t xml:space="preserve">exc</m:t>
                        </m:r>
                      </m:sub>
                    </m:sSub>
                    <m:r>
                      <m:t xml:space="preserve">(</m:t>
                    </m:r>
                    <m:r>
                      <m:t xml:space="preserve">t</m:t>
                    </m:r>
                    <m:r>
                      <m:t xml:space="preserve">)</m:t>
                    </m:r>
                  </m:oMath>
                </a14:m>
              </a:p>
            </p:txBody>
          </p:sp>
        </mc:Choice>
        <mc:Fallback/>
      </mc:AlternateContent>
      <p:sp>
        <p:nvSpPr>
          <p:cNvPr id="246" name="Rectangle 6"/>
          <p:cNvSpPr/>
          <p:nvPr/>
        </p:nvSpPr>
        <p:spPr>
          <a:xfrm>
            <a:off x="395280" y="3789360"/>
            <a:ext cx="7931160" cy="110808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5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200" spc="-1" strike="noStrike">
                <a:solidFill>
                  <a:srgbClr val="000000"/>
                </a:solidFill>
                <a:latin typeface="Arial"/>
              </a:rPr>
              <a:t>This is sometimes written in the hydrodynamic literature as</a:t>
            </a:r>
            <a:endParaRPr b="0" lang="en-US" sz="2200" spc="-1" strike="noStrike">
              <a:solidFill>
                <a:srgbClr val="000000"/>
              </a:solidFill>
              <a:latin typeface="Arial"/>
            </a:endParaRPr>
          </a:p>
        </p:txBody>
      </p:sp>
      <mc:AlternateContent>
        <mc:Choice xmlns:a14="http://schemas.microsoft.com/office/drawing/2010/main" Requires="a14">
          <p:sp>
            <p:nvSpPr>
              <p:cNvPr id="247" name="Object 7"/>
              <p:cNvSpPr txBox="1"/>
              <p:nvPr/>
            </p:nvSpPr>
            <p:spPr>
              <a:xfrm>
                <a:off x="1187280" y="2852640"/>
                <a:ext cx="6278760" cy="611280"/>
              </a:xfrm>
              <a:prstGeom prst="rect">
                <a:avLst/>
              </a:prstGeom>
            </p:spPr>
            <p:txBody>
              <a:bodyPr/>
              <a:p>
                <a14:m>
                  <m:oMath xmlns:m="http://schemas.openxmlformats.org/officeDocument/2006/math">
                    <m:r>
                      <m:t xml:space="preserve">[</m:t>
                    </m:r>
                    <m:r>
                      <m:t xml:space="preserve">−</m:t>
                    </m:r>
                    <m:sSup>
                      <m:e>
                        <m:r>
                          <m:t xml:space="preserve">ω</m:t>
                        </m:r>
                      </m:e>
                      <m:sup>
                        <m:r>
                          <m:t xml:space="preserve">2</m:t>
                        </m:r>
                      </m:sup>
                    </m:sSup>
                    <m:r>
                      <m:t xml:space="preserve">[</m:t>
                    </m:r>
                    <m:sSub>
                      <m:e>
                        <m:r>
                          <m:t xml:space="preserve">M</m:t>
                        </m:r>
                      </m:e>
                      <m:sub>
                        <m:r>
                          <m:rPr>
                            <m:lit/>
                            <m:nor/>
                          </m:rPr>
                          <m:t xml:space="preserve">RB</m:t>
                        </m:r>
                      </m:sub>
                    </m:sSub>
                    <m:r>
                      <m:t xml:space="preserve">+</m:t>
                    </m:r>
                    <m:r>
                      <m:t xml:space="preserve">A</m:t>
                    </m:r>
                    <m:r>
                      <m:t xml:space="preserve">(</m:t>
                    </m:r>
                    <m:r>
                      <m:t xml:space="preserve">ω</m:t>
                    </m:r>
                    <m:r>
                      <m:t xml:space="preserve">)</m:t>
                    </m:r>
                    <m:r>
                      <m:t xml:space="preserve">]</m:t>
                    </m:r>
                    <m:r>
                      <m:t xml:space="preserve">+</m:t>
                    </m:r>
                    <m:r>
                      <m:t xml:space="preserve">jω</m:t>
                    </m:r>
                    <m:r>
                      <m:t xml:space="preserve"> </m:t>
                    </m:r>
                    <m:r>
                      <m:t xml:space="preserve">B</m:t>
                    </m:r>
                    <m:r>
                      <m:t xml:space="preserve">(</m:t>
                    </m:r>
                    <m:r>
                      <m:t xml:space="preserve">ω</m:t>
                    </m:r>
                    <m:r>
                      <m:t xml:space="preserve">)</m:t>
                    </m:r>
                    <m:r>
                      <m:t xml:space="preserve">+</m:t>
                    </m:r>
                    <m:r>
                      <m:t xml:space="preserve">G</m:t>
                    </m:r>
                    <m:r>
                      <m:t xml:space="preserve">]</m:t>
                    </m:r>
                    <m:acc>
                      <m:accPr>
                        <m:chr m:val="~"/>
                      </m:accPr>
                      <m:e>
                        <m:r>
                          <m:t xml:space="preserve">ξ</m:t>
                        </m:r>
                      </m:e>
                    </m:acc>
                    <m:r>
                      <m:t xml:space="preserve">=</m:t>
                    </m:r>
                    <m:sSub>
                      <m:e>
                        <m:acc>
                          <m:accPr>
                            <m:chr m:val="~"/>
                          </m:accPr>
                          <m:e>
                            <m:r>
                              <m:t xml:space="preserve">τ</m:t>
                            </m:r>
                          </m:e>
                        </m:acc>
                      </m:e>
                      <m:sub>
                        <m:r>
                          <m:rPr>
                            <m:lit/>
                            <m:nor/>
                          </m:rPr>
                          <m:t xml:space="preserve">exc</m:t>
                        </m:r>
                      </m:sub>
                    </m:sSub>
                  </m:oMath>
                </a14:m>
              </a:p>
            </p:txBody>
          </p:sp>
        </mc:Choice>
        <mc:Fallback/>
      </mc:AlternateContent>
      <p:sp>
        <p:nvSpPr>
          <p:cNvPr id="248" name="Rectangle 8"/>
          <p:cNvSpPr/>
          <p:nvPr/>
        </p:nvSpPr>
        <p:spPr>
          <a:xfrm>
            <a:off x="395280" y="5373720"/>
            <a:ext cx="7993080" cy="642600"/>
          </a:xfrm>
          <a:prstGeom prst="rect">
            <a:avLst/>
          </a:prstGeom>
          <a:noFill/>
          <a:ln w="0">
            <a:noFill/>
          </a:ln>
        </p:spPr>
        <p:style>
          <a:lnRef idx="0"/>
          <a:fillRef idx="0"/>
          <a:effectRef idx="0"/>
          <a:fontRef idx="minor"/>
        </p:style>
        <p:txBody>
          <a:bodyPr lIns="90000" rIns="90000" tIns="46800" bIns="46800" anchor="t">
            <a:spAutoFit/>
          </a:bodyPr>
          <a:p>
            <a:pPr>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This is an abuse of notation since </a:t>
            </a:r>
            <a:r>
              <a:rPr b="0" lang="en-AU" sz="1800" spc="-1" strike="noStrike">
                <a:solidFill>
                  <a:srgbClr val="996600"/>
                </a:solidFill>
                <a:latin typeface="Arial"/>
              </a:rPr>
              <a:t>this is not a true equation of motion</a:t>
            </a:r>
            <a:r>
              <a:rPr b="0" lang="en-AU" sz="1800" spc="-1" strike="noStrike">
                <a:solidFill>
                  <a:srgbClr val="000000"/>
                </a:solidFill>
                <a:latin typeface="Arial"/>
              </a:rPr>
              <a:t>; it is a different (rather confusing) way to write the frequency response function.</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9675A35-47B2-4DF0-AD3B-941EB72B43E3}"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50"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51"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DF82B28-DBD7-4FC6-820B-242B9CF0F549}"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52"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Force to motion FRF</a:t>
            </a:r>
            <a:endParaRPr b="0" lang="en-US" sz="4200" spc="-1" strike="noStrike">
              <a:solidFill>
                <a:srgbClr val="006633"/>
              </a:solidFill>
              <a:latin typeface="Tahoma"/>
            </a:endParaRPr>
          </a:p>
        </p:txBody>
      </p:sp>
      <p:sp>
        <p:nvSpPr>
          <p:cNvPr id="253" name="PlaceHolder 2"/>
          <p:cNvSpPr>
            <a:spLocks noGrp="1"/>
          </p:cNvSpPr>
          <p:nvPr>
            <p:ph/>
          </p:nvPr>
        </p:nvSpPr>
        <p:spPr>
          <a:xfrm>
            <a:off x="468000" y="1197000"/>
            <a:ext cx="7931160" cy="1108080"/>
          </a:xfrm>
          <a:prstGeom prst="rect">
            <a:avLst/>
          </a:prstGeom>
          <a:noFill/>
          <a:ln w="0">
            <a:noFill/>
          </a:ln>
        </p:spPr>
        <p:txBody>
          <a:bodyPr lIns="91440" rIns="91440" tIns="45720" bIns="45720" anchor="t">
            <a:normAutofit/>
          </a:bodyPr>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Then we can define the </a:t>
            </a:r>
            <a:r>
              <a:rPr b="0" lang="en-AU" sz="2600" spc="-1" strike="noStrike">
                <a:solidFill>
                  <a:srgbClr val="996600"/>
                </a:solidFill>
                <a:latin typeface="Arial"/>
              </a:rPr>
              <a:t>force to motion frequency response matrix</a:t>
            </a:r>
            <a:r>
              <a:rPr b="0" lang="en-AU" sz="2600" spc="-1" strike="noStrike">
                <a:solidFill>
                  <a:srgbClr val="000000"/>
                </a:solidFill>
                <a:latin typeface="Arial"/>
              </a:rPr>
              <a:t>: </a:t>
            </a:r>
            <a:endParaRPr b="0" lang="en-US" sz="2600" spc="-1" strike="noStrike">
              <a:solidFill>
                <a:srgbClr val="000000"/>
              </a:solidFill>
              <a:latin typeface="Arial"/>
            </a:endParaRPr>
          </a:p>
        </p:txBody>
      </p:sp>
      <mc:AlternateContent>
        <mc:Choice xmlns:a14="http://schemas.microsoft.com/office/drawing/2010/main" Requires="a14">
          <p:sp>
            <p:nvSpPr>
              <p:cNvPr id="254" name="Object 6"/>
              <p:cNvSpPr txBox="1"/>
              <p:nvPr/>
            </p:nvSpPr>
            <p:spPr>
              <a:xfrm>
                <a:off x="1263600" y="2505240"/>
                <a:ext cx="6470640" cy="3078000"/>
              </a:xfrm>
              <a:prstGeom prst="rect">
                <a:avLst/>
              </a:prstGeom>
            </p:spPr>
            <p:txBody>
              <a:bodyPr/>
              <a:p>
                <a14:m>
                  <m:oMath xmlns:m="http://schemas.openxmlformats.org/officeDocument/2006/math">
                    <m:eqArr>
                      <m:e>
                        <m:r>
                          <m:t xml:space="preserve">G</m:t>
                        </m:r>
                        <m:r>
                          <m:t xml:space="preserve">(</m:t>
                        </m:r>
                        <m:r>
                          <m:t xml:space="preserve">jω</m:t>
                        </m:r>
                        <m:r>
                          <m:t xml:space="preserve">)</m:t>
                        </m:r>
                        <m:r>
                          <m:t xml:space="preserve">:</m:t>
                        </m:r>
                        <m:r>
                          <m:t xml:space="preserve">=</m:t>
                        </m:r>
                        <m:r>
                          <m:t xml:space="preserve">[</m:t>
                        </m:r>
                        <m:r>
                          <m:t xml:space="preserve">−</m:t>
                        </m:r>
                        <m:sSup>
                          <m:e>
                            <m:r>
                              <m:t xml:space="preserve">ω</m:t>
                            </m:r>
                          </m:e>
                          <m:sup>
                            <m:r>
                              <m:t xml:space="preserve">2</m:t>
                            </m:r>
                          </m:sup>
                        </m:sSup>
                        <m:r>
                          <m:t xml:space="preserve">[</m:t>
                        </m:r>
                        <m:sSub>
                          <m:e>
                            <m:r>
                              <m:t xml:space="preserve">M</m:t>
                            </m:r>
                          </m:e>
                          <m:sub>
                            <m:r>
                              <m:rPr>
                                <m:lit/>
                                <m:nor/>
                              </m:rPr>
                              <m:t xml:space="preserve">RB</m:t>
                            </m:r>
                          </m:sub>
                        </m:sSub>
                        <m:r>
                          <m:t xml:space="preserve">+</m:t>
                        </m:r>
                        <m:r>
                          <m:t xml:space="preserve">A</m:t>
                        </m:r>
                        <m:r>
                          <m:t xml:space="preserve">(</m:t>
                        </m:r>
                        <m:r>
                          <m:t xml:space="preserve">ω</m:t>
                        </m:r>
                        <m:r>
                          <m:t xml:space="preserve">)</m:t>
                        </m:r>
                        <m:r>
                          <m:t xml:space="preserve">]</m:t>
                        </m:r>
                        <m:r>
                          <m:t xml:space="preserve">+</m:t>
                        </m:r>
                        <m:r>
                          <m:t xml:space="preserve">jω</m:t>
                        </m:r>
                        <m:r>
                          <m:t xml:space="preserve"> </m:t>
                        </m:r>
                        <m:r>
                          <m:t xml:space="preserve">B</m:t>
                        </m:r>
                        <m:r>
                          <m:t xml:space="preserve">(</m:t>
                        </m:r>
                        <m:r>
                          <m:t xml:space="preserve">ω</m:t>
                        </m:r>
                        <m:r>
                          <m:t xml:space="preserve">)</m:t>
                        </m:r>
                        <m:r>
                          <m:t xml:space="preserve">+</m:t>
                        </m:r>
                        <m:r>
                          <m:t xml:space="preserve">G</m:t>
                        </m:r>
                        <m:sSup>
                          <m:e>
                            <m:r>
                              <m:t xml:space="preserve">]</m:t>
                            </m:r>
                          </m:e>
                          <m:sup>
                            <m:r>
                              <m:t xml:space="preserve">−</m:t>
                            </m:r>
                            <m:r>
                              <m:t xml:space="preserve">1</m:t>
                            </m:r>
                          </m:sup>
                        </m:sSup>
                      </m:e>
                      <m:e/>
                      <m:e>
                        <m:r>
                          <m:t xml:space="preserve"> </m:t>
                        </m:r>
                        <m:r>
                          <m:t xml:space="preserve">=</m:t>
                        </m:r>
                        <m:d>
                          <m:dPr>
                            <m:begChr m:val="["/>
                            <m:endChr m:val="]"/>
                          </m:dPr>
                          <m:e>
                            <m:m>
                              <m:mr>
                                <m:e>
                                  <m:sSub>
                                    <m:e>
                                      <m:r>
                                        <m:t xml:space="preserve">G</m:t>
                                      </m:r>
                                    </m:e>
                                    <m:sub>
                                      <m:r>
                                        <m:rPr>
                                          <m:lit/>
                                          <m:nor/>
                                        </m:rPr>
                                        <m:t xml:space="preserve">11</m:t>
                                      </m:r>
                                    </m:sub>
                                  </m:sSub>
                                  <m:r>
                                    <m:t xml:space="preserve">(</m:t>
                                  </m:r>
                                  <m:r>
                                    <m:t xml:space="preserve">jω</m:t>
                                  </m:r>
                                  <m:r>
                                    <m:t xml:space="preserve">)</m:t>
                                  </m:r>
                                </m:e>
                                <m:e>
                                  <m:sSub>
                                    <m:e>
                                      <m:r>
                                        <m:t xml:space="preserve">G</m:t>
                                      </m:r>
                                    </m:e>
                                    <m:sub>
                                      <m:r>
                                        <m:rPr>
                                          <m:lit/>
                                          <m:nor/>
                                        </m:rPr>
                                        <m:t xml:space="preserve">12</m:t>
                                      </m:r>
                                    </m:sub>
                                  </m:sSub>
                                  <m:r>
                                    <m:t xml:space="preserve">(</m:t>
                                  </m:r>
                                  <m:r>
                                    <m:t xml:space="preserve">jω</m:t>
                                  </m:r>
                                  <m:r>
                                    <m:t xml:space="preserve">)</m:t>
                                  </m:r>
                                </m:e>
                                <m:e>
                                  <m:r>
                                    <m:t xml:space="preserve">⋯</m:t>
                                  </m:r>
                                </m:e>
                                <m:e>
                                  <m:sSub>
                                    <m:e>
                                      <m:r>
                                        <m:t xml:space="preserve">G</m:t>
                                      </m:r>
                                    </m:e>
                                    <m:sub>
                                      <m:r>
                                        <m:rPr>
                                          <m:lit/>
                                          <m:nor/>
                                        </m:rPr>
                                        <m:t xml:space="preserve">16</m:t>
                                      </m:r>
                                    </m:sub>
                                  </m:sSub>
                                  <m:r>
                                    <m:t xml:space="preserve">(</m:t>
                                  </m:r>
                                  <m:r>
                                    <m:t xml:space="preserve">jω</m:t>
                                  </m:r>
                                  <m:r>
                                    <m:t xml:space="preserve">)</m:t>
                                  </m:r>
                                </m:e>
                              </m:mr>
                              <m:mr>
                                <m:e>
                                  <m:sSub>
                                    <m:e>
                                      <m:r>
                                        <m:t xml:space="preserve">G</m:t>
                                      </m:r>
                                    </m:e>
                                    <m:sub>
                                      <m:r>
                                        <m:rPr>
                                          <m:lit/>
                                          <m:nor/>
                                        </m:rPr>
                                        <m:t xml:space="preserve">21</m:t>
                                      </m:r>
                                    </m:sub>
                                  </m:sSub>
                                  <m:r>
                                    <m:t xml:space="preserve">(</m:t>
                                  </m:r>
                                  <m:r>
                                    <m:t xml:space="preserve">jω</m:t>
                                  </m:r>
                                  <m:r>
                                    <m:t xml:space="preserve">)</m:t>
                                  </m:r>
                                </m:e>
                                <m:e>
                                  <m:sSub>
                                    <m:e>
                                      <m:r>
                                        <m:t xml:space="preserve">G</m:t>
                                      </m:r>
                                    </m:e>
                                    <m:sub>
                                      <m:r>
                                        <m:rPr>
                                          <m:lit/>
                                          <m:nor/>
                                        </m:rPr>
                                        <m:t xml:space="preserve">22</m:t>
                                      </m:r>
                                    </m:sub>
                                  </m:sSub>
                                  <m:r>
                                    <m:t xml:space="preserve">(</m:t>
                                  </m:r>
                                  <m:r>
                                    <m:t xml:space="preserve">jω</m:t>
                                  </m:r>
                                  <m:r>
                                    <m:t xml:space="preserve">)</m:t>
                                  </m:r>
                                </m:e>
                                <m:e>
                                  <m:r>
                                    <m:t xml:space="preserve">⋯</m:t>
                                  </m:r>
                                </m:e>
                                <m:e>
                                  <m:sSub>
                                    <m:e>
                                      <m:r>
                                        <m:t xml:space="preserve">G</m:t>
                                      </m:r>
                                    </m:e>
                                    <m:sub>
                                      <m:r>
                                        <m:rPr>
                                          <m:lit/>
                                          <m:nor/>
                                        </m:rPr>
                                        <m:t xml:space="preserve">26</m:t>
                                      </m:r>
                                    </m:sub>
                                  </m:sSub>
                                  <m:r>
                                    <m:t xml:space="preserve">(</m:t>
                                  </m:r>
                                  <m:r>
                                    <m:t xml:space="preserve">jω</m:t>
                                  </m:r>
                                  <m:r>
                                    <m:t xml:space="preserve">)</m:t>
                                  </m:r>
                                </m:e>
                              </m:mr>
                              <m:mr>
                                <m:e>
                                  <m:r>
                                    <m:t xml:space="preserve">⋮</m:t>
                                  </m:r>
                                </m:e>
                                <m:e>
                                  <m:r>
                                    <m:t xml:space="preserve">⋮</m:t>
                                  </m:r>
                                </m:e>
                                <m:e>
                                  <m:r>
                                    <m:t xml:space="preserve">⋱</m:t>
                                  </m:r>
                                </m:e>
                                <m:e>
                                  <m:r>
                                    <m:t xml:space="preserve">⋮</m:t>
                                  </m:r>
                                </m:e>
                              </m:mr>
                              <m:mr>
                                <m:e>
                                  <m:sSub>
                                    <m:e>
                                      <m:r>
                                        <m:t xml:space="preserve">G</m:t>
                                      </m:r>
                                    </m:e>
                                    <m:sub>
                                      <m:r>
                                        <m:rPr>
                                          <m:lit/>
                                          <m:nor/>
                                        </m:rPr>
                                        <m:t xml:space="preserve">61</m:t>
                                      </m:r>
                                    </m:sub>
                                  </m:sSub>
                                  <m:r>
                                    <m:t xml:space="preserve">(</m:t>
                                  </m:r>
                                  <m:r>
                                    <m:t xml:space="preserve">jω</m:t>
                                  </m:r>
                                  <m:r>
                                    <m:t xml:space="preserve">)</m:t>
                                  </m:r>
                                </m:e>
                                <m:e>
                                  <m:sSub>
                                    <m:e>
                                      <m:r>
                                        <m:t xml:space="preserve">G</m:t>
                                      </m:r>
                                    </m:e>
                                    <m:sub>
                                      <m:r>
                                        <m:rPr>
                                          <m:lit/>
                                          <m:nor/>
                                        </m:rPr>
                                        <m:t xml:space="preserve">62</m:t>
                                      </m:r>
                                    </m:sub>
                                  </m:sSub>
                                  <m:r>
                                    <m:t xml:space="preserve">(</m:t>
                                  </m:r>
                                  <m:r>
                                    <m:t xml:space="preserve">jω</m:t>
                                  </m:r>
                                  <m:r>
                                    <m:t xml:space="preserve">)</m:t>
                                  </m:r>
                                </m:e>
                                <m:e>
                                  <m:r>
                                    <m:t xml:space="preserve">⋯</m:t>
                                  </m:r>
                                </m:e>
                                <m:e>
                                  <m:sSub>
                                    <m:e>
                                      <m:r>
                                        <m:t xml:space="preserve">G</m:t>
                                      </m:r>
                                    </m:e>
                                    <m:sub>
                                      <m:r>
                                        <m:rPr>
                                          <m:lit/>
                                          <m:nor/>
                                        </m:rPr>
                                        <m:t xml:space="preserve">66</m:t>
                                      </m:r>
                                    </m:sub>
                                  </m:sSub>
                                  <m:r>
                                    <m:t xml:space="preserve">(</m:t>
                                  </m:r>
                                  <m:r>
                                    <m:t xml:space="preserve">jω</m:t>
                                  </m:r>
                                  <m:r>
                                    <m:t xml:space="preserve">)</m:t>
                                  </m:r>
                                </m:e>
                              </m:mr>
                            </m:m>
                          </m:e>
                        </m:d>
                      </m:e>
                    </m:eqArr>
                  </m:oMath>
                </a14:m>
              </a:p>
            </p:txBody>
          </p:sp>
        </mc:Choice>
        <mc:Fallback/>
      </mc:AlternateContent>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Date Placeholder 5"/>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A8A7C1B-D740-4809-BC31-AAA10351482C}"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56" name="Footer Placeholder 6"/>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57" name="Slide Number Placeholder 7"/>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5A78653-6C41-49A3-B2E8-587C61361BCC}"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58"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Motion RAO</a:t>
            </a:r>
            <a:endParaRPr b="0" lang="en-US" sz="4200" spc="-1" strike="noStrike">
              <a:solidFill>
                <a:srgbClr val="006633"/>
              </a:solidFill>
              <a:latin typeface="Tahoma"/>
            </a:endParaRPr>
          </a:p>
        </p:txBody>
      </p:sp>
      <p:sp>
        <p:nvSpPr>
          <p:cNvPr id="259" name="PlaceHolder 2"/>
          <p:cNvSpPr>
            <a:spLocks noGrp="1"/>
          </p:cNvSpPr>
          <p:nvPr>
            <p:ph/>
          </p:nvPr>
        </p:nvSpPr>
        <p:spPr>
          <a:xfrm>
            <a:off x="468000" y="1125360"/>
            <a:ext cx="8218440" cy="2664000"/>
          </a:xfrm>
          <a:prstGeom prst="rect">
            <a:avLst/>
          </a:prstGeom>
          <a:noFill/>
          <a:ln w="0">
            <a:noFill/>
          </a:ln>
        </p:spPr>
        <p:txBody>
          <a:bodyPr lIns="91440" rIns="91440" tIns="45720" bIns="45720" anchor="t">
            <a:normAutofit/>
          </a:bodyPr>
          <a:p>
            <a:pPr marL="343080" indent="-343080">
              <a:spcBef>
                <a:spcPts val="64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The Force RAO relates the wave elevation to the linear excitation forces.</a:t>
            </a:r>
            <a:endParaRPr b="0" lang="en-US" sz="2600" spc="-1" strike="noStrike">
              <a:solidFill>
                <a:srgbClr val="000000"/>
              </a:solidFill>
              <a:latin typeface="Arial"/>
            </a:endParaRPr>
          </a:p>
          <a:p>
            <a:pPr marL="343080" indent="-343080">
              <a:spcBef>
                <a:spcPts val="64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By combining the Force RAO with the Force to motion frequency response matrix we obtain the </a:t>
            </a:r>
            <a:r>
              <a:rPr b="0" lang="en-AU" sz="2600" spc="-1" strike="noStrike">
                <a:solidFill>
                  <a:srgbClr val="996600"/>
                </a:solidFill>
                <a:latin typeface="Arial"/>
              </a:rPr>
              <a:t>motion frequency response due to wave elevation</a:t>
            </a:r>
            <a:r>
              <a:rPr b="0" lang="en-AU" sz="2600" spc="-1" strike="noStrike">
                <a:solidFill>
                  <a:srgbClr val="000000"/>
                </a:solidFill>
                <a:latin typeface="Arial"/>
              </a:rPr>
              <a:t> or </a:t>
            </a:r>
            <a:r>
              <a:rPr b="0" lang="en-AU" sz="2600" spc="-1" strike="noStrike">
                <a:solidFill>
                  <a:srgbClr val="996600"/>
                </a:solidFill>
                <a:latin typeface="Arial"/>
              </a:rPr>
              <a:t>Motion RAO</a:t>
            </a:r>
            <a:r>
              <a:rPr b="0" lang="en-AU" sz="2600" spc="-1" strike="noStrike">
                <a:solidFill>
                  <a:srgbClr val="000000"/>
                </a:solidFill>
                <a:latin typeface="Arial"/>
              </a:rPr>
              <a:t>:</a:t>
            </a:r>
            <a:endParaRPr b="0" lang="en-US" sz="2600" spc="-1" strike="noStrike">
              <a:solidFill>
                <a:srgbClr val="000000"/>
              </a:solidFill>
              <a:latin typeface="Arial"/>
            </a:endParaRPr>
          </a:p>
        </p:txBody>
      </p:sp>
      <mc:AlternateContent>
        <mc:Choice xmlns:a14="http://schemas.microsoft.com/office/drawing/2010/main" Requires="a14">
          <p:sp>
            <p:nvSpPr>
              <p:cNvPr id="260" name="Object 4"/>
              <p:cNvSpPr txBox="1"/>
              <p:nvPr/>
            </p:nvSpPr>
            <p:spPr>
              <a:xfrm>
                <a:off x="2575080" y="3789360"/>
                <a:ext cx="3993840" cy="550800"/>
              </a:xfrm>
              <a:prstGeom prst="rect">
                <a:avLst/>
              </a:prstGeom>
            </p:spPr>
            <p:txBody>
              <a:bodyPr/>
              <a:p>
                <a14:m>
                  <m:oMath xmlns:m="http://schemas.openxmlformats.org/officeDocument/2006/math">
                    <m:r>
                      <m:t xml:space="preserve">H</m:t>
                    </m:r>
                    <m:r>
                      <m:t xml:space="preserve">(</m:t>
                    </m:r>
                    <m:r>
                      <m:t xml:space="preserve">jω</m:t>
                    </m:r>
                    <m:r>
                      <m:t xml:space="preserve">)</m:t>
                    </m:r>
                    <m:r>
                      <m:t xml:space="preserve">:</m:t>
                    </m:r>
                    <m:r>
                      <m:t xml:space="preserve">=</m:t>
                    </m:r>
                    <m:r>
                      <m:t xml:space="preserve">G</m:t>
                    </m:r>
                    <m:r>
                      <m:t xml:space="preserve">(</m:t>
                    </m:r>
                    <m:r>
                      <m:t xml:space="preserve">jω</m:t>
                    </m:r>
                    <m:r>
                      <m:t xml:space="preserve">)</m:t>
                    </m:r>
                    <m:r>
                      <m:t xml:space="preserve"> </m:t>
                    </m:r>
                    <m:r>
                      <m:t xml:space="preserve">F</m:t>
                    </m:r>
                    <m:r>
                      <m:t xml:space="preserve">(</m:t>
                    </m:r>
                    <m:r>
                      <m:t xml:space="preserve">jω</m:t>
                    </m:r>
                    <m:r>
                      <m:t xml:space="preserve">)</m:t>
                    </m:r>
                  </m:oMath>
                </a14:m>
              </a:p>
            </p:txBody>
          </p:sp>
        </mc:Choice>
        <mc:Fallback/>
      </mc:AlternateContent>
      <mc:AlternateContent>
        <mc:Choice xmlns:a14="http://schemas.microsoft.com/office/drawing/2010/main" Requires="a14">
          <p:sp>
            <p:nvSpPr>
              <p:cNvPr id="261" name="Object 6"/>
              <p:cNvSpPr txBox="1"/>
              <p:nvPr/>
            </p:nvSpPr>
            <p:spPr>
              <a:xfrm>
                <a:off x="1692360" y="4581360"/>
                <a:ext cx="4960800" cy="519120"/>
              </a:xfrm>
              <a:prstGeom prst="rect">
                <a:avLst/>
              </a:prstGeom>
            </p:spPr>
            <p:txBody>
              <a:bodyPr/>
              <a:p>
                <a14:m>
                  <m:oMath xmlns:m="http://schemas.openxmlformats.org/officeDocument/2006/math">
                    <m:r>
                      <m:t xml:space="preserve">H</m:t>
                    </m:r>
                    <m:r>
                      <m:t xml:space="preserve">(</m:t>
                    </m:r>
                    <m:r>
                      <m:t xml:space="preserve">jω</m:t>
                    </m:r>
                    <m:r>
                      <m:t xml:space="preserve">)</m:t>
                    </m:r>
                    <m:r>
                      <m:t xml:space="preserve">=</m:t>
                    </m:r>
                    <m:sSup>
                      <m:e>
                        <m:d>
                          <m:dPr>
                            <m:begChr m:val="["/>
                            <m:endChr m:val="]"/>
                          </m:dPr>
                          <m:e>
                            <m:sSub>
                              <m:e>
                                <m:r>
                                  <m:t xml:space="preserve">H</m:t>
                                </m:r>
                              </m:e>
                              <m:sub>
                                <m:r>
                                  <m:t xml:space="preserve">1</m:t>
                                </m:r>
                              </m:sub>
                            </m:sSub>
                            <m:r>
                              <m:t xml:space="preserve">(</m:t>
                            </m:r>
                            <m:r>
                              <m:t xml:space="preserve">jω</m:t>
                            </m:r>
                            <m:r>
                              <m:t xml:space="preserve">)</m:t>
                            </m:r>
                            <m:r>
                              <m:t xml:space="preserve">,</m:t>
                            </m:r>
                            <m:sSub>
                              <m:e>
                                <m:r>
                                  <m:t xml:space="preserve">H</m:t>
                                </m:r>
                              </m:e>
                              <m:sub>
                                <m:r>
                                  <m:t xml:space="preserve">2</m:t>
                                </m:r>
                              </m:sub>
                            </m:sSub>
                            <m:r>
                              <m:t xml:space="preserve">(</m:t>
                            </m:r>
                            <m:r>
                              <m:t xml:space="preserve">jω</m:t>
                            </m:r>
                            <m:r>
                              <m:t xml:space="preserve">)</m:t>
                            </m:r>
                            <m:r>
                              <m:t xml:space="preserve">…</m:t>
                            </m:r>
                            <m:r>
                              <m:t xml:space="preserve">,</m:t>
                            </m:r>
                            <m:sSub>
                              <m:e>
                                <m:r>
                                  <m:t xml:space="preserve">H</m:t>
                                </m:r>
                              </m:e>
                              <m:sub>
                                <m:r>
                                  <m:t xml:space="preserve">6</m:t>
                                </m:r>
                              </m:sub>
                            </m:sSub>
                            <m:r>
                              <m:t xml:space="preserve">(</m:t>
                            </m:r>
                            <m:r>
                              <m:t xml:space="preserve">jω</m:t>
                            </m:r>
                            <m:r>
                              <m:t xml:space="preserve">)</m:t>
                            </m:r>
                          </m:e>
                        </m:d>
                      </m:e>
                      <m:sup>
                        <m:r>
                          <m:t xml:space="preserve">T</m:t>
                        </m:r>
                      </m:sup>
                    </m:sSup>
                  </m:oMath>
                </a14:m>
              </a:p>
            </p:txBody>
          </p:sp>
        </mc:Choice>
        <mc:Fallback/>
      </mc:AlternateContent>
      <mc:AlternateContent>
        <mc:Choice xmlns:a14="http://schemas.microsoft.com/office/drawing/2010/main" Requires="a14">
          <p:sp>
            <p:nvSpPr>
              <p:cNvPr id="262" name="Object 10"/>
              <p:cNvSpPr txBox="1"/>
              <p:nvPr/>
            </p:nvSpPr>
            <p:spPr>
              <a:xfrm>
                <a:off x="1835280" y="5373720"/>
                <a:ext cx="4674960" cy="519120"/>
              </a:xfrm>
              <a:prstGeom prst="rect">
                <a:avLst/>
              </a:prstGeom>
            </p:spPr>
            <p:txBody>
              <a:bodyPr/>
              <a:p>
                <a14:m>
                  <m:oMath xmlns:m="http://schemas.openxmlformats.org/officeDocument/2006/math">
                    <m:r>
                      <m:t xml:space="preserve">F</m:t>
                    </m:r>
                    <m:r>
                      <m:t xml:space="preserve">(</m:t>
                    </m:r>
                    <m:r>
                      <m:t xml:space="preserve">jω</m:t>
                    </m:r>
                    <m:r>
                      <m:t xml:space="preserve">)</m:t>
                    </m:r>
                    <m:r>
                      <m:t xml:space="preserve">=</m:t>
                    </m:r>
                    <m:sSup>
                      <m:e>
                        <m:d>
                          <m:dPr>
                            <m:begChr m:val="["/>
                            <m:endChr m:val="]"/>
                          </m:dPr>
                          <m:e>
                            <m:sSub>
                              <m:e>
                                <m:r>
                                  <m:t xml:space="preserve">F</m:t>
                                </m:r>
                              </m:e>
                              <m:sub>
                                <m:r>
                                  <m:t xml:space="preserve">1</m:t>
                                </m:r>
                              </m:sub>
                            </m:sSub>
                            <m:r>
                              <m:t xml:space="preserve">(</m:t>
                            </m:r>
                            <m:r>
                              <m:t xml:space="preserve">jω</m:t>
                            </m:r>
                            <m:r>
                              <m:t xml:space="preserve">)</m:t>
                            </m:r>
                            <m:r>
                              <m:t xml:space="preserve">,</m:t>
                            </m:r>
                            <m:sSub>
                              <m:e>
                                <m:r>
                                  <m:t xml:space="preserve">F</m:t>
                                </m:r>
                              </m:e>
                              <m:sub>
                                <m:r>
                                  <m:t xml:space="preserve">2</m:t>
                                </m:r>
                              </m:sub>
                            </m:sSub>
                            <m:r>
                              <m:t xml:space="preserve">(</m:t>
                            </m:r>
                            <m:r>
                              <m:t xml:space="preserve">jω</m:t>
                            </m:r>
                            <m:r>
                              <m:t xml:space="preserve">)</m:t>
                            </m:r>
                            <m:r>
                              <m:t xml:space="preserve">…</m:t>
                            </m:r>
                            <m:r>
                              <m:t xml:space="preserve">,</m:t>
                            </m:r>
                            <m:sSub>
                              <m:e>
                                <m:r>
                                  <m:t xml:space="preserve">F</m:t>
                                </m:r>
                              </m:e>
                              <m:sub>
                                <m:r>
                                  <m:t xml:space="preserve">6</m:t>
                                </m:r>
                              </m:sub>
                            </m:sSub>
                            <m:r>
                              <m:t xml:space="preserve">(</m:t>
                            </m:r>
                            <m:r>
                              <m:t xml:space="preserve">jω</m:t>
                            </m:r>
                            <m:r>
                              <m:t xml:space="preserve">)</m:t>
                            </m:r>
                          </m:e>
                        </m:d>
                      </m:e>
                      <m:sup>
                        <m:r>
                          <m:t xml:space="preserve">T</m:t>
                        </m:r>
                      </m:sup>
                    </m:sSup>
                  </m:oMath>
                </a14:m>
              </a:p>
            </p:txBody>
          </p:sp>
        </mc:Choice>
        <mc:Fallback/>
      </mc:AlternateContent>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715D840-7A54-4E73-AF4F-EBA97478FB4A}"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64"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65"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5491CF2-9C9C-4AF5-89AF-0DCFF0EDF2D0}"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66"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Statistics of Loads and Motion</a:t>
            </a:r>
            <a:endParaRPr b="0" lang="en-US" sz="4200" spc="-1" strike="noStrike">
              <a:solidFill>
                <a:srgbClr val="006633"/>
              </a:solidFill>
              <a:latin typeface="Tahoma"/>
            </a:endParaRPr>
          </a:p>
        </p:txBody>
      </p:sp>
      <mc:AlternateContent>
        <mc:Choice xmlns:a14="http://schemas.microsoft.com/office/drawing/2010/main" Requires="a14">
          <p:sp>
            <p:nvSpPr>
              <p:cNvPr id="267" name="Object 4"/>
              <p:cNvSpPr txBox="1"/>
              <p:nvPr/>
            </p:nvSpPr>
            <p:spPr>
              <a:xfrm>
                <a:off x="2556000" y="4508640"/>
                <a:ext cx="3456000" cy="609480"/>
              </a:xfrm>
              <a:prstGeom prst="rect">
                <a:avLst/>
              </a:prstGeom>
            </p:spPr>
            <p:txBody>
              <a:bodyPr/>
              <a:p>
                <a14:m>
                  <m:oMath xmlns:m="http://schemas.openxmlformats.org/officeDocument/2006/math">
                    <m:sSub>
                      <m:e>
                        <m:r>
                          <m:t xml:space="preserve">S</m:t>
                        </m:r>
                      </m:e>
                      <m:sub>
                        <m:r>
                          <m:rPr>
                            <m:lit/>
                            <m:nor/>
                          </m:rPr>
                          <m:t xml:space="preserve">ττ</m:t>
                        </m:r>
                        <m:r>
                          <m:t xml:space="preserve">,</m:t>
                        </m:r>
                        <m:r>
                          <m:t xml:space="preserve">i</m:t>
                        </m:r>
                      </m:sub>
                    </m:sSub>
                    <m:r>
                      <m:t xml:space="preserve">(</m:t>
                    </m:r>
                    <m:r>
                      <m:t xml:space="preserve">ω</m:t>
                    </m:r>
                    <m:r>
                      <m:t xml:space="preserve">)</m:t>
                    </m:r>
                    <m:r>
                      <m:t xml:space="preserve">=</m:t>
                    </m:r>
                    <m:sSup>
                      <m:e>
                        <m:d>
                          <m:dPr>
                            <m:begChr m:val="|"/>
                            <m:endChr m:val="|"/>
                          </m:dPr>
                          <m:e>
                            <m:sSub>
                              <m:e>
                                <m:r>
                                  <m:t xml:space="preserve">F</m:t>
                                </m:r>
                              </m:e>
                              <m:sub>
                                <m:r>
                                  <m:t xml:space="preserve">i</m:t>
                                </m:r>
                              </m:sub>
                            </m:sSub>
                            <m:r>
                              <m:t xml:space="preserve">(</m:t>
                            </m:r>
                            <m:r>
                              <m:t xml:space="preserve">jω</m:t>
                            </m:r>
                            <m:r>
                              <m:t xml:space="preserve">)</m:t>
                            </m:r>
                          </m:e>
                        </m:d>
                      </m:e>
                      <m:sup>
                        <m:r>
                          <m:t xml:space="preserve">2</m:t>
                        </m:r>
                      </m:sup>
                    </m:sSup>
                    <m:sSub>
                      <m:e>
                        <m:r>
                          <m:t xml:space="preserve">S</m:t>
                        </m:r>
                      </m:e>
                      <m:sub>
                        <m:r>
                          <m:rPr>
                            <m:lit/>
                            <m:nor/>
                          </m:rPr>
                          <m:t xml:space="preserve">ζζ</m:t>
                        </m:r>
                      </m:sub>
                    </m:sSub>
                    <m:r>
                      <m:t xml:space="preserve">(</m:t>
                    </m:r>
                    <m:r>
                      <m:t xml:space="preserve">ω</m:t>
                    </m:r>
                    <m:r>
                      <m:t xml:space="preserve">)</m:t>
                    </m:r>
                  </m:oMath>
                </a14:m>
              </a:p>
            </p:txBody>
          </p:sp>
        </mc:Choice>
        <mc:Fallback/>
      </mc:AlternateContent>
      <mc:AlternateContent>
        <mc:Choice xmlns:a14="http://schemas.microsoft.com/office/drawing/2010/main" Requires="a14">
          <p:sp>
            <p:nvSpPr>
              <p:cNvPr id="268" name="Object 6"/>
              <p:cNvSpPr txBox="1"/>
              <p:nvPr/>
            </p:nvSpPr>
            <p:spPr>
              <a:xfrm>
                <a:off x="2484360" y="5300640"/>
                <a:ext cx="3745080" cy="639720"/>
              </a:xfrm>
              <a:prstGeom prst="rect">
                <a:avLst/>
              </a:prstGeom>
            </p:spPr>
            <p:txBody>
              <a:bodyPr/>
              <a:p>
                <a14:m>
                  <m:oMath xmlns:m="http://schemas.openxmlformats.org/officeDocument/2006/math">
                    <m:sSub>
                      <m:e>
                        <m:r>
                          <m:t xml:space="preserve">S</m:t>
                        </m:r>
                      </m:e>
                      <m:sub>
                        <m:r>
                          <m:rPr>
                            <m:lit/>
                            <m:nor/>
                          </m:rPr>
                          <m:t xml:space="preserve">ξξ</m:t>
                        </m:r>
                        <m:r>
                          <m:t xml:space="preserve">,</m:t>
                        </m:r>
                        <m:r>
                          <m:t xml:space="preserve">i</m:t>
                        </m:r>
                      </m:sub>
                    </m:sSub>
                    <m:r>
                      <m:t xml:space="preserve">(</m:t>
                    </m:r>
                    <m:r>
                      <m:t xml:space="preserve">ω</m:t>
                    </m:r>
                    <m:r>
                      <m:t xml:space="preserve">)</m:t>
                    </m:r>
                    <m:r>
                      <m:t xml:space="preserve">=</m:t>
                    </m:r>
                    <m:sSup>
                      <m:e>
                        <m:d>
                          <m:dPr>
                            <m:begChr m:val="|"/>
                            <m:endChr m:val="|"/>
                          </m:dPr>
                          <m:e>
                            <m:sSub>
                              <m:e>
                                <m:r>
                                  <m:t xml:space="preserve">H</m:t>
                                </m:r>
                              </m:e>
                              <m:sub>
                                <m:r>
                                  <m:t xml:space="preserve">i</m:t>
                                </m:r>
                              </m:sub>
                            </m:sSub>
                            <m:r>
                              <m:t xml:space="preserve">(</m:t>
                            </m:r>
                            <m:r>
                              <m:t xml:space="preserve">jω</m:t>
                            </m:r>
                            <m:r>
                              <m:t xml:space="preserve">)</m:t>
                            </m:r>
                          </m:e>
                        </m:d>
                      </m:e>
                      <m:sup>
                        <m:r>
                          <m:t xml:space="preserve">2</m:t>
                        </m:r>
                      </m:sup>
                    </m:sSup>
                    <m:sSub>
                      <m:e>
                        <m:r>
                          <m:t xml:space="preserve">S</m:t>
                        </m:r>
                      </m:e>
                      <m:sub>
                        <m:r>
                          <m:rPr>
                            <m:lit/>
                            <m:nor/>
                          </m:rPr>
                          <m:t xml:space="preserve">ζζ</m:t>
                        </m:r>
                      </m:sub>
                    </m:sSub>
                    <m:r>
                      <m:t xml:space="preserve">(</m:t>
                    </m:r>
                    <m:r>
                      <m:t xml:space="preserve">ω</m:t>
                    </m:r>
                    <m:r>
                      <m:t xml:space="preserve">)</m:t>
                    </m:r>
                  </m:oMath>
                </a14:m>
              </a:p>
            </p:txBody>
          </p:sp>
        </mc:Choice>
        <mc:Fallback/>
      </mc:AlternateContent>
      <p:sp>
        <p:nvSpPr>
          <p:cNvPr id="269" name="Rectangle 7"/>
          <p:cNvSpPr/>
          <p:nvPr/>
        </p:nvSpPr>
        <p:spPr>
          <a:xfrm>
            <a:off x="468360" y="1268280"/>
            <a:ext cx="8280360" cy="302436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64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Since the wave elevation is assumed a zero-mean Gaussian process and the system is assumed linear, the loads and the response are also zero-mean and Gaussian processes.</a:t>
            </a:r>
            <a:endParaRPr b="0" lang="en-US" sz="2600" spc="-1" strike="noStrike">
              <a:solidFill>
                <a:srgbClr val="000000"/>
              </a:solidFill>
              <a:latin typeface="Arial"/>
            </a:endParaRPr>
          </a:p>
          <a:p>
            <a:pPr marL="343080" indent="-343080">
              <a:spcBef>
                <a:spcPts val="6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600" spc="-1" strike="noStrike">
              <a:solidFill>
                <a:srgbClr val="000000"/>
              </a:solidFill>
              <a:latin typeface="Arial"/>
            </a:endParaRPr>
          </a:p>
          <a:p>
            <a:pPr marL="343080" indent="-343080">
              <a:spcBef>
                <a:spcPts val="64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The spectra of loads and response is all that is needed to compute any statistics:</a:t>
            </a:r>
            <a:endParaRPr b="0" lang="en-US"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A0E3BA1-E513-4508-94CA-0F0782310F8A}"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71"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72"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0FA6355-D41B-43FB-9D36-7E30AB83415D}"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73"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800" spc="-1" strike="noStrike">
                <a:solidFill>
                  <a:srgbClr val="006633"/>
                </a:solidFill>
                <a:latin typeface="Tahoma"/>
              </a:rPr>
              <a:t>Simulation of wave loads and motion time series</a:t>
            </a:r>
            <a:endParaRPr b="0" lang="en-US" sz="3800" spc="-1" strike="noStrike">
              <a:solidFill>
                <a:srgbClr val="006633"/>
              </a:solidFill>
              <a:latin typeface="Tahoma"/>
            </a:endParaRPr>
          </a:p>
        </p:txBody>
      </p:sp>
      <p:sp>
        <p:nvSpPr>
          <p:cNvPr id="274" name="PlaceHolder 2"/>
          <p:cNvSpPr>
            <a:spLocks noGrp="1"/>
          </p:cNvSpPr>
          <p:nvPr>
            <p:ph/>
          </p:nvPr>
        </p:nvSpPr>
        <p:spPr>
          <a:xfrm>
            <a:off x="456840" y="1600200"/>
            <a:ext cx="8218440" cy="820800"/>
          </a:xfrm>
          <a:prstGeom prst="rect">
            <a:avLst/>
          </a:prstGeom>
          <a:noFill/>
          <a:ln w="0">
            <a:noFill/>
          </a:ln>
        </p:spPr>
        <p:txBody>
          <a:bodyPr lIns="91440" rIns="91440" tIns="45720" bIns="45720" anchor="t">
            <a:normAutofit/>
          </a:bodyPr>
          <a:p>
            <a:pPr marL="343080" indent="-34308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200" spc="-1" strike="noStrike">
                <a:solidFill>
                  <a:srgbClr val="000000"/>
                </a:solidFill>
                <a:latin typeface="Arial"/>
              </a:rPr>
              <a:t>Having the spectrum, we can simulate time series of loads and motion in the same way we do it for the wave elevation:</a:t>
            </a:r>
            <a:endParaRPr b="0" lang="en-US" sz="2200" spc="-1" strike="noStrike">
              <a:solidFill>
                <a:srgbClr val="000000"/>
              </a:solidFill>
              <a:latin typeface="Arial"/>
            </a:endParaRPr>
          </a:p>
        </p:txBody>
      </p:sp>
      <mc:AlternateContent>
        <mc:Choice xmlns:a14="http://schemas.microsoft.com/office/drawing/2010/main" Requires="a14">
          <p:sp>
            <p:nvSpPr>
              <p:cNvPr id="275" name="Object 4"/>
              <p:cNvSpPr txBox="1"/>
              <p:nvPr/>
            </p:nvSpPr>
            <p:spPr>
              <a:xfrm>
                <a:off x="1116000" y="2421000"/>
                <a:ext cx="5832360" cy="879480"/>
              </a:xfrm>
              <a:prstGeom prst="rect">
                <a:avLst/>
              </a:prstGeom>
            </p:spPr>
            <p:txBody>
              <a:bodyPr/>
              <a:p>
                <a14:m>
                  <m:oMath xmlns:m="http://schemas.openxmlformats.org/officeDocument/2006/math">
                    <m:sSub>
                      <m:e>
                        <m:r>
                          <m:t xml:space="preserve">τ</m:t>
                        </m:r>
                      </m:e>
                      <m:sub>
                        <m:r>
                          <m:t xml:space="preserve">i</m:t>
                        </m:r>
                      </m:sub>
                    </m:sSub>
                    <m:r>
                      <m:t xml:space="preserve">(</m:t>
                    </m:r>
                    <m:r>
                      <m:t xml:space="preserve">t</m:t>
                    </m:r>
                    <m:r>
                      <m:t xml:space="preserve">)</m:t>
                    </m:r>
                    <m:r>
                      <m:t xml:space="preserve">=</m:t>
                    </m:r>
                    <m:nary>
                      <m:naryPr>
                        <m:chr m:val="∑"/>
                        <m:supHide m:val="1"/>
                      </m:naryPr>
                      <m:sub>
                        <m:r>
                          <m:t xml:space="preserve">n</m:t>
                        </m:r>
                      </m:sub>
                      <m:sup/>
                      <m:e>
                        <m:nary>
                          <m:naryPr>
                            <m:chr m:val="∑"/>
                            <m:supHide m:val="1"/>
                          </m:naryPr>
                          <m:sub>
                            <m:r>
                              <m:t xml:space="preserve">m</m:t>
                            </m:r>
                          </m:sub>
                          <m:sup/>
                          <m:e>
                            <m:sSub>
                              <m:e>
                                <m:acc>
                                  <m:accPr>
                                    <m:chr m:val="¯"/>
                                  </m:accPr>
                                  <m:e>
                                    <m:r>
                                      <m:t xml:space="preserve">τ</m:t>
                                    </m:r>
                                  </m:e>
                                </m:acc>
                              </m:e>
                              <m:sub>
                                <m:r>
                                  <m:rPr>
                                    <m:lit/>
                                    <m:nor/>
                                  </m:rPr>
                                  <m:t xml:space="preserve">nmi</m:t>
                                </m:r>
                              </m:sub>
                            </m:sSub>
                          </m:e>
                        </m:nary>
                      </m:e>
                    </m:nary>
                    <m:r>
                      <m:rPr>
                        <m:lit/>
                        <m:nor/>
                      </m:rPr>
                      <m:t xml:space="preserve">cos</m:t>
                    </m:r>
                    <m:d>
                      <m:dPr>
                        <m:begChr m:val="["/>
                        <m:endChr m:val="]"/>
                      </m:dPr>
                      <m:e>
                        <m:sSub>
                          <m:e>
                            <m:r>
                              <m:t xml:space="preserve">ω</m:t>
                            </m:r>
                          </m:e>
                          <m:sub>
                            <m:r>
                              <m:t xml:space="preserve">e</m:t>
                            </m:r>
                            <m:r>
                              <m:t xml:space="preserve">,</m:t>
                            </m:r>
                            <m:r>
                              <m:t xml:space="preserve">n</m:t>
                            </m:r>
                          </m:sub>
                        </m:sSub>
                        <m:r>
                          <m:t xml:space="preserve"> </m:t>
                        </m:r>
                        <m:r>
                          <m:t xml:space="preserve">t</m:t>
                        </m:r>
                        <m:r>
                          <m:t xml:space="preserve">+</m:t>
                        </m:r>
                        <m:sSub>
                          <m:e>
                            <m:r>
                              <m:t xml:space="preserve">ϕ</m:t>
                            </m:r>
                          </m:e>
                          <m:sub>
                            <m:r>
                              <m:rPr>
                                <m:lit/>
                                <m:nor/>
                              </m:rPr>
                              <m:t xml:space="preserve">nmi</m:t>
                            </m:r>
                          </m:sub>
                        </m:sSub>
                        <m:r>
                          <m:t xml:space="preserve">+</m:t>
                        </m:r>
                        <m:sSub>
                          <m:e>
                            <m:r>
                              <m:t xml:space="preserve">ε</m:t>
                            </m:r>
                          </m:e>
                          <m:sub>
                            <m:r>
                              <m:t xml:space="preserve">n</m:t>
                            </m:r>
                          </m:sub>
                        </m:sSub>
                      </m:e>
                    </m:d>
                  </m:oMath>
                </a14:m>
              </a:p>
            </p:txBody>
          </p:sp>
        </mc:Choice>
        <mc:Fallback/>
      </mc:AlternateContent>
      <mc:AlternateContent>
        <mc:Choice xmlns:a14="http://schemas.microsoft.com/office/drawing/2010/main" Requires="a14">
          <p:sp>
            <p:nvSpPr>
              <p:cNvPr id="276" name="Object 6"/>
              <p:cNvSpPr txBox="1"/>
              <p:nvPr/>
            </p:nvSpPr>
            <p:spPr>
              <a:xfrm>
                <a:off x="1030320" y="3429000"/>
                <a:ext cx="5738760" cy="722160"/>
              </a:xfrm>
              <a:prstGeom prst="rect">
                <a:avLst/>
              </a:prstGeom>
            </p:spPr>
            <p:txBody>
              <a:bodyPr/>
              <a:p>
                <a14:m>
                  <m:oMath xmlns:m="http://schemas.openxmlformats.org/officeDocument/2006/math">
                    <m:sSub>
                      <m:e>
                        <m:acc>
                          <m:accPr>
                            <m:chr m:val="¯"/>
                          </m:accPr>
                          <m:e>
                            <m:r>
                              <m:t xml:space="preserve">τ</m:t>
                            </m:r>
                          </m:e>
                        </m:acc>
                      </m:e>
                      <m:sub>
                        <m:r>
                          <m:rPr>
                            <m:lit/>
                            <m:nor/>
                          </m:rPr>
                          <m:t xml:space="preserve">nmi</m:t>
                        </m:r>
                      </m:sub>
                    </m:sSub>
                    <m:r>
                      <m:t xml:space="preserve">=</m:t>
                    </m:r>
                    <m:rad>
                      <m:radPr>
                        <m:degHide m:val="1"/>
                      </m:radPr>
                      <m:deg/>
                      <m:e>
                        <m:r>
                          <m:t xml:space="preserve">2</m:t>
                        </m:r>
                        <m:sSup>
                          <m:e>
                            <m:d>
                              <m:dPr>
                                <m:begChr m:val="|"/>
                                <m:endChr m:val="|"/>
                              </m:dPr>
                              <m:e>
                                <m:sSub>
                                  <m:e>
                                    <m:r>
                                      <m:t xml:space="preserve">F</m:t>
                                    </m:r>
                                  </m:e>
                                  <m:sub>
                                    <m:r>
                                      <m:t xml:space="preserve">i</m:t>
                                    </m:r>
                                  </m:sub>
                                </m:sSub>
                                <m:r>
                                  <m:t xml:space="preserve">(</m:t>
                                </m:r>
                                <m:sSubSup>
                                  <m:e>
                                    <m:r>
                                      <m:t xml:space="preserve">jω</m:t>
                                    </m:r>
                                  </m:e>
                                  <m:sub>
                                    <m:r>
                                      <m:t xml:space="preserve">n</m:t>
                                    </m:r>
                                  </m:sub>
                                  <m:sup/>
                                </m:sSubSup>
                                <m:r>
                                  <m:t xml:space="preserve">,</m:t>
                                </m:r>
                                <m:r>
                                  <m:t xml:space="preserve">U</m:t>
                                </m:r>
                                <m:r>
                                  <m:t xml:space="preserve">,</m:t>
                                </m:r>
                                <m:sSubSup>
                                  <m:e>
                                    <m:r>
                                      <m:t xml:space="preserve">χ</m:t>
                                    </m:r>
                                  </m:e>
                                  <m:sub>
                                    <m:r>
                                      <m:t xml:space="preserve">m</m:t>
                                    </m:r>
                                  </m:sub>
                                  <m:sup/>
                                </m:sSubSup>
                                <m:r>
                                  <m:t xml:space="preserve">)</m:t>
                                </m:r>
                              </m:e>
                            </m:d>
                          </m:e>
                          <m:sup>
                            <m:r>
                              <m:t xml:space="preserve">2</m:t>
                            </m:r>
                          </m:sup>
                        </m:sSup>
                        <m:sSub>
                          <m:e>
                            <m:r>
                              <m:t xml:space="preserve">S</m:t>
                            </m:r>
                          </m:e>
                          <m:sub>
                            <m:r>
                              <m:rPr>
                                <m:lit/>
                                <m:nor/>
                              </m:rPr>
                              <m:t xml:space="preserve">ζζ</m:t>
                            </m:r>
                          </m:sub>
                        </m:sSub>
                        <m:r>
                          <m:t xml:space="preserve">(</m:t>
                        </m:r>
                        <m:sSubSup>
                          <m:e>
                            <m:r>
                              <m:t xml:space="preserve">jω</m:t>
                            </m:r>
                          </m:e>
                          <m:sub>
                            <m:r>
                              <m:t xml:space="preserve">n</m:t>
                            </m:r>
                          </m:sub>
                          <m:sup/>
                        </m:sSubSup>
                        <m:r>
                          <m:t xml:space="preserve">,</m:t>
                        </m:r>
                        <m:sSubSup>
                          <m:e>
                            <m:r>
                              <m:t xml:space="preserve">χ</m:t>
                            </m:r>
                          </m:e>
                          <m:sub>
                            <m:r>
                              <m:t xml:space="preserve">m</m:t>
                            </m:r>
                          </m:sub>
                          <m:sup/>
                        </m:sSubSup>
                        <m:r>
                          <m:t xml:space="preserve">)</m:t>
                        </m:r>
                        <m:r>
                          <m:t xml:space="preserve"> </m:t>
                        </m:r>
                        <m:r>
                          <m:t xml:space="preserve">Δω</m:t>
                        </m:r>
                        <m:r>
                          <m:t xml:space="preserve"> </m:t>
                        </m:r>
                        <m:r>
                          <m:t xml:space="preserve">Δχ</m:t>
                        </m:r>
                      </m:e>
                    </m:rad>
                  </m:oMath>
                </a14:m>
              </a:p>
            </p:txBody>
          </p:sp>
        </mc:Choice>
        <mc:Fallback/>
      </mc:AlternateContent>
      <mc:AlternateContent>
        <mc:Choice xmlns:a14="http://schemas.microsoft.com/office/drawing/2010/main" Requires="a14">
          <p:sp>
            <p:nvSpPr>
              <p:cNvPr id="277" name="Object 7"/>
              <p:cNvSpPr txBox="1"/>
              <p:nvPr/>
            </p:nvSpPr>
            <p:spPr>
              <a:xfrm>
                <a:off x="971640" y="4292640"/>
                <a:ext cx="3087720" cy="490320"/>
              </a:xfrm>
              <a:prstGeom prst="rect">
                <a:avLst/>
              </a:prstGeom>
            </p:spPr>
            <p:txBody>
              <a:bodyPr/>
              <a:p>
                <a14:m>
                  <m:oMath xmlns:m="http://schemas.openxmlformats.org/officeDocument/2006/math">
                    <m:sSub>
                      <m:e>
                        <m:r>
                          <m:t xml:space="preserve">ϕ</m:t>
                        </m:r>
                      </m:e>
                      <m:sub>
                        <m:r>
                          <m:rPr>
                            <m:lit/>
                            <m:nor/>
                          </m:rPr>
                          <m:t xml:space="preserve">nmi</m:t>
                        </m:r>
                      </m:sub>
                    </m:sSub>
                    <m:r>
                      <m:t xml:space="preserve">=</m:t>
                    </m:r>
                    <m:r>
                      <m:rPr>
                        <m:lit/>
                        <m:nor/>
                      </m:rPr>
                      <m:t xml:space="preserve">arg</m:t>
                    </m:r>
                    <m:sSub>
                      <m:e>
                        <m:r>
                          <m:t xml:space="preserve">F</m:t>
                        </m:r>
                      </m:e>
                      <m:sub>
                        <m:r>
                          <m:t xml:space="preserve">i</m:t>
                        </m:r>
                      </m:sub>
                    </m:sSub>
                    <m:r>
                      <m:t xml:space="preserve">(</m:t>
                    </m:r>
                    <m:sSubSup>
                      <m:e>
                        <m:r>
                          <m:t xml:space="preserve">jω</m:t>
                        </m:r>
                      </m:e>
                      <m:sub>
                        <m:r>
                          <m:t xml:space="preserve">n</m:t>
                        </m:r>
                      </m:sub>
                      <m:sup/>
                    </m:sSubSup>
                    <m:r>
                      <m:t xml:space="preserve">,</m:t>
                    </m:r>
                    <m:r>
                      <m:t xml:space="preserve">U</m:t>
                    </m:r>
                    <m:r>
                      <m:t xml:space="preserve">,</m:t>
                    </m:r>
                    <m:sSubSup>
                      <m:e>
                        <m:r>
                          <m:t xml:space="preserve">χ</m:t>
                        </m:r>
                      </m:e>
                      <m:sub>
                        <m:r>
                          <m:t xml:space="preserve">m</m:t>
                        </m:r>
                      </m:sub>
                      <m:sup/>
                    </m:sSubSup>
                    <m:r>
                      <m:t xml:space="preserve">)</m:t>
                    </m:r>
                  </m:oMath>
                </a14:m>
              </a:p>
            </p:txBody>
          </p:sp>
        </mc:Choice>
        <mc:Fallback/>
      </mc:AlternateContent>
      <mc:AlternateContent>
        <mc:Choice xmlns:a14="http://schemas.microsoft.com/office/drawing/2010/main" Requires="a14">
          <p:sp>
            <p:nvSpPr>
              <p:cNvPr id="278" name="Object 8"/>
              <p:cNvSpPr txBox="1"/>
              <p:nvPr/>
            </p:nvSpPr>
            <p:spPr>
              <a:xfrm>
                <a:off x="1187280" y="5084640"/>
                <a:ext cx="3706920" cy="981360"/>
              </a:xfrm>
              <a:prstGeom prst="rect">
                <a:avLst/>
              </a:prstGeom>
            </p:spPr>
            <p:txBody>
              <a:bodyPr/>
              <a:p>
                <a14:m>
                  <m:oMath xmlns:m="http://schemas.openxmlformats.org/officeDocument/2006/math">
                    <m:eqArr>
                      <m:e>
                        <m:sSubSup>
                          <m:e>
                            <m:r>
                              <m:t xml:space="preserve">ω</m:t>
                            </m:r>
                          </m:e>
                          <m:sub>
                            <m:r>
                              <m:t xml:space="preserve">n</m:t>
                            </m:r>
                          </m:sub>
                          <m:sup/>
                        </m:sSubSup>
                        <m:r>
                          <m:t xml:space="preserve">∈</m:t>
                        </m:r>
                        <m:d>
                          <m:dPr>
                            <m:begChr m:val="["/>
                            <m:endChr m:val="]"/>
                          </m:dPr>
                          <m:e>
                            <m:sSub>
                              <m:e>
                                <m:r>
                                  <m:t xml:space="preserve">ω</m:t>
                                </m:r>
                              </m:e>
                              <m:sub>
                                <m:r>
                                  <m:t xml:space="preserve">n</m:t>
                                </m:r>
                              </m:sub>
                            </m:sSub>
                            <m:r>
                              <m:t xml:space="preserve">−</m:t>
                            </m:r>
                            <m:f>
                              <m:fPr>
                                <m:type m:val="lin"/>
                              </m:fPr>
                              <m:num>
                                <m:r>
                                  <m:t xml:space="preserve">Δω</m:t>
                                </m:r>
                              </m:num>
                              <m:den>
                                <m:r>
                                  <m:t xml:space="preserve">2</m:t>
                                </m:r>
                              </m:den>
                            </m:f>
                            <m:r>
                              <m:t xml:space="preserve">,</m:t>
                            </m:r>
                            <m:sSub>
                              <m:e>
                                <m:r>
                                  <m:t xml:space="preserve">ω</m:t>
                                </m:r>
                              </m:e>
                              <m:sub>
                                <m:r>
                                  <m:t xml:space="preserve">n</m:t>
                                </m:r>
                              </m:sub>
                            </m:sSub>
                            <m:r>
                              <m:t xml:space="preserve">+</m:t>
                            </m:r>
                            <m:f>
                              <m:fPr>
                                <m:type m:val="lin"/>
                              </m:fPr>
                              <m:num>
                                <m:r>
                                  <m:t xml:space="preserve">Δω</m:t>
                                </m:r>
                              </m:num>
                              <m:den>
                                <m:r>
                                  <m:t xml:space="preserve">2</m:t>
                                </m:r>
                              </m:den>
                            </m:f>
                          </m:e>
                        </m:d>
                      </m:e>
                      <m:e>
                        <m:sSubSup>
                          <m:e>
                            <m:r>
                              <m:t xml:space="preserve">χ</m:t>
                            </m:r>
                          </m:e>
                          <m:sub>
                            <m:r>
                              <m:t xml:space="preserve">m</m:t>
                            </m:r>
                          </m:sub>
                          <m:sup/>
                        </m:sSubSup>
                        <m:r>
                          <m:t xml:space="preserve">∈</m:t>
                        </m:r>
                        <m:d>
                          <m:dPr>
                            <m:begChr m:val="["/>
                            <m:endChr m:val="]"/>
                          </m:dPr>
                          <m:e>
                            <m:sSub>
                              <m:e>
                                <m:r>
                                  <m:t xml:space="preserve">χ</m:t>
                                </m:r>
                              </m:e>
                              <m:sub>
                                <m:r>
                                  <m:t xml:space="preserve">m</m:t>
                                </m:r>
                              </m:sub>
                            </m:sSub>
                            <m:r>
                              <m:t xml:space="preserve">−</m:t>
                            </m:r>
                            <m:f>
                              <m:fPr>
                                <m:type m:val="lin"/>
                              </m:fPr>
                              <m:num>
                                <m:r>
                                  <m:t xml:space="preserve">Δχ</m:t>
                                </m:r>
                              </m:num>
                              <m:den>
                                <m:r>
                                  <m:t xml:space="preserve">2</m:t>
                                </m:r>
                              </m:den>
                            </m:f>
                            <m:r>
                              <m:t xml:space="preserve">,</m:t>
                            </m:r>
                            <m:sSub>
                              <m:e>
                                <m:r>
                                  <m:t xml:space="preserve">χ</m:t>
                                </m:r>
                              </m:e>
                              <m:sub>
                                <m:r>
                                  <m:t xml:space="preserve">m</m:t>
                                </m:r>
                              </m:sub>
                            </m:sSub>
                            <m:r>
                              <m:t xml:space="preserve">+</m:t>
                            </m:r>
                            <m:f>
                              <m:fPr>
                                <m:type m:val="lin"/>
                              </m:fPr>
                              <m:num>
                                <m:r>
                                  <m:t xml:space="preserve">Δχ</m:t>
                                </m:r>
                              </m:num>
                              <m:den>
                                <m:r>
                                  <m:t xml:space="preserve">2</m:t>
                                </m:r>
                              </m:den>
                            </m:f>
                          </m:e>
                        </m:d>
                      </m:e>
                    </m:eqArr>
                  </m:oMath>
                </a14:m>
              </a:p>
            </p:txBody>
          </p:sp>
        </mc:Choice>
        <mc:Fallback/>
      </mc:AlternateContent>
      <mc:AlternateContent>
        <mc:Choice xmlns:a14="http://schemas.microsoft.com/office/drawing/2010/main" Requires="a14">
          <p:sp>
            <p:nvSpPr>
              <p:cNvPr id="279" name="Object 9"/>
              <p:cNvSpPr txBox="1"/>
              <p:nvPr/>
            </p:nvSpPr>
            <p:spPr>
              <a:xfrm>
                <a:off x="5508720" y="5157720"/>
                <a:ext cx="334800" cy="463680"/>
              </a:xfrm>
              <a:prstGeom prst="rect">
                <a:avLst/>
              </a:prstGeom>
            </p:spPr>
            <p:txBody>
              <a:bodyPr/>
              <a:p>
                <a14:m>
                  <m:oMath xmlns:m="http://schemas.openxmlformats.org/officeDocument/2006/math">
                    <m:sSub>
                      <m:e>
                        <m:r>
                          <m:t xml:space="preserve">ε</m:t>
                        </m:r>
                      </m:e>
                      <m:sub>
                        <m:r>
                          <m:t xml:space="preserve">n</m:t>
                        </m:r>
                      </m:sub>
                    </m:sSub>
                  </m:oMath>
                </a14:m>
              </a:p>
            </p:txBody>
          </p:sp>
        </mc:Choice>
        <mc:Fallback/>
      </mc:AlternateContent>
      <p:sp>
        <p:nvSpPr>
          <p:cNvPr id="280" name="Rectangle 10"/>
          <p:cNvSpPr/>
          <p:nvPr/>
        </p:nvSpPr>
        <p:spPr>
          <a:xfrm>
            <a:off x="5796000" y="5229360"/>
            <a:ext cx="2448000" cy="6426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-uniformly distributed in [0,2</a:t>
            </a:r>
            <a:r>
              <a:rPr b="0" lang="en-AU" sz="1800" spc="-1" strike="noStrike">
                <a:solidFill>
                  <a:srgbClr val="000000"/>
                </a:solidFill>
                <a:latin typeface="Symbol"/>
                <a:ea typeface="Symbol"/>
              </a:rPr>
              <a:t></a:t>
            </a:r>
            <a:r>
              <a:rPr b="0" lang="en-AU" sz="1800" spc="-1" strike="noStrike">
                <a:solidFill>
                  <a:srgbClr val="000000"/>
                </a:solidFill>
                <a:latin typeface="Arial"/>
              </a:rPr>
              <a:t>]</a:t>
            </a:r>
            <a:endParaRPr b="0" lang="en-US" sz="1800" spc="-1" strike="noStrike">
              <a:solidFill>
                <a:srgbClr val="000000"/>
              </a:solidFill>
              <a:latin typeface="Arial"/>
            </a:endParaRPr>
          </a:p>
        </p:txBody>
      </p:sp>
      <mc:AlternateContent>
        <mc:Choice xmlns:a14="http://schemas.microsoft.com/office/drawing/2010/main" Requires="a14">
          <p:sp>
            <p:nvSpPr>
              <p:cNvPr id="281" name="Object 11"/>
              <p:cNvSpPr txBox="1"/>
              <p:nvPr/>
            </p:nvSpPr>
            <p:spPr>
              <a:xfrm>
                <a:off x="4932360" y="4221000"/>
                <a:ext cx="2548080" cy="795600"/>
              </a:xfrm>
              <a:prstGeom prst="rect">
                <a:avLst/>
              </a:prstGeom>
            </p:spPr>
            <p:txBody>
              <a:bodyPr/>
              <a:p>
                <a14:m>
                  <m:oMath xmlns:m="http://schemas.openxmlformats.org/officeDocument/2006/math">
                    <m:sSub>
                      <m:e>
                        <m:r>
                          <m:t xml:space="preserve">ω</m:t>
                        </m:r>
                      </m:e>
                      <m:sub>
                        <m:r>
                          <m:t xml:space="preserve">e</m:t>
                        </m:r>
                        <m:r>
                          <m:t xml:space="preserve">,</m:t>
                        </m:r>
                        <m:r>
                          <m:t xml:space="preserve">n</m:t>
                        </m:r>
                      </m:sub>
                    </m:sSub>
                    <m:r>
                      <m:t xml:space="preserve">=</m:t>
                    </m:r>
                    <m:d>
                      <m:dPr>
                        <m:begChr m:val="("/>
                        <m:endChr m:val=")"/>
                      </m:dPr>
                      <m:e>
                        <m:sSubSup>
                          <m:e>
                            <m:r>
                              <m:t xml:space="preserve">ω</m:t>
                            </m:r>
                          </m:e>
                          <m:sub>
                            <m:r>
                              <m:t xml:space="preserve">n</m:t>
                            </m:r>
                          </m:sub>
                          <m:sup/>
                        </m:sSubSup>
                        <m:r>
                          <m:t xml:space="preserve">−</m:t>
                        </m:r>
                        <m:f>
                          <m:num>
                            <m:sSup>
                              <m:e>
                                <m:d>
                                  <m:dPr>
                                    <m:begChr m:val="("/>
                                    <m:endChr m:val=")"/>
                                  </m:dPr>
                                  <m:e>
                                    <m:sSubSup>
                                      <m:e>
                                        <m:r>
                                          <m:t xml:space="preserve">ω</m:t>
                                        </m:r>
                                      </m:e>
                                      <m:sub>
                                        <m:r>
                                          <m:t xml:space="preserve">n</m:t>
                                        </m:r>
                                      </m:sub>
                                      <m:sup/>
                                    </m:sSubSup>
                                  </m:e>
                                </m:d>
                              </m:e>
                              <m:sup>
                                <m:r>
                                  <m:t xml:space="preserve">2</m:t>
                                </m:r>
                              </m:sup>
                            </m:sSup>
                            <m:r>
                              <m:t xml:space="preserve">U</m:t>
                            </m:r>
                          </m:num>
                          <m:den>
                            <m:r>
                              <m:t xml:space="preserve">g</m:t>
                            </m:r>
                          </m:den>
                        </m:f>
                        <m:r>
                          <m:rPr>
                            <m:lit/>
                            <m:nor/>
                          </m:rPr>
                          <m:t xml:space="preserve">cos</m:t>
                        </m:r>
                        <m:sSubSup>
                          <m:e>
                            <m:r>
                              <m:t xml:space="preserve">χ</m:t>
                            </m:r>
                          </m:e>
                          <m:sub>
                            <m:r>
                              <m:t xml:space="preserve">m</m:t>
                            </m:r>
                          </m:sub>
                          <m:sup/>
                        </m:sSubSup>
                      </m:e>
                    </m:d>
                  </m:oMath>
                </a14:m>
              </a:p>
            </p:txBody>
          </p:sp>
        </mc:Choice>
        <mc:Fallback/>
      </mc:AlternateContent>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0C8989F-CF8C-4B16-A2E6-0B3502CAFFB4}"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83"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84"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83DE14B-A292-4509-8E5D-6CAE94311777}"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85"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Non-linear wave loads</a:t>
            </a:r>
            <a:endParaRPr b="0" lang="en-US" sz="4200" spc="-1" strike="noStrike">
              <a:solidFill>
                <a:srgbClr val="006633"/>
              </a:solidFill>
              <a:latin typeface="Tahoma"/>
            </a:endParaRPr>
          </a:p>
        </p:txBody>
      </p:sp>
      <p:sp>
        <p:nvSpPr>
          <p:cNvPr id="286" name="PlaceHolder 2"/>
          <p:cNvSpPr>
            <a:spLocks noGrp="1"/>
          </p:cNvSpPr>
          <p:nvPr>
            <p:ph/>
          </p:nvPr>
        </p:nvSpPr>
        <p:spPr>
          <a:xfrm>
            <a:off x="457200" y="1125360"/>
            <a:ext cx="8229600" cy="5005440"/>
          </a:xfrm>
          <a:prstGeom prst="rect">
            <a:avLst/>
          </a:prstGeom>
          <a:noFill/>
          <a:ln w="0">
            <a:noFill/>
          </a:ln>
        </p:spPr>
        <p:txBody>
          <a:bodyPr lIns="91440" rIns="91440" tIns="45720" bIns="45720" anchor="t">
            <a:normAutofit/>
          </a:bodyPr>
          <a:p>
            <a:pPr marL="343080" indent="-343080">
              <a:lnSpc>
                <a:spcPct val="80000"/>
              </a:lnSpc>
              <a:spcBef>
                <a:spcPts val="60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There are some problems related to wave-structure interactions which cannot be described by linear Theory alone.</a:t>
            </a:r>
            <a:endParaRPr b="0" lang="en-US" sz="2400" spc="-1" strike="noStrike">
              <a:solidFill>
                <a:srgbClr val="000000"/>
              </a:solidFill>
              <a:latin typeface="Arial"/>
            </a:endParaRPr>
          </a:p>
          <a:p>
            <a:pPr marL="343080" indent="-343080">
              <a:lnSpc>
                <a:spcPct val="8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Arial"/>
            </a:endParaRPr>
          </a:p>
          <a:p>
            <a:pPr marL="343080" indent="-343080">
              <a:lnSpc>
                <a:spcPct val="80000"/>
              </a:lnSpc>
              <a:spcBef>
                <a:spcPts val="60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The nonlinear problems attempt to describe more accurately the free-surface and body conditions on the instantaneous rather than mean values.</a:t>
            </a:r>
            <a:endParaRPr b="0" lang="en-US" sz="2400" spc="-1" strike="noStrike">
              <a:solidFill>
                <a:srgbClr val="000000"/>
              </a:solidFill>
              <a:latin typeface="Arial"/>
            </a:endParaRPr>
          </a:p>
          <a:p>
            <a:pPr marL="343080" indent="-343080">
              <a:lnSpc>
                <a:spcPct val="8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Arial"/>
            </a:endParaRPr>
          </a:p>
          <a:p>
            <a:pPr marL="343080" indent="-343080">
              <a:lnSpc>
                <a:spcPct val="80000"/>
              </a:lnSpc>
              <a:spcBef>
                <a:spcPts val="60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A convenient way to solve nonlinear wave-structure problems is by using perturbation analysis. </a:t>
            </a:r>
            <a:endParaRPr b="0" lang="en-US" sz="2400" spc="-1" strike="noStrike">
              <a:solidFill>
                <a:srgbClr val="000000"/>
              </a:solidFill>
              <a:latin typeface="Arial"/>
            </a:endParaRPr>
          </a:p>
          <a:p>
            <a:pPr marL="343080" indent="0">
              <a:lnSpc>
                <a:spcPct val="8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Arial"/>
            </a:endParaRPr>
          </a:p>
          <a:p>
            <a:pPr marL="343080" indent="-343080">
              <a:lnSpc>
                <a:spcPct val="80000"/>
              </a:lnSpc>
              <a:spcBef>
                <a:spcPts val="60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In a second order theory, the problems are solved up second-order in incident wave amplitude—i.e., in the potential and pressure terms proportional to the wave amplitude and wave amplitude square are considered.</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5804357-A4A1-4190-A163-88FF000BD30D}"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88"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89"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05F99DA-202D-42F1-BA93-5012F9EF5832}"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90"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Non-linear wave loads</a:t>
            </a:r>
            <a:endParaRPr b="0" lang="en-US" sz="4200" spc="-1" strike="noStrike">
              <a:solidFill>
                <a:srgbClr val="006633"/>
              </a:solidFill>
              <a:latin typeface="Tahoma"/>
            </a:endParaRPr>
          </a:p>
        </p:txBody>
      </p:sp>
      <p:sp>
        <p:nvSpPr>
          <p:cNvPr id="291" name="PlaceHolder 2"/>
          <p:cNvSpPr>
            <a:spLocks noGrp="1"/>
          </p:cNvSpPr>
          <p:nvPr>
            <p:ph/>
          </p:nvPr>
        </p:nvSpPr>
        <p:spPr>
          <a:xfrm>
            <a:off x="468360" y="981000"/>
            <a:ext cx="8229600" cy="5005440"/>
          </a:xfrm>
          <a:prstGeom prst="rect">
            <a:avLst/>
          </a:prstGeom>
          <a:noFill/>
          <a:ln w="0">
            <a:noFill/>
          </a:ln>
        </p:spPr>
        <p:txBody>
          <a:bodyPr lIns="91440" rIns="91440" tIns="45720" bIns="45720" anchor="t">
            <a:normAutofit/>
          </a:bodyPr>
          <a:p>
            <a:pPr marL="343080" indent="-343080">
              <a:lnSpc>
                <a:spcPct val="90000"/>
              </a:lnSpc>
              <a:spcBef>
                <a:spcPts val="72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900" spc="-1" strike="noStrike">
                <a:solidFill>
                  <a:srgbClr val="000000"/>
                </a:solidFill>
                <a:latin typeface="Arial"/>
              </a:rPr>
              <a:t>The effects of second-order loads are important for structures which are kept in position by mooring lines, anchors, and propulsion systems, and for vessels following trajectories.</a:t>
            </a:r>
            <a:endParaRPr b="0" lang="en-US" sz="2900" spc="-1" strike="noStrike">
              <a:solidFill>
                <a:srgbClr val="000000"/>
              </a:solidFill>
              <a:latin typeface="Arial"/>
            </a:endParaRPr>
          </a:p>
          <a:p>
            <a:pPr marL="343080" indent="-343080">
              <a:lnSpc>
                <a:spcPct val="90000"/>
              </a:lnSpc>
              <a:spcBef>
                <a:spcPts val="72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900" spc="-1" strike="noStrike">
              <a:solidFill>
                <a:srgbClr val="000000"/>
              </a:solidFill>
              <a:latin typeface="Arial"/>
            </a:endParaRPr>
          </a:p>
          <a:p>
            <a:pPr marL="343080" indent="-343080">
              <a:lnSpc>
                <a:spcPct val="90000"/>
              </a:lnSpc>
              <a:spcBef>
                <a:spcPts val="72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900" spc="-1" strike="noStrike">
                <a:solidFill>
                  <a:srgbClr val="000000"/>
                </a:solidFill>
                <a:latin typeface="Arial"/>
              </a:rPr>
              <a:t>The solution of a second order problem evidences</a:t>
            </a:r>
            <a:endParaRPr b="0" lang="en-US" sz="2900" spc="-1" strike="noStrike">
              <a:solidFill>
                <a:srgbClr val="000000"/>
              </a:solidFill>
              <a:latin typeface="Arial"/>
            </a:endParaRPr>
          </a:p>
          <a:p>
            <a:pPr marL="343080" indent="-343080">
              <a:lnSpc>
                <a:spcPct val="90000"/>
              </a:lnSpc>
              <a:spcBef>
                <a:spcPts val="72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900" spc="-1" strike="noStrike">
              <a:solidFill>
                <a:srgbClr val="000000"/>
              </a:solidFill>
              <a:latin typeface="Arial"/>
            </a:endParaRPr>
          </a:p>
          <a:p>
            <a:pPr marL="343080" indent="-343080">
              <a:lnSpc>
                <a:spcPct val="90000"/>
              </a:lnSpc>
              <a:spcBef>
                <a:spcPts val="6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500" spc="-1" strike="noStrike">
                <a:solidFill>
                  <a:srgbClr val="996600"/>
                </a:solidFill>
                <a:latin typeface="Arial"/>
              </a:rPr>
              <a:t>Mean wave drift</a:t>
            </a:r>
            <a:r>
              <a:rPr b="0" lang="en-AU" sz="2500" spc="-1" strike="noStrike">
                <a:solidFill>
                  <a:srgbClr val="000000"/>
                </a:solidFill>
                <a:latin typeface="Arial"/>
              </a:rPr>
              <a:t> </a:t>
            </a:r>
            <a:r>
              <a:rPr b="0" lang="en-AU" sz="2500" spc="-1" strike="noStrike">
                <a:solidFill>
                  <a:srgbClr val="996600"/>
                </a:solidFill>
                <a:latin typeface="Arial"/>
              </a:rPr>
              <a:t>force</a:t>
            </a:r>
            <a:endParaRPr b="0" lang="en-US" sz="2500" spc="-1" strike="noStrike">
              <a:solidFill>
                <a:srgbClr val="000000"/>
              </a:solidFill>
              <a:latin typeface="Arial"/>
            </a:endParaRPr>
          </a:p>
          <a:p>
            <a:pPr marL="343080" indent="-343080">
              <a:lnSpc>
                <a:spcPct val="90000"/>
              </a:lnSpc>
              <a:spcBef>
                <a:spcPts val="6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500" spc="-1" strike="noStrike">
                <a:solidFill>
                  <a:srgbClr val="996600"/>
                </a:solidFill>
                <a:latin typeface="Arial"/>
              </a:rPr>
              <a:t>Slowly-varying wave drift force</a:t>
            </a:r>
            <a:r>
              <a:rPr b="0" lang="en-AU" sz="2500" spc="-1" strike="noStrike">
                <a:solidFill>
                  <a:srgbClr val="000000"/>
                </a:solidFill>
                <a:latin typeface="Arial"/>
              </a:rPr>
              <a:t> (sub harmonic)</a:t>
            </a:r>
            <a:endParaRPr b="0" lang="en-US" sz="2500" spc="-1" strike="noStrike">
              <a:solidFill>
                <a:srgbClr val="000000"/>
              </a:solidFill>
              <a:latin typeface="Arial"/>
            </a:endParaRPr>
          </a:p>
          <a:p>
            <a:pPr marL="343080" indent="-343080">
              <a:lnSpc>
                <a:spcPct val="90000"/>
              </a:lnSpc>
              <a:spcBef>
                <a:spcPts val="6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500" spc="-1" strike="noStrike">
                <a:solidFill>
                  <a:srgbClr val="996600"/>
                </a:solidFill>
                <a:latin typeface="Arial"/>
              </a:rPr>
              <a:t>Rapidly varying wave drift force</a:t>
            </a:r>
            <a:r>
              <a:rPr b="0" lang="en-AU" sz="2500" spc="-1" strike="noStrike">
                <a:solidFill>
                  <a:srgbClr val="000000"/>
                </a:solidFill>
                <a:latin typeface="Arial"/>
              </a:rPr>
              <a:t> (super harmonic)</a:t>
            </a:r>
            <a:endParaRPr b="0" lang="en-US" sz="2500" spc="-1" strike="noStrike">
              <a:solidFill>
                <a:srgbClr val="000000"/>
              </a:solidFill>
              <a:latin typeface="Arial"/>
            </a:endParaRPr>
          </a:p>
          <a:p>
            <a:pPr marL="343080" indent="0">
              <a:lnSpc>
                <a:spcPct val="90000"/>
              </a:lnSpc>
              <a:spcBef>
                <a:spcPts val="624"/>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1E4B33A-93C7-4F59-A467-199281A4FEAE}"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93"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94"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1A4ECD4-DF90-4E80-AC6C-C8682EDE292E}"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95"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Evidence of second-order loads</a:t>
            </a:r>
            <a:endParaRPr b="0" lang="en-US" sz="4200" spc="-1" strike="noStrike">
              <a:solidFill>
                <a:srgbClr val="006633"/>
              </a:solidFill>
              <a:latin typeface="Tahoma"/>
            </a:endParaRPr>
          </a:p>
        </p:txBody>
      </p:sp>
      <p:sp>
        <p:nvSpPr>
          <p:cNvPr id="296" name="PlaceHolder 2"/>
          <p:cNvSpPr>
            <a:spLocks noGrp="1"/>
          </p:cNvSpPr>
          <p:nvPr>
            <p:ph/>
          </p:nvPr>
        </p:nvSpPr>
        <p:spPr>
          <a:xfrm>
            <a:off x="395280" y="1197000"/>
            <a:ext cx="8291520" cy="1324080"/>
          </a:xfrm>
          <a:prstGeom prst="rect">
            <a:avLst/>
          </a:prstGeom>
          <a:noFill/>
          <a:ln w="0">
            <a:noFill/>
          </a:ln>
        </p:spPr>
        <p:txBody>
          <a:bodyPr lIns="91440" rIns="91440" tIns="45720" bIns="45720" anchor="t">
            <a:normAutofit/>
          </a:bodyPr>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A simple way to evidence the effects of a second order problem is to look at the quadratic term in the Bernoulli equation:</a:t>
            </a:r>
            <a:endParaRPr b="0" lang="en-US" sz="2600" spc="-1" strike="noStrike">
              <a:solidFill>
                <a:srgbClr val="000000"/>
              </a:solidFill>
              <a:latin typeface="Arial"/>
            </a:endParaRPr>
          </a:p>
        </p:txBody>
      </p:sp>
      <mc:AlternateContent>
        <mc:Choice xmlns:a14="http://schemas.microsoft.com/office/drawing/2010/main" Requires="a14">
          <p:sp>
            <p:nvSpPr>
              <p:cNvPr id="297" name="Object 4"/>
              <p:cNvSpPr txBox="1"/>
              <p:nvPr/>
            </p:nvSpPr>
            <p:spPr>
              <a:xfrm>
                <a:off x="2340000" y="2852640"/>
                <a:ext cx="4370400" cy="874800"/>
              </a:xfrm>
              <a:prstGeom prst="rect">
                <a:avLst/>
              </a:prstGeom>
            </p:spPr>
            <p:txBody>
              <a:bodyPr/>
              <a:p>
                <a14:m>
                  <m:oMath xmlns:m="http://schemas.openxmlformats.org/officeDocument/2006/math">
                    <m:r>
                      <m:t xml:space="preserve">p</m:t>
                    </m:r>
                    <m:r>
                      <m:t xml:space="preserve">+</m:t>
                    </m:r>
                    <m:r>
                      <m:t xml:space="preserve">ρ</m:t>
                    </m:r>
                    <m:r>
                      <m:rPr>
                        <m:lit/>
                        <m:nor/>
                      </m:rPr>
                      <m:t xml:space="preserve">gz</m:t>
                    </m:r>
                    <m:r>
                      <m:t xml:space="preserve">+</m:t>
                    </m:r>
                    <m:r>
                      <m:t xml:space="preserve">ρ</m:t>
                    </m:r>
                    <m:f>
                      <m:num>
                        <m:r>
                          <m:t xml:space="preserve">∂</m:t>
                        </m:r>
                        <m:r>
                          <m:t xml:space="preserve">φ</m:t>
                        </m:r>
                      </m:num>
                      <m:den>
                        <m:r>
                          <m:rPr>
                            <m:lit/>
                            <m:nor/>
                          </m:rPr>
                          <m:t xml:space="preserve">dt</m:t>
                        </m:r>
                      </m:den>
                    </m:f>
                    <m:r>
                      <m:t xml:space="preserve">+</m:t>
                    </m:r>
                    <m:f>
                      <m:num>
                        <m:r>
                          <m:t xml:space="preserve">ρ</m:t>
                        </m:r>
                      </m:num>
                      <m:den>
                        <m:r>
                          <m:t xml:space="preserve">2</m:t>
                        </m:r>
                      </m:den>
                    </m:f>
                    <m:r>
                      <m:t xml:space="preserve">∇</m:t>
                    </m:r>
                    <m:r>
                      <m:t xml:space="preserve">φ</m:t>
                    </m:r>
                    <m:r>
                      <m:t xml:space="preserve">⋅</m:t>
                    </m:r>
                    <m:r>
                      <m:t xml:space="preserve">∇</m:t>
                    </m:r>
                    <m:r>
                      <m:t xml:space="preserve">φ</m:t>
                    </m:r>
                    <m:r>
                      <m:t xml:space="preserve">=</m:t>
                    </m:r>
                    <m:r>
                      <m:t xml:space="preserve">C</m:t>
                    </m:r>
                  </m:oMath>
                </a14:m>
              </a:p>
            </p:txBody>
          </p:sp>
        </mc:Choice>
        <mc:Fallback/>
      </mc:AlternateContent>
      <p:sp>
        <p:nvSpPr>
          <p:cNvPr id="298" name="Rectangle 6"/>
          <p:cNvSpPr/>
          <p:nvPr/>
        </p:nvSpPr>
        <p:spPr>
          <a:xfrm>
            <a:off x="395280" y="3789360"/>
            <a:ext cx="8291520" cy="57636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6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Then,</a:t>
            </a:r>
            <a:endParaRPr b="0" lang="en-US" sz="2600" spc="-1" strike="noStrike">
              <a:solidFill>
                <a:srgbClr val="000000"/>
              </a:solidFill>
              <a:latin typeface="Arial"/>
            </a:endParaRPr>
          </a:p>
        </p:txBody>
      </p:sp>
      <mc:AlternateContent>
        <mc:Choice xmlns:a14="http://schemas.microsoft.com/office/drawing/2010/main" Requires="a14">
          <p:sp>
            <p:nvSpPr>
              <p:cNvPr id="299" name="Object 7"/>
              <p:cNvSpPr txBox="1"/>
              <p:nvPr/>
            </p:nvSpPr>
            <p:spPr>
              <a:xfrm>
                <a:off x="2916360" y="4797360"/>
                <a:ext cx="3157560" cy="536760"/>
              </a:xfrm>
              <a:prstGeom prst="rect">
                <a:avLst/>
              </a:prstGeom>
            </p:spPr>
            <p:txBody>
              <a:bodyPr/>
              <a:p>
                <a14:m>
                  <m:oMath xmlns:m="http://schemas.openxmlformats.org/officeDocument/2006/math">
                    <m:r>
                      <m:t xml:space="preserve">∇</m:t>
                    </m:r>
                    <m:r>
                      <m:t xml:space="preserve">φ</m:t>
                    </m:r>
                    <m:r>
                      <m:t xml:space="preserve">⋅</m:t>
                    </m:r>
                    <m:r>
                      <m:t xml:space="preserve">∇</m:t>
                    </m:r>
                    <m:r>
                      <m:t xml:space="preserve">φ</m:t>
                    </m:r>
                    <m:r>
                      <m:t xml:space="preserve">=</m:t>
                    </m:r>
                    <m:sSubSup>
                      <m:e>
                        <m:r>
                          <m:t xml:space="preserve">V</m:t>
                        </m:r>
                      </m:e>
                      <m:sub>
                        <m:r>
                          <m:t xml:space="preserve">1</m:t>
                        </m:r>
                      </m:sub>
                      <m:sup>
                        <m:r>
                          <m:t xml:space="preserve">2</m:t>
                        </m:r>
                      </m:sup>
                    </m:sSubSup>
                    <m:r>
                      <m:t xml:space="preserve">+</m:t>
                    </m:r>
                    <m:sSubSup>
                      <m:e>
                        <m:r>
                          <m:t xml:space="preserve">V</m:t>
                        </m:r>
                      </m:e>
                      <m:sub>
                        <m:r>
                          <m:t xml:space="preserve">2</m:t>
                        </m:r>
                      </m:sub>
                      <m:sup>
                        <m:r>
                          <m:t xml:space="preserve">2</m:t>
                        </m:r>
                      </m:sup>
                    </m:sSubSup>
                    <m:r>
                      <m:t xml:space="preserve">+</m:t>
                    </m:r>
                    <m:sSubSup>
                      <m:e>
                        <m:r>
                          <m:t xml:space="preserve">V</m:t>
                        </m:r>
                      </m:e>
                      <m:sub>
                        <m:r>
                          <m:t xml:space="preserve">3</m:t>
                        </m:r>
                      </m:sub>
                      <m:sup>
                        <m:r>
                          <m:t xml:space="preserve">2</m:t>
                        </m:r>
                      </m:sup>
                    </m:sSubSup>
                  </m:oMath>
                </a14:m>
              </a:p>
            </p:txBody>
          </p:sp>
        </mc:Choice>
        <mc:Fallback/>
      </mc:AlternateContent>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2CE6EDF-0BE2-4C7B-8BBC-EADE45A4CF42}"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01"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02"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E57BCA3-EAA5-46C6-B633-1AA3BC2B7AD6}"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03"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Evidence of second-order loads</a:t>
            </a:r>
            <a:endParaRPr b="0" lang="en-US" sz="4200" spc="-1" strike="noStrike">
              <a:solidFill>
                <a:srgbClr val="006633"/>
              </a:solidFill>
              <a:latin typeface="Tahoma"/>
            </a:endParaRPr>
          </a:p>
        </p:txBody>
      </p:sp>
      <p:sp>
        <p:nvSpPr>
          <p:cNvPr id="304" name="PlaceHolder 2"/>
          <p:cNvSpPr>
            <a:spLocks noGrp="1"/>
          </p:cNvSpPr>
          <p:nvPr>
            <p:ph/>
          </p:nvPr>
        </p:nvSpPr>
        <p:spPr>
          <a:xfrm>
            <a:off x="395280" y="1052280"/>
            <a:ext cx="8291520" cy="1323720"/>
          </a:xfrm>
          <a:prstGeom prst="rect">
            <a:avLst/>
          </a:prstGeom>
          <a:noFill/>
          <a:ln w="0">
            <a:noFill/>
          </a:ln>
        </p:spPr>
        <p:txBody>
          <a:bodyPr lIns="91440" rIns="91440" tIns="45720" bIns="45720" anchor="t">
            <a:normAutofit/>
          </a:bodyPr>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Consider the case where</a:t>
            </a:r>
            <a:endParaRPr b="0" lang="en-US" sz="2600" spc="-1" strike="noStrike">
              <a:solidFill>
                <a:srgbClr val="000000"/>
              </a:solidFill>
              <a:latin typeface="Arial"/>
            </a:endParaRPr>
          </a:p>
        </p:txBody>
      </p:sp>
      <p:sp>
        <p:nvSpPr>
          <p:cNvPr id="305" name="Rectangle 5"/>
          <p:cNvSpPr/>
          <p:nvPr/>
        </p:nvSpPr>
        <p:spPr>
          <a:xfrm>
            <a:off x="395280" y="2133720"/>
            <a:ext cx="8291520" cy="57600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6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Then,</a:t>
            </a:r>
            <a:endParaRPr b="0" lang="en-US" sz="2600" spc="-1" strike="noStrike">
              <a:solidFill>
                <a:srgbClr val="000000"/>
              </a:solidFill>
              <a:latin typeface="Arial"/>
            </a:endParaRPr>
          </a:p>
        </p:txBody>
      </p:sp>
      <mc:AlternateContent>
        <mc:Choice xmlns:a14="http://schemas.microsoft.com/office/drawing/2010/main" Requires="a14">
          <p:sp>
            <p:nvSpPr>
              <p:cNvPr id="306" name="Object 6"/>
              <p:cNvSpPr txBox="1"/>
              <p:nvPr/>
            </p:nvSpPr>
            <p:spPr>
              <a:xfrm>
                <a:off x="1476360" y="2492280"/>
                <a:ext cx="6340320" cy="2373480"/>
              </a:xfrm>
              <a:prstGeom prst="rect">
                <a:avLst/>
              </a:prstGeom>
            </p:spPr>
            <p:txBody>
              <a:bodyPr/>
              <a:p>
                <a14:m>
                  <m:oMath xmlns:m="http://schemas.openxmlformats.org/officeDocument/2006/math">
                    <m:eqArr>
                      <m:e>
                        <m:sSubSup>
                          <m:e>
                            <m:r>
                              <m:t xml:space="preserve">V</m:t>
                            </m:r>
                          </m:e>
                          <m:sub>
                            <m:r>
                              <m:t xml:space="preserve">1</m:t>
                            </m:r>
                          </m:sub>
                          <m:sup>
                            <m:r>
                              <m:t xml:space="preserve">2</m:t>
                            </m:r>
                          </m:sup>
                        </m:sSubSup>
                        <m:r>
                          <m:t xml:space="preserve">=</m:t>
                        </m:r>
                        <m:f>
                          <m:num>
                            <m:sSubSup>
                              <m:e>
                                <m:r>
                                  <m:t xml:space="preserve">A</m:t>
                                </m:r>
                              </m:e>
                              <m:sub>
                                <m:r>
                                  <m:t xml:space="preserve">1</m:t>
                                </m:r>
                              </m:sub>
                              <m:sup>
                                <m:r>
                                  <m:t xml:space="preserve">2</m:t>
                                </m:r>
                              </m:sup>
                            </m:sSubSup>
                          </m:num>
                          <m:den>
                            <m:r>
                              <m:t xml:space="preserve">2</m:t>
                            </m:r>
                          </m:den>
                        </m:f>
                        <m:r>
                          <m:t xml:space="preserve">+</m:t>
                        </m:r>
                        <m:f>
                          <m:num>
                            <m:sSubSup>
                              <m:e>
                                <m:r>
                                  <m:t xml:space="preserve">A</m:t>
                                </m:r>
                              </m:e>
                              <m:sub>
                                <m:r>
                                  <m:t xml:space="preserve">2</m:t>
                                </m:r>
                              </m:sub>
                              <m:sup>
                                <m:r>
                                  <m:t xml:space="preserve">2</m:t>
                                </m:r>
                              </m:sup>
                            </m:sSubSup>
                          </m:num>
                          <m:den>
                            <m:r>
                              <m:t xml:space="preserve">2</m:t>
                            </m:r>
                          </m:den>
                        </m:f>
                      </m:e>
                      <m:e>
                        <m:r>
                          <m:t xml:space="preserve"> </m:t>
                        </m:r>
                        <m:r>
                          <m:t xml:space="preserve">+</m:t>
                        </m:r>
                        <m:f>
                          <m:num>
                            <m:sSubSup>
                              <m:e>
                                <m:r>
                                  <m:t xml:space="preserve">A</m:t>
                                </m:r>
                              </m:e>
                              <m:sub>
                                <m:r>
                                  <m:t xml:space="preserve">1</m:t>
                                </m:r>
                              </m:sub>
                              <m:sup>
                                <m:r>
                                  <m:t xml:space="preserve">2</m:t>
                                </m:r>
                              </m:sup>
                            </m:sSubSup>
                          </m:num>
                          <m:den>
                            <m:r>
                              <m:t xml:space="preserve">2</m:t>
                            </m:r>
                          </m:den>
                        </m:f>
                        <m:r>
                          <m:rPr>
                            <m:lit/>
                            <m:nor/>
                          </m:rPr>
                          <m:t xml:space="preserve">cos</m:t>
                        </m:r>
                        <m:r>
                          <m:t xml:space="preserve">(</m:t>
                        </m:r>
                        <m:r>
                          <m:t xml:space="preserve">2</m:t>
                        </m:r>
                        <m:sSub>
                          <m:e>
                            <m:r>
                              <m:t xml:space="preserve">ω</m:t>
                            </m:r>
                          </m:e>
                          <m:sub>
                            <m:r>
                              <m:t xml:space="preserve">1</m:t>
                            </m:r>
                          </m:sub>
                        </m:sSub>
                        <m:r>
                          <m:t xml:space="preserve">t</m:t>
                        </m:r>
                        <m:r>
                          <m:t xml:space="preserve">)</m:t>
                        </m:r>
                        <m:r>
                          <m:t xml:space="preserve">+</m:t>
                        </m:r>
                        <m:f>
                          <m:num>
                            <m:sSubSup>
                              <m:e>
                                <m:r>
                                  <m:t xml:space="preserve">A</m:t>
                                </m:r>
                              </m:e>
                              <m:sub>
                                <m:r>
                                  <m:t xml:space="preserve">2</m:t>
                                </m:r>
                              </m:sub>
                              <m:sup>
                                <m:r>
                                  <m:t xml:space="preserve">2</m:t>
                                </m:r>
                              </m:sup>
                            </m:sSubSup>
                          </m:num>
                          <m:den>
                            <m:r>
                              <m:t xml:space="preserve">2</m:t>
                            </m:r>
                          </m:den>
                        </m:f>
                        <m:r>
                          <m:rPr>
                            <m:lit/>
                            <m:nor/>
                          </m:rPr>
                          <m:t xml:space="preserve">cos</m:t>
                        </m:r>
                        <m:r>
                          <m:t xml:space="preserve">(</m:t>
                        </m:r>
                        <m:r>
                          <m:t xml:space="preserve">2</m:t>
                        </m:r>
                        <m:sSub>
                          <m:e>
                            <m:r>
                              <m:t xml:space="preserve">ω</m:t>
                            </m:r>
                          </m:e>
                          <m:sub>
                            <m:r>
                              <m:t xml:space="preserve">2</m:t>
                            </m:r>
                          </m:sub>
                        </m:sSub>
                        <m:r>
                          <m:t xml:space="preserve">t</m:t>
                        </m:r>
                        <m:r>
                          <m:t xml:space="preserve">)</m:t>
                        </m:r>
                      </m:e>
                      <m:e>
                        <m:r>
                          <m:t xml:space="preserve"> </m:t>
                        </m:r>
                        <m:r>
                          <m:t xml:space="preserve">+</m:t>
                        </m:r>
                        <m:sSub>
                          <m:e>
                            <m:r>
                              <m:t xml:space="preserve">A</m:t>
                            </m:r>
                          </m:e>
                          <m:sub>
                            <m:r>
                              <m:t xml:space="preserve">1</m:t>
                            </m:r>
                          </m:sub>
                        </m:sSub>
                        <m:sSub>
                          <m:e>
                            <m:r>
                              <m:t xml:space="preserve">A</m:t>
                            </m:r>
                          </m:e>
                          <m:sub>
                            <m:r>
                              <m:t xml:space="preserve">2</m:t>
                            </m:r>
                          </m:sub>
                        </m:sSub>
                        <m:r>
                          <m:rPr>
                            <m:lit/>
                            <m:nor/>
                          </m:rPr>
                          <m:t xml:space="preserve">cos</m:t>
                        </m:r>
                        <m:r>
                          <m:t xml:space="preserve">[</m:t>
                        </m:r>
                        <m:r>
                          <m:t xml:space="preserve">(</m:t>
                        </m:r>
                        <m:sSub>
                          <m:e>
                            <m:r>
                              <m:t xml:space="preserve">ω</m:t>
                            </m:r>
                          </m:e>
                          <m:sub>
                            <m:r>
                              <m:t xml:space="preserve">1</m:t>
                            </m:r>
                          </m:sub>
                        </m:sSub>
                        <m:r>
                          <m:t xml:space="preserve">−</m:t>
                        </m:r>
                        <m:sSub>
                          <m:e>
                            <m:r>
                              <m:t xml:space="preserve">ω</m:t>
                            </m:r>
                          </m:e>
                          <m:sub>
                            <m:r>
                              <m:t xml:space="preserve">2</m:t>
                            </m:r>
                          </m:sub>
                        </m:sSub>
                        <m:r>
                          <m:t xml:space="preserve">)</m:t>
                        </m:r>
                        <m:r>
                          <m:t xml:space="preserve">t</m:t>
                        </m:r>
                        <m:r>
                          <m:t xml:space="preserve">]</m:t>
                        </m:r>
                        <m:r>
                          <m:t xml:space="preserve">+</m:t>
                        </m:r>
                        <m:sSub>
                          <m:e>
                            <m:r>
                              <m:t xml:space="preserve">A</m:t>
                            </m:r>
                          </m:e>
                          <m:sub>
                            <m:r>
                              <m:t xml:space="preserve">1</m:t>
                            </m:r>
                          </m:sub>
                        </m:sSub>
                        <m:sSub>
                          <m:e>
                            <m:r>
                              <m:t xml:space="preserve">A</m:t>
                            </m:r>
                          </m:e>
                          <m:sub>
                            <m:r>
                              <m:t xml:space="preserve">2</m:t>
                            </m:r>
                          </m:sub>
                        </m:sSub>
                        <m:r>
                          <m:rPr>
                            <m:lit/>
                            <m:nor/>
                          </m:rPr>
                          <m:t xml:space="preserve">cos</m:t>
                        </m:r>
                        <m:r>
                          <m:t xml:space="preserve">[</m:t>
                        </m:r>
                        <m:r>
                          <m:t xml:space="preserve">(</m:t>
                        </m:r>
                        <m:sSub>
                          <m:e>
                            <m:r>
                              <m:t xml:space="preserve">ω</m:t>
                            </m:r>
                          </m:e>
                          <m:sub>
                            <m:r>
                              <m:t xml:space="preserve">1</m:t>
                            </m:r>
                          </m:sub>
                        </m:sSub>
                        <m:r>
                          <m:t xml:space="preserve">+</m:t>
                        </m:r>
                        <m:sSub>
                          <m:e>
                            <m:r>
                              <m:t xml:space="preserve">ω</m:t>
                            </m:r>
                          </m:e>
                          <m:sub>
                            <m:r>
                              <m:t xml:space="preserve">2</m:t>
                            </m:r>
                          </m:sub>
                        </m:sSub>
                        <m:r>
                          <m:t xml:space="preserve">)</m:t>
                        </m:r>
                        <m:r>
                          <m:t xml:space="preserve">t</m:t>
                        </m:r>
                        <m:r>
                          <m:t xml:space="preserve">]</m:t>
                        </m:r>
                      </m:e>
                    </m:eqArr>
                  </m:oMath>
                </a14:m>
              </a:p>
            </p:txBody>
          </p:sp>
        </mc:Choice>
        <mc:Fallback/>
      </mc:AlternateContent>
      <mc:AlternateContent>
        <mc:Choice xmlns:a14="http://schemas.microsoft.com/office/drawing/2010/main" Requires="a14">
          <p:sp>
            <p:nvSpPr>
              <p:cNvPr id="307" name="Object 7"/>
              <p:cNvSpPr txBox="1"/>
              <p:nvPr/>
            </p:nvSpPr>
            <p:spPr>
              <a:xfrm>
                <a:off x="2411280" y="1700280"/>
                <a:ext cx="3918240" cy="480960"/>
              </a:xfrm>
              <a:prstGeom prst="rect">
                <a:avLst/>
              </a:prstGeom>
            </p:spPr>
            <p:txBody>
              <a:bodyPr/>
              <a:p>
                <a14:m>
                  <m:oMath xmlns:m="http://schemas.openxmlformats.org/officeDocument/2006/math">
                    <m:sSub>
                      <m:e>
                        <m:r>
                          <m:t xml:space="preserve">V</m:t>
                        </m:r>
                      </m:e>
                      <m:sub>
                        <m:r>
                          <m:t xml:space="preserve">1</m:t>
                        </m:r>
                      </m:sub>
                    </m:sSub>
                    <m:r>
                      <m:t xml:space="preserve">=</m:t>
                    </m:r>
                    <m:sSub>
                      <m:e>
                        <m:r>
                          <m:t xml:space="preserve">A</m:t>
                        </m:r>
                      </m:e>
                      <m:sub>
                        <m:r>
                          <m:t xml:space="preserve">1</m:t>
                        </m:r>
                      </m:sub>
                    </m:sSub>
                    <m:r>
                      <m:rPr>
                        <m:lit/>
                        <m:nor/>
                      </m:rPr>
                      <m:t xml:space="preserve">cos</m:t>
                    </m:r>
                    <m:r>
                      <m:t xml:space="preserve">(</m:t>
                    </m:r>
                    <m:sSub>
                      <m:e>
                        <m:r>
                          <m:t xml:space="preserve">ω</m:t>
                        </m:r>
                      </m:e>
                      <m:sub>
                        <m:r>
                          <m:t xml:space="preserve">1</m:t>
                        </m:r>
                      </m:sub>
                    </m:sSub>
                    <m:r>
                      <m:t xml:space="preserve">t</m:t>
                    </m:r>
                    <m:r>
                      <m:t xml:space="preserve">)</m:t>
                    </m:r>
                    <m:r>
                      <m:t xml:space="preserve">+</m:t>
                    </m:r>
                    <m:sSub>
                      <m:e>
                        <m:r>
                          <m:t xml:space="preserve">A</m:t>
                        </m:r>
                      </m:e>
                      <m:sub>
                        <m:r>
                          <m:t xml:space="preserve">2</m:t>
                        </m:r>
                      </m:sub>
                    </m:sSub>
                    <m:r>
                      <m:rPr>
                        <m:lit/>
                        <m:nor/>
                      </m:rPr>
                      <m:t xml:space="preserve">cos</m:t>
                    </m:r>
                    <m:r>
                      <m:t xml:space="preserve">(</m:t>
                    </m:r>
                    <m:sSub>
                      <m:e>
                        <m:r>
                          <m:t xml:space="preserve">ω</m:t>
                        </m:r>
                      </m:e>
                      <m:sub>
                        <m:r>
                          <m:t xml:space="preserve">2</m:t>
                        </m:r>
                      </m:sub>
                    </m:sSub>
                    <m:r>
                      <m:t xml:space="preserve">t</m:t>
                    </m:r>
                    <m:r>
                      <m:t xml:space="preserve">)</m:t>
                    </m:r>
                  </m:oMath>
                </a14:m>
              </a:p>
            </p:txBody>
          </p:sp>
        </mc:Choice>
        <mc:Fallback/>
      </mc:AlternateContent>
      <p:sp>
        <p:nvSpPr>
          <p:cNvPr id="308" name="Rectangle 9"/>
          <p:cNvSpPr/>
          <p:nvPr/>
        </p:nvSpPr>
        <p:spPr>
          <a:xfrm>
            <a:off x="3855960" y="2492280"/>
            <a:ext cx="2803680" cy="3682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Mean components</a:t>
            </a:r>
            <a:endParaRPr b="0" lang="en-US" sz="1800" spc="-1" strike="noStrike">
              <a:solidFill>
                <a:srgbClr val="000000"/>
              </a:solidFill>
              <a:latin typeface="Arial"/>
            </a:endParaRPr>
          </a:p>
        </p:txBody>
      </p:sp>
      <p:sp>
        <p:nvSpPr>
          <p:cNvPr id="309" name="Line 10"/>
          <p:cNvSpPr/>
          <p:nvPr/>
        </p:nvSpPr>
        <p:spPr>
          <a:xfrm flipH="1">
            <a:off x="3568680" y="2781360"/>
            <a:ext cx="287280" cy="142920"/>
          </a:xfrm>
          <a:prstGeom prst="line">
            <a:avLst/>
          </a:prstGeom>
          <a:ln w="9360">
            <a:solidFill>
              <a:srgbClr val="9966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310" name="Rectangle 11"/>
          <p:cNvSpPr/>
          <p:nvPr/>
        </p:nvSpPr>
        <p:spPr>
          <a:xfrm>
            <a:off x="2124000" y="5084640"/>
            <a:ext cx="2952720" cy="3682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Slowly varying component</a:t>
            </a:r>
            <a:endParaRPr b="0" lang="en-US" sz="1800" spc="-1" strike="noStrike">
              <a:solidFill>
                <a:srgbClr val="000000"/>
              </a:solidFill>
              <a:latin typeface="Arial"/>
            </a:endParaRPr>
          </a:p>
        </p:txBody>
      </p:sp>
      <p:sp>
        <p:nvSpPr>
          <p:cNvPr id="311" name="Line 12"/>
          <p:cNvSpPr/>
          <p:nvPr/>
        </p:nvSpPr>
        <p:spPr>
          <a:xfrm flipV="1">
            <a:off x="2987640" y="4868640"/>
            <a:ext cx="432000" cy="215640"/>
          </a:xfrm>
          <a:prstGeom prst="line">
            <a:avLst/>
          </a:prstGeom>
          <a:ln w="9360">
            <a:solidFill>
              <a:srgbClr val="9966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312" name="Rectangle 13"/>
          <p:cNvSpPr/>
          <p:nvPr/>
        </p:nvSpPr>
        <p:spPr>
          <a:xfrm>
            <a:off x="5867280" y="2852640"/>
            <a:ext cx="3276720" cy="3682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996600"/>
                </a:solidFill>
                <a:latin typeface="Arial"/>
              </a:rPr>
              <a:t>rapidly varying components</a:t>
            </a:r>
            <a:endParaRPr b="0" lang="en-US" sz="1800" spc="-1" strike="noStrike">
              <a:solidFill>
                <a:srgbClr val="000000"/>
              </a:solidFill>
              <a:latin typeface="Arial"/>
            </a:endParaRPr>
          </a:p>
        </p:txBody>
      </p:sp>
      <p:sp>
        <p:nvSpPr>
          <p:cNvPr id="313" name="Line 14"/>
          <p:cNvSpPr/>
          <p:nvPr/>
        </p:nvSpPr>
        <p:spPr>
          <a:xfrm flipH="1">
            <a:off x="5580000" y="3141720"/>
            <a:ext cx="216000" cy="431640"/>
          </a:xfrm>
          <a:prstGeom prst="line">
            <a:avLst/>
          </a:prstGeom>
          <a:ln w="9360">
            <a:solidFill>
              <a:srgbClr val="9966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314" name="Line 15"/>
          <p:cNvSpPr/>
          <p:nvPr/>
        </p:nvSpPr>
        <p:spPr>
          <a:xfrm flipH="1">
            <a:off x="3924000" y="3141720"/>
            <a:ext cx="1871640" cy="431640"/>
          </a:xfrm>
          <a:prstGeom prst="line">
            <a:avLst/>
          </a:prstGeom>
          <a:ln w="9360">
            <a:solidFill>
              <a:srgbClr val="9966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315" name="Line 16"/>
          <p:cNvSpPr/>
          <p:nvPr/>
        </p:nvSpPr>
        <p:spPr>
          <a:xfrm>
            <a:off x="6588000" y="3286080"/>
            <a:ext cx="432000" cy="1008000"/>
          </a:xfrm>
          <a:prstGeom prst="line">
            <a:avLst/>
          </a:prstGeom>
          <a:ln w="9360">
            <a:solidFill>
              <a:srgbClr val="996600"/>
            </a:solidFill>
            <a:miter/>
            <a:tailEnd len="med" type="triangle"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316" name="Rectangle 17"/>
          <p:cNvSpPr/>
          <p:nvPr/>
        </p:nvSpPr>
        <p:spPr>
          <a:xfrm>
            <a:off x="395280" y="5516640"/>
            <a:ext cx="8569440" cy="55872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6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996600"/>
                </a:solidFill>
                <a:latin typeface="Arial"/>
              </a:rPr>
              <a:t>These give rise to 2</a:t>
            </a:r>
            <a:r>
              <a:rPr b="0" lang="en-AU" sz="2600" spc="-1" strike="noStrike" baseline="30000">
                <a:solidFill>
                  <a:srgbClr val="996600"/>
                </a:solidFill>
                <a:latin typeface="Arial"/>
              </a:rPr>
              <a:t>nd</a:t>
            </a:r>
            <a:r>
              <a:rPr b="0" lang="en-AU" sz="2600" spc="-1" strike="noStrike">
                <a:solidFill>
                  <a:srgbClr val="996600"/>
                </a:solidFill>
                <a:latin typeface="Arial"/>
              </a:rPr>
              <a:t> order pressure force components! </a:t>
            </a:r>
            <a:endParaRPr b="0" lang="en-US"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0371341-E85C-4AB5-A46C-652BCE115195}"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18"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19"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5439226-2367-4BF8-9D89-A91DCC1BB2D5}"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20"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Non-linear wave load effects</a:t>
            </a:r>
            <a:endParaRPr b="0" lang="en-US" sz="4200" spc="-1" strike="noStrike">
              <a:solidFill>
                <a:srgbClr val="006633"/>
              </a:solidFill>
              <a:latin typeface="Tahoma"/>
            </a:endParaRPr>
          </a:p>
        </p:txBody>
      </p:sp>
      <p:sp>
        <p:nvSpPr>
          <p:cNvPr id="321" name="PlaceHolder 2"/>
          <p:cNvSpPr>
            <a:spLocks noGrp="1"/>
          </p:cNvSpPr>
          <p:nvPr>
            <p:ph/>
          </p:nvPr>
        </p:nvSpPr>
        <p:spPr>
          <a:xfrm>
            <a:off x="457200" y="1052640"/>
            <a:ext cx="8229600" cy="5005440"/>
          </a:xfrm>
          <a:prstGeom prst="rect">
            <a:avLst/>
          </a:prstGeom>
          <a:noFill/>
          <a:ln w="0">
            <a:noFill/>
          </a:ln>
        </p:spPr>
        <p:txBody>
          <a:bodyPr lIns="91440" rIns="91440" tIns="45720" bIns="45720" anchor="t">
            <a:normAutofit fontScale="96363"/>
          </a:bodyPr>
          <a:p>
            <a:pPr marL="343080" indent="-343080">
              <a:lnSpc>
                <a:spcPct val="90000"/>
              </a:lnSpc>
              <a:spcBef>
                <a:spcPts val="575"/>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300" spc="-1" strike="noStrike">
                <a:solidFill>
                  <a:srgbClr val="996600"/>
                </a:solidFill>
                <a:latin typeface="Arial"/>
              </a:rPr>
              <a:t>Mean wave-drift</a:t>
            </a:r>
            <a:r>
              <a:rPr b="0" lang="en-AU" sz="2300" spc="-1" strike="noStrike">
                <a:solidFill>
                  <a:srgbClr val="000000"/>
                </a:solidFill>
                <a:latin typeface="Arial"/>
              </a:rPr>
              <a:t> </a:t>
            </a:r>
            <a:r>
              <a:rPr b="0" lang="en-AU" sz="2300" spc="-1" strike="noStrike">
                <a:solidFill>
                  <a:srgbClr val="996600"/>
                </a:solidFill>
                <a:latin typeface="Arial"/>
              </a:rPr>
              <a:t>force: </a:t>
            </a:r>
            <a:r>
              <a:rPr b="0" lang="en-AU" sz="2300" spc="-1" strike="noStrike">
                <a:solidFill>
                  <a:srgbClr val="000000"/>
                </a:solidFill>
                <a:latin typeface="Arial"/>
              </a:rPr>
              <a:t>Determine the equilibrium position of the moored system (together with wind and current). They are important for the design of mooring lines and propulsion systems for dynamic positioning.</a:t>
            </a:r>
            <a:endParaRPr b="0" lang="en-US" sz="2300" spc="-1" strike="noStrike">
              <a:solidFill>
                <a:srgbClr val="000000"/>
              </a:solidFill>
              <a:latin typeface="Arial"/>
            </a:endParaRPr>
          </a:p>
          <a:p>
            <a:pPr marL="343080" indent="-343080">
              <a:lnSpc>
                <a:spcPct val="90000"/>
              </a:lnSpc>
              <a:spcBef>
                <a:spcPts val="57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a:p>
            <a:pPr marL="343080" indent="-343080">
              <a:lnSpc>
                <a:spcPct val="90000"/>
              </a:lnSpc>
              <a:spcBef>
                <a:spcPts val="575"/>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300" spc="-1" strike="noStrike">
                <a:solidFill>
                  <a:srgbClr val="996600"/>
                </a:solidFill>
                <a:latin typeface="Arial"/>
              </a:rPr>
              <a:t>Slowly-varying wave-drift force</a:t>
            </a:r>
            <a:r>
              <a:rPr b="0" lang="en-AU" sz="2300" spc="-1" strike="noStrike">
                <a:solidFill>
                  <a:srgbClr val="000000"/>
                </a:solidFill>
                <a:latin typeface="Arial"/>
              </a:rPr>
              <a:t>: The forces have frequencies much slower than the wave elevation. These can excite resonant modes in the horizontal position of the moored vessel. Typical resonance periods in offshore structures are 1 to 2min.</a:t>
            </a:r>
            <a:endParaRPr b="0" lang="en-US" sz="2300" spc="-1" strike="noStrike">
              <a:solidFill>
                <a:srgbClr val="000000"/>
              </a:solidFill>
              <a:latin typeface="Arial"/>
            </a:endParaRPr>
          </a:p>
          <a:p>
            <a:pPr marL="343080" indent="-343080">
              <a:lnSpc>
                <a:spcPct val="90000"/>
              </a:lnSpc>
              <a:spcBef>
                <a:spcPts val="575"/>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300" spc="-1" strike="noStrike">
              <a:solidFill>
                <a:srgbClr val="000000"/>
              </a:solidFill>
              <a:latin typeface="Arial"/>
            </a:endParaRPr>
          </a:p>
          <a:p>
            <a:pPr marL="343080" indent="-343080">
              <a:lnSpc>
                <a:spcPct val="90000"/>
              </a:lnSpc>
              <a:spcBef>
                <a:spcPts val="575"/>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300" spc="-1" strike="noStrike">
                <a:solidFill>
                  <a:srgbClr val="996600"/>
                </a:solidFill>
                <a:latin typeface="Arial"/>
              </a:rPr>
              <a:t>Rapidly-varying wave-drift force</a:t>
            </a:r>
            <a:r>
              <a:rPr b="0" lang="en-AU" sz="2300" spc="-1" strike="noStrike">
                <a:solidFill>
                  <a:srgbClr val="000000"/>
                </a:solidFill>
                <a:latin typeface="Arial"/>
              </a:rPr>
              <a:t>: these forces have frequency components which are higher than the wave elevation frequency. These can excite structural resonant modes: periods 2 to 4s.</a:t>
            </a:r>
            <a:endParaRPr b="0" lang="en-US"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CB62CEE-7179-4E39-A429-80ABAAE852E1}"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23"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24"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3BC4958-664B-4A3F-BFA3-E70A574250C7}"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25"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Example (Pinkster 1979)</a:t>
            </a:r>
            <a:endParaRPr b="0" lang="en-US" sz="4200" spc="-1" strike="noStrike">
              <a:solidFill>
                <a:srgbClr val="006633"/>
              </a:solidFill>
              <a:latin typeface="Tahoma"/>
            </a:endParaRPr>
          </a:p>
        </p:txBody>
      </p:sp>
      <p:pic>
        <p:nvPicPr>
          <p:cNvPr id="326" name="Picture 4" descr=""/>
          <p:cNvPicPr/>
          <p:nvPr/>
        </p:nvPicPr>
        <p:blipFill>
          <a:blip r:embed="rId1"/>
          <a:stretch/>
        </p:blipFill>
        <p:spPr>
          <a:xfrm>
            <a:off x="611280" y="1557360"/>
            <a:ext cx="7815240" cy="3652920"/>
          </a:xfrm>
          <a:prstGeom prst="rect">
            <a:avLst/>
          </a:prstGeom>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2596EA3-3C31-4D96-96B0-21C1E6C1D8EB}"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28"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29"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2B3670F-1FEF-4E55-B5F6-FFCA7CE69E1C}"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30"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Second order FRF</a:t>
            </a:r>
            <a:endParaRPr b="0" lang="en-US" sz="4200" spc="-1" strike="noStrike">
              <a:solidFill>
                <a:srgbClr val="006633"/>
              </a:solidFill>
              <a:latin typeface="Tahoma"/>
            </a:endParaRPr>
          </a:p>
        </p:txBody>
      </p:sp>
      <p:sp>
        <p:nvSpPr>
          <p:cNvPr id="331" name="PlaceHolder 2"/>
          <p:cNvSpPr>
            <a:spLocks noGrp="1"/>
          </p:cNvSpPr>
          <p:nvPr>
            <p:ph/>
          </p:nvPr>
        </p:nvSpPr>
        <p:spPr>
          <a:xfrm>
            <a:off x="468000" y="1196640"/>
            <a:ext cx="8218440" cy="4530600"/>
          </a:xfrm>
          <a:prstGeom prst="rect">
            <a:avLst/>
          </a:prstGeom>
          <a:noFill/>
          <a:ln w="0">
            <a:noFill/>
          </a:ln>
        </p:spPr>
        <p:txBody>
          <a:bodyPr lIns="91440" rIns="91440" tIns="45720" bIns="45720" anchor="t">
            <a:normAutofit/>
          </a:bodyPr>
          <a:p>
            <a:pPr marL="343080" indent="-343080">
              <a:spcBef>
                <a:spcPts val="64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For slowly varying wave-drift forces, the second order potential is needed. </a:t>
            </a:r>
            <a:endParaRPr b="0" lang="en-US" sz="2600" spc="-1" strike="noStrike">
              <a:solidFill>
                <a:srgbClr val="000000"/>
              </a:solidFill>
              <a:latin typeface="Arial"/>
            </a:endParaRPr>
          </a:p>
          <a:p>
            <a:pPr marL="343080" indent="-343080">
              <a:spcBef>
                <a:spcPts val="64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With the second order potential, the second order FRF be computed:</a:t>
            </a:r>
            <a:endParaRPr b="0" lang="en-US" sz="2600" spc="-1" strike="noStrike">
              <a:solidFill>
                <a:srgbClr val="000000"/>
              </a:solidFill>
              <a:latin typeface="Arial"/>
            </a:endParaRPr>
          </a:p>
        </p:txBody>
      </p:sp>
      <mc:AlternateContent>
        <mc:Choice xmlns:a14="http://schemas.microsoft.com/office/drawing/2010/main" Requires="a14">
          <p:sp>
            <p:nvSpPr>
              <p:cNvPr id="332" name="Object 4"/>
              <p:cNvSpPr txBox="1"/>
              <p:nvPr/>
            </p:nvSpPr>
            <p:spPr>
              <a:xfrm>
                <a:off x="2556000" y="3357720"/>
                <a:ext cx="1582560" cy="577800"/>
              </a:xfrm>
              <a:prstGeom prst="rect">
                <a:avLst/>
              </a:prstGeom>
            </p:spPr>
            <p:txBody>
              <a:bodyPr/>
              <a:p>
                <a14:m>
                  <m:oMath xmlns:m="http://schemas.openxmlformats.org/officeDocument/2006/math">
                    <m:sSubSup>
                      <m:e>
                        <m:r>
                          <m:t xml:space="preserve">T</m:t>
                        </m:r>
                      </m:e>
                      <m:sub>
                        <m:r>
                          <m:rPr>
                            <m:lit/>
                            <m:nor/>
                          </m:rPr>
                          <m:t xml:space="preserve">jk</m:t>
                        </m:r>
                      </m:sub>
                      <m:sup>
                        <m:r>
                          <m:rPr>
                            <m:lit/>
                            <m:nor/>
                          </m:rPr>
                          <m:t xml:space="preserve">ic</m:t>
                        </m:r>
                      </m:sup>
                    </m:sSubSup>
                    <m:r>
                      <m:t xml:space="preserve">(</m:t>
                    </m:r>
                    <m:sSub>
                      <m:e>
                        <m:r>
                          <m:t xml:space="preserve">ω</m:t>
                        </m:r>
                      </m:e>
                      <m:sub>
                        <m:r>
                          <m:t xml:space="preserve">j</m:t>
                        </m:r>
                      </m:sub>
                    </m:sSub>
                    <m:r>
                      <m:t xml:space="preserve">,</m:t>
                    </m:r>
                    <m:sSub>
                      <m:e>
                        <m:r>
                          <m:t xml:space="preserve">ω</m:t>
                        </m:r>
                      </m:e>
                      <m:sub>
                        <m:r>
                          <m:t xml:space="preserve">k</m:t>
                        </m:r>
                      </m:sub>
                    </m:sSub>
                    <m:r>
                      <m:t xml:space="preserve">)</m:t>
                    </m:r>
                  </m:oMath>
                </a14:m>
              </a:p>
            </p:txBody>
          </p:sp>
        </mc:Choice>
        <mc:Fallback/>
      </mc:AlternateContent>
      <mc:AlternateContent>
        <mc:Choice xmlns:a14="http://schemas.microsoft.com/office/drawing/2010/main" Requires="a14">
          <p:sp>
            <p:nvSpPr>
              <p:cNvPr id="333" name="Object 6"/>
              <p:cNvSpPr txBox="1"/>
              <p:nvPr/>
            </p:nvSpPr>
            <p:spPr>
              <a:xfrm>
                <a:off x="4788000" y="3357720"/>
                <a:ext cx="1582560" cy="577800"/>
              </a:xfrm>
              <a:prstGeom prst="rect">
                <a:avLst/>
              </a:prstGeom>
            </p:spPr>
            <p:txBody>
              <a:bodyPr/>
              <a:p>
                <a14:m>
                  <m:oMath xmlns:m="http://schemas.openxmlformats.org/officeDocument/2006/math">
                    <m:sSubSup>
                      <m:e>
                        <m:r>
                          <m:t xml:space="preserve">T</m:t>
                        </m:r>
                      </m:e>
                      <m:sub>
                        <m:r>
                          <m:rPr>
                            <m:lit/>
                            <m:nor/>
                          </m:rPr>
                          <m:t xml:space="preserve">jk</m:t>
                        </m:r>
                      </m:sub>
                      <m:sup>
                        <m:r>
                          <m:rPr>
                            <m:lit/>
                            <m:nor/>
                          </m:rPr>
                          <m:t xml:space="preserve">is</m:t>
                        </m:r>
                      </m:sup>
                    </m:sSubSup>
                    <m:r>
                      <m:t xml:space="preserve">(</m:t>
                    </m:r>
                    <m:sSub>
                      <m:e>
                        <m:r>
                          <m:t xml:space="preserve">ω</m:t>
                        </m:r>
                      </m:e>
                      <m:sub>
                        <m:r>
                          <m:t xml:space="preserve">j</m:t>
                        </m:r>
                      </m:sub>
                    </m:sSub>
                    <m:r>
                      <m:t xml:space="preserve">,</m:t>
                    </m:r>
                    <m:sSub>
                      <m:e>
                        <m:r>
                          <m:t xml:space="preserve">ω</m:t>
                        </m:r>
                      </m:e>
                      <m:sub>
                        <m:r>
                          <m:t xml:space="preserve">k</m:t>
                        </m:r>
                      </m:sub>
                    </m:sSub>
                    <m:r>
                      <m:t xml:space="preserve">)</m:t>
                    </m:r>
                  </m:oMath>
                </a14:m>
              </a:p>
            </p:txBody>
          </p:sp>
        </mc:Choice>
        <mc:Fallback/>
      </mc:AlternateContent>
      <mc:AlternateContent>
        <mc:Choice xmlns:a14="http://schemas.microsoft.com/office/drawing/2010/main" Requires="a14">
          <p:sp>
            <p:nvSpPr>
              <p:cNvPr id="334" name="Object 7"/>
              <p:cNvSpPr txBox="1"/>
              <p:nvPr/>
            </p:nvSpPr>
            <p:spPr>
              <a:xfrm>
                <a:off x="1116000" y="4221000"/>
                <a:ext cx="6589800" cy="1617840"/>
              </a:xfrm>
              <a:prstGeom prst="rect">
                <a:avLst/>
              </a:prstGeom>
            </p:spPr>
            <p:txBody>
              <a:bodyPr/>
              <a:p>
                <a14:m>
                  <m:oMath xmlns:m="http://schemas.openxmlformats.org/officeDocument/2006/math">
                    <m:eqArr>
                      <m:e>
                        <m:sSubSup>
                          <m:e>
                            <m:r>
                              <m:t xml:space="preserve">F</m:t>
                            </m:r>
                          </m:e>
                          <m:sub>
                            <m:r>
                              <m:t xml:space="preserve">i</m:t>
                            </m:r>
                          </m:sub>
                          <m:sup>
                            <m:r>
                              <m:rPr>
                                <m:lit/>
                                <m:nor/>
                              </m:rPr>
                              <m:t xml:space="preserve">SV</m:t>
                            </m:r>
                          </m:sup>
                        </m:sSubSup>
                        <m:r>
                          <m:t xml:space="preserve">=</m:t>
                        </m:r>
                        <m:nary>
                          <m:naryPr>
                            <m:chr m:val="∑"/>
                          </m:naryPr>
                          <m:sub>
                            <m:r>
                              <m:t xml:space="preserve">j</m:t>
                            </m:r>
                            <m:r>
                              <m:t xml:space="preserve">=</m:t>
                            </m:r>
                            <m:r>
                              <m:t xml:space="preserve">1</m:t>
                            </m:r>
                          </m:sub>
                          <m:sup>
                            <m:r>
                              <m:t xml:space="preserve">N</m:t>
                            </m:r>
                          </m:sup>
                          <m:e>
                            <m:nary>
                              <m:naryPr>
                                <m:chr m:val="∑"/>
                              </m:naryPr>
                              <m:sub>
                                <m:r>
                                  <m:t xml:space="preserve">k</m:t>
                                </m:r>
                                <m:r>
                                  <m:t xml:space="preserve">=</m:t>
                                </m:r>
                                <m:r>
                                  <m:t xml:space="preserve">1</m:t>
                                </m:r>
                              </m:sub>
                              <m:sup>
                                <m:r>
                                  <m:t xml:space="preserve">N</m:t>
                                </m:r>
                              </m:sup>
                              <m:e>
                                <m:sSub>
                                  <m:e>
                                    <m:r>
                                      <m:t xml:space="preserve">ζ</m:t>
                                    </m:r>
                                  </m:e>
                                  <m:sub>
                                    <m:r>
                                      <m:t xml:space="preserve">j</m:t>
                                    </m:r>
                                  </m:sub>
                                </m:sSub>
                                <m:sSub>
                                  <m:e>
                                    <m:r>
                                      <m:t xml:space="preserve">ζ</m:t>
                                    </m:r>
                                  </m:e>
                                  <m:sub>
                                    <m:r>
                                      <m:t xml:space="preserve">k</m:t>
                                    </m:r>
                                  </m:sub>
                                </m:sSub>
                                <m:r>
                                  <m:t xml:space="preserve">[</m:t>
                                </m:r>
                                <m:sSubSup>
                                  <m:e>
                                    <m:r>
                                      <m:t xml:space="preserve">T</m:t>
                                    </m:r>
                                  </m:e>
                                  <m:sub>
                                    <m:r>
                                      <m:rPr>
                                        <m:lit/>
                                        <m:nor/>
                                      </m:rPr>
                                      <m:t xml:space="preserve">jk</m:t>
                                    </m:r>
                                  </m:sub>
                                  <m:sup>
                                    <m:r>
                                      <m:rPr>
                                        <m:lit/>
                                        <m:nor/>
                                      </m:rPr>
                                      <m:t xml:space="preserve">ic</m:t>
                                    </m:r>
                                  </m:sup>
                                </m:sSubSup>
                                <m:r>
                                  <m:rPr>
                                    <m:lit/>
                                    <m:nor/>
                                  </m:rPr>
                                  <m:t xml:space="preserve">cos</m:t>
                                </m:r>
                                <m:r>
                                  <m:t xml:space="preserve">(</m:t>
                                </m:r>
                                <m:r>
                                  <m:t xml:space="preserve">[</m:t>
                                </m:r>
                                <m:sSub>
                                  <m:e>
                                    <m:r>
                                      <m:t xml:space="preserve">ω</m:t>
                                    </m:r>
                                  </m:e>
                                  <m:sub>
                                    <m:r>
                                      <m:t xml:space="preserve">j</m:t>
                                    </m:r>
                                  </m:sub>
                                </m:sSub>
                                <m:r>
                                  <m:t xml:space="preserve">−</m:t>
                                </m:r>
                                <m:sSub>
                                  <m:e>
                                    <m:r>
                                      <m:t xml:space="preserve">ω</m:t>
                                    </m:r>
                                  </m:e>
                                  <m:sub>
                                    <m:r>
                                      <m:t xml:space="preserve">k</m:t>
                                    </m:r>
                                  </m:sub>
                                </m:sSub>
                                <m:r>
                                  <m:t xml:space="preserve">]</m:t>
                                </m:r>
                                <m:r>
                                  <m:t xml:space="preserve"> </m:t>
                                </m:r>
                                <m:r>
                                  <m:t xml:space="preserve">t</m:t>
                                </m:r>
                                <m:r>
                                  <m:t xml:space="preserve">+</m:t>
                                </m:r>
                                <m:r>
                                  <m:t xml:space="preserve">[</m:t>
                                </m:r>
                                <m:sSub>
                                  <m:e>
                                    <m:r>
                                      <m:t xml:space="preserve">ε</m:t>
                                    </m:r>
                                  </m:e>
                                  <m:sub>
                                    <m:r>
                                      <m:t xml:space="preserve">j</m:t>
                                    </m:r>
                                  </m:sub>
                                </m:sSub>
                                <m:r>
                                  <m:t xml:space="preserve">−</m:t>
                                </m:r>
                                <m:sSub>
                                  <m:e>
                                    <m:r>
                                      <m:t xml:space="preserve">ε</m:t>
                                    </m:r>
                                  </m:e>
                                  <m:sub>
                                    <m:r>
                                      <m:t xml:space="preserve">k</m:t>
                                    </m:r>
                                  </m:sub>
                                </m:sSub>
                                <m:r>
                                  <m:t xml:space="preserve">]</m:t>
                                </m:r>
                                <m:r>
                                  <m:t xml:space="preserve">)</m:t>
                                </m:r>
                              </m:e>
                            </m:nary>
                          </m:e>
                        </m:nary>
                      </m:e>
                      <m:e>
                        <m:r>
                          <m:t xml:space="preserve"> </m:t>
                        </m:r>
                        <m:r>
                          <m:t xml:space="preserve">+</m:t>
                        </m:r>
                        <m:sSubSup>
                          <m:e>
                            <m:r>
                              <m:t xml:space="preserve">T</m:t>
                            </m:r>
                          </m:e>
                          <m:sub>
                            <m:r>
                              <m:rPr>
                                <m:lit/>
                                <m:nor/>
                              </m:rPr>
                              <m:t xml:space="preserve">jk</m:t>
                            </m:r>
                          </m:sub>
                          <m:sup>
                            <m:r>
                              <m:rPr>
                                <m:lit/>
                                <m:nor/>
                              </m:rPr>
                              <m:t xml:space="preserve">is</m:t>
                            </m:r>
                          </m:sup>
                        </m:sSubSup>
                        <m:r>
                          <m:rPr>
                            <m:lit/>
                            <m:nor/>
                          </m:rPr>
                          <m:t xml:space="preserve">sin</m:t>
                        </m:r>
                        <m:r>
                          <m:t xml:space="preserve">(</m:t>
                        </m:r>
                        <m:r>
                          <m:t xml:space="preserve">[</m:t>
                        </m:r>
                        <m:sSub>
                          <m:e>
                            <m:r>
                              <m:t xml:space="preserve">ω</m:t>
                            </m:r>
                          </m:e>
                          <m:sub>
                            <m:r>
                              <m:t xml:space="preserve">j</m:t>
                            </m:r>
                          </m:sub>
                        </m:sSub>
                        <m:r>
                          <m:t xml:space="preserve">−</m:t>
                        </m:r>
                        <m:sSub>
                          <m:e>
                            <m:r>
                              <m:t xml:space="preserve">ω</m:t>
                            </m:r>
                          </m:e>
                          <m:sub>
                            <m:r>
                              <m:t xml:space="preserve">k</m:t>
                            </m:r>
                          </m:sub>
                        </m:sSub>
                        <m:r>
                          <m:t xml:space="preserve">]</m:t>
                        </m:r>
                        <m:r>
                          <m:t xml:space="preserve"> </m:t>
                        </m:r>
                        <m:r>
                          <m:t xml:space="preserve">t</m:t>
                        </m:r>
                        <m:r>
                          <m:t xml:space="preserve">+</m:t>
                        </m:r>
                        <m:r>
                          <m:t xml:space="preserve">[</m:t>
                        </m:r>
                        <m:sSub>
                          <m:e>
                            <m:r>
                              <m:t xml:space="preserve">ε</m:t>
                            </m:r>
                          </m:e>
                          <m:sub>
                            <m:r>
                              <m:t xml:space="preserve">j</m:t>
                            </m:r>
                          </m:sub>
                        </m:sSub>
                        <m:r>
                          <m:t xml:space="preserve">−</m:t>
                        </m:r>
                        <m:sSub>
                          <m:e>
                            <m:r>
                              <m:t xml:space="preserve">ε</m:t>
                            </m:r>
                          </m:e>
                          <m:sub>
                            <m:r>
                              <m:t xml:space="preserve">k</m:t>
                            </m:r>
                          </m:sub>
                        </m:sSub>
                        <m:r>
                          <m:t xml:space="preserve">]</m:t>
                        </m:r>
                        <m:r>
                          <m:t xml:space="preserve">)</m:t>
                        </m:r>
                        <m:r>
                          <m:t xml:space="preserve">]</m:t>
                        </m:r>
                      </m:e>
                    </m:eqArr>
                  </m:oMath>
                </a14:m>
              </a:p>
            </p:txBody>
          </p:sp>
        </mc:Choice>
        <mc:Fallback/>
      </mc:AlternateContent>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FFE252D-4A4B-448D-A99D-37E3AFC50AAC}"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36"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37"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798C1CA-84C2-4E1B-A688-8A223BAFE59A}"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38"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Mean wave drift from 2ord FRF</a:t>
            </a:r>
            <a:endParaRPr b="0" lang="en-US" sz="4200" spc="-1" strike="noStrike">
              <a:solidFill>
                <a:srgbClr val="006633"/>
              </a:solidFill>
              <a:latin typeface="Tahoma"/>
            </a:endParaRPr>
          </a:p>
        </p:txBody>
      </p:sp>
      <p:sp>
        <p:nvSpPr>
          <p:cNvPr id="339" name="PlaceHolder 2"/>
          <p:cNvSpPr>
            <a:spLocks noGrp="1"/>
          </p:cNvSpPr>
          <p:nvPr>
            <p:ph/>
          </p:nvPr>
        </p:nvSpPr>
        <p:spPr>
          <a:xfrm>
            <a:off x="468000" y="1196640"/>
            <a:ext cx="8218440" cy="4530600"/>
          </a:xfrm>
          <a:prstGeom prst="rect">
            <a:avLst/>
          </a:prstGeom>
          <a:noFill/>
          <a:ln w="0">
            <a:noFill/>
          </a:ln>
        </p:spPr>
        <p:txBody>
          <a:bodyPr lIns="91440" rIns="91440" tIns="45720" bIns="45720" anchor="t">
            <a:normAutofit/>
          </a:bodyPr>
          <a:p>
            <a:pPr marL="343080" indent="-343080">
              <a:spcBef>
                <a:spcPts val="64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Note that</a:t>
            </a:r>
            <a:endParaRPr b="0" lang="en-US" sz="2600" spc="-1" strike="noStrike">
              <a:solidFill>
                <a:srgbClr val="000000"/>
              </a:solidFill>
              <a:latin typeface="Arial"/>
            </a:endParaRPr>
          </a:p>
          <a:p>
            <a:pPr marL="343080" indent="0">
              <a:spcBef>
                <a:spcPts val="64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600" spc="-1" strike="noStrike">
              <a:solidFill>
                <a:srgbClr val="000000"/>
              </a:solidFill>
              <a:latin typeface="Arial"/>
            </a:endParaRPr>
          </a:p>
          <a:p>
            <a:pPr marL="343080" indent="0">
              <a:spcBef>
                <a:spcPts val="64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600" spc="-1" strike="noStrike">
              <a:solidFill>
                <a:srgbClr val="000000"/>
              </a:solidFill>
              <a:latin typeface="Arial"/>
            </a:endParaRPr>
          </a:p>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600" spc="-1" strike="noStrike">
              <a:solidFill>
                <a:srgbClr val="000000"/>
              </a:solidFill>
              <a:latin typeface="Arial"/>
            </a:endParaRPr>
          </a:p>
          <a:p>
            <a:pPr marL="343080" indent="-343080">
              <a:spcBef>
                <a:spcPts val="64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Then the mean wave drift forces can ne obtained from:</a:t>
            </a:r>
            <a:endParaRPr b="0" lang="en-US" sz="2600" spc="-1" strike="noStrike">
              <a:solidFill>
                <a:srgbClr val="000000"/>
              </a:solidFill>
              <a:latin typeface="Arial"/>
            </a:endParaRPr>
          </a:p>
        </p:txBody>
      </p:sp>
      <mc:AlternateContent>
        <mc:Choice xmlns:a14="http://schemas.microsoft.com/office/drawing/2010/main" Requires="a14">
          <p:sp>
            <p:nvSpPr>
              <p:cNvPr id="340" name="Object 6"/>
              <p:cNvSpPr txBox="1"/>
              <p:nvPr/>
            </p:nvSpPr>
            <p:spPr>
              <a:xfrm>
                <a:off x="2987640" y="4076640"/>
                <a:ext cx="3165480" cy="1040040"/>
              </a:xfrm>
              <a:prstGeom prst="rect">
                <a:avLst/>
              </a:prstGeom>
            </p:spPr>
            <p:txBody>
              <a:bodyPr/>
              <a:p>
                <a14:m>
                  <m:oMath xmlns:m="http://schemas.openxmlformats.org/officeDocument/2006/math">
                    <m:sSubSup>
                      <m:e>
                        <m:r>
                          <m:t xml:space="preserve">F</m:t>
                        </m:r>
                      </m:e>
                      <m:sub>
                        <m:r>
                          <m:t xml:space="preserve">i</m:t>
                        </m:r>
                      </m:sub>
                      <m:sup>
                        <m:r>
                          <m:rPr>
                            <m:lit/>
                            <m:nor/>
                          </m:rPr>
                          <m:t xml:space="preserve">MD</m:t>
                        </m:r>
                      </m:sup>
                    </m:sSubSup>
                    <m:r>
                      <m:t xml:space="preserve">=</m:t>
                    </m:r>
                    <m:sSubSup>
                      <m:e>
                        <m:acc>
                          <m:accPr>
                            <m:chr m:val="¯"/>
                          </m:accPr>
                          <m:e>
                            <m:r>
                              <m:t xml:space="preserve">F</m:t>
                            </m:r>
                          </m:e>
                        </m:acc>
                      </m:e>
                      <m:sub>
                        <m:r>
                          <m:t xml:space="preserve">i</m:t>
                        </m:r>
                      </m:sub>
                      <m:sup>
                        <m:r>
                          <m:rPr>
                            <m:lit/>
                            <m:nor/>
                          </m:rPr>
                          <m:t xml:space="preserve">SV</m:t>
                        </m:r>
                      </m:sup>
                    </m:sSubSup>
                    <m:r>
                      <m:t xml:space="preserve">=</m:t>
                    </m:r>
                    <m:nary>
                      <m:naryPr>
                        <m:chr m:val="∑"/>
                      </m:naryPr>
                      <m:sub>
                        <m:r>
                          <m:t xml:space="preserve">j</m:t>
                        </m:r>
                      </m:sub>
                      <m:sup>
                        <m:r>
                          <m:t xml:space="preserve">N</m:t>
                        </m:r>
                      </m:sup>
                      <m:e>
                        <m:sSubSup>
                          <m:e>
                            <m:r>
                              <m:t xml:space="preserve">ζ</m:t>
                            </m:r>
                          </m:e>
                          <m:sub>
                            <m:r>
                              <m:t xml:space="preserve">j</m:t>
                            </m:r>
                          </m:sub>
                          <m:sup>
                            <m:r>
                              <m:t xml:space="preserve">2</m:t>
                            </m:r>
                          </m:sup>
                        </m:sSubSup>
                        <m:sSubSup>
                          <m:e>
                            <m:r>
                              <m:t xml:space="preserve">T</m:t>
                            </m:r>
                          </m:e>
                          <m:sub>
                            <m:r>
                              <m:rPr>
                                <m:lit/>
                                <m:nor/>
                              </m:rPr>
                              <m:t xml:space="preserve">jj</m:t>
                            </m:r>
                          </m:sub>
                          <m:sup>
                            <m:r>
                              <m:rPr>
                                <m:lit/>
                                <m:nor/>
                              </m:rPr>
                              <m:t xml:space="preserve">ic</m:t>
                            </m:r>
                          </m:sup>
                        </m:sSubSup>
                      </m:e>
                    </m:nary>
                  </m:oMath>
                </a14:m>
              </a:p>
            </p:txBody>
          </p:sp>
        </mc:Choice>
        <mc:Fallback/>
      </mc:AlternateContent>
      <mc:AlternateContent>
        <mc:Choice xmlns:a14="http://schemas.microsoft.com/office/drawing/2010/main" Requires="a14">
          <p:sp>
            <p:nvSpPr>
              <p:cNvPr id="341" name="Object 8"/>
              <p:cNvSpPr txBox="1"/>
              <p:nvPr/>
            </p:nvSpPr>
            <p:spPr>
              <a:xfrm>
                <a:off x="1908000" y="1916280"/>
                <a:ext cx="1236960" cy="577800"/>
              </a:xfrm>
              <a:prstGeom prst="rect">
                <a:avLst/>
              </a:prstGeom>
            </p:spPr>
            <p:txBody>
              <a:bodyPr/>
              <a:p>
                <a14:m>
                  <m:oMath xmlns:m="http://schemas.openxmlformats.org/officeDocument/2006/math">
                    <m:sSubSup>
                      <m:e>
                        <m:r>
                          <m:t xml:space="preserve">T</m:t>
                        </m:r>
                      </m:e>
                      <m:sub>
                        <m:r>
                          <m:rPr>
                            <m:lit/>
                            <m:nor/>
                          </m:rPr>
                          <m:t xml:space="preserve">jk</m:t>
                        </m:r>
                      </m:sub>
                      <m:sup>
                        <m:r>
                          <m:rPr>
                            <m:lit/>
                            <m:nor/>
                          </m:rPr>
                          <m:t xml:space="preserve">ic</m:t>
                        </m:r>
                      </m:sup>
                    </m:sSubSup>
                    <m:r>
                      <m:t xml:space="preserve">=</m:t>
                    </m:r>
                    <m:sSubSup>
                      <m:e>
                        <m:r>
                          <m:t xml:space="preserve">T</m:t>
                        </m:r>
                      </m:e>
                      <m:sub>
                        <m:r>
                          <m:rPr>
                            <m:lit/>
                            <m:nor/>
                          </m:rPr>
                          <m:t xml:space="preserve">kj</m:t>
                        </m:r>
                      </m:sub>
                      <m:sup>
                        <m:r>
                          <m:rPr>
                            <m:lit/>
                            <m:nor/>
                          </m:rPr>
                          <m:t xml:space="preserve">ic</m:t>
                        </m:r>
                      </m:sup>
                    </m:sSubSup>
                  </m:oMath>
                </a14:m>
              </a:p>
            </p:txBody>
          </p:sp>
        </mc:Choice>
        <mc:Fallback/>
      </mc:AlternateContent>
      <mc:AlternateContent>
        <mc:Choice xmlns:a14="http://schemas.microsoft.com/office/drawing/2010/main" Requires="a14">
          <p:sp>
            <p:nvSpPr>
              <p:cNvPr id="342" name="Object 9"/>
              <p:cNvSpPr txBox="1"/>
              <p:nvPr/>
            </p:nvSpPr>
            <p:spPr>
              <a:xfrm>
                <a:off x="4643280" y="1916280"/>
                <a:ext cx="1438560" cy="577800"/>
              </a:xfrm>
              <a:prstGeom prst="rect">
                <a:avLst/>
              </a:prstGeom>
            </p:spPr>
            <p:txBody>
              <a:bodyPr/>
              <a:p>
                <a14:m>
                  <m:oMath xmlns:m="http://schemas.openxmlformats.org/officeDocument/2006/math">
                    <m:sSubSup>
                      <m:e>
                        <m:r>
                          <m:t xml:space="preserve">T</m:t>
                        </m:r>
                      </m:e>
                      <m:sub>
                        <m:r>
                          <m:rPr>
                            <m:lit/>
                            <m:nor/>
                          </m:rPr>
                          <m:t xml:space="preserve">jk</m:t>
                        </m:r>
                      </m:sub>
                      <m:sup>
                        <m:r>
                          <m:rPr>
                            <m:lit/>
                            <m:nor/>
                          </m:rPr>
                          <m:t xml:space="preserve">is</m:t>
                        </m:r>
                      </m:sup>
                    </m:sSubSup>
                    <m:r>
                      <m:t xml:space="preserve">=</m:t>
                    </m:r>
                    <m:r>
                      <m:t xml:space="preserve">−</m:t>
                    </m:r>
                    <m:sSubSup>
                      <m:e>
                        <m:r>
                          <m:t xml:space="preserve">T</m:t>
                        </m:r>
                      </m:e>
                      <m:sub>
                        <m:r>
                          <m:rPr>
                            <m:lit/>
                            <m:nor/>
                          </m:rPr>
                          <m:t xml:space="preserve">kj</m:t>
                        </m:r>
                      </m:sub>
                      <m:sup>
                        <m:r>
                          <m:rPr>
                            <m:lit/>
                            <m:nor/>
                          </m:rPr>
                          <m:t xml:space="preserve">is</m:t>
                        </m:r>
                      </m:sup>
                    </m:sSubSup>
                  </m:oMath>
                </a14:m>
              </a:p>
            </p:txBody>
          </p:sp>
        </mc:Choice>
        <mc:Fallback/>
      </mc:AlternateContent>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ED6A06E-BE40-4B6F-BB08-E0D957732DB8}"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44"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45"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5BD0705-5789-4E44-A6D3-47260A67245D}"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46"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Hydrodynamic Codes</a:t>
            </a:r>
            <a:endParaRPr b="0" lang="en-US" sz="4200" spc="-1" strike="noStrike">
              <a:solidFill>
                <a:srgbClr val="006633"/>
              </a:solidFill>
              <a:latin typeface="Tahoma"/>
            </a:endParaRPr>
          </a:p>
        </p:txBody>
      </p:sp>
      <p:sp>
        <p:nvSpPr>
          <p:cNvPr id="347" name="PlaceHolder 2"/>
          <p:cNvSpPr>
            <a:spLocks noGrp="1"/>
          </p:cNvSpPr>
          <p:nvPr>
            <p:ph/>
          </p:nvPr>
        </p:nvSpPr>
        <p:spPr>
          <a:xfrm>
            <a:off x="468360" y="1197000"/>
            <a:ext cx="8229600" cy="792000"/>
          </a:xfrm>
          <a:prstGeom prst="rect">
            <a:avLst/>
          </a:prstGeom>
          <a:noFill/>
          <a:ln w="0">
            <a:noFill/>
          </a:ln>
        </p:spPr>
        <p:txBody>
          <a:bodyPr lIns="91440" rIns="91440" tIns="45720" bIns="45720" anchor="t">
            <a:normAutofit/>
          </a:bodyPr>
          <a:p>
            <a:pPr marL="343080" indent="-343080">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The working principle of all codes:</a:t>
            </a:r>
            <a:endParaRPr b="0" lang="en-US" sz="3000" spc="-1" strike="noStrike">
              <a:solidFill>
                <a:srgbClr val="000000"/>
              </a:solidFill>
              <a:latin typeface="Arial"/>
            </a:endParaRPr>
          </a:p>
        </p:txBody>
      </p:sp>
      <p:sp>
        <p:nvSpPr>
          <p:cNvPr id="348" name="Rectangle 4"/>
          <p:cNvSpPr/>
          <p:nvPr/>
        </p:nvSpPr>
        <p:spPr>
          <a:xfrm>
            <a:off x="3203640" y="2133720"/>
            <a:ext cx="2448000" cy="1439640"/>
          </a:xfrm>
          <a:prstGeom prst="rect">
            <a:avLst/>
          </a:prstGeom>
          <a:solidFill>
            <a:srgbClr val="cc9900"/>
          </a:solidFill>
          <a:ln w="9360">
            <a:solidFill>
              <a:srgbClr val="000000"/>
            </a:solidFill>
            <a:miter/>
          </a:ln>
        </p:spPr>
        <p:style>
          <a:lnRef idx="0"/>
          <a:fillRef idx="0"/>
          <a:effectRef idx="0"/>
          <a:fontRef idx="minor"/>
        </p:style>
        <p:txBody>
          <a:bodyPr wrap="none"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Code </a:t>
            </a:r>
            <a:endParaRPr b="0" lang="en-US" sz="1800" spc="-1" strike="noStrike">
              <a:solidFill>
                <a:srgbClr val="000000"/>
              </a:solidFill>
              <a:latin typeface="Arial"/>
            </a:endParaRPr>
          </a:p>
        </p:txBody>
      </p:sp>
      <p:sp>
        <p:nvSpPr>
          <p:cNvPr id="349" name="Line 5"/>
          <p:cNvSpPr/>
          <p:nvPr/>
        </p:nvSpPr>
        <p:spPr>
          <a:xfrm>
            <a:off x="2052720" y="2854440"/>
            <a:ext cx="1150920" cy="0"/>
          </a:xfrm>
          <a:prstGeom prst="line">
            <a:avLst/>
          </a:prstGeom>
          <a:ln w="38160">
            <a:solidFill>
              <a:srgbClr val="000000"/>
            </a:solidFill>
            <a:miter/>
            <a:tailEnd len="med" type="arrow"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350" name="Text Box 6"/>
          <p:cNvSpPr/>
          <p:nvPr/>
        </p:nvSpPr>
        <p:spPr>
          <a:xfrm>
            <a:off x="177840" y="2421000"/>
            <a:ext cx="2017800" cy="785520"/>
          </a:xfrm>
          <a:prstGeom prst="rect">
            <a:avLst/>
          </a:prstGeom>
          <a:noFill/>
          <a:ln w="0">
            <a:noFill/>
          </a:ln>
        </p:spPr>
        <p:style>
          <a:lnRef idx="0"/>
          <a:fillRef idx="0"/>
          <a:effectRef idx="0"/>
          <a:fontRef idx="minor"/>
        </p:style>
        <p:txBody>
          <a:bodyPr lIns="90000" rIns="90000" tIns="46800" bIns="46800" anchor="t">
            <a:spAutoFit/>
          </a:bodyPr>
          <a:p>
            <a:pPr algn="ct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Input data and </a:t>
            </a:r>
            <a:endParaRPr b="0" lang="en-US" sz="1800" spc="-1" strike="noStrike">
              <a:solidFill>
                <a:srgbClr val="000000"/>
              </a:solidFill>
              <a:latin typeface="Arial"/>
            </a:endParaRPr>
          </a:p>
          <a:p>
            <a:pPr algn="ct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Pre-processing</a:t>
            </a:r>
            <a:endParaRPr b="0" lang="en-US" sz="1800" spc="-1" strike="noStrike">
              <a:solidFill>
                <a:srgbClr val="000000"/>
              </a:solidFill>
              <a:latin typeface="Arial"/>
            </a:endParaRPr>
          </a:p>
        </p:txBody>
      </p:sp>
      <p:sp>
        <p:nvSpPr>
          <p:cNvPr id="351" name="Line 7"/>
          <p:cNvSpPr/>
          <p:nvPr/>
        </p:nvSpPr>
        <p:spPr>
          <a:xfrm>
            <a:off x="5651640" y="2854440"/>
            <a:ext cx="1150920" cy="0"/>
          </a:xfrm>
          <a:prstGeom prst="line">
            <a:avLst/>
          </a:prstGeom>
          <a:ln w="38160">
            <a:solidFill>
              <a:srgbClr val="000000"/>
            </a:solidFill>
            <a:miter/>
            <a:tailEnd len="med" type="arrow" w="med"/>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352" name="Text Box 8"/>
          <p:cNvSpPr/>
          <p:nvPr/>
        </p:nvSpPr>
        <p:spPr>
          <a:xfrm>
            <a:off x="324000" y="3645000"/>
            <a:ext cx="3240000" cy="1620000"/>
          </a:xfrm>
          <a:prstGeom prst="rect">
            <a:avLst/>
          </a:prstGeom>
          <a:noFill/>
          <a:ln w="0">
            <a:noFill/>
          </a:ln>
        </p:spPr>
        <p:style>
          <a:lnRef idx="0"/>
          <a:fillRef idx="0"/>
          <a:effectRef idx="0"/>
          <a:fontRef idx="minor"/>
        </p:style>
        <p:txBody>
          <a:bodyPr lIns="90000" rIns="90000" tIns="46800" bIns="46800" anchor="t">
            <a:spAutoFit/>
          </a:bodyPr>
          <a:p>
            <a:pPr>
              <a:spcBef>
                <a:spcPts val="1125"/>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 </a:t>
            </a:r>
            <a:r>
              <a:rPr b="0" lang="en-AU" sz="1800" spc="-1" strike="noStrike">
                <a:solidFill>
                  <a:srgbClr val="000000"/>
                </a:solidFill>
                <a:latin typeface="Arial"/>
              </a:rPr>
              <a:t>Hull geometry</a:t>
            </a:r>
            <a:endParaRPr b="0" lang="en-US" sz="1800" spc="-1" strike="noStrike">
              <a:solidFill>
                <a:srgbClr val="000000"/>
              </a:solidFill>
              <a:latin typeface="Arial"/>
            </a:endParaRPr>
          </a:p>
          <a:p>
            <a:pPr>
              <a:spcBef>
                <a:spcPts val="1125"/>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 </a:t>
            </a:r>
            <a:r>
              <a:rPr b="0" lang="en-AU" sz="1800" spc="-1" strike="noStrike">
                <a:solidFill>
                  <a:srgbClr val="000000"/>
                </a:solidFill>
                <a:latin typeface="Arial"/>
              </a:rPr>
              <a:t>Loading condition</a:t>
            </a:r>
            <a:endParaRPr b="0" lang="en-US" sz="1800" spc="-1" strike="noStrike">
              <a:solidFill>
                <a:srgbClr val="000000"/>
              </a:solidFill>
              <a:latin typeface="Arial"/>
            </a:endParaRPr>
          </a:p>
          <a:p>
            <a:pPr>
              <a:spcBef>
                <a:spcPts val="1125"/>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 </a:t>
            </a:r>
            <a:r>
              <a:rPr b="0" lang="en-AU" sz="1800" spc="-1" strike="noStrike">
                <a:solidFill>
                  <a:srgbClr val="000000"/>
                </a:solidFill>
                <a:latin typeface="Arial"/>
              </a:rPr>
              <a:t>Environment (frequencies)</a:t>
            </a:r>
            <a:endParaRPr b="0" lang="en-US" sz="1800" spc="-1" strike="noStrike">
              <a:solidFill>
                <a:srgbClr val="000000"/>
              </a:solidFill>
              <a:latin typeface="Arial"/>
            </a:endParaRPr>
          </a:p>
          <a:p>
            <a:pPr>
              <a:spcBef>
                <a:spcPts val="1125"/>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 </a:t>
            </a:r>
            <a:r>
              <a:rPr b="0" lang="en-AU" sz="1800" spc="-1" strike="noStrike">
                <a:solidFill>
                  <a:srgbClr val="000000"/>
                </a:solidFill>
                <a:latin typeface="Arial"/>
              </a:rPr>
              <a:t>Calculation settings</a:t>
            </a:r>
            <a:endParaRPr b="0" lang="en-US" sz="1800" spc="-1" strike="noStrike">
              <a:solidFill>
                <a:srgbClr val="000000"/>
              </a:solidFill>
              <a:latin typeface="Arial"/>
            </a:endParaRPr>
          </a:p>
        </p:txBody>
      </p:sp>
      <p:sp>
        <p:nvSpPr>
          <p:cNvPr id="353" name="Text Box 9"/>
          <p:cNvSpPr/>
          <p:nvPr/>
        </p:nvSpPr>
        <p:spPr>
          <a:xfrm>
            <a:off x="6372360" y="3357720"/>
            <a:ext cx="2519280" cy="2037240"/>
          </a:xfrm>
          <a:prstGeom prst="rect">
            <a:avLst/>
          </a:prstGeom>
          <a:noFill/>
          <a:ln w="0">
            <a:noFill/>
          </a:ln>
        </p:spPr>
        <p:style>
          <a:lnRef idx="0"/>
          <a:fillRef idx="0"/>
          <a:effectRef idx="0"/>
          <a:fontRef idx="minor"/>
        </p:style>
        <p:txBody>
          <a:bodyPr lIns="90000" rIns="90000" tIns="46800" bIns="46800" anchor="t">
            <a:spAutoFit/>
          </a:bodyPr>
          <a:p>
            <a:pPr>
              <a:spcBef>
                <a:spcPts val="1125"/>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 </a:t>
            </a:r>
            <a:r>
              <a:rPr b="0" lang="en-AU" sz="1800" spc="-1" strike="noStrike">
                <a:solidFill>
                  <a:srgbClr val="000000"/>
                </a:solidFill>
                <a:latin typeface="Arial"/>
              </a:rPr>
              <a:t>A(w), [A(</a:t>
            </a:r>
            <a:r>
              <a:rPr b="0" lang="en-AU" sz="1800" spc="-1" strike="noStrike">
                <a:solidFill>
                  <a:srgbClr val="000000"/>
                </a:solidFill>
                <a:latin typeface="Arial"/>
                <a:ea typeface="Arial"/>
              </a:rPr>
              <a:t>∞</a:t>
            </a:r>
            <a:r>
              <a:rPr b="0" lang="en-AU" sz="1800" spc="-1" strike="noStrike">
                <a:solidFill>
                  <a:srgbClr val="000000"/>
                </a:solidFill>
                <a:latin typeface="Arial"/>
              </a:rPr>
              <a:t>)]  </a:t>
            </a:r>
            <a:endParaRPr b="0" lang="en-US" sz="1800" spc="-1" strike="noStrike">
              <a:solidFill>
                <a:srgbClr val="000000"/>
              </a:solidFill>
              <a:latin typeface="Arial"/>
            </a:endParaRPr>
          </a:p>
          <a:p>
            <a:pPr>
              <a:spcBef>
                <a:spcPts val="1125"/>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 </a:t>
            </a:r>
            <a:r>
              <a:rPr b="0" lang="en-AU" sz="1800" spc="-1" strike="noStrike">
                <a:solidFill>
                  <a:srgbClr val="000000"/>
                </a:solidFill>
                <a:latin typeface="Arial"/>
              </a:rPr>
              <a:t>B(w), [B(∞)] </a:t>
            </a:r>
            <a:endParaRPr b="0" lang="en-US" sz="1800" spc="-1" strike="noStrike">
              <a:solidFill>
                <a:srgbClr val="000000"/>
              </a:solidFill>
              <a:latin typeface="Arial"/>
            </a:endParaRPr>
          </a:p>
          <a:p>
            <a:pPr>
              <a:spcBef>
                <a:spcPts val="1125"/>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 </a:t>
            </a:r>
            <a:r>
              <a:rPr b="0" lang="en-AU" sz="1800" spc="-1" strike="noStrike">
                <a:solidFill>
                  <a:srgbClr val="000000"/>
                </a:solidFill>
                <a:latin typeface="Arial"/>
              </a:rPr>
              <a:t>1</a:t>
            </a:r>
            <a:r>
              <a:rPr b="0" lang="en-AU" sz="1800" spc="-1" strike="noStrike" baseline="30000">
                <a:solidFill>
                  <a:srgbClr val="000000"/>
                </a:solidFill>
                <a:latin typeface="Arial"/>
              </a:rPr>
              <a:t>st</a:t>
            </a:r>
            <a:r>
              <a:rPr b="0" lang="en-AU" sz="1800" spc="-1" strike="noStrike">
                <a:solidFill>
                  <a:srgbClr val="000000"/>
                </a:solidFill>
                <a:latin typeface="Arial"/>
              </a:rPr>
              <a:t> order force FRF</a:t>
            </a:r>
            <a:endParaRPr b="0" lang="en-US" sz="1800" spc="-1" strike="noStrike">
              <a:solidFill>
                <a:srgbClr val="000000"/>
              </a:solidFill>
              <a:latin typeface="Arial"/>
            </a:endParaRPr>
          </a:p>
          <a:p>
            <a:pPr>
              <a:spcBef>
                <a:spcPts val="1125"/>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 </a:t>
            </a:r>
            <a:r>
              <a:rPr b="0" lang="en-AU" sz="1800" spc="-1" strike="noStrike">
                <a:solidFill>
                  <a:srgbClr val="000000"/>
                </a:solidFill>
                <a:latin typeface="Arial"/>
              </a:rPr>
              <a:t>2</a:t>
            </a:r>
            <a:r>
              <a:rPr b="0" lang="en-AU" sz="1800" spc="-1" strike="noStrike" baseline="30000">
                <a:solidFill>
                  <a:srgbClr val="000000"/>
                </a:solidFill>
                <a:latin typeface="Arial"/>
              </a:rPr>
              <a:t>nd</a:t>
            </a:r>
            <a:r>
              <a:rPr b="0" lang="en-AU" sz="1800" spc="-1" strike="noStrike">
                <a:solidFill>
                  <a:srgbClr val="000000"/>
                </a:solidFill>
                <a:latin typeface="Arial"/>
              </a:rPr>
              <a:t> order force FRF</a:t>
            </a:r>
            <a:endParaRPr b="0" lang="en-US" sz="1800" spc="-1" strike="noStrike">
              <a:solidFill>
                <a:srgbClr val="000000"/>
              </a:solidFill>
              <a:latin typeface="Arial"/>
            </a:endParaRPr>
          </a:p>
          <a:p>
            <a:pPr>
              <a:spcBef>
                <a:spcPts val="1125"/>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 </a:t>
            </a:r>
            <a:r>
              <a:rPr b="0" lang="en-AU" sz="1800" spc="-1" strike="noStrike">
                <a:solidFill>
                  <a:srgbClr val="000000"/>
                </a:solidFill>
                <a:latin typeface="Arial"/>
              </a:rPr>
              <a:t>Motion FRF</a:t>
            </a:r>
            <a:endParaRPr b="0" lang="en-US" sz="1800" spc="-1" strike="noStrike">
              <a:solidFill>
                <a:srgbClr val="000000"/>
              </a:solidFill>
              <a:latin typeface="Arial"/>
            </a:endParaRPr>
          </a:p>
        </p:txBody>
      </p:sp>
      <p:sp>
        <p:nvSpPr>
          <p:cNvPr id="354" name="Text Box 10"/>
          <p:cNvSpPr/>
          <p:nvPr/>
        </p:nvSpPr>
        <p:spPr>
          <a:xfrm>
            <a:off x="6948360" y="2349360"/>
            <a:ext cx="2087640" cy="785520"/>
          </a:xfrm>
          <a:prstGeom prst="rect">
            <a:avLst/>
          </a:prstGeom>
          <a:noFill/>
          <a:ln w="0">
            <a:noFill/>
          </a:ln>
        </p:spPr>
        <p:style>
          <a:lnRef idx="0"/>
          <a:fillRef idx="0"/>
          <a:effectRef idx="0"/>
          <a:fontRef idx="minor"/>
        </p:style>
        <p:txBody>
          <a:bodyPr lIns="90000" rIns="90000" tIns="46800" bIns="46800" anchor="t">
            <a:spAutoFit/>
          </a:bodyPr>
          <a:p>
            <a:pPr algn="ct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Output data and </a:t>
            </a:r>
            <a:endParaRPr b="0" lang="en-US" sz="1800" spc="-1" strike="noStrike">
              <a:solidFill>
                <a:srgbClr val="000000"/>
              </a:solidFill>
              <a:latin typeface="Arial"/>
            </a:endParaRPr>
          </a:p>
          <a:p>
            <a:pPr algn="ct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Post-processing</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2B04331-EA91-4C24-917F-4F10B6E68BE0}"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56"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57"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203121C-FE55-4064-9B14-53D1DD68BC72}"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58"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References</a:t>
            </a:r>
            <a:endParaRPr b="0" lang="en-US" sz="4200" spc="-1" strike="noStrike">
              <a:solidFill>
                <a:srgbClr val="006633"/>
              </a:solidFill>
              <a:latin typeface="Tahoma"/>
            </a:endParaRPr>
          </a:p>
        </p:txBody>
      </p:sp>
      <p:sp>
        <p:nvSpPr>
          <p:cNvPr id="359" name="PlaceHolder 2"/>
          <p:cNvSpPr>
            <a:spLocks noGrp="1"/>
          </p:cNvSpPr>
          <p:nvPr>
            <p:ph/>
          </p:nvPr>
        </p:nvSpPr>
        <p:spPr>
          <a:xfrm>
            <a:off x="468360" y="1268280"/>
            <a:ext cx="8229600" cy="4530960"/>
          </a:xfrm>
          <a:prstGeom prst="rect">
            <a:avLst/>
          </a:prstGeom>
          <a:noFill/>
          <a:ln w="0">
            <a:noFill/>
          </a:ln>
        </p:spPr>
        <p:txBody>
          <a:bodyPr lIns="91440" rIns="91440" tIns="45720" bIns="45720" anchor="t">
            <a:normAutofit/>
          </a:bodyPr>
          <a:p>
            <a:pPr marL="343080" indent="-343080">
              <a:lnSpc>
                <a:spcPct val="80000"/>
              </a:lnSpc>
              <a:spcBef>
                <a:spcPts val="6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500" spc="-1" strike="noStrike">
                <a:solidFill>
                  <a:srgbClr val="000000"/>
                </a:solidFill>
                <a:latin typeface="Arial"/>
              </a:rPr>
              <a:t>Faltinsen, O.M. (1990) </a:t>
            </a:r>
            <a:r>
              <a:rPr b="1" lang="en-AU" sz="2500" spc="-1" strike="noStrike">
                <a:solidFill>
                  <a:srgbClr val="000000"/>
                </a:solidFill>
                <a:latin typeface="Arial"/>
              </a:rPr>
              <a:t>Sea Loads on Ships and Ocean Structures</a:t>
            </a:r>
            <a:r>
              <a:rPr b="0" lang="en-AU" sz="2500" spc="-1" strike="noStrike">
                <a:solidFill>
                  <a:srgbClr val="000000"/>
                </a:solidFill>
                <a:latin typeface="Arial"/>
              </a:rPr>
              <a:t>. Cambridge University Press.</a:t>
            </a:r>
            <a:endParaRPr b="0" lang="en-US" sz="2500" spc="-1" strike="noStrike">
              <a:solidFill>
                <a:srgbClr val="000000"/>
              </a:solidFill>
              <a:latin typeface="Arial"/>
            </a:endParaRPr>
          </a:p>
          <a:p>
            <a:pPr marL="343080" indent="0">
              <a:lnSpc>
                <a:spcPct val="80000"/>
              </a:lnSpc>
              <a:spcBef>
                <a:spcPts val="624"/>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500" spc="-1" strike="noStrike">
              <a:solidFill>
                <a:srgbClr val="000000"/>
              </a:solidFill>
              <a:latin typeface="Arial"/>
            </a:endParaRPr>
          </a:p>
          <a:p>
            <a:pPr marL="343080" indent="-343080">
              <a:lnSpc>
                <a:spcPct val="80000"/>
              </a:lnSpc>
              <a:spcBef>
                <a:spcPts val="6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500" spc="-1" strike="noStrike">
                <a:solidFill>
                  <a:srgbClr val="000000"/>
                </a:solidFill>
                <a:latin typeface="Arial"/>
              </a:rPr>
              <a:t>Journée, J.M.J. and W.W. Massie (2001) </a:t>
            </a:r>
            <a:r>
              <a:rPr b="1" lang="en-AU" sz="2500" spc="-1" strike="noStrike">
                <a:solidFill>
                  <a:srgbClr val="000000"/>
                </a:solidFill>
                <a:latin typeface="Arial"/>
              </a:rPr>
              <a:t>Offshore Hydromechanics. </a:t>
            </a:r>
            <a:r>
              <a:rPr b="0" lang="en-AU" sz="2500" spc="-1" strike="noStrike">
                <a:solidFill>
                  <a:srgbClr val="000000"/>
                </a:solidFill>
                <a:latin typeface="Arial"/>
              </a:rPr>
              <a:t>Lecture notes on offshore hydromechanics for Offshore Technology students, code OT4620. (</a:t>
            </a:r>
            <a:r>
              <a:rPr b="0" lang="en-AU" sz="2500" spc="-1" strike="noStrike" u="sng">
                <a:solidFill>
                  <a:srgbClr val="996600"/>
                </a:solidFill>
                <a:uFillTx/>
                <a:latin typeface="Arial"/>
                <a:hlinkClick r:id="rId1"/>
              </a:rPr>
              <a:t>http://www.ocp.tudelft.nl/mt/journee/</a:t>
            </a:r>
            <a:r>
              <a:rPr b="0" lang="en-AU" sz="2500" spc="-1" strike="noStrike">
                <a:solidFill>
                  <a:srgbClr val="000000"/>
                </a:solidFill>
                <a:latin typeface="Arial"/>
              </a:rPr>
              <a:t>)</a:t>
            </a:r>
            <a:endParaRPr b="0" lang="en-US" sz="2500" spc="-1" strike="noStrike">
              <a:solidFill>
                <a:srgbClr val="000000"/>
              </a:solidFill>
              <a:latin typeface="Arial"/>
            </a:endParaRPr>
          </a:p>
          <a:p>
            <a:pPr marL="343080" indent="-343080">
              <a:lnSpc>
                <a:spcPct val="80000"/>
              </a:lnSpc>
              <a:spcBef>
                <a:spcPts val="6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500" spc="-1" strike="noStrike">
              <a:solidFill>
                <a:srgbClr val="000000"/>
              </a:solidFill>
              <a:latin typeface="Arial"/>
            </a:endParaRPr>
          </a:p>
          <a:p>
            <a:pPr marL="343080" indent="-343080">
              <a:lnSpc>
                <a:spcPct val="80000"/>
              </a:lnSpc>
              <a:spcBef>
                <a:spcPts val="6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500" spc="-1" strike="noStrike">
                <a:solidFill>
                  <a:srgbClr val="000000"/>
                </a:solidFill>
                <a:latin typeface="Arial"/>
              </a:rPr>
              <a:t>Perez, T. and T. I. Fossen (2006) “Time-domain Models of Marine Surface Vessels  Based on Seakeeping Computations.” 7th IFAC Conference on Manoeuvring and Control of Marine Vessels MCMC, Portugal, September. </a:t>
            </a:r>
            <a:endParaRPr b="0" lang="en-US" sz="2500" spc="-1" strike="noStrike">
              <a:solidFill>
                <a:srgbClr val="000000"/>
              </a:solidFill>
              <a:latin typeface="Arial"/>
            </a:endParaRPr>
          </a:p>
          <a:p>
            <a:pPr marL="343080" indent="0">
              <a:lnSpc>
                <a:spcPct val="80000"/>
              </a:lnSpc>
              <a:spcBef>
                <a:spcPts val="624"/>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500" spc="-1" strike="noStrike">
              <a:solidFill>
                <a:srgbClr val="000000"/>
              </a:solidFill>
              <a:latin typeface="Arial"/>
            </a:endParaRPr>
          </a:p>
          <a:p>
            <a:pPr marL="343080" indent="0">
              <a:lnSpc>
                <a:spcPct val="80000"/>
              </a:lnSpc>
              <a:spcBef>
                <a:spcPts val="624"/>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2783</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2007-05-14T14:42:38Z</dcterms:created>
  <dc:creator> </dc:creator>
  <dc:description/>
  <dc:language>en-US</dc:language>
  <cp:lastModifiedBy>Thor I. Fossen</cp:lastModifiedBy>
  <dcterms:modified xsi:type="dcterms:W3CDTF">2007-08-08T18:06:45Z</dcterms:modified>
  <cp:revision>38</cp:revision>
  <dc:subject/>
  <dc:title>CXVXCv</dc:title>
</cp:coreProperties>
</file>