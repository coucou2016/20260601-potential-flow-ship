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_rels/presentation.xml.rels" ContentType="application/vnd.openxmlformats-package.relationships+xml"/>
  <Override PartName="/ppt/media/image59.wmf" ContentType="image/x-wmf"/>
  <Override PartName="/ppt/media/image56.wmf" ContentType="image/x-wmf"/>
  <Override PartName="/ppt/media/image54.wmf" ContentType="image/x-wmf"/>
  <Override PartName="/ppt/media/image53.wmf" ContentType="image/x-wmf"/>
  <Override PartName="/ppt/media/image52.wmf" ContentType="image/x-wmf"/>
  <Override PartName="/ppt/media/image50.png" ContentType="image/png"/>
  <Override PartName="/ppt/media/image46.png" ContentType="image/png"/>
  <Override PartName="/ppt/media/image7.png" ContentType="image/png"/>
  <Override PartName="/ppt/media/image39.png" ContentType="image/png"/>
  <Override PartName="/ppt/media/image42.wmf" ContentType="image/x-wmf"/>
  <Override PartName="/ppt/media/image6.wmf" ContentType="image/x-wmf"/>
  <Override PartName="/ppt/media/image37.wmf" ContentType="image/x-wmf"/>
  <Override PartName="/ppt/media/image4.png" ContentType="image/png"/>
  <Override PartName="/ppt/media/image36.png" ContentType="image/png"/>
  <Override PartName="/ppt/media/image3.png" ContentType="image/png"/>
  <Override PartName="/ppt/media/image1.png" ContentType="image/png"/>
  <Override PartName="/ppt/media/image28.wmf" ContentType="image/x-wmf"/>
  <Override PartName="/ppt/media/image55.wmf" ContentType="image/x-wmf"/>
  <Override PartName="/ppt/media/image15.png" ContentType="image/png"/>
  <Override PartName="/ppt/media/image16.wmf" ContentType="image/x-wmf"/>
  <Override PartName="/ppt/media/image17.wmf" ContentType="image/x-wmf"/>
  <Override PartName="/ppt/media/image65.png" ContentType="image/png"/>
  <Override PartName="/ppt/media/image26.wmf" ContentType="image/x-wmf"/>
  <Override PartName="/ppt/media/image62.png" ContentType="image/png"/>
  <Override PartName="/ppt/media/image61.png" ContentType="image/png"/>
  <Override PartName="/ppt/media/image25.wmf" ContentType="image/x-wmf"/>
  <Override PartName="/ppt/media/image60.png" ContentType="image/png"/>
  <Override PartName="/ppt/media/image64.png" ContentType="image/png"/>
  <Override PartName="/ppt/media/image21.wmf" ContentType="image/x-wmf"/>
  <Override PartName="/ppt/media/image58.wmf" ContentType="image/x-wmf"/>
  <Override PartName="/ppt/media/image24.wmf" ContentType="image/x-wmf"/>
  <Override PartName="/ppt/media/image5.wmf" ContentType="image/x-wmf"/>
  <Override PartName="/ppt/media/image14.wmf" ContentType="image/x-wmf"/>
  <Override PartName="/ppt/media/image23.wmf" ContentType="image/x-wmf"/>
  <Override PartName="/ppt/media/image66.png" ContentType="image/png"/>
  <Override PartName="/ppt/media/image22.png" ContentType="image/png"/>
  <Override PartName="/ppt/media/image19.wmf" ContentType="image/x-wmf"/>
  <Override PartName="/ppt/media/image10.wmf" ContentType="image/x-wmf"/>
  <Override PartName="/ppt/media/image47.wmf" ContentType="image/x-wmf"/>
  <Override PartName="/ppt/media/image29.wmf" ContentType="image/x-wmf"/>
  <Override PartName="/ppt/media/image34.png" ContentType="image/png"/>
  <Override PartName="/ppt/media/image2.png" ContentType="image/png"/>
  <Override PartName="/ppt/media/image11.png" ContentType="image/png"/>
  <Override PartName="/ppt/media/image48.png" ContentType="image/png"/>
  <Override PartName="/ppt/media/image51.wmf" ContentType="image/x-wmf"/>
  <Override PartName="/ppt/media/image8.png" ContentType="image/png"/>
  <Override PartName="/ppt/media/image63.png" ContentType="image/png"/>
  <Override PartName="/ppt/media/image20.wmf" ContentType="image/x-wmf"/>
  <Override PartName="/ppt/media/image57.wmf" ContentType="image/x-wmf"/>
  <Override PartName="/ppt/media/image18.wmf" ContentType="image/x-wmf"/>
  <Override PartName="/ppt/media/image9.wmf" ContentType="image/x-wmf"/>
  <Override PartName="/ppt/media/image43.png" ContentType="image/png"/>
  <Override PartName="/ppt/media/image13.wmf" ContentType="image/x-wmf"/>
  <Override PartName="/ppt/media/image27.png" ContentType="image/png"/>
  <Override PartName="/ppt/media/image30.wmf" ContentType="image/x-wmf"/>
  <Override PartName="/ppt/media/image12.wmf" ContentType="image/x-wmf"/>
  <Override PartName="/ppt/media/image49.wmf" ContentType="image/x-wmf"/>
  <Override PartName="/ppt/media/image31.wmf" ContentType="image/x-wmf"/>
  <Override PartName="/ppt/media/image32.wmf" ContentType="image/x-wmf"/>
  <Override PartName="/ppt/media/image33.wmf" ContentType="image/x-wmf"/>
  <Override PartName="/ppt/media/image35.wmf" ContentType="image/x-wmf"/>
  <Override PartName="/ppt/media/image38.png" ContentType="image/png"/>
  <Override PartName="/ppt/media/image40.wmf" ContentType="image/x-wmf"/>
  <Override PartName="/ppt/media/image41.png" ContentType="image/png"/>
  <Override PartName="/ppt/media/image44.wmf" ContentType="image/x-wmf"/>
  <Override PartName="/ppt/media/image45.wmf" ContentType="image/x-wmf"/>
  <Override PartName="/ppt/embeddings/oleObject1.bin" ContentType="application/vnd.openxmlformats-officedocument.oleObject"/>
  <Override PartName="/ppt/notesMasters/_rels/notesMaster1.xml.rels" ContentType="application/vnd.openxmlformats-package.relationships+xml"/>
  <Override PartName="/ppt/notesMasters/notesMaster1.xml" ContentType="application/vnd.openxmlformats-officedocument.presentationml.notesMaster+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_rels/slide1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1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35.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32.xml.rels" ContentType="application/vnd.openxmlformats-package.relationships+xml"/>
  <Override PartName="/ppt/slides/_rels/slide31.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28.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36.xml.rels" ContentType="application/vnd.openxmlformats-package.relationships+xml"/>
  <Override PartName="/ppt/slides/_rels/slide1.xml.rels" ContentType="application/vnd.openxmlformats-package.relationships+xml"/>
  <Override PartName="/ppt/slides/_rels/slide13.xml.rels" ContentType="application/vnd.openxmlformats-package.relationships+xml"/>
  <Override PartName="/ppt/slides/_rels/slide37.xml.rels" ContentType="application/vnd.openxmlformats-package.relationships+xml"/>
  <Override PartName="/ppt/slides/_rels/slide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22.xml" ContentType="application/vnd.openxmlformats-officedocument.presentationml.slide+xml"/>
  <Override PartName="/ppt/slides/slide34.xml" ContentType="application/vnd.openxmlformats-officedocument.presentationml.slide+xml"/>
  <Override PartName="/ppt/slides/slide23.xml" ContentType="application/vnd.openxmlformats-officedocument.presentationml.slide+xml"/>
  <Override PartName="/ppt/slides/slide35.xml" ContentType="application/vnd.openxmlformats-officedocument.presentationml.slide+xml"/>
  <Override PartName="/ppt/slides/slide24.xml" ContentType="application/vnd.openxmlformats-officedocument.presentationml.slide+xml"/>
  <Override PartName="/ppt/slides/slide36.xml" ContentType="application/vnd.openxmlformats-officedocument.presentationml.slide+xml"/>
  <Override PartName="/ppt/slides/slide25.xml" ContentType="application/vnd.openxmlformats-officedocument.presentationml.slide+xml"/>
  <Override PartName="/ppt/slides/slide37.xml" ContentType="application/vnd.openxmlformats-officedocument.presentationml.slide+xml"/>
  <Override PartName="/ppt/slides/slide13.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1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notesSlides/_rels/notesSlide22.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5.xml.rels" ContentType="application/vnd.openxmlformats-package.relationships+xml"/>
  <Override PartName="/ppt/notesSlides/_rels/notesSlide14.xml.rels" ContentType="application/vnd.openxmlformats-package.relationships+xml"/>
  <Override PartName="/ppt/notesSlides/_rels/notesSlide20.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29.xml.rels" ContentType="application/vnd.openxmlformats-package.relationships+xml"/>
  <Override PartName="/ppt/notesSlides/_rels/notesSlide35.xml.rels" ContentType="application/vnd.openxmlformats-package.relationships+xml"/>
  <Override PartName="/ppt/notesSlides/_rels/notesSlide23.xml.rels" ContentType="application/vnd.openxmlformats-package.relationships+xml"/>
  <Override PartName="/ppt/notesSlides/_rels/notesSlide36.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37.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7.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25.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6.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0.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10.xml" ContentType="application/vnd.openxmlformats-officedocument.presentationml.notesSlide+xml"/>
  <Override PartName="/ppt/notesSlides/notesSlide34.xml" ContentType="application/vnd.openxmlformats-officedocument.presentationml.notesSlide+xml"/>
  <Override PartName="/ppt/notesSlides/notesSlide11.xml" ContentType="application/vnd.openxmlformats-officedocument.presentationml.notesSlide+xml"/>
  <Override PartName="/ppt/notesSlides/notesSlide35.xml" ContentType="application/vnd.openxmlformats-officedocument.presentationml.notesSlide+xml"/>
  <Override PartName="/ppt/notesSlides/notesSlide12.xml" ContentType="application/vnd.openxmlformats-officedocument.presentationml.notesSlide+xml"/>
  <Override PartName="/ppt/notesSlides/notesSlide36.xml" ContentType="application/vnd.openxmlformats-officedocument.presentationml.notesSlide+xml"/>
  <Override PartName="/ppt/notesSlides/notesSlide13.xml" ContentType="application/vnd.openxmlformats-officedocument.presentationml.notesSlide+xml"/>
  <Override PartName="/ppt/notesSlides/notesSlide37.xml" ContentType="application/vnd.openxmlformats-officedocument.presentationml.notesSlide+xml"/>
  <Override PartName="/ppt/notesSlides/notesSlide1.xml" ContentType="application/vnd.openxmlformats-officedocument.presentationml.notesSlide+xml"/>
  <Override PartName="/ppt/notesSlides/notesSlide27.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1.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 Id="rId36" Type="http://schemas.openxmlformats.org/officeDocument/2006/relationships/slide" Target="slides/slide32.xml"/><Relationship Id="rId37" Type="http://schemas.openxmlformats.org/officeDocument/2006/relationships/slide" Target="slides/slide33.xml"/><Relationship Id="rId38" Type="http://schemas.openxmlformats.org/officeDocument/2006/relationships/slide" Target="slides/slide34.xml"/><Relationship Id="rId39" Type="http://schemas.openxmlformats.org/officeDocument/2006/relationships/slide" Target="slides/slide35.xml"/><Relationship Id="rId40" Type="http://schemas.openxmlformats.org/officeDocument/2006/relationships/slide" Target="slides/slide36.xml"/><Relationship Id="rId41" Type="http://schemas.openxmlformats.org/officeDocument/2006/relationships/slide" Target="slides/slide37.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7"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8" name="PlaceHolder 2"/>
          <p:cNvSpPr>
            <a:spLocks noGrp="1"/>
          </p:cNvSpPr>
          <p:nvPr>
            <p:ph type="dt" idx="7"/>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19"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move the slide</a:t>
            </a:r>
            <a:endParaRPr b="0" lang="en-US" sz="4200" spc="-1" strike="noStrike">
              <a:solidFill>
                <a:srgbClr val="006633"/>
              </a:solidFill>
              <a:latin typeface="Tahoma"/>
            </a:endParaRPr>
          </a:p>
        </p:txBody>
      </p:sp>
      <p:sp>
        <p:nvSpPr>
          <p:cNvPr id="20"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1" name="PlaceHolder 5"/>
          <p:cNvSpPr>
            <a:spLocks noGrp="1"/>
          </p:cNvSpPr>
          <p:nvPr>
            <p:ph type="ftr" idx="8"/>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2" name="PlaceHolder 6"/>
          <p:cNvSpPr>
            <a:spLocks noGrp="1"/>
          </p:cNvSpPr>
          <p:nvPr>
            <p:ph type="sldNum" idx="9"/>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27F331-F4A8-48E9-970D-1013921F214B}" type="slidenum">
              <a:rPr b="0" lang="en-AU"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443B04-A97E-475B-83F1-DF9058CB8FC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34" name="PlaceHolder 1"/>
          <p:cNvSpPr>
            <a:spLocks noGrp="1"/>
          </p:cNvSpPr>
          <p:nvPr>
            <p:ph type="sldImg"/>
          </p:nvPr>
        </p:nvSpPr>
        <p:spPr>
          <a:xfrm>
            <a:off x="1143000" y="685800"/>
            <a:ext cx="4572000" cy="3429000"/>
          </a:xfrm>
          <a:prstGeom prst="rect">
            <a:avLst/>
          </a:prstGeom>
          <a:ln w="0">
            <a:noFill/>
          </a:ln>
        </p:spPr>
      </p:sp>
      <p:sp>
        <p:nvSpPr>
          <p:cNvPr id="33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20B339-0030-40B1-AA9E-BC3D61CF0D2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37" name="PlaceHolder 1"/>
          <p:cNvSpPr>
            <a:spLocks noGrp="1"/>
          </p:cNvSpPr>
          <p:nvPr>
            <p:ph type="sldImg"/>
          </p:nvPr>
        </p:nvSpPr>
        <p:spPr>
          <a:xfrm>
            <a:off x="1295280" y="798480"/>
            <a:ext cx="4268880" cy="3202200"/>
          </a:xfrm>
          <a:prstGeom prst="rect">
            <a:avLst/>
          </a:prstGeom>
          <a:ln w="0">
            <a:noFill/>
          </a:ln>
        </p:spPr>
      </p:sp>
      <p:sp>
        <p:nvSpPr>
          <p:cNvPr id="338"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EF2D7E8-7667-4842-B6A2-F04BEEBBDBD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40" name="PlaceHolder 1"/>
          <p:cNvSpPr>
            <a:spLocks noGrp="1"/>
          </p:cNvSpPr>
          <p:nvPr>
            <p:ph type="sldImg"/>
          </p:nvPr>
        </p:nvSpPr>
        <p:spPr>
          <a:xfrm>
            <a:off x="1295280" y="798480"/>
            <a:ext cx="4268880" cy="3202200"/>
          </a:xfrm>
          <a:prstGeom prst="rect">
            <a:avLst/>
          </a:prstGeom>
          <a:ln w="0">
            <a:noFill/>
          </a:ln>
        </p:spPr>
      </p:sp>
      <p:sp>
        <p:nvSpPr>
          <p:cNvPr id="341"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9C1951-459B-45FC-A1A5-0CA2C911391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43" name="PlaceHolder 1"/>
          <p:cNvSpPr>
            <a:spLocks noGrp="1"/>
          </p:cNvSpPr>
          <p:nvPr>
            <p:ph type="sldImg"/>
          </p:nvPr>
        </p:nvSpPr>
        <p:spPr>
          <a:xfrm>
            <a:off x="1295280" y="798480"/>
            <a:ext cx="4268880" cy="3202200"/>
          </a:xfrm>
          <a:prstGeom prst="rect">
            <a:avLst/>
          </a:prstGeom>
          <a:ln w="0">
            <a:noFill/>
          </a:ln>
        </p:spPr>
      </p:sp>
      <p:sp>
        <p:nvSpPr>
          <p:cNvPr id="344"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F18110-07B6-489E-8C36-8AD85811670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46" name="PlaceHolder 1"/>
          <p:cNvSpPr>
            <a:spLocks noGrp="1"/>
          </p:cNvSpPr>
          <p:nvPr>
            <p:ph type="sldImg"/>
          </p:nvPr>
        </p:nvSpPr>
        <p:spPr>
          <a:xfrm>
            <a:off x="1143000" y="685800"/>
            <a:ext cx="4572000" cy="3429000"/>
          </a:xfrm>
          <a:prstGeom prst="rect">
            <a:avLst/>
          </a:prstGeom>
          <a:ln w="0">
            <a:noFill/>
          </a:ln>
        </p:spPr>
      </p:sp>
      <p:sp>
        <p:nvSpPr>
          <p:cNvPr id="34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1726B3E-FA04-4BBF-98E6-F7A2E2A9E48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49" name="PlaceHolder 1"/>
          <p:cNvSpPr>
            <a:spLocks noGrp="1"/>
          </p:cNvSpPr>
          <p:nvPr>
            <p:ph type="sldImg"/>
          </p:nvPr>
        </p:nvSpPr>
        <p:spPr>
          <a:xfrm>
            <a:off x="1295280" y="798480"/>
            <a:ext cx="4268880" cy="3202200"/>
          </a:xfrm>
          <a:prstGeom prst="rect">
            <a:avLst/>
          </a:prstGeom>
          <a:ln w="0">
            <a:noFill/>
          </a:ln>
        </p:spPr>
      </p:sp>
      <p:sp>
        <p:nvSpPr>
          <p:cNvPr id="350"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D32F40A-CF3A-42D1-A094-8197DD917E0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52" name="PlaceHolder 1"/>
          <p:cNvSpPr>
            <a:spLocks noGrp="1"/>
          </p:cNvSpPr>
          <p:nvPr>
            <p:ph type="sldImg"/>
          </p:nvPr>
        </p:nvSpPr>
        <p:spPr>
          <a:xfrm>
            <a:off x="1147680" y="684360"/>
            <a:ext cx="4572000" cy="3429000"/>
          </a:xfrm>
          <a:prstGeom prst="rect">
            <a:avLst/>
          </a:prstGeom>
          <a:ln w="0">
            <a:noFill/>
          </a:ln>
        </p:spPr>
      </p:sp>
      <p:sp>
        <p:nvSpPr>
          <p:cNvPr id="353" name="PlaceHolder 2"/>
          <p:cNvSpPr>
            <a:spLocks noGrp="1"/>
          </p:cNvSpPr>
          <p:nvPr>
            <p:ph type="body"/>
          </p:nvPr>
        </p:nvSpPr>
        <p:spPr>
          <a:xfrm>
            <a:off x="831960" y="4344840"/>
            <a:ext cx="5194080" cy="38484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B1AD781-7913-4A13-BDE6-BD1D4F105E8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55" name="PlaceHolder 1"/>
          <p:cNvSpPr>
            <a:spLocks noGrp="1"/>
          </p:cNvSpPr>
          <p:nvPr>
            <p:ph type="sldImg"/>
          </p:nvPr>
        </p:nvSpPr>
        <p:spPr>
          <a:xfrm>
            <a:off x="1295280" y="798480"/>
            <a:ext cx="4268880" cy="3202200"/>
          </a:xfrm>
          <a:prstGeom prst="rect">
            <a:avLst/>
          </a:prstGeom>
          <a:ln w="0">
            <a:noFill/>
          </a:ln>
        </p:spPr>
      </p:sp>
      <p:sp>
        <p:nvSpPr>
          <p:cNvPr id="356"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C661C5-7D35-41CA-BF4C-FE368A844A7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58" name="PlaceHolder 1"/>
          <p:cNvSpPr>
            <a:spLocks noGrp="1"/>
          </p:cNvSpPr>
          <p:nvPr>
            <p:ph type="sldImg"/>
          </p:nvPr>
        </p:nvSpPr>
        <p:spPr>
          <a:xfrm>
            <a:off x="1143000" y="685800"/>
            <a:ext cx="4572000" cy="3429000"/>
          </a:xfrm>
          <a:prstGeom prst="rect">
            <a:avLst/>
          </a:prstGeom>
          <a:ln w="0">
            <a:noFill/>
          </a:ln>
        </p:spPr>
      </p:sp>
      <p:sp>
        <p:nvSpPr>
          <p:cNvPr id="35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35D75E-F956-459B-9314-B3ACC1F13718}"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1" name="PlaceHolder 1"/>
          <p:cNvSpPr>
            <a:spLocks noGrp="1"/>
          </p:cNvSpPr>
          <p:nvPr>
            <p:ph type="sldImg"/>
          </p:nvPr>
        </p:nvSpPr>
        <p:spPr>
          <a:xfrm>
            <a:off x="1143000" y="685800"/>
            <a:ext cx="4572000" cy="3429000"/>
          </a:xfrm>
          <a:prstGeom prst="rect">
            <a:avLst/>
          </a:prstGeom>
          <a:ln w="0">
            <a:noFill/>
          </a:ln>
        </p:spPr>
      </p:sp>
      <p:sp>
        <p:nvSpPr>
          <p:cNvPr id="36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35BF6B-BE61-4CED-989D-393B9D93483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4" name="PlaceHolder 1"/>
          <p:cNvSpPr>
            <a:spLocks noGrp="1"/>
          </p:cNvSpPr>
          <p:nvPr>
            <p:ph type="sldImg"/>
          </p:nvPr>
        </p:nvSpPr>
        <p:spPr>
          <a:xfrm>
            <a:off x="1143000" y="685800"/>
            <a:ext cx="4572000" cy="3429000"/>
          </a:xfrm>
          <a:prstGeom prst="rect">
            <a:avLst/>
          </a:prstGeom>
          <a:ln w="0">
            <a:noFill/>
          </a:ln>
        </p:spPr>
      </p:sp>
      <p:sp>
        <p:nvSpPr>
          <p:cNvPr id="36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41F2766-0771-458F-88DD-7494CC2C4AF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67" name="PlaceHolder 1"/>
          <p:cNvSpPr>
            <a:spLocks noGrp="1"/>
          </p:cNvSpPr>
          <p:nvPr>
            <p:ph type="sldImg"/>
          </p:nvPr>
        </p:nvSpPr>
        <p:spPr>
          <a:xfrm>
            <a:off x="1295280" y="798480"/>
            <a:ext cx="4268880" cy="3202200"/>
          </a:xfrm>
          <a:prstGeom prst="rect">
            <a:avLst/>
          </a:prstGeom>
          <a:ln w="0">
            <a:noFill/>
          </a:ln>
        </p:spPr>
      </p:sp>
      <p:sp>
        <p:nvSpPr>
          <p:cNvPr id="368"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636AD9-F629-4A8A-A0C3-31266669932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0" name="PlaceHolder 1"/>
          <p:cNvSpPr>
            <a:spLocks noGrp="1"/>
          </p:cNvSpPr>
          <p:nvPr>
            <p:ph type="sldImg"/>
          </p:nvPr>
        </p:nvSpPr>
        <p:spPr>
          <a:xfrm>
            <a:off x="1295280" y="798480"/>
            <a:ext cx="4268880" cy="3202200"/>
          </a:xfrm>
          <a:prstGeom prst="rect">
            <a:avLst/>
          </a:prstGeom>
          <a:ln w="0">
            <a:noFill/>
          </a:ln>
        </p:spPr>
      </p:sp>
      <p:sp>
        <p:nvSpPr>
          <p:cNvPr id="371"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2FDAB4B-A3D6-4F0F-B8D7-ADC300C0B973}"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3" name="PlaceHolder 1"/>
          <p:cNvSpPr>
            <a:spLocks noGrp="1"/>
          </p:cNvSpPr>
          <p:nvPr>
            <p:ph type="sldImg"/>
          </p:nvPr>
        </p:nvSpPr>
        <p:spPr>
          <a:xfrm>
            <a:off x="1295280" y="798480"/>
            <a:ext cx="4268880" cy="3202200"/>
          </a:xfrm>
          <a:prstGeom prst="rect">
            <a:avLst/>
          </a:prstGeom>
          <a:ln w="0">
            <a:noFill/>
          </a:ln>
        </p:spPr>
      </p:sp>
      <p:sp>
        <p:nvSpPr>
          <p:cNvPr id="374"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9759451-7515-4F12-8E60-927C271572F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6" name="PlaceHolder 1"/>
          <p:cNvSpPr>
            <a:spLocks noGrp="1"/>
          </p:cNvSpPr>
          <p:nvPr>
            <p:ph type="sldImg"/>
          </p:nvPr>
        </p:nvSpPr>
        <p:spPr>
          <a:xfrm>
            <a:off x="1143000" y="685800"/>
            <a:ext cx="4572000" cy="3429000"/>
          </a:xfrm>
          <a:prstGeom prst="rect">
            <a:avLst/>
          </a:prstGeom>
          <a:ln w="0">
            <a:noFill/>
          </a:ln>
        </p:spPr>
      </p:sp>
      <p:sp>
        <p:nvSpPr>
          <p:cNvPr id="37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B2C8574-EF6B-4595-A82A-6E88C1F37A0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79" name="PlaceHolder 1"/>
          <p:cNvSpPr>
            <a:spLocks noGrp="1"/>
          </p:cNvSpPr>
          <p:nvPr>
            <p:ph type="sldImg"/>
          </p:nvPr>
        </p:nvSpPr>
        <p:spPr>
          <a:xfrm>
            <a:off x="1295280" y="798480"/>
            <a:ext cx="4268880" cy="3202200"/>
          </a:xfrm>
          <a:prstGeom prst="rect">
            <a:avLst/>
          </a:prstGeom>
          <a:ln w="0">
            <a:noFill/>
          </a:ln>
        </p:spPr>
      </p:sp>
      <p:sp>
        <p:nvSpPr>
          <p:cNvPr id="380"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E60D29-4D02-4D3F-8B50-B5BBBBFF992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2" name="PlaceHolder 1"/>
          <p:cNvSpPr>
            <a:spLocks noGrp="1"/>
          </p:cNvSpPr>
          <p:nvPr>
            <p:ph type="sldImg"/>
          </p:nvPr>
        </p:nvSpPr>
        <p:spPr>
          <a:xfrm>
            <a:off x="1295280" y="798480"/>
            <a:ext cx="4268880" cy="3202200"/>
          </a:xfrm>
          <a:prstGeom prst="rect">
            <a:avLst/>
          </a:prstGeom>
          <a:ln w="0">
            <a:noFill/>
          </a:ln>
        </p:spPr>
      </p:sp>
      <p:sp>
        <p:nvSpPr>
          <p:cNvPr id="383"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1E03914-E8A6-4815-BE1F-75E75C5BF275}"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5" name="PlaceHolder 1"/>
          <p:cNvSpPr>
            <a:spLocks noGrp="1"/>
          </p:cNvSpPr>
          <p:nvPr>
            <p:ph type="sldImg"/>
          </p:nvPr>
        </p:nvSpPr>
        <p:spPr>
          <a:xfrm>
            <a:off x="1295280" y="798480"/>
            <a:ext cx="4268880" cy="3202200"/>
          </a:xfrm>
          <a:prstGeom prst="rect">
            <a:avLst/>
          </a:prstGeom>
          <a:ln w="0">
            <a:noFill/>
          </a:ln>
        </p:spPr>
      </p:sp>
      <p:sp>
        <p:nvSpPr>
          <p:cNvPr id="386"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8D4C2B8-22B8-4EA1-A3AD-D1D8BD31311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88" name="PlaceHolder 1"/>
          <p:cNvSpPr>
            <a:spLocks noGrp="1"/>
          </p:cNvSpPr>
          <p:nvPr>
            <p:ph type="sldImg"/>
          </p:nvPr>
        </p:nvSpPr>
        <p:spPr>
          <a:xfrm>
            <a:off x="1295280" y="798480"/>
            <a:ext cx="4268880" cy="3202200"/>
          </a:xfrm>
          <a:prstGeom prst="rect">
            <a:avLst/>
          </a:prstGeom>
          <a:ln w="0">
            <a:noFill/>
          </a:ln>
        </p:spPr>
      </p:sp>
      <p:sp>
        <p:nvSpPr>
          <p:cNvPr id="389"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91AE1BA-5E71-4570-AF1F-7AD9DBBD76C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1" name="PlaceHolder 1"/>
          <p:cNvSpPr>
            <a:spLocks noGrp="1"/>
          </p:cNvSpPr>
          <p:nvPr>
            <p:ph type="sldImg"/>
          </p:nvPr>
        </p:nvSpPr>
        <p:spPr>
          <a:xfrm>
            <a:off x="1143000" y="685800"/>
            <a:ext cx="4572000" cy="3429000"/>
          </a:xfrm>
          <a:prstGeom prst="rect">
            <a:avLst/>
          </a:prstGeom>
          <a:ln w="0">
            <a:noFill/>
          </a:ln>
        </p:spPr>
      </p:sp>
      <p:sp>
        <p:nvSpPr>
          <p:cNvPr id="39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2778FD-3D06-4996-98BC-00B5D5BC481E}"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4" name="PlaceHolder 1"/>
          <p:cNvSpPr>
            <a:spLocks noGrp="1"/>
          </p:cNvSpPr>
          <p:nvPr>
            <p:ph type="sldImg"/>
          </p:nvPr>
        </p:nvSpPr>
        <p:spPr>
          <a:xfrm>
            <a:off x="1143000" y="685800"/>
            <a:ext cx="4572000" cy="3429000"/>
          </a:xfrm>
          <a:prstGeom prst="rect">
            <a:avLst/>
          </a:prstGeom>
          <a:ln w="0">
            <a:noFill/>
          </a:ln>
        </p:spPr>
      </p:sp>
      <p:sp>
        <p:nvSpPr>
          <p:cNvPr id="395"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754BAC-E2F5-487B-8635-44097769649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397" name="PlaceHolder 1"/>
          <p:cNvSpPr>
            <a:spLocks noGrp="1"/>
          </p:cNvSpPr>
          <p:nvPr>
            <p:ph type="sldImg"/>
          </p:nvPr>
        </p:nvSpPr>
        <p:spPr>
          <a:xfrm>
            <a:off x="1143000" y="685800"/>
            <a:ext cx="4572000" cy="3429000"/>
          </a:xfrm>
          <a:prstGeom prst="rect">
            <a:avLst/>
          </a:prstGeom>
          <a:ln w="0">
            <a:noFill/>
          </a:ln>
        </p:spPr>
      </p:sp>
      <p:sp>
        <p:nvSpPr>
          <p:cNvPr id="398"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54E5E66-4224-4F74-9969-904C0AD6FF3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0" name="PlaceHolder 1"/>
          <p:cNvSpPr>
            <a:spLocks noGrp="1"/>
          </p:cNvSpPr>
          <p:nvPr>
            <p:ph type="sldImg"/>
          </p:nvPr>
        </p:nvSpPr>
        <p:spPr>
          <a:xfrm>
            <a:off x="1143000" y="685800"/>
            <a:ext cx="4572000" cy="3429000"/>
          </a:xfrm>
          <a:prstGeom prst="rect">
            <a:avLst/>
          </a:prstGeom>
          <a:ln w="0">
            <a:noFill/>
          </a:ln>
        </p:spPr>
      </p:sp>
      <p:sp>
        <p:nvSpPr>
          <p:cNvPr id="401"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BAC952-07A8-408A-B983-02A8C104460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3" name="PlaceHolder 1"/>
          <p:cNvSpPr>
            <a:spLocks noGrp="1"/>
          </p:cNvSpPr>
          <p:nvPr>
            <p:ph type="sldImg"/>
          </p:nvPr>
        </p:nvSpPr>
        <p:spPr>
          <a:xfrm>
            <a:off x="1143000" y="685800"/>
            <a:ext cx="4572000" cy="3429000"/>
          </a:xfrm>
          <a:prstGeom prst="rect">
            <a:avLst/>
          </a:prstGeom>
          <a:ln w="0">
            <a:noFill/>
          </a:ln>
        </p:spPr>
      </p:sp>
      <p:sp>
        <p:nvSpPr>
          <p:cNvPr id="40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AD0FF02-8EB5-48EE-9CD4-29BBA0BC8A8D}"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6" name="PlaceHolder 1"/>
          <p:cNvSpPr>
            <a:spLocks noGrp="1"/>
          </p:cNvSpPr>
          <p:nvPr>
            <p:ph type="sldImg"/>
          </p:nvPr>
        </p:nvSpPr>
        <p:spPr>
          <a:xfrm>
            <a:off x="1143000" y="685800"/>
            <a:ext cx="4572000" cy="3429000"/>
          </a:xfrm>
          <a:prstGeom prst="rect">
            <a:avLst/>
          </a:prstGeom>
          <a:ln w="0">
            <a:noFill/>
          </a:ln>
        </p:spPr>
      </p:sp>
      <p:sp>
        <p:nvSpPr>
          <p:cNvPr id="40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FE04DCE-C995-4705-B472-CF5CE08B096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09" name="PlaceHolder 1"/>
          <p:cNvSpPr>
            <a:spLocks noGrp="1"/>
          </p:cNvSpPr>
          <p:nvPr>
            <p:ph type="sldImg"/>
          </p:nvPr>
        </p:nvSpPr>
        <p:spPr>
          <a:xfrm>
            <a:off x="1143000" y="685800"/>
            <a:ext cx="4572000" cy="3429000"/>
          </a:xfrm>
          <a:prstGeom prst="rect">
            <a:avLst/>
          </a:prstGeom>
          <a:ln w="0">
            <a:noFill/>
          </a:ln>
        </p:spPr>
      </p:sp>
      <p:sp>
        <p:nvSpPr>
          <p:cNvPr id="41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544C910-B475-431F-897A-BAAD02AD3AB7}"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2" name="PlaceHolder 1"/>
          <p:cNvSpPr>
            <a:spLocks noGrp="1"/>
          </p:cNvSpPr>
          <p:nvPr>
            <p:ph type="sldImg"/>
          </p:nvPr>
        </p:nvSpPr>
        <p:spPr>
          <a:xfrm>
            <a:off x="1143000" y="685800"/>
            <a:ext cx="4572000" cy="3429000"/>
          </a:xfrm>
          <a:prstGeom prst="rect">
            <a:avLst/>
          </a:prstGeom>
          <a:ln w="0">
            <a:noFill/>
          </a:ln>
        </p:spPr>
      </p:sp>
      <p:sp>
        <p:nvSpPr>
          <p:cNvPr id="41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B7B5503-D813-4F01-A636-9B272532879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5" name="PlaceHolder 1"/>
          <p:cNvSpPr>
            <a:spLocks noGrp="1"/>
          </p:cNvSpPr>
          <p:nvPr>
            <p:ph type="sldImg"/>
          </p:nvPr>
        </p:nvSpPr>
        <p:spPr>
          <a:xfrm>
            <a:off x="1143000" y="685800"/>
            <a:ext cx="4572000" cy="3429000"/>
          </a:xfrm>
          <a:prstGeom prst="rect">
            <a:avLst/>
          </a:prstGeom>
          <a:ln w="0">
            <a:noFill/>
          </a:ln>
        </p:spPr>
      </p:sp>
      <p:sp>
        <p:nvSpPr>
          <p:cNvPr id="41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CD9F935-6BC4-400B-B679-0B370C72FD20}"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18" name="PlaceHolder 1"/>
          <p:cNvSpPr>
            <a:spLocks noGrp="1"/>
          </p:cNvSpPr>
          <p:nvPr>
            <p:ph type="sldImg"/>
          </p:nvPr>
        </p:nvSpPr>
        <p:spPr>
          <a:xfrm>
            <a:off x="1143000" y="685800"/>
            <a:ext cx="4572000" cy="3429000"/>
          </a:xfrm>
          <a:prstGeom prst="rect">
            <a:avLst/>
          </a:prstGeom>
          <a:ln w="0">
            <a:noFill/>
          </a:ln>
        </p:spPr>
      </p:sp>
      <p:sp>
        <p:nvSpPr>
          <p:cNvPr id="419"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550BEC7-01E3-4DA4-9C86-FE03F9661B3A}"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1" name="PlaceHolder 1"/>
          <p:cNvSpPr>
            <a:spLocks noGrp="1"/>
          </p:cNvSpPr>
          <p:nvPr>
            <p:ph type="sldImg"/>
          </p:nvPr>
        </p:nvSpPr>
        <p:spPr>
          <a:xfrm>
            <a:off x="1143000" y="685800"/>
            <a:ext cx="4572000" cy="3429000"/>
          </a:xfrm>
          <a:prstGeom prst="rect">
            <a:avLst/>
          </a:prstGeom>
          <a:ln w="0">
            <a:noFill/>
          </a:ln>
        </p:spPr>
      </p:sp>
      <p:sp>
        <p:nvSpPr>
          <p:cNvPr id="422"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C09770-7D81-42FC-82F2-CD677D69EEC9}"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4" name="PlaceHolder 1"/>
          <p:cNvSpPr>
            <a:spLocks noGrp="1"/>
          </p:cNvSpPr>
          <p:nvPr>
            <p:ph type="sldImg"/>
          </p:nvPr>
        </p:nvSpPr>
        <p:spPr>
          <a:xfrm>
            <a:off x="1295280" y="798480"/>
            <a:ext cx="4268880" cy="3202200"/>
          </a:xfrm>
          <a:prstGeom prst="rect">
            <a:avLst/>
          </a:prstGeom>
          <a:ln w="0">
            <a:noFill/>
          </a:ln>
        </p:spPr>
      </p:sp>
      <p:sp>
        <p:nvSpPr>
          <p:cNvPr id="425"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89415C9-F58E-48FE-950E-9AC2AEE4763B}"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27" name="PlaceHolder 1"/>
          <p:cNvSpPr>
            <a:spLocks noGrp="1"/>
          </p:cNvSpPr>
          <p:nvPr>
            <p:ph type="sldImg"/>
          </p:nvPr>
        </p:nvSpPr>
        <p:spPr>
          <a:xfrm>
            <a:off x="1295280" y="798480"/>
            <a:ext cx="4268880" cy="3202200"/>
          </a:xfrm>
          <a:prstGeom prst="rect">
            <a:avLst/>
          </a:prstGeom>
          <a:ln w="0">
            <a:noFill/>
          </a:ln>
        </p:spPr>
      </p:sp>
      <p:sp>
        <p:nvSpPr>
          <p:cNvPr id="428"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CB41B8E-2103-4280-99E0-71819B1C2166}"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0" name="PlaceHolder 1"/>
          <p:cNvSpPr>
            <a:spLocks noGrp="1"/>
          </p:cNvSpPr>
          <p:nvPr>
            <p:ph type="sldImg"/>
          </p:nvPr>
        </p:nvSpPr>
        <p:spPr>
          <a:xfrm>
            <a:off x="1295280" y="798480"/>
            <a:ext cx="4268880" cy="3202200"/>
          </a:xfrm>
          <a:prstGeom prst="rect">
            <a:avLst/>
          </a:prstGeom>
          <a:ln w="0">
            <a:noFill/>
          </a:ln>
        </p:spPr>
      </p:sp>
      <p:sp>
        <p:nvSpPr>
          <p:cNvPr id="431"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5328B2F-9418-4BA6-B88A-7A307B25FFA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3" name="PlaceHolder 1"/>
          <p:cNvSpPr>
            <a:spLocks noGrp="1"/>
          </p:cNvSpPr>
          <p:nvPr>
            <p:ph type="sldImg"/>
          </p:nvPr>
        </p:nvSpPr>
        <p:spPr>
          <a:xfrm>
            <a:off x="1295280" y="798480"/>
            <a:ext cx="4268880" cy="3202200"/>
          </a:xfrm>
          <a:prstGeom prst="rect">
            <a:avLst/>
          </a:prstGeom>
          <a:ln w="0">
            <a:noFill/>
          </a:ln>
        </p:spPr>
      </p:sp>
      <p:sp>
        <p:nvSpPr>
          <p:cNvPr id="434"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916F49-0EF5-46FE-B98E-BF292A35033C}"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6" name="PlaceHolder 1"/>
          <p:cNvSpPr>
            <a:spLocks noGrp="1"/>
          </p:cNvSpPr>
          <p:nvPr>
            <p:ph type="sldImg"/>
          </p:nvPr>
        </p:nvSpPr>
        <p:spPr>
          <a:xfrm>
            <a:off x="1295280" y="798480"/>
            <a:ext cx="4268880" cy="3202200"/>
          </a:xfrm>
          <a:prstGeom prst="rect">
            <a:avLst/>
          </a:prstGeom>
          <a:ln w="0">
            <a:noFill/>
          </a:ln>
        </p:spPr>
      </p:sp>
      <p:sp>
        <p:nvSpPr>
          <p:cNvPr id="437"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76DB995-04BF-4C7E-982A-BDA956141BA2}"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39" name="PlaceHolder 1"/>
          <p:cNvSpPr>
            <a:spLocks noGrp="1"/>
          </p:cNvSpPr>
          <p:nvPr>
            <p:ph type="sldImg"/>
          </p:nvPr>
        </p:nvSpPr>
        <p:spPr>
          <a:xfrm>
            <a:off x="1295280" y="798480"/>
            <a:ext cx="4268880" cy="3202200"/>
          </a:xfrm>
          <a:prstGeom prst="rect">
            <a:avLst/>
          </a:prstGeom>
          <a:ln w="0">
            <a:noFill/>
          </a:ln>
        </p:spPr>
      </p:sp>
      <p:sp>
        <p:nvSpPr>
          <p:cNvPr id="440" name="PlaceHolder 2"/>
          <p:cNvSpPr>
            <a:spLocks noGrp="1"/>
          </p:cNvSpPr>
          <p:nvPr>
            <p:ph type="body"/>
          </p:nvPr>
        </p:nvSpPr>
        <p:spPr>
          <a:xfrm>
            <a:off x="915840" y="4346280"/>
            <a:ext cx="5026320" cy="384804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DA043BD-C757-4616-8E24-3FAB549A6104}" type="slidenum">
              <a:rPr b="0" lang="en-AU" sz="1200" spc="-1" strike="noStrike">
                <a:solidFill>
                  <a:srgbClr val="000000"/>
                </a:solidFill>
                <a:latin typeface="Arial"/>
              </a:rPr>
              <a:t>&lt;number&gt;</a:t>
            </a:fld>
            <a:endParaRPr b="0" lang="en-US" sz="1200" spc="-1" strike="noStrike">
              <a:solidFill>
                <a:srgbClr val="000000"/>
              </a:solidFill>
              <a:latin typeface="Arial"/>
            </a:endParaRPr>
          </a:p>
        </p:txBody>
      </p:sp>
      <p:sp>
        <p:nvSpPr>
          <p:cNvPr id="442" name="PlaceHolder 1"/>
          <p:cNvSpPr>
            <a:spLocks noGrp="1"/>
          </p:cNvSpPr>
          <p:nvPr>
            <p:ph type="sldImg"/>
          </p:nvPr>
        </p:nvSpPr>
        <p:spPr>
          <a:xfrm>
            <a:off x="1143000" y="685800"/>
            <a:ext cx="4572000" cy="3429000"/>
          </a:xfrm>
          <a:prstGeom prst="rect">
            <a:avLst/>
          </a:prstGeom>
          <a:ln w="0">
            <a:noFill/>
          </a:ln>
        </p:spPr>
      </p:sp>
      <p:sp>
        <p:nvSpPr>
          <p:cNvPr id="44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E43B2F13-9B13-438F-8298-468AC5F15DB0}"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9BE8743-769C-4CD7-8C2B-3591A94BD9A6}" type="slidenum">
              <a:t>&lt;#&gt;</a:t>
            </a:fld>
          </a:p>
        </p:txBody>
      </p:sp>
      <p:sp>
        <p:nvSpPr>
          <p:cNvPr id="4" name="PlaceHolder 3"/>
          <p:cNvSpPr>
            <a:spLocks noGrp="1"/>
          </p:cNvSpPr>
          <p:nvPr>
            <p:ph type="dt" idx="4"/>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oleObject" Target="../embeddings/oleObject1.bin"/><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2" name="PlaceHolder 3"/>
          <p:cNvSpPr>
            <a:spLocks noGrp="1"/>
          </p:cNvSpPr>
          <p:nvPr>
            <p:ph type="dt" idx="1"/>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09C9FB8-F338-474F-8D01-522903F2B334}"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3" name="PlaceHolder 4"/>
          <p:cNvSpPr>
            <a:spLocks noGrp="1"/>
          </p:cNvSpPr>
          <p:nvPr>
            <p:ph type="ftr" idx="2"/>
          </p:nvPr>
        </p:nvSpPr>
        <p:spPr>
          <a:xfrm>
            <a:off x="2842920" y="6248520"/>
            <a:ext cx="360036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4" name="PlaceHolder 5"/>
          <p:cNvSpPr>
            <a:spLocks noGrp="1"/>
          </p:cNvSpPr>
          <p:nvPr>
            <p:ph type="sldNum" idx="3"/>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F48333B-F32B-4EB4-BA5C-84371863436F}"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
        <p:nvSpPr>
          <p:cNvPr id="5" name="Freeform 7"/>
          <p:cNvSpPr/>
          <p:nvPr/>
        </p:nvSpPr>
        <p:spPr>
          <a:xfrm>
            <a:off x="380880" y="228600"/>
            <a:ext cx="8229600" cy="609480"/>
          </a:xfrm>
          <a:prstGeom prst="pie">
            <a:avLst/>
          </a:prstGeom>
          <a:noFill/>
          <a:ln w="19080">
            <a:solidFill>
              <a:srgbClr val="cc9900"/>
            </a:solidFill>
            <a:miter/>
          </a:ln>
        </p:spPr>
        <p:style>
          <a:lnRef idx="0"/>
          <a:fillRef idx="0"/>
          <a:effectRef idx="0"/>
          <a:fontRef idx="minor"/>
        </p:style>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6" name="Line 8"/>
          <p:cNvSpPr/>
          <p:nvPr/>
        </p:nvSpPr>
        <p:spPr>
          <a:xfrm>
            <a:off x="457200" y="6172200"/>
            <a:ext cx="822960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pic>
        <p:nvPicPr>
          <p:cNvPr id="7" name="Picture 10" descr=""/>
          <p:cNvPicPr/>
          <p:nvPr/>
        </p:nvPicPr>
        <p:blipFill>
          <a:blip r:embed="rId2"/>
          <a:stretch/>
        </p:blipFill>
        <p:spPr>
          <a:xfrm>
            <a:off x="6516720" y="6237360"/>
            <a:ext cx="1276200" cy="498240"/>
          </a:xfrm>
          <a:prstGeom prst="rect">
            <a:avLst/>
          </a:prstGeom>
          <a:ln w="0">
            <a:noFill/>
          </a:ln>
        </p:spPr>
      </p:pic>
      <p:graphicFrame>
        <p:nvGraphicFramePr>
          <p:cNvPr id="8" name="Object 11"/>
          <p:cNvGraphicFramePr/>
          <p:nvPr/>
        </p:nvGraphicFramePr>
        <p:xfrm>
          <a:off x="2050920" y="6237360"/>
          <a:ext cx="493920" cy="493560"/>
        </p:xfrm>
        <a:graphic>
          <a:graphicData uri="http://schemas.openxmlformats.org/presentationml/2006/ole">
            <p:oleObj r:id="rId3" spid="">
              <p:embed/>
            </p:oleObj>
          </a:graphicData>
        </a:graphic>
      </p:graphicFrame>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Freeform 7"/>
          <p:cNvSpPr/>
          <p:nvPr/>
        </p:nvSpPr>
        <p:spPr>
          <a:xfrm>
            <a:off x="609480" y="1219320"/>
            <a:ext cx="7925040" cy="914400"/>
          </a:xfrm>
          <a:prstGeom prst="pie">
            <a:avLst/>
          </a:prstGeom>
          <a:noFill/>
          <a:ln w="25560">
            <a:solidFill>
              <a:srgbClr val="cc9900"/>
            </a:solidFill>
            <a:miter/>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0" name="Line 8"/>
          <p:cNvSpPr/>
          <p:nvPr/>
        </p:nvSpPr>
        <p:spPr>
          <a:xfrm>
            <a:off x="1981080" y="3962520"/>
            <a:ext cx="6512040" cy="0"/>
          </a:xfrm>
          <a:prstGeom prst="line">
            <a:avLst/>
          </a:prstGeom>
          <a:ln w="19080">
            <a:solidFill>
              <a:srgbClr val="cc9900"/>
            </a:solidFill>
            <a:miter/>
          </a:ln>
        </p:spPr>
        <p:style>
          <a:lnRef idx="0"/>
          <a:fillRef idx="0"/>
          <a:effectRef idx="0"/>
          <a:fontRef idx="minor"/>
        </p:style>
        <p:txBody>
          <a:bodyPr lIns="90000" rIns="90000" tIns="-46800" bIns="-46800" anchor="t">
            <a:noAutofit/>
          </a:bodyPr>
          <a:p>
            <a:endParaRPr b="0" lang="en-US" sz="1800" spc="-1" strike="noStrike">
              <a:solidFill>
                <a:srgbClr val="000000"/>
              </a:solidFill>
              <a:latin typeface="Arial"/>
            </a:endParaRPr>
          </a:p>
        </p:txBody>
      </p:sp>
      <p:sp>
        <p:nvSpPr>
          <p:cNvPr id="11" name="PlaceHolder 1"/>
          <p:cNvSpPr>
            <a:spLocks noGrp="1"/>
          </p:cNvSpPr>
          <p:nvPr>
            <p:ph type="title"/>
          </p:nvPr>
        </p:nvSpPr>
        <p:spPr>
          <a:xfrm>
            <a:off x="457200" y="277920"/>
            <a:ext cx="8229600" cy="113976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Click to edit the title text format</a:t>
            </a:r>
            <a:endParaRPr b="0" lang="en-US" sz="4200" spc="-1" strike="noStrike">
              <a:solidFill>
                <a:srgbClr val="006633"/>
              </a:solidFill>
              <a:latin typeface="Tahoma"/>
            </a:endParaRPr>
          </a:p>
        </p:txBody>
      </p:sp>
      <p:sp>
        <p:nvSpPr>
          <p:cNvPr id="12" name="PlaceHolder 2"/>
          <p:cNvSpPr>
            <a:spLocks noGrp="1"/>
          </p:cNvSpPr>
          <p:nvPr>
            <p:ph type="body"/>
          </p:nvPr>
        </p:nvSpPr>
        <p:spPr>
          <a:xfrm>
            <a:off x="457200" y="1599840"/>
            <a:ext cx="8229600" cy="4530600"/>
          </a:xfrm>
          <a:prstGeom prst="rect">
            <a:avLst/>
          </a:prstGeom>
          <a:noFill/>
          <a:ln w="0">
            <a:noFill/>
          </a:ln>
        </p:spPr>
        <p:txBody>
          <a:bodyPr lIns="90000" rIns="90000" tIns="46800" bIns="46800" anchor="t">
            <a:normAutofit/>
          </a:bodyPr>
          <a:p>
            <a:pPr marL="343080" indent="-34308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Click to edit the outline text format</a:t>
            </a:r>
            <a:endParaRPr b="0" lang="en-US" sz="3000" spc="-1" strike="noStrike">
              <a:solidFill>
                <a:srgbClr val="000000"/>
              </a:solidFill>
              <a:latin typeface="Arial"/>
            </a:endParaRPr>
          </a:p>
          <a:p>
            <a:pPr lvl="1" marL="669960" indent="-325440">
              <a:spcBef>
                <a:spcPts val="751"/>
              </a:spcBef>
              <a:buClr>
                <a:srgbClr val="3b812f"/>
              </a:buClr>
              <a:buSzPct val="6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Second Outline Level</a:t>
            </a:r>
            <a:endParaRPr b="0" lang="en-US" sz="3000" spc="-1" strike="noStrike">
              <a:solidFill>
                <a:srgbClr val="000000"/>
              </a:solidFill>
              <a:latin typeface="Arial"/>
            </a:endParaRPr>
          </a:p>
          <a:p>
            <a:pPr lvl="2" marL="1022400" indent="-351000">
              <a:spcBef>
                <a:spcPts val="751"/>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Third Outline Level</a:t>
            </a:r>
            <a:endParaRPr b="0" lang="en-US" sz="3000" spc="-1" strike="noStrike">
              <a:solidFill>
                <a:srgbClr val="000000"/>
              </a:solidFill>
              <a:latin typeface="Arial"/>
            </a:endParaRPr>
          </a:p>
          <a:p>
            <a:pPr lvl="3" marL="1339920" indent="-316080">
              <a:spcBef>
                <a:spcPts val="751"/>
              </a:spcBef>
              <a:buClr>
                <a:srgbClr val="3b812f"/>
              </a:buClr>
              <a:buSzPct val="7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Fourth Outline Level</a:t>
            </a:r>
            <a:endParaRPr b="0" lang="en-US" sz="3000" spc="-1" strike="noStrike">
              <a:solidFill>
                <a:srgbClr val="000000"/>
              </a:solidFill>
              <a:latin typeface="Arial"/>
            </a:endParaRPr>
          </a:p>
          <a:p>
            <a:pPr lvl="4" marL="1681200" indent="-339840">
              <a:spcBef>
                <a:spcPts val="751"/>
              </a:spcBef>
              <a:buClr>
                <a:srgbClr val="cc99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Fifth Outline Level</a:t>
            </a:r>
            <a:endParaRPr b="0" lang="en-US" sz="3000" spc="-1" strike="noStrike">
              <a:solidFill>
                <a:srgbClr val="000000"/>
              </a:solidFill>
              <a:latin typeface="Arial"/>
            </a:endParaRPr>
          </a:p>
          <a:p>
            <a:pPr lvl="5"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Sixth Outline Level</a:t>
            </a:r>
            <a:endParaRPr b="0" lang="en-US" sz="3000" spc="-1" strike="noStrike">
              <a:solidFill>
                <a:srgbClr val="000000"/>
              </a:solidFill>
              <a:latin typeface="Arial"/>
            </a:endParaRPr>
          </a:p>
          <a:p>
            <a:pPr lvl="6" marL="1681200" indent="-339840">
              <a:spcBef>
                <a:spcPts val="751"/>
              </a:spcBef>
              <a:buClr>
                <a:srgbClr val="000000"/>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3000" spc="-1" strike="noStrike">
                <a:solidFill>
                  <a:srgbClr val="000000"/>
                </a:solidFill>
                <a:latin typeface="Arial"/>
              </a:rPr>
              <a:t>Seventh Outline Level</a:t>
            </a:r>
            <a:endParaRPr b="0" lang="en-US" sz="3000" spc="-1" strike="noStrike">
              <a:solidFill>
                <a:srgbClr val="000000"/>
              </a:solidFill>
              <a:latin typeface="Arial"/>
            </a:endParaRPr>
          </a:p>
        </p:txBody>
      </p:sp>
      <p:sp>
        <p:nvSpPr>
          <p:cNvPr id="13" name="PlaceHolder 3"/>
          <p:cNvSpPr>
            <a:spLocks noGrp="1"/>
          </p:cNvSpPr>
          <p:nvPr>
            <p:ph type="dt" idx="4"/>
          </p:nvPr>
        </p:nvSpPr>
        <p:spPr>
          <a:xfrm>
            <a:off x="456840" y="6243480"/>
            <a:ext cx="2133720" cy="457200"/>
          </a:xfrm>
          <a:prstGeom prst="rect">
            <a:avLst/>
          </a:prstGeom>
          <a:noFill/>
          <a:ln w="0">
            <a:noFill/>
          </a:ln>
        </p:spPr>
        <p:txBody>
          <a:bodyPr lIns="90000" rIns="90000" tIns="46800" bIns="46800" anchor="b">
            <a:noAutofit/>
          </a:bodyPr>
          <a:lstStyle>
            <a:lvl1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GB" sz="1200" spc="-1" strike="noStrike">
                <a:solidFill>
                  <a:srgbClr val="000000"/>
                </a:solidFill>
                <a:latin typeface="Garamond"/>
              </a:defRPr>
            </a:lvl1pPr>
          </a:lstStyle>
          <a:p>
            <a:pPr indent="0">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966AAE7-B03A-4800-8771-6602A227FBBE}" type="datetime">
              <a:rPr b="0" lang="en-GB" sz="1200" spc="-1" strike="noStrike">
                <a:solidFill>
                  <a:srgbClr val="000000"/>
                </a:solidFill>
                <a:latin typeface="Garamond"/>
              </a:rPr>
              <a:t>06/06/26</a:t>
            </a:fld>
            <a:endParaRPr b="0" lang="en-US" sz="1200" spc="-1" strike="noStrike">
              <a:solidFill>
                <a:srgbClr val="000000"/>
              </a:solidFill>
              <a:latin typeface="Times New Roman"/>
            </a:endParaRPr>
          </a:p>
        </p:txBody>
      </p:sp>
      <p:sp>
        <p:nvSpPr>
          <p:cNvPr id="14" name="PlaceHolder 4"/>
          <p:cNvSpPr>
            <a:spLocks noGrp="1"/>
          </p:cNvSpPr>
          <p:nvPr>
            <p:ph type="ftr" idx="5"/>
          </p:nvPr>
        </p:nvSpPr>
        <p:spPr>
          <a:xfrm>
            <a:off x="2771640" y="6243480"/>
            <a:ext cx="3600720" cy="457200"/>
          </a:xfrm>
          <a:prstGeom prst="rect">
            <a:avLst/>
          </a:prstGeom>
          <a:noFill/>
          <a:ln w="0">
            <a:noFill/>
          </a:ln>
        </p:spPr>
        <p:txBody>
          <a:bodyPr lIns="90000" rIns="90000" tIns="46800" bIns="46800" anchor="b">
            <a:noAutofit/>
          </a:bodyPr>
          <a:lstStyle>
            <a:lvl1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Times New Roman"/>
            </a:endParaRPr>
          </a:p>
        </p:txBody>
      </p:sp>
      <p:sp>
        <p:nvSpPr>
          <p:cNvPr id="15" name="PlaceHolder 5"/>
          <p:cNvSpPr>
            <a:spLocks noGrp="1"/>
          </p:cNvSpPr>
          <p:nvPr>
            <p:ph type="sldNum" idx="6"/>
          </p:nvPr>
        </p:nvSpPr>
        <p:spPr>
          <a:xfrm>
            <a:off x="6552720" y="6243480"/>
            <a:ext cx="2133720" cy="457200"/>
          </a:xfrm>
          <a:prstGeom prst="rect">
            <a:avLst/>
          </a:prstGeom>
          <a:noFill/>
          <a:ln w="0">
            <a:noFill/>
          </a:ln>
        </p:spPr>
        <p:txBody>
          <a:bodyPr lIns="90000" rIns="90000" tIns="46800" bIns="46800" anchor="b">
            <a:noAutofit/>
          </a:bodyPr>
          <a:lstStyle>
            <a:lvl1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AU" sz="1200" spc="-1" strike="noStrike">
                <a:solidFill>
                  <a:srgbClr val="000000"/>
                </a:solidFill>
                <a:latin typeface="Garamond"/>
              </a:defRPr>
            </a:lvl1pPr>
          </a:lstStyle>
          <a:p>
            <a:pPr indent="0" algn="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E0CCFD-D22A-42B7-875F-0EE0C98C1C90}" type="slidenum">
              <a:rPr b="0" lang="en-AU" sz="1200" spc="-1" strike="noStrike">
                <a:solidFill>
                  <a:srgbClr val="000000"/>
                </a:solidFill>
                <a:latin typeface="Garamond"/>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2.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wmf"/><Relationship Id="rId3" Type="http://schemas.openxmlformats.org/officeDocument/2006/relationships/image" Target="../media/image6.wmf"/><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wmf"/><Relationship Id="rId7" Type="http://schemas.openxmlformats.org/officeDocument/2006/relationships/image" Target="../media/image10.wmf"/><Relationship Id="rId8" Type="http://schemas.openxmlformats.org/officeDocument/2006/relationships/image" Target="../media/image11.png"/><Relationship Id="rId9" Type="http://schemas.openxmlformats.org/officeDocument/2006/relationships/image" Target="../media/image12.wmf"/><Relationship Id="rId10" Type="http://schemas.openxmlformats.org/officeDocument/2006/relationships/image" Target="../media/image13.wmf"/><Relationship Id="rId11" Type="http://schemas.openxmlformats.org/officeDocument/2006/relationships/image" Target="../media/image14.wmf"/><Relationship Id="rId12" Type="http://schemas.openxmlformats.org/officeDocument/2006/relationships/image" Target="../media/image15.png"/><Relationship Id="rId13" Type="http://schemas.openxmlformats.org/officeDocument/2006/relationships/image" Target="../media/image14.wmf"/><Relationship Id="rId14" Type="http://schemas.openxmlformats.org/officeDocument/2006/relationships/image" Target="../media/image15.png"/><Relationship Id="rId15" Type="http://schemas.openxmlformats.org/officeDocument/2006/relationships/image" Target="../media/image16.wmf"/><Relationship Id="rId16" Type="http://schemas.openxmlformats.org/officeDocument/2006/relationships/image" Target="../media/image17.wmf"/><Relationship Id="rId17" Type="http://schemas.openxmlformats.org/officeDocument/2006/relationships/image" Target="../media/image18.wmf"/><Relationship Id="rId18" Type="http://schemas.openxmlformats.org/officeDocument/2006/relationships/slideLayout" Target="../slideLayouts/slideLayout1.xml"/><Relationship Id="rId19"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9.wmf"/><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0.wmf"/><Relationship Id="rId2" Type="http://schemas.openxmlformats.org/officeDocument/2006/relationships/image" Target="../media/image21.wmf"/><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wmf"/><Relationship Id="rId3" Type="http://schemas.openxmlformats.org/officeDocument/2006/relationships/slideLayout" Target="../slideLayouts/slideLayout1.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4.wmf"/><Relationship Id="rId2" Type="http://schemas.openxmlformats.org/officeDocument/2006/relationships/image" Target="../media/image23.wmf"/><Relationship Id="rId3" Type="http://schemas.openxmlformats.org/officeDocument/2006/relationships/image" Target="../media/image25.wmf"/><Relationship Id="rId4" Type="http://schemas.openxmlformats.org/officeDocument/2006/relationships/image" Target="../media/image22.png"/><Relationship Id="rId5" Type="http://schemas.openxmlformats.org/officeDocument/2006/relationships/slideLayout" Target="../slideLayouts/slideLayout1.xml"/><Relationship Id="rId6"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26.wmf"/><Relationship Id="rId2" Type="http://schemas.openxmlformats.org/officeDocument/2006/relationships/image" Target="../media/image27.png"/><Relationship Id="rId3" Type="http://schemas.openxmlformats.org/officeDocument/2006/relationships/image" Target="../media/image28.wmf"/><Relationship Id="rId4" Type="http://schemas.openxmlformats.org/officeDocument/2006/relationships/image" Target="../media/image29.wmf"/><Relationship Id="rId5" Type="http://schemas.openxmlformats.org/officeDocument/2006/relationships/image" Target="../media/image30.wmf"/><Relationship Id="rId6" Type="http://schemas.openxmlformats.org/officeDocument/2006/relationships/image" Target="../media/image31.wmf"/><Relationship Id="rId7" Type="http://schemas.openxmlformats.org/officeDocument/2006/relationships/slideLayout" Target="../slideLayouts/slideLayout1.xml"/><Relationship Id="rId8"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2.wmf"/><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3.wmf"/><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35.wmf"/><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wmf"/><Relationship Id="rId3" Type="http://schemas.openxmlformats.org/officeDocument/2006/relationships/image" Target="../media/image38.png"/><Relationship Id="rId4" Type="http://schemas.openxmlformats.org/officeDocument/2006/relationships/slideLayout" Target="../slideLayouts/slideLayout1.xml"/><Relationship Id="rId5"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Relationship Id="rId3"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40.wmf"/><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wmf"/><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44.wmf"/><Relationship Id="rId2" Type="http://schemas.openxmlformats.org/officeDocument/2006/relationships/image" Target="../media/image45.wmf"/><Relationship Id="rId3" Type="http://schemas.openxmlformats.org/officeDocument/2006/relationships/slideLayout" Target="../slideLayouts/slideLayout1.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47.wmf"/><Relationship Id="rId2" Type="http://schemas.openxmlformats.org/officeDocument/2006/relationships/image" Target="../media/image48.png"/><Relationship Id="rId3" Type="http://schemas.openxmlformats.org/officeDocument/2006/relationships/image" Target="../media/image49.wmf"/><Relationship Id="rId4" Type="http://schemas.openxmlformats.org/officeDocument/2006/relationships/slideLayout" Target="../slideLayouts/slideLayout1.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image" Target="../media/image51.wmf"/><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52.wmf"/><Relationship Id="rId2" Type="http://schemas.openxmlformats.org/officeDocument/2006/relationships/image" Target="../media/image53.wmf"/><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54.wmf"/><Relationship Id="rId2" Type="http://schemas.openxmlformats.org/officeDocument/2006/relationships/image" Target="../media/image53.wmf"/><Relationship Id="rId3" Type="http://schemas.openxmlformats.org/officeDocument/2006/relationships/image" Target="../media/image55.wmf"/><Relationship Id="rId4" Type="http://schemas.openxmlformats.org/officeDocument/2006/relationships/image" Target="../media/image55.wmf"/><Relationship Id="rId5" Type="http://schemas.openxmlformats.org/officeDocument/2006/relationships/image" Target="../media/image55.wmf"/><Relationship Id="rId6" Type="http://schemas.openxmlformats.org/officeDocument/2006/relationships/slideLayout" Target="../slideLayouts/slideLayout1.xml"/><Relationship Id="rId7"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56.wmf"/><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57.wmf"/><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58.wmf"/><Relationship Id="rId2" Type="http://schemas.openxmlformats.org/officeDocument/2006/relationships/image" Target="../media/image59.wmf"/><Relationship Id="rId3" Type="http://schemas.openxmlformats.org/officeDocument/2006/relationships/slideLayout" Target="../slideLayouts/slideLayout1.xml"/><Relationship Id="rId4"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image" Target="../media/image64.png"/><Relationship Id="rId3" Type="http://schemas.openxmlformats.org/officeDocument/2006/relationships/image" Target="../media/image65.png"/><Relationship Id="rId4" Type="http://schemas.openxmlformats.org/officeDocument/2006/relationships/image" Target="../media/image66.png"/><Relationship Id="rId5" Type="http://schemas.openxmlformats.org/officeDocument/2006/relationships/slideLayout" Target="../slideLayouts/slideLayout1.xml"/><Relationship Id="rId6"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Rectangle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F5D064-ECC4-4959-8007-F8F826977D7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 name="Rectangle 5"/>
          <p:cNvSpPr/>
          <p:nvPr/>
        </p:nvSpPr>
        <p:spPr>
          <a:xfrm>
            <a:off x="2771640" y="6243480"/>
            <a:ext cx="360072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 name="Rectangle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1C9D7FD-8B2E-414C-A655-DB60859A2C0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6" name="PlaceHolder 1"/>
          <p:cNvSpPr>
            <a:spLocks noGrp="1"/>
          </p:cNvSpPr>
          <p:nvPr>
            <p:ph type="title"/>
          </p:nvPr>
        </p:nvSpPr>
        <p:spPr>
          <a:xfrm>
            <a:off x="755640" y="1341000"/>
            <a:ext cx="7694640" cy="2592360"/>
          </a:xfrm>
          <a:prstGeom prst="rect">
            <a:avLst/>
          </a:prstGeom>
          <a:noFill/>
          <a:ln w="0">
            <a:noFill/>
          </a:ln>
        </p:spPr>
        <p:txBody>
          <a:bodyPr lIns="91440" rIns="91440" tIns="45720" bIns="45720" anchor="t">
            <a:noAutofit/>
          </a:bodyPr>
          <a:p>
            <a:pPr indent="0" algn="ct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600" spc="-1" strike="noStrike">
                <a:solidFill>
                  <a:srgbClr val="006633"/>
                </a:solidFill>
                <a:latin typeface="Tahoma"/>
              </a:rPr>
              <a:t>Modelling and Simulation of Environmental Disturbances </a:t>
            </a:r>
            <a:br>
              <a:rPr sz="4600"/>
            </a:br>
            <a:br>
              <a:rPr sz="3400"/>
            </a:br>
            <a:r>
              <a:rPr b="0" lang="en-AU" sz="3400" spc="-1" strike="noStrike">
                <a:solidFill>
                  <a:srgbClr val="006633"/>
                </a:solidFill>
                <a:latin typeface="Tahoma"/>
              </a:rPr>
              <a:t>(Module 5)</a:t>
            </a:r>
            <a:endParaRPr b="0" lang="en-US" sz="3400" spc="-1" strike="noStrike">
              <a:solidFill>
                <a:srgbClr val="006633"/>
              </a:solidFill>
              <a:latin typeface="Tahoma"/>
            </a:endParaRPr>
          </a:p>
        </p:txBody>
      </p:sp>
      <p:pic>
        <p:nvPicPr>
          <p:cNvPr id="27" name="Picture 5" descr=""/>
          <p:cNvPicPr/>
          <p:nvPr/>
        </p:nvPicPr>
        <p:blipFill>
          <a:blip r:embed="rId1"/>
          <a:stretch/>
        </p:blipFill>
        <p:spPr>
          <a:xfrm>
            <a:off x="1692360" y="5229360"/>
            <a:ext cx="2320920" cy="890280"/>
          </a:xfrm>
          <a:prstGeom prst="rect">
            <a:avLst/>
          </a:prstGeom>
          <a:ln w="0">
            <a:noFill/>
          </a:ln>
        </p:spPr>
      </p:pic>
      <p:sp>
        <p:nvSpPr>
          <p:cNvPr id="28" name="Rectangle 7"/>
          <p:cNvSpPr/>
          <p:nvPr/>
        </p:nvSpPr>
        <p:spPr>
          <a:xfrm>
            <a:off x="1403280" y="4005360"/>
            <a:ext cx="324180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Dr Tristan Perez </a:t>
            </a:r>
            <a:r>
              <a:rPr b="0" lang="en-AU" sz="2800" spc="-1" strike="noStrike">
                <a:solidFill>
                  <a:srgbClr val="000000"/>
                </a:solidFill>
                <a:latin typeface="Arial"/>
              </a:rPr>
              <a:t>	</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Centre for Complex Dynamic Systems and Control (CDSC)</a:t>
            </a:r>
            <a:endParaRPr b="0" lang="en-US" sz="1800" spc="-1" strike="noStrike">
              <a:solidFill>
                <a:srgbClr val="000000"/>
              </a:solidFill>
              <a:latin typeface="Arial"/>
            </a:endParaRPr>
          </a:p>
        </p:txBody>
      </p:sp>
      <p:sp>
        <p:nvSpPr>
          <p:cNvPr id="29" name="Rectangle 11"/>
          <p:cNvSpPr/>
          <p:nvPr/>
        </p:nvSpPr>
        <p:spPr>
          <a:xfrm>
            <a:off x="4932360" y="4005360"/>
            <a:ext cx="3745080" cy="1224000"/>
          </a:xfrm>
          <a:prstGeom prst="rect">
            <a:avLst/>
          </a:prstGeom>
          <a:noFill/>
          <a:ln w="0">
            <a:noFill/>
          </a:ln>
        </p:spPr>
        <p:style>
          <a:lnRef idx="0"/>
          <a:fillRef idx="0"/>
          <a:effectRef idx="0"/>
          <a:fontRef idx="minor"/>
        </p:style>
        <p:txBody>
          <a:bodyPr lIns="90000" rIns="90000" tIns="46800" bIns="46800" anchor="t">
            <a:noAutofit/>
          </a:bodyPr>
          <a:p>
            <a:pPr>
              <a:spcBef>
                <a:spcPts val="7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800" spc="-1" strike="noStrike">
                <a:solidFill>
                  <a:srgbClr val="000000"/>
                </a:solidFill>
                <a:latin typeface="Arial"/>
              </a:rPr>
              <a:t>Prof. Thor I Fossen</a:t>
            </a:r>
            <a:endParaRPr b="0" lang="en-US" sz="2800" spc="-1" strike="noStrike">
              <a:solidFill>
                <a:srgbClr val="000000"/>
              </a:solidFill>
              <a:latin typeface="Arial"/>
            </a:endParaRPr>
          </a:p>
          <a:p>
            <a:pPr>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Department of Engineering Cybernetics</a:t>
            </a:r>
            <a:endParaRPr b="0" lang="en-US" sz="1800" spc="-1" strike="noStrike">
              <a:solidFill>
                <a:srgbClr val="000000"/>
              </a:solidFill>
              <a:latin typeface="Arial"/>
            </a:endParaRPr>
          </a:p>
        </p:txBody>
      </p:sp>
      <p:pic>
        <p:nvPicPr>
          <p:cNvPr id="30" name="Picture 12" descr=""/>
          <p:cNvPicPr/>
          <p:nvPr/>
        </p:nvPicPr>
        <p:blipFill>
          <a:blip r:embed="rId2"/>
          <a:stretch/>
        </p:blipFill>
        <p:spPr>
          <a:xfrm>
            <a:off x="5651640" y="5445000"/>
            <a:ext cx="2436840" cy="7095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 name="Date Placeholder 6"/>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2C6224C-2B1C-4EA9-987B-E8A2BBF31CF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 name="Footer Placeholder 7"/>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 name="Slide Number Placeholder 8"/>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1822E0-568A-4091-9FFB-AAF856A4D19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Regular waves in deep water</a:t>
            </a:r>
            <a:endParaRPr b="0" lang="en-US" sz="4200" spc="-1" strike="noStrike">
              <a:solidFill>
                <a:srgbClr val="006633"/>
              </a:solidFill>
              <a:latin typeface="Tahoma"/>
            </a:endParaRPr>
          </a:p>
        </p:txBody>
      </p:sp>
      <p:grpSp>
        <p:nvGrpSpPr>
          <p:cNvPr id="35" name="Group 3"/>
          <p:cNvGrpSpPr/>
          <p:nvPr/>
        </p:nvGrpSpPr>
        <p:grpSpPr>
          <a:xfrm>
            <a:off x="6769080" y="1050840"/>
            <a:ext cx="1971360" cy="2165400"/>
            <a:chOff x="6769080" y="1050840"/>
            <a:chExt cx="1971360" cy="2165400"/>
          </a:xfrm>
        </p:grpSpPr>
        <p:pic>
          <p:nvPicPr>
            <p:cNvPr id="36" name="Picture 4" descr=""/>
            <p:cNvPicPr/>
            <p:nvPr/>
          </p:nvPicPr>
          <p:blipFill>
            <a:blip r:embed="rId1"/>
            <a:stretch/>
          </p:blipFill>
          <p:spPr>
            <a:xfrm>
              <a:off x="7495560" y="1579680"/>
              <a:ext cx="483120" cy="560160"/>
            </a:xfrm>
            <a:prstGeom prst="rect">
              <a:avLst/>
            </a:prstGeom>
            <a:ln w="0">
              <a:noFill/>
            </a:ln>
          </p:spPr>
        </p:pic>
        <p:pic>
          <p:nvPicPr>
            <p:cNvPr id="37" name="Picture 5" descr=""/>
            <p:cNvPicPr/>
            <p:nvPr/>
          </p:nvPicPr>
          <p:blipFill>
            <a:blip r:embed="rId2"/>
            <a:stretch/>
          </p:blipFill>
          <p:spPr>
            <a:xfrm>
              <a:off x="8546040" y="3014640"/>
              <a:ext cx="187200" cy="201600"/>
            </a:xfrm>
            <a:prstGeom prst="rect">
              <a:avLst/>
            </a:prstGeom>
            <a:ln w="0">
              <a:noFill/>
            </a:ln>
          </p:spPr>
        </p:pic>
        <p:pic>
          <p:nvPicPr>
            <p:cNvPr id="38" name="Picture 6" descr=""/>
            <p:cNvPicPr/>
            <p:nvPr/>
          </p:nvPicPr>
          <p:blipFill>
            <a:blip r:embed="rId3"/>
            <a:stretch/>
          </p:blipFill>
          <p:spPr>
            <a:xfrm>
              <a:off x="6769080" y="1106640"/>
              <a:ext cx="168120" cy="242640"/>
            </a:xfrm>
            <a:prstGeom prst="rect">
              <a:avLst/>
            </a:prstGeom>
            <a:ln w="0">
              <a:noFill/>
            </a:ln>
          </p:spPr>
        </p:pic>
        <p:sp>
          <p:nvSpPr>
            <p:cNvPr id="39" name="Line 7"/>
            <p:cNvSpPr/>
            <p:nvPr/>
          </p:nvSpPr>
          <p:spPr>
            <a:xfrm flipV="1">
              <a:off x="7069320" y="1050840"/>
              <a:ext cx="0" cy="181944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0" name="Line 8"/>
            <p:cNvSpPr/>
            <p:nvPr/>
          </p:nvSpPr>
          <p:spPr>
            <a:xfrm>
              <a:off x="7061760" y="2871720"/>
              <a:ext cx="1678680" cy="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1" name="Line 9"/>
            <p:cNvSpPr/>
            <p:nvPr/>
          </p:nvSpPr>
          <p:spPr>
            <a:xfrm>
              <a:off x="6878880" y="2054160"/>
              <a:ext cx="836280" cy="1022400"/>
            </a:xfrm>
            <a:prstGeom prst="line">
              <a:avLst/>
            </a:prstGeom>
            <a:ln w="38160">
              <a:solidFill>
                <a:srgbClr val="0000ff"/>
              </a:solidFill>
              <a:miter/>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2" name="Line 10"/>
            <p:cNvSpPr/>
            <p:nvPr/>
          </p:nvSpPr>
          <p:spPr>
            <a:xfrm>
              <a:off x="7218720" y="1660680"/>
              <a:ext cx="836280" cy="1022400"/>
            </a:xfrm>
            <a:prstGeom prst="line">
              <a:avLst/>
            </a:prstGeom>
            <a:ln w="38160">
              <a:solidFill>
                <a:srgbClr val="0000ff"/>
              </a:solidFill>
              <a:miter/>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3" name="Line 11"/>
            <p:cNvSpPr/>
            <p:nvPr/>
          </p:nvSpPr>
          <p:spPr>
            <a:xfrm>
              <a:off x="7698960" y="1333440"/>
              <a:ext cx="836280" cy="1022400"/>
            </a:xfrm>
            <a:prstGeom prst="line">
              <a:avLst/>
            </a:prstGeom>
            <a:ln w="38160">
              <a:solidFill>
                <a:srgbClr val="0000ff"/>
              </a:solidFill>
              <a:miter/>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4" name="Line 12"/>
            <p:cNvSpPr/>
            <p:nvPr/>
          </p:nvSpPr>
          <p:spPr>
            <a:xfrm flipV="1">
              <a:off x="7069320" y="1579320"/>
              <a:ext cx="1299240" cy="1290600"/>
            </a:xfrm>
            <a:prstGeom prst="line">
              <a:avLst/>
            </a:prstGeom>
            <a:ln w="12600">
              <a:solidFill>
                <a:srgbClr val="000000"/>
              </a:solidFill>
              <a:prstDash val="sysDot"/>
              <a:miter/>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45" name="Picture 13" descr=""/>
            <p:cNvPicPr/>
            <p:nvPr/>
          </p:nvPicPr>
          <p:blipFill>
            <a:blip r:embed="rId4"/>
            <a:stretch/>
          </p:blipFill>
          <p:spPr>
            <a:xfrm>
              <a:off x="7886880" y="2552760"/>
              <a:ext cx="207720" cy="266760"/>
            </a:xfrm>
            <a:prstGeom prst="rect">
              <a:avLst/>
            </a:prstGeom>
            <a:ln w="0">
              <a:noFill/>
            </a:ln>
          </p:spPr>
        </p:pic>
        <p:sp>
          <p:nvSpPr>
            <p:cNvPr id="46" name="Line 14"/>
            <p:cNvSpPr/>
            <p:nvPr/>
          </p:nvSpPr>
          <p:spPr>
            <a:xfrm flipV="1">
              <a:off x="7722720" y="1857600"/>
              <a:ext cx="373320" cy="366480"/>
            </a:xfrm>
            <a:prstGeom prst="line">
              <a:avLst/>
            </a:prstGeom>
            <a:ln w="12600">
              <a:solidFill>
                <a:srgbClr val="000000"/>
              </a:solidFill>
              <a:miter/>
              <a:headEnd len="med" type="triangle" w="med"/>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47" name="Arc 15"/>
            <p:cNvSpPr/>
            <p:nvPr/>
          </p:nvSpPr>
          <p:spPr>
            <a:xfrm>
              <a:off x="7565760" y="2403720"/>
              <a:ext cx="198720" cy="466560"/>
            </a:xfrm>
            <a:prstGeom prst="pie">
              <a:avLst/>
            </a:prstGeom>
            <a:noFill/>
            <a:ln w="12600">
              <a:solidFill>
                <a:srgbClr val="000000"/>
              </a:solidFill>
              <a:round/>
              <a:headEnd len="med" type="triangle" w="med"/>
            </a:ln>
          </p:spPr>
          <p:style>
            <a:lnRef idx="0"/>
            <a:fillRef idx="0"/>
            <a:effectRef idx="0"/>
            <a:fontRef idx="minor"/>
          </p:style>
          <p:txBody>
            <a:bodyPr wrap="none" lIns="90360" rIns="90360" tIns="44280" bIns="44280" anchor="ctr">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grpSp>
      <p:pic>
        <p:nvPicPr>
          <p:cNvPr id="48" name="Picture 16" descr=""/>
          <p:cNvPicPr/>
          <p:nvPr/>
        </p:nvPicPr>
        <p:blipFill>
          <a:blip r:embed="rId5"/>
          <a:stretch/>
        </p:blipFill>
        <p:spPr>
          <a:xfrm>
            <a:off x="6340320" y="3355920"/>
            <a:ext cx="1392480" cy="1139760"/>
          </a:xfrm>
          <a:prstGeom prst="rect">
            <a:avLst/>
          </a:prstGeom>
          <a:ln w="0">
            <a:noFill/>
          </a:ln>
        </p:spPr>
      </p:pic>
      <p:pic>
        <p:nvPicPr>
          <p:cNvPr id="49" name="Picture 17" descr=""/>
          <p:cNvPicPr/>
          <p:nvPr/>
        </p:nvPicPr>
        <p:blipFill>
          <a:blip r:embed="rId6"/>
          <a:stretch/>
        </p:blipFill>
        <p:spPr>
          <a:xfrm>
            <a:off x="684360" y="1989000"/>
            <a:ext cx="5851440" cy="712800"/>
          </a:xfrm>
          <a:prstGeom prst="rect">
            <a:avLst/>
          </a:prstGeom>
          <a:ln w="12600">
            <a:solidFill>
              <a:srgbClr val="000000"/>
            </a:solidFill>
            <a:miter/>
          </a:ln>
        </p:spPr>
      </p:pic>
      <p:pic>
        <p:nvPicPr>
          <p:cNvPr id="50" name="Picture 18" descr=""/>
          <p:cNvPicPr/>
          <p:nvPr/>
        </p:nvPicPr>
        <p:blipFill>
          <a:blip r:embed="rId7"/>
          <a:stretch/>
        </p:blipFill>
        <p:spPr>
          <a:xfrm>
            <a:off x="5076720" y="5734080"/>
            <a:ext cx="963720" cy="399960"/>
          </a:xfrm>
          <a:prstGeom prst="rect">
            <a:avLst/>
          </a:prstGeom>
          <a:ln w="0">
            <a:noFill/>
          </a:ln>
        </p:spPr>
      </p:pic>
      <p:sp>
        <p:nvSpPr>
          <p:cNvPr id="51" name="Rectangle 19"/>
          <p:cNvSpPr/>
          <p:nvPr/>
        </p:nvSpPr>
        <p:spPr>
          <a:xfrm>
            <a:off x="396720" y="1197000"/>
            <a:ext cx="5873760" cy="454680"/>
          </a:xfrm>
          <a:prstGeom prst="rect">
            <a:avLst/>
          </a:prstGeom>
          <a:noFill/>
          <a:ln w="0">
            <a:noFill/>
          </a:ln>
        </p:spPr>
        <p:style>
          <a:lnRef idx="0"/>
          <a:fillRef idx="0"/>
          <a:effectRef idx="0"/>
          <a:fontRef idx="minor"/>
        </p:style>
        <p:txBody>
          <a:bodyPr wrap="none" lIns="90360" rIns="90360" tIns="44280" bIns="4428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 sea surface elevation is described by:</a:t>
            </a:r>
            <a:endParaRPr b="0" lang="en-US" sz="2400" spc="-1" strike="noStrike">
              <a:solidFill>
                <a:srgbClr val="000000"/>
              </a:solidFill>
              <a:latin typeface="Arial"/>
            </a:endParaRPr>
          </a:p>
        </p:txBody>
      </p:sp>
      <p:sp>
        <p:nvSpPr>
          <p:cNvPr id="52" name="Rectangle 20"/>
          <p:cNvSpPr/>
          <p:nvPr/>
        </p:nvSpPr>
        <p:spPr>
          <a:xfrm>
            <a:off x="260640" y="2898720"/>
            <a:ext cx="925200" cy="45468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6633"/>
                </a:solidFill>
                <a:latin typeface="Times New Roman"/>
              </a:rPr>
              <a:t>where</a:t>
            </a:r>
            <a:endParaRPr b="0" lang="en-US" sz="2400" spc="-1" strike="noStrike">
              <a:solidFill>
                <a:srgbClr val="000000"/>
              </a:solidFill>
              <a:latin typeface="Arial"/>
            </a:endParaRPr>
          </a:p>
        </p:txBody>
      </p:sp>
      <p:pic>
        <p:nvPicPr>
          <p:cNvPr id="53" name="Picture 21" descr=""/>
          <p:cNvPicPr/>
          <p:nvPr/>
        </p:nvPicPr>
        <p:blipFill>
          <a:blip r:embed="rId8"/>
          <a:stretch/>
        </p:blipFill>
        <p:spPr>
          <a:xfrm>
            <a:off x="2068560" y="3456000"/>
            <a:ext cx="1396800" cy="1149480"/>
          </a:xfrm>
          <a:prstGeom prst="rect">
            <a:avLst/>
          </a:prstGeom>
          <a:ln w="0">
            <a:noFill/>
          </a:ln>
        </p:spPr>
      </p:pic>
      <p:pic>
        <p:nvPicPr>
          <p:cNvPr id="54" name="Picture 22" descr=""/>
          <p:cNvPicPr/>
          <p:nvPr/>
        </p:nvPicPr>
        <p:blipFill>
          <a:blip r:embed="rId9"/>
          <a:stretch/>
        </p:blipFill>
        <p:spPr>
          <a:xfrm>
            <a:off x="4098960" y="3433680"/>
            <a:ext cx="1677960" cy="1120680"/>
          </a:xfrm>
          <a:prstGeom prst="rect">
            <a:avLst/>
          </a:prstGeom>
          <a:ln w="0">
            <a:noFill/>
          </a:ln>
        </p:spPr>
      </p:pic>
      <p:sp>
        <p:nvSpPr>
          <p:cNvPr id="55" name="Rectangle 23"/>
          <p:cNvSpPr/>
          <p:nvPr/>
        </p:nvSpPr>
        <p:spPr>
          <a:xfrm>
            <a:off x="1844280" y="4699080"/>
            <a:ext cx="2077200" cy="820440"/>
          </a:xfrm>
          <a:prstGeom prst="rect">
            <a:avLst/>
          </a:prstGeom>
          <a:noFill/>
          <a:ln w="0">
            <a:noFill/>
          </a:ln>
        </p:spPr>
        <p:style>
          <a:lnRef idx="0"/>
          <a:fillRef idx="0"/>
          <a:effectRef idx="0"/>
          <a:fontRef idx="minor"/>
        </p:style>
        <p:txBody>
          <a:bodyPr wrap="none" lIns="90360" rIns="90360" tIns="44280" bIns="4428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ff"/>
                </a:solidFill>
                <a:latin typeface="Arial"/>
              </a:rPr>
              <a:t>Wave number</a:t>
            </a:r>
            <a:endParaRPr b="0" lang="en-US" sz="24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400" spc="-1" strike="noStrike">
                <a:solidFill>
                  <a:srgbClr val="0000ff"/>
                </a:solidFill>
                <a:latin typeface="Arial"/>
              </a:rPr>
              <a:t>(rad/m)</a:t>
            </a:r>
            <a:endParaRPr b="0" lang="en-US" sz="2400" spc="-1" strike="noStrike">
              <a:solidFill>
                <a:srgbClr val="000000"/>
              </a:solidFill>
              <a:latin typeface="Arial"/>
            </a:endParaRPr>
          </a:p>
        </p:txBody>
      </p:sp>
      <p:sp>
        <p:nvSpPr>
          <p:cNvPr id="56" name="Rectangle 24"/>
          <p:cNvSpPr/>
          <p:nvPr/>
        </p:nvSpPr>
        <p:spPr>
          <a:xfrm>
            <a:off x="4017240" y="4626000"/>
            <a:ext cx="1874520" cy="820440"/>
          </a:xfrm>
          <a:prstGeom prst="rect">
            <a:avLst/>
          </a:prstGeom>
          <a:noFill/>
          <a:ln w="0">
            <a:noFill/>
          </a:ln>
        </p:spPr>
        <p:style>
          <a:lnRef idx="0"/>
          <a:fillRef idx="0"/>
          <a:effectRef idx="0"/>
          <a:fontRef idx="minor"/>
        </p:style>
        <p:txBody>
          <a:bodyPr wrap="none" lIns="90360" rIns="90360" tIns="44280" bIns="4428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ff"/>
                </a:solidFill>
                <a:latin typeface="Arial"/>
              </a:rPr>
              <a:t>Wave length</a:t>
            </a:r>
            <a:endParaRPr b="0" lang="en-US" sz="24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400" spc="-1" strike="noStrike">
                <a:solidFill>
                  <a:srgbClr val="0000ff"/>
                </a:solidFill>
                <a:latin typeface="Arial"/>
              </a:rPr>
              <a:t>(m)</a:t>
            </a:r>
            <a:endParaRPr b="0" lang="en-US" sz="2400" spc="-1" strike="noStrike">
              <a:solidFill>
                <a:srgbClr val="000000"/>
              </a:solidFill>
              <a:latin typeface="Arial"/>
            </a:endParaRPr>
          </a:p>
        </p:txBody>
      </p:sp>
      <p:sp>
        <p:nvSpPr>
          <p:cNvPr id="57" name="Rectangle 25"/>
          <p:cNvSpPr/>
          <p:nvPr/>
        </p:nvSpPr>
        <p:spPr>
          <a:xfrm>
            <a:off x="6350760" y="4562640"/>
            <a:ext cx="2145960" cy="820440"/>
          </a:xfrm>
          <a:prstGeom prst="rect">
            <a:avLst/>
          </a:prstGeom>
          <a:noFill/>
          <a:ln w="0">
            <a:noFill/>
          </a:ln>
        </p:spPr>
        <p:style>
          <a:lnRef idx="0"/>
          <a:fillRef idx="0"/>
          <a:effectRef idx="0"/>
          <a:fontRef idx="minor"/>
        </p:style>
        <p:txBody>
          <a:bodyPr wrap="none" lIns="90360" rIns="90360" tIns="44280" bIns="4428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ff"/>
                </a:solidFill>
                <a:latin typeface="Arial"/>
              </a:rPr>
              <a:t>Phase velocity</a:t>
            </a:r>
            <a:endParaRPr b="0" lang="en-US" sz="24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400" spc="-1" strike="noStrike">
                <a:solidFill>
                  <a:srgbClr val="0000ff"/>
                </a:solidFill>
                <a:latin typeface="Arial"/>
              </a:rPr>
              <a:t>(m/sec)</a:t>
            </a:r>
            <a:endParaRPr b="0" lang="en-US" sz="2400" spc="-1" strike="noStrike">
              <a:solidFill>
                <a:srgbClr val="000000"/>
              </a:solidFill>
              <a:latin typeface="Arial"/>
            </a:endParaRPr>
          </a:p>
        </p:txBody>
      </p:sp>
      <p:sp>
        <p:nvSpPr>
          <p:cNvPr id="58" name="Rectangle 26"/>
          <p:cNvSpPr/>
          <p:nvPr/>
        </p:nvSpPr>
        <p:spPr>
          <a:xfrm>
            <a:off x="179280" y="5734080"/>
            <a:ext cx="5691240" cy="36324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6633"/>
                </a:solidFill>
                <a:latin typeface="Arial"/>
              </a:rPr>
              <a:t>These expressions are only valid in deep water</a:t>
            </a:r>
            <a:endParaRPr b="0" lang="en-US" sz="1800" spc="-1" strike="noStrike">
              <a:solidFill>
                <a:srgbClr val="000000"/>
              </a:solidFill>
              <a:latin typeface="Arial"/>
            </a:endParaRPr>
          </a:p>
        </p:txBody>
      </p:sp>
      <p:sp>
        <p:nvSpPr>
          <p:cNvPr id="59" name="Rectangle 27"/>
          <p:cNvSpPr/>
          <p:nvPr/>
        </p:nvSpPr>
        <p:spPr>
          <a:xfrm>
            <a:off x="5635800" y="5735520"/>
            <a:ext cx="3348000" cy="363240"/>
          </a:xfrm>
          <a:prstGeom prst="rect">
            <a:avLst/>
          </a:prstGeom>
          <a:noFill/>
          <a:ln w="0">
            <a:noFill/>
          </a:ln>
        </p:spPr>
        <p:style>
          <a:lnRef idx="0"/>
          <a:fillRef idx="0"/>
          <a:effectRef idx="0"/>
          <a:fontRef idx="minor"/>
        </p:style>
        <p:txBody>
          <a:bodyPr lIns="90360" rIns="90360" tIns="44280" bIns="4428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6633"/>
                </a:solidFill>
                <a:latin typeface="Arial"/>
              </a:rPr>
              <a:t>, where </a:t>
            </a:r>
            <a:r>
              <a:rPr b="0" i="1" lang="en-US" sz="1800" spc="-1" strike="noStrike">
                <a:solidFill>
                  <a:srgbClr val="006633"/>
                </a:solidFill>
                <a:latin typeface="Arial"/>
              </a:rPr>
              <a:t>h</a:t>
            </a:r>
            <a:r>
              <a:rPr b="0" lang="en-US" sz="1800" spc="-1" strike="noStrike">
                <a:solidFill>
                  <a:srgbClr val="006633"/>
                </a:solidFill>
                <a:latin typeface="Arial"/>
              </a:rPr>
              <a:t> is the water depth. </a:t>
            </a:r>
            <a:endParaRPr b="0" lang="en-US" sz="1800" spc="-1" strike="noStrike">
              <a:solidFill>
                <a:srgbClr val="000000"/>
              </a:solidFill>
              <a:latin typeface="Arial"/>
            </a:endParaRPr>
          </a:p>
        </p:txBody>
      </p:sp>
      <p:pic>
        <p:nvPicPr>
          <p:cNvPr id="60" name="Picture 28" descr=""/>
          <p:cNvPicPr/>
          <p:nvPr/>
        </p:nvPicPr>
        <p:blipFill>
          <a:blip r:embed="rId10"/>
          <a:stretch/>
        </p:blipFill>
        <p:spPr>
          <a:xfrm>
            <a:off x="8163000" y="3449520"/>
            <a:ext cx="331560" cy="623880"/>
          </a:xfrm>
          <a:prstGeom prst="rect">
            <a:avLst/>
          </a:prstGeom>
          <a:ln w="0">
            <a:noFill/>
          </a:ln>
        </p:spPr>
      </p:pic>
      <p:grpSp>
        <p:nvGrpSpPr>
          <p:cNvPr id="61" name="Group 29"/>
          <p:cNvGrpSpPr/>
          <p:nvPr/>
        </p:nvGrpSpPr>
        <p:grpSpPr>
          <a:xfrm>
            <a:off x="7840800" y="3916440"/>
            <a:ext cx="669960" cy="502920"/>
            <a:chOff x="7840800" y="3916440"/>
            <a:chExt cx="669960" cy="502920"/>
          </a:xfrm>
        </p:grpSpPr>
        <p:pic>
          <p:nvPicPr>
            <p:cNvPr id="62" name="Picture 30" descr=""/>
            <p:cNvPicPr/>
            <p:nvPr/>
          </p:nvPicPr>
          <p:blipFill>
            <a:blip r:embed="rId11"/>
            <a:stretch/>
          </p:blipFill>
          <p:spPr>
            <a:xfrm>
              <a:off x="7840800" y="3916440"/>
              <a:ext cx="669960" cy="156960"/>
            </a:xfrm>
            <a:prstGeom prst="rect">
              <a:avLst/>
            </a:prstGeom>
            <a:ln w="0">
              <a:noFill/>
            </a:ln>
          </p:spPr>
        </p:pic>
        <p:pic>
          <p:nvPicPr>
            <p:cNvPr id="63" name="Picture 31" descr=""/>
            <p:cNvPicPr/>
            <p:nvPr/>
          </p:nvPicPr>
          <p:blipFill>
            <a:blip r:embed="rId12"/>
            <a:stretch/>
          </p:blipFill>
          <p:spPr>
            <a:xfrm>
              <a:off x="8219520" y="4124160"/>
              <a:ext cx="209880" cy="295200"/>
            </a:xfrm>
            <a:prstGeom prst="rect">
              <a:avLst/>
            </a:prstGeom>
            <a:ln w="0">
              <a:noFill/>
            </a:ln>
          </p:spPr>
        </p:pic>
      </p:grpSp>
      <p:sp>
        <p:nvSpPr>
          <p:cNvPr id="64" name="Rectangle 32"/>
          <p:cNvSpPr/>
          <p:nvPr/>
        </p:nvSpPr>
        <p:spPr>
          <a:xfrm>
            <a:off x="181080" y="4552920"/>
            <a:ext cx="1563480" cy="1186200"/>
          </a:xfrm>
          <a:prstGeom prst="rect">
            <a:avLst/>
          </a:prstGeom>
          <a:noFill/>
          <a:ln w="0">
            <a:noFill/>
          </a:ln>
        </p:spPr>
        <p:style>
          <a:lnRef idx="0"/>
          <a:fillRef idx="0"/>
          <a:effectRef idx="0"/>
          <a:fontRef idx="minor"/>
        </p:style>
        <p:txBody>
          <a:bodyPr lIns="90360" rIns="90360" tIns="44280" bIns="4428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ff"/>
                </a:solidFill>
                <a:latin typeface="Arial"/>
              </a:rPr>
              <a:t>Wave frequency </a:t>
            </a:r>
            <a:endParaRPr b="0" lang="en-US" sz="2400" spc="-1" strike="noStrike">
              <a:solidFill>
                <a:srgbClr val="000000"/>
              </a:solidFill>
              <a:latin typeface="Arial"/>
            </a:endParaRPr>
          </a:p>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400" spc="-1" strike="noStrike">
                <a:solidFill>
                  <a:srgbClr val="0000ff"/>
                </a:solidFill>
                <a:latin typeface="Arial"/>
              </a:rPr>
              <a:t>(rad/s)</a:t>
            </a:r>
            <a:endParaRPr b="0" lang="en-US" sz="2400" spc="-1" strike="noStrike">
              <a:solidFill>
                <a:srgbClr val="000000"/>
              </a:solidFill>
              <a:latin typeface="Arial"/>
            </a:endParaRPr>
          </a:p>
        </p:txBody>
      </p:sp>
      <p:grpSp>
        <p:nvGrpSpPr>
          <p:cNvPr id="65" name="Group 33"/>
          <p:cNvGrpSpPr/>
          <p:nvPr/>
        </p:nvGrpSpPr>
        <p:grpSpPr>
          <a:xfrm>
            <a:off x="439560" y="3645000"/>
            <a:ext cx="1062360" cy="847440"/>
            <a:chOff x="439560" y="3645000"/>
            <a:chExt cx="1062360" cy="847440"/>
          </a:xfrm>
        </p:grpSpPr>
        <p:grpSp>
          <p:nvGrpSpPr>
            <p:cNvPr id="66" name="Group 34"/>
            <p:cNvGrpSpPr/>
            <p:nvPr/>
          </p:nvGrpSpPr>
          <p:grpSpPr>
            <a:xfrm>
              <a:off x="784080" y="3989520"/>
              <a:ext cx="669600" cy="502920"/>
              <a:chOff x="784080" y="3989520"/>
              <a:chExt cx="669600" cy="502920"/>
            </a:xfrm>
          </p:grpSpPr>
          <p:pic>
            <p:nvPicPr>
              <p:cNvPr id="67" name="Picture 35" descr=""/>
              <p:cNvPicPr/>
              <p:nvPr/>
            </p:nvPicPr>
            <p:blipFill>
              <a:blip r:embed="rId13"/>
              <a:stretch/>
            </p:blipFill>
            <p:spPr>
              <a:xfrm>
                <a:off x="784080" y="3989520"/>
                <a:ext cx="669600" cy="156960"/>
              </a:xfrm>
              <a:prstGeom prst="rect">
                <a:avLst/>
              </a:prstGeom>
              <a:ln w="0">
                <a:noFill/>
              </a:ln>
            </p:spPr>
          </p:pic>
          <p:pic>
            <p:nvPicPr>
              <p:cNvPr id="68" name="Picture 36" descr=""/>
              <p:cNvPicPr/>
              <p:nvPr/>
            </p:nvPicPr>
            <p:blipFill>
              <a:blip r:embed="rId14"/>
              <a:stretch/>
            </p:blipFill>
            <p:spPr>
              <a:xfrm>
                <a:off x="1162440" y="4197240"/>
                <a:ext cx="209880" cy="295200"/>
              </a:xfrm>
              <a:prstGeom prst="rect">
                <a:avLst/>
              </a:prstGeom>
              <a:ln w="0">
                <a:noFill/>
              </a:ln>
            </p:spPr>
          </p:pic>
        </p:grpSp>
        <p:pic>
          <p:nvPicPr>
            <p:cNvPr id="69" name="Picture 37" descr=""/>
            <p:cNvPicPr/>
            <p:nvPr/>
          </p:nvPicPr>
          <p:blipFill>
            <a:blip r:embed="rId15"/>
            <a:stretch/>
          </p:blipFill>
          <p:spPr>
            <a:xfrm>
              <a:off x="439560" y="3949920"/>
              <a:ext cx="272160" cy="284040"/>
            </a:xfrm>
            <a:prstGeom prst="rect">
              <a:avLst/>
            </a:prstGeom>
            <a:ln w="0">
              <a:noFill/>
            </a:ln>
          </p:spPr>
        </p:pic>
        <p:pic>
          <p:nvPicPr>
            <p:cNvPr id="70" name="Picture 38" descr=""/>
            <p:cNvPicPr/>
            <p:nvPr/>
          </p:nvPicPr>
          <p:blipFill>
            <a:blip r:embed="rId16"/>
            <a:stretch/>
          </p:blipFill>
          <p:spPr>
            <a:xfrm>
              <a:off x="1018440" y="3645000"/>
              <a:ext cx="483480" cy="379440"/>
            </a:xfrm>
            <a:prstGeom prst="rect">
              <a:avLst/>
            </a:prstGeom>
            <a:ln w="0">
              <a:noFill/>
            </a:ln>
          </p:spPr>
        </p:pic>
      </p:grpSp>
      <p:sp>
        <p:nvSpPr>
          <p:cNvPr id="71" name="Line 39"/>
          <p:cNvSpPr/>
          <p:nvPr/>
        </p:nvSpPr>
        <p:spPr>
          <a:xfrm flipV="1">
            <a:off x="8193240" y="1469880"/>
            <a:ext cx="288720" cy="27792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72" name="Picture 40" descr=""/>
          <p:cNvPicPr/>
          <p:nvPr/>
        </p:nvPicPr>
        <p:blipFill>
          <a:blip r:embed="rId17"/>
          <a:stretch/>
        </p:blipFill>
        <p:spPr>
          <a:xfrm>
            <a:off x="8163000" y="1204920"/>
            <a:ext cx="201600" cy="3603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D231DE0-85FB-4E22-9067-81608CDB2BB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7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7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F62F1C-E4A0-4FD7-8E26-5CC8212D1C3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Sailing condition</a:t>
            </a:r>
            <a:endParaRPr b="0" lang="en-US" sz="4200" spc="-1" strike="noStrike">
              <a:solidFill>
                <a:srgbClr val="006633"/>
              </a:solidFill>
              <a:latin typeface="Tahoma"/>
            </a:endParaRPr>
          </a:p>
        </p:txBody>
      </p:sp>
      <p:pic>
        <p:nvPicPr>
          <p:cNvPr id="77" name="Picture 3" descr=""/>
          <p:cNvPicPr/>
          <p:nvPr/>
        </p:nvPicPr>
        <p:blipFill>
          <a:blip r:embed="rId1"/>
          <a:stretch/>
        </p:blipFill>
        <p:spPr>
          <a:xfrm>
            <a:off x="2057400" y="2411280"/>
            <a:ext cx="5743440" cy="3432240"/>
          </a:xfrm>
          <a:prstGeom prst="rect">
            <a:avLst/>
          </a:prstGeom>
          <a:ln w="0">
            <a:noFill/>
          </a:ln>
        </p:spPr>
      </p:pic>
      <p:sp>
        <p:nvSpPr>
          <p:cNvPr id="78" name="Rectangle 4"/>
          <p:cNvSpPr/>
          <p:nvPr/>
        </p:nvSpPr>
        <p:spPr>
          <a:xfrm>
            <a:off x="372960" y="1227240"/>
            <a:ext cx="8304480" cy="118620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 sailing condition of a vessel is given by its </a:t>
            </a:r>
            <a:r>
              <a:rPr b="0" lang="en-US" sz="2400" spc="-1" strike="noStrike">
                <a:solidFill>
                  <a:srgbClr val="996600"/>
                </a:solidFill>
                <a:latin typeface="Arial"/>
              </a:rPr>
              <a:t>forward speed  </a:t>
            </a:r>
            <a:r>
              <a:rPr b="0" i="1" lang="en-US" sz="2400" spc="-1" strike="noStrike">
                <a:solidFill>
                  <a:srgbClr val="996600"/>
                </a:solidFill>
                <a:latin typeface="Arial"/>
              </a:rPr>
              <a:t>U </a:t>
            </a:r>
            <a:r>
              <a:rPr b="0" lang="en-US" sz="2400" spc="-1" strike="noStrike">
                <a:solidFill>
                  <a:srgbClr val="000000"/>
                </a:solidFill>
                <a:latin typeface="Arial"/>
              </a:rPr>
              <a:t> and its </a:t>
            </a:r>
            <a:r>
              <a:rPr b="0" lang="en-US" sz="2400" spc="-1" strike="noStrike">
                <a:solidFill>
                  <a:srgbClr val="996600"/>
                </a:solidFill>
                <a:latin typeface="Arial"/>
              </a:rPr>
              <a:t>encounter angle</a:t>
            </a:r>
            <a:r>
              <a:rPr b="0" lang="en-US" sz="2400" spc="-1" strike="noStrike">
                <a:solidFill>
                  <a:srgbClr val="000000"/>
                </a:solidFill>
                <a:latin typeface="Arial"/>
              </a:rPr>
              <a:t>, i.e., the heading angle relative to the waves.</a:t>
            </a:r>
            <a:endParaRPr b="0" lang="en-US" sz="2400" spc="-1" strike="noStrike">
              <a:solidFill>
                <a:srgbClr val="000000"/>
              </a:solidFill>
              <a:latin typeface="Arial"/>
            </a:endParaRPr>
          </a:p>
        </p:txBody>
      </p:sp>
      <p:sp>
        <p:nvSpPr>
          <p:cNvPr id="79" name="Rectangle 5"/>
          <p:cNvSpPr/>
          <p:nvPr/>
        </p:nvSpPr>
        <p:spPr>
          <a:xfrm>
            <a:off x="1104840" y="5680080"/>
            <a:ext cx="2400480" cy="454680"/>
          </a:xfrm>
          <a:prstGeom prst="rect">
            <a:avLst/>
          </a:prstGeom>
          <a:noFill/>
          <a:ln w="0">
            <a:noFill/>
          </a:ln>
        </p:spPr>
        <p:style>
          <a:lnRef idx="0"/>
          <a:fillRef idx="0"/>
          <a:effectRef idx="0"/>
          <a:fontRef idx="minor"/>
        </p:style>
        <p:txBody>
          <a:bodyPr wrap="none" lIns="90360" rIns="90360" tIns="44280" bIns="4428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996600"/>
                </a:solidFill>
                <a:latin typeface="Arial"/>
              </a:rPr>
              <a:t>Encounter angle</a:t>
            </a:r>
            <a:endParaRPr b="0" lang="en-US" sz="2400" spc="-1" strike="noStrike">
              <a:solidFill>
                <a:srgbClr val="000000"/>
              </a:solidFill>
              <a:latin typeface="Arial"/>
            </a:endParaRPr>
          </a:p>
        </p:txBody>
      </p:sp>
      <p:sp>
        <p:nvSpPr>
          <p:cNvPr id="80" name="Line 6"/>
          <p:cNvSpPr/>
          <p:nvPr/>
        </p:nvSpPr>
        <p:spPr>
          <a:xfrm flipV="1">
            <a:off x="3173400" y="4897440"/>
            <a:ext cx="671400" cy="72864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99ED503-D386-44A1-B7A8-28364EFC386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82"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83"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39C8DA-9721-447D-BF78-52E9BE0EB795}"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8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Encounter frequency</a:t>
            </a:r>
            <a:endParaRPr b="0" lang="en-US" sz="4200" spc="-1" strike="noStrike">
              <a:solidFill>
                <a:srgbClr val="006633"/>
              </a:solidFill>
              <a:latin typeface="Tahoma"/>
            </a:endParaRPr>
          </a:p>
        </p:txBody>
      </p:sp>
      <p:sp>
        <p:nvSpPr>
          <p:cNvPr id="85" name="PlaceHolder 2"/>
          <p:cNvSpPr>
            <a:spLocks noGrp="1"/>
          </p:cNvSpPr>
          <p:nvPr>
            <p:ph/>
          </p:nvPr>
        </p:nvSpPr>
        <p:spPr>
          <a:xfrm>
            <a:off x="485280" y="1104840"/>
            <a:ext cx="8077320" cy="343224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600" spc="-1" strike="noStrike">
                <a:solidFill>
                  <a:srgbClr val="000000"/>
                </a:solidFill>
                <a:latin typeface="Arial"/>
              </a:rPr>
              <a:t>If the waves are observed  from a reference frame that moves at a constant speed, the frequency observed is called </a:t>
            </a:r>
            <a:r>
              <a:rPr b="0" lang="en-US" sz="2600" spc="-1" strike="noStrike">
                <a:solidFill>
                  <a:srgbClr val="996600"/>
                </a:solidFill>
                <a:latin typeface="Arial"/>
              </a:rPr>
              <a:t>Encounter Frequency</a:t>
            </a:r>
            <a:r>
              <a:rPr b="0" lang="en-US" sz="2600" spc="-1" strike="noStrike">
                <a:solidFill>
                  <a:srgbClr val="000000"/>
                </a:solidFill>
                <a:latin typeface="Arial"/>
              </a:rPr>
              <a:t>.</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p:txBody>
      </p:sp>
      <p:pic>
        <p:nvPicPr>
          <p:cNvPr id="86" name="Picture 4" descr=""/>
          <p:cNvPicPr/>
          <p:nvPr/>
        </p:nvPicPr>
        <p:blipFill>
          <a:blip r:embed="rId1"/>
          <a:stretch/>
        </p:blipFill>
        <p:spPr>
          <a:xfrm>
            <a:off x="5508720" y="3284640"/>
            <a:ext cx="2628720" cy="869760"/>
          </a:xfrm>
          <a:prstGeom prst="rect">
            <a:avLst/>
          </a:prstGeom>
          <a:ln w="12600">
            <a:solidFill>
              <a:srgbClr val="000000"/>
            </a:solidFill>
            <a:miter/>
          </a:ln>
        </p:spPr>
      </p:pic>
      <p:pic>
        <p:nvPicPr>
          <p:cNvPr id="87" name="Picture 5" descr=""/>
          <p:cNvPicPr/>
          <p:nvPr/>
        </p:nvPicPr>
        <p:blipFill>
          <a:blip r:embed="rId2"/>
          <a:stretch/>
        </p:blipFill>
        <p:spPr>
          <a:xfrm>
            <a:off x="324000" y="2421000"/>
            <a:ext cx="4560840" cy="3109680"/>
          </a:xfrm>
          <a:prstGeom prst="rect">
            <a:avLst/>
          </a:prstGeom>
          <a:ln w="0">
            <a:noFill/>
          </a:ln>
        </p:spPr>
      </p:pic>
      <p:sp>
        <p:nvSpPr>
          <p:cNvPr id="88" name="Rectangle 6"/>
          <p:cNvSpPr/>
          <p:nvPr/>
        </p:nvSpPr>
        <p:spPr>
          <a:xfrm>
            <a:off x="5508720" y="4290840"/>
            <a:ext cx="2517840" cy="363240"/>
          </a:xfrm>
          <a:prstGeom prst="rect">
            <a:avLst/>
          </a:prstGeom>
          <a:noFill/>
          <a:ln w="0">
            <a:noFill/>
          </a:ln>
        </p:spPr>
        <p:style>
          <a:lnRef idx="0"/>
          <a:fillRef idx="0"/>
          <a:effectRef idx="0"/>
          <a:fontRef idx="minor"/>
        </p:style>
        <p:txBody>
          <a:bodyPr wrap="none" lIns="90360" rIns="90360" tIns="44280" bIns="4428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996600"/>
                </a:solidFill>
                <a:latin typeface="Arial"/>
              </a:rPr>
              <a:t>This is a Doppler effect</a:t>
            </a:r>
            <a:endParaRPr b="0" lang="en-US" sz="1800" spc="-1" strike="noStrike">
              <a:solidFill>
                <a:srgbClr val="000000"/>
              </a:solidFill>
              <a:latin typeface="Arial"/>
            </a:endParaRPr>
          </a:p>
        </p:txBody>
      </p:sp>
      <p:sp>
        <p:nvSpPr>
          <p:cNvPr id="89" name="Rectangle 7"/>
          <p:cNvSpPr/>
          <p:nvPr/>
        </p:nvSpPr>
        <p:spPr>
          <a:xfrm>
            <a:off x="753840" y="5805360"/>
            <a:ext cx="6420600" cy="363240"/>
          </a:xfrm>
          <a:prstGeom prst="rect">
            <a:avLst/>
          </a:prstGeom>
          <a:noFill/>
          <a:ln w="0">
            <a:noFill/>
          </a:ln>
        </p:spPr>
        <p:style>
          <a:lnRef idx="0"/>
          <a:fillRef idx="0"/>
          <a:effectRef idx="0"/>
          <a:fontRef idx="minor"/>
        </p:style>
        <p:txBody>
          <a:bodyPr wrap="none" lIns="90360" rIns="90360" tIns="44280" bIns="44280" anchor="t">
            <a:sp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Negative encounter frequency =&gt; vessel overtakes the waves</a:t>
            </a:r>
            <a:endParaRPr b="0" lang="en-US" sz="1800" spc="-1" strike="noStrike">
              <a:solidFill>
                <a:srgbClr val="000000"/>
              </a:solidFill>
              <a:latin typeface="Arial"/>
            </a:endParaRPr>
          </a:p>
        </p:txBody>
      </p:sp>
      <p:sp>
        <p:nvSpPr>
          <p:cNvPr id="90" name="Line 8"/>
          <p:cNvSpPr/>
          <p:nvPr/>
        </p:nvSpPr>
        <p:spPr>
          <a:xfrm flipV="1">
            <a:off x="2679840" y="5235120"/>
            <a:ext cx="264960" cy="50004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CB39EC6-EF12-4630-A6E8-5C9518EEF2D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9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9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91D9132-E848-483A-8DAE-5B0E7F94518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9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Ocean waves</a:t>
            </a:r>
            <a:endParaRPr b="0" lang="en-US" sz="4200" spc="-1" strike="noStrike">
              <a:solidFill>
                <a:srgbClr val="006633"/>
              </a:solidFill>
              <a:latin typeface="Tahoma"/>
            </a:endParaRPr>
          </a:p>
        </p:txBody>
      </p:sp>
      <p:sp>
        <p:nvSpPr>
          <p:cNvPr id="95" name="PlaceHolder 2"/>
          <p:cNvSpPr>
            <a:spLocks noGrp="1"/>
          </p:cNvSpPr>
          <p:nvPr>
            <p:ph/>
          </p:nvPr>
        </p:nvSpPr>
        <p:spPr>
          <a:xfrm>
            <a:off x="468360" y="1268280"/>
            <a:ext cx="8229600" cy="4530960"/>
          </a:xfrm>
          <a:prstGeom prst="rect">
            <a:avLst/>
          </a:prstGeom>
          <a:noFill/>
          <a:ln w="0">
            <a:noFill/>
          </a:ln>
        </p:spPr>
        <p:txBody>
          <a:bodyPr lIns="91440" rIns="91440" tIns="45720" bIns="45720" anchor="t">
            <a:normAutofit/>
          </a:bodyPr>
          <a:p>
            <a:pPr marL="343080" indent="-343080">
              <a:spcBef>
                <a:spcPts val="7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3000" spc="-1" strike="noStrike">
                <a:solidFill>
                  <a:srgbClr val="000000"/>
                </a:solidFill>
                <a:latin typeface="Arial"/>
              </a:rPr>
              <a:t>Ocean waves present, in general, irregularity in time and space and cannot be predicted exactly: </a:t>
            </a:r>
            <a:r>
              <a:rPr b="0" lang="en-AU" sz="3000" spc="-1" strike="noStrike">
                <a:solidFill>
                  <a:srgbClr val="996600"/>
                </a:solidFill>
                <a:latin typeface="Arial"/>
              </a:rPr>
              <a:t>Stochastic Process.</a:t>
            </a:r>
            <a:endParaRPr b="0" lang="en-US" sz="3000" spc="-1" strike="noStrike">
              <a:solidFill>
                <a:srgbClr val="000000"/>
              </a:solidFill>
              <a:latin typeface="Arial"/>
            </a:endParaRPr>
          </a:p>
        </p:txBody>
      </p:sp>
      <p:sp>
        <p:nvSpPr>
          <p:cNvPr id="96" name="Line 9"/>
          <p:cNvSpPr/>
          <p:nvPr/>
        </p:nvSpPr>
        <p:spPr>
          <a:xfrm flipV="1">
            <a:off x="826920" y="3552840"/>
            <a:ext cx="0" cy="170640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97" name="Picture 10" descr=""/>
          <p:cNvPicPr/>
          <p:nvPr/>
        </p:nvPicPr>
        <p:blipFill>
          <a:blip r:embed="rId1"/>
          <a:stretch/>
        </p:blipFill>
        <p:spPr>
          <a:xfrm>
            <a:off x="852480" y="3911760"/>
            <a:ext cx="3125880" cy="1258560"/>
          </a:xfrm>
          <a:prstGeom prst="rect">
            <a:avLst/>
          </a:prstGeom>
          <a:ln w="0">
            <a:noFill/>
          </a:ln>
        </p:spPr>
      </p:pic>
      <p:sp>
        <p:nvSpPr>
          <p:cNvPr id="98" name="Line 11"/>
          <p:cNvSpPr/>
          <p:nvPr/>
        </p:nvSpPr>
        <p:spPr>
          <a:xfrm>
            <a:off x="825480" y="4489560"/>
            <a:ext cx="3205080" cy="7920"/>
          </a:xfrm>
          <a:prstGeom prst="line">
            <a:avLst/>
          </a:prstGeom>
          <a:ln w="12600">
            <a:solidFill>
              <a:srgbClr val="000000"/>
            </a:solidFill>
            <a:miter/>
            <a:tailEnd len="med" type="triangle" w="med"/>
          </a:ln>
        </p:spPr>
        <p:style>
          <a:lnRef idx="0"/>
          <a:fillRef idx="0"/>
          <a:effectRef idx="0"/>
          <a:fontRef idx="minor"/>
        </p:style>
        <p:txBody>
          <a:bodyPr lIns="90360" rIns="90360" tIns="-36360" bIns="-36360" anchor="ctr">
            <a:noAutofit/>
          </a:bodyPr>
          <a:p>
            <a:endParaRPr b="0" lang="en-US" sz="1800" spc="-1" strike="noStrike">
              <a:solidFill>
                <a:srgbClr val="000000"/>
              </a:solidFill>
              <a:latin typeface="Arial"/>
            </a:endParaRPr>
          </a:p>
        </p:txBody>
      </p:sp>
      <p:sp>
        <p:nvSpPr>
          <p:cNvPr id="99" name="Rectangle 12"/>
          <p:cNvSpPr/>
          <p:nvPr/>
        </p:nvSpPr>
        <p:spPr>
          <a:xfrm>
            <a:off x="3948120" y="4567320"/>
            <a:ext cx="265320" cy="45468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400" spc="-1" strike="noStrike">
                <a:solidFill>
                  <a:srgbClr val="006633"/>
                </a:solidFill>
                <a:latin typeface="Times New Roman"/>
              </a:rPr>
              <a:t>t</a:t>
            </a:r>
            <a:endParaRPr b="0" lang="en-US" sz="2400" spc="-1" strike="noStrike">
              <a:solidFill>
                <a:srgbClr val="000000"/>
              </a:solidFill>
              <a:latin typeface="Arial"/>
            </a:endParaRPr>
          </a:p>
        </p:txBody>
      </p:sp>
      <p:pic>
        <p:nvPicPr>
          <p:cNvPr id="100" name="Picture 13" descr=""/>
          <p:cNvPicPr/>
          <p:nvPr/>
        </p:nvPicPr>
        <p:blipFill>
          <a:blip r:embed="rId2"/>
          <a:stretch/>
        </p:blipFill>
        <p:spPr>
          <a:xfrm>
            <a:off x="4875120" y="3357720"/>
            <a:ext cx="3729240" cy="2319120"/>
          </a:xfrm>
          <a:prstGeom prst="rect">
            <a:avLst/>
          </a:prstGeom>
          <a:ln w="0">
            <a:noFill/>
          </a:ln>
        </p:spPr>
      </p:pic>
      <p:sp>
        <p:nvSpPr>
          <p:cNvPr id="101" name="Rectangle 14"/>
          <p:cNvSpPr/>
          <p:nvPr/>
        </p:nvSpPr>
        <p:spPr>
          <a:xfrm>
            <a:off x="1487520" y="3392640"/>
            <a:ext cx="76068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ζ(0,0,t)</a:t>
            </a:r>
            <a:endParaRPr b="0" lang="en-US" sz="1600" spc="-1" strike="noStrike">
              <a:solidFill>
                <a:srgbClr val="000000"/>
              </a:solidFill>
              <a:latin typeface="Arial"/>
            </a:endParaRPr>
          </a:p>
        </p:txBody>
      </p:sp>
      <p:sp>
        <p:nvSpPr>
          <p:cNvPr id="102" name="Line 15"/>
          <p:cNvSpPr/>
          <p:nvPr/>
        </p:nvSpPr>
        <p:spPr>
          <a:xfrm>
            <a:off x="3898800" y="4392720"/>
            <a:ext cx="3314880" cy="102384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sp>
        <p:nvSpPr>
          <p:cNvPr id="103" name="Rectangle 16"/>
          <p:cNvSpPr/>
          <p:nvPr/>
        </p:nvSpPr>
        <p:spPr>
          <a:xfrm>
            <a:off x="5951520" y="2852640"/>
            <a:ext cx="80460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ζ(x,y,0)</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554ED5A-811F-4064-8890-CD9E2F42417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05"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06"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AE15A2D-30F5-46A6-8CDF-84E67072F32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07" name="PlaceHolder 1"/>
          <p:cNvSpPr>
            <a:spLocks noGrp="1"/>
          </p:cNvSpPr>
          <p:nvPr>
            <p:ph type="title"/>
          </p:nvPr>
        </p:nvSpPr>
        <p:spPr>
          <a:xfrm>
            <a:off x="457200" y="277560"/>
            <a:ext cx="8229600" cy="70308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Stochastic sea description</a:t>
            </a:r>
            <a:endParaRPr b="0" lang="en-US" sz="4200" spc="-1" strike="noStrike">
              <a:solidFill>
                <a:srgbClr val="006633"/>
              </a:solidFill>
              <a:latin typeface="Tahoma"/>
            </a:endParaRPr>
          </a:p>
        </p:txBody>
      </p:sp>
      <p:sp>
        <p:nvSpPr>
          <p:cNvPr id="108" name="Rectangle 3"/>
          <p:cNvSpPr/>
          <p:nvPr/>
        </p:nvSpPr>
        <p:spPr>
          <a:xfrm>
            <a:off x="395280" y="1557360"/>
            <a:ext cx="8466120" cy="312624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In practice, it is assumed that the variations of a stochastic nature of the sea are much slower than the variations of the sea surface itself; Hence, </a:t>
            </a:r>
            <a:endParaRPr b="0" lang="en-US" sz="24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a:buClr>
                <a:srgbClr val="cc9900"/>
              </a:buClr>
              <a:buSzPct val="20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  </a:t>
            </a:r>
            <a:r>
              <a:rPr b="0" lang="en-US" sz="2200" spc="-1" strike="noStrike">
                <a:solidFill>
                  <a:srgbClr val="000000"/>
                </a:solidFill>
                <a:latin typeface="Arial"/>
              </a:rPr>
              <a:t>ζ(x, y, t) can be considered a realization of a stationary and homogeneous stochastic process.</a:t>
            </a:r>
            <a:endParaRPr b="0" lang="en-US" sz="2200" spc="-1" strike="noStrike">
              <a:solidFill>
                <a:srgbClr val="000000"/>
              </a:solidFill>
              <a:latin typeface="Arial"/>
            </a:endParaRPr>
          </a:p>
          <a:p>
            <a:pPr>
              <a:buClr>
                <a:srgbClr val="cc9900"/>
              </a:buClr>
              <a:buSzPct val="20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200" spc="-1" strike="noStrike">
              <a:solidFill>
                <a:srgbClr val="000000"/>
              </a:solidFill>
              <a:latin typeface="Arial"/>
            </a:endParaRPr>
          </a:p>
          <a:p>
            <a:pPr>
              <a:buClr>
                <a:srgbClr val="cc9900"/>
              </a:buClr>
              <a:buSzPct val="20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200" spc="-1" strike="noStrike">
                <a:solidFill>
                  <a:srgbClr val="000000"/>
                </a:solidFill>
                <a:latin typeface="Arial"/>
              </a:rPr>
              <a:t> </a:t>
            </a:r>
            <a:r>
              <a:rPr b="0" lang="en-US" sz="2200" spc="-1" strike="noStrike">
                <a:solidFill>
                  <a:srgbClr val="000000"/>
                </a:solidFill>
                <a:latin typeface="Arial"/>
              </a:rPr>
              <a:t>For deep water waves, ζ(x, y, t) is further assumed Gaussian.</a:t>
            </a:r>
            <a:r>
              <a:rPr b="0" lang="en-US" sz="2400" spc="-1" strike="noStrike">
                <a:solidFill>
                  <a:srgbClr val="000000"/>
                </a:solidFill>
                <a:latin typeface="Arial"/>
              </a:rPr>
              <a:t> </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B9E733-18D6-4B91-ABDE-74D4FC012A7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1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1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ED4DBD7-5CD4-470A-893C-B4D97833DB8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112" name="Picture 2" descr=""/>
          <p:cNvPicPr/>
          <p:nvPr/>
        </p:nvPicPr>
        <p:blipFill>
          <a:blip r:embed="rId1"/>
          <a:stretch/>
        </p:blipFill>
        <p:spPr>
          <a:xfrm>
            <a:off x="826920" y="1413000"/>
            <a:ext cx="2713320" cy="3535200"/>
          </a:xfrm>
          <a:prstGeom prst="rect">
            <a:avLst/>
          </a:prstGeom>
          <a:ln w="0">
            <a:noFill/>
          </a:ln>
        </p:spPr>
      </p:pic>
      <p:sp>
        <p:nvSpPr>
          <p:cNvPr id="11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200" spc="-1" strike="noStrike">
                <a:solidFill>
                  <a:srgbClr val="006633"/>
                </a:solidFill>
                <a:latin typeface="Tahoma"/>
              </a:rPr>
              <a:t>Gaussian waves</a:t>
            </a:r>
            <a:endParaRPr b="0" lang="en-US" sz="4200" spc="-1" strike="noStrike">
              <a:solidFill>
                <a:srgbClr val="006633"/>
              </a:solidFill>
              <a:latin typeface="Tahoma"/>
            </a:endParaRPr>
          </a:p>
        </p:txBody>
      </p:sp>
      <p:sp>
        <p:nvSpPr>
          <p:cNvPr id="114" name="Rectangle 4"/>
          <p:cNvSpPr/>
          <p:nvPr/>
        </p:nvSpPr>
        <p:spPr>
          <a:xfrm>
            <a:off x="4788000" y="4005360"/>
            <a:ext cx="4003560" cy="18889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5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The elevation of the sea surface can be thought as being generated as the sum of many sinusoidal waves with different amplitudes, frequencies, and phases.</a:t>
            </a:r>
            <a:endParaRPr b="0" lang="en-US" sz="1800" spc="-1" strike="noStrike">
              <a:solidFill>
                <a:srgbClr val="000000"/>
              </a:solidFill>
              <a:latin typeface="Arial"/>
            </a:endParaRPr>
          </a:p>
        </p:txBody>
      </p:sp>
      <p:pic>
        <p:nvPicPr>
          <p:cNvPr id="115" name="Picture 5" descr=""/>
          <p:cNvPicPr/>
          <p:nvPr/>
        </p:nvPicPr>
        <p:blipFill>
          <a:blip r:embed="rId2"/>
          <a:stretch/>
        </p:blipFill>
        <p:spPr>
          <a:xfrm>
            <a:off x="1393920" y="4249800"/>
            <a:ext cx="2948040" cy="1833480"/>
          </a:xfrm>
          <a:prstGeom prst="rect">
            <a:avLst/>
          </a:prstGeom>
          <a:ln w="0">
            <a:noFill/>
          </a:ln>
        </p:spPr>
      </p:pic>
      <p:sp>
        <p:nvSpPr>
          <p:cNvPr id="116" name="Rectangle 6"/>
          <p:cNvSpPr/>
          <p:nvPr/>
        </p:nvSpPr>
        <p:spPr>
          <a:xfrm>
            <a:off x="1179720" y="4398840"/>
            <a:ext cx="80460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ζ(x,y,0)</a:t>
            </a:r>
            <a:endParaRPr b="0" lang="en-US" sz="1600" spc="-1" strike="noStrike">
              <a:solidFill>
                <a:srgbClr val="000000"/>
              </a:solidFill>
              <a:latin typeface="Arial"/>
            </a:endParaRPr>
          </a:p>
        </p:txBody>
      </p:sp>
      <p:sp>
        <p:nvSpPr>
          <p:cNvPr id="117" name="Line 7"/>
          <p:cNvSpPr/>
          <p:nvPr/>
        </p:nvSpPr>
        <p:spPr>
          <a:xfrm flipH="1">
            <a:off x="2790720" y="3367080"/>
            <a:ext cx="1697040" cy="180324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118" name="Picture 8" descr=""/>
          <p:cNvPicPr/>
          <p:nvPr/>
        </p:nvPicPr>
        <p:blipFill>
          <a:blip r:embed="rId3"/>
          <a:stretch/>
        </p:blipFill>
        <p:spPr>
          <a:xfrm>
            <a:off x="4216320" y="2081160"/>
            <a:ext cx="596880" cy="1587600"/>
          </a:xfrm>
          <a:prstGeom prst="rect">
            <a:avLst/>
          </a:prstGeom>
          <a:ln w="0">
            <a:noFill/>
          </a:ln>
        </p:spPr>
      </p:pic>
      <p:sp>
        <p:nvSpPr>
          <p:cNvPr id="119" name="Line 9"/>
          <p:cNvSpPr/>
          <p:nvPr/>
        </p:nvSpPr>
        <p:spPr>
          <a:xfrm flipV="1">
            <a:off x="4859280" y="2031480"/>
            <a:ext cx="0" cy="1706760"/>
          </a:xfrm>
          <a:prstGeom prst="line">
            <a:avLst/>
          </a:prstGeom>
          <a:ln w="12600">
            <a:solidFill>
              <a:srgbClr val="000000"/>
            </a:solidFill>
            <a:miter/>
            <a:tailEnd len="med" type="triangle" w="med"/>
          </a:ln>
        </p:spPr>
        <p:style>
          <a:lnRef idx="0"/>
          <a:fillRef idx="0"/>
          <a:effectRef idx="0"/>
          <a:fontRef idx="minor"/>
        </p:style>
        <p:txBody>
          <a:bodyPr lIns="90360" rIns="90360" tIns="44280" bIns="44280" anchor="ctr">
            <a:noAutofit/>
          </a:bodyPr>
          <a:p>
            <a:endParaRPr b="0" lang="en-US" sz="1800" spc="-1" strike="noStrike">
              <a:solidFill>
                <a:srgbClr val="000000"/>
              </a:solidFill>
              <a:latin typeface="Arial"/>
            </a:endParaRPr>
          </a:p>
        </p:txBody>
      </p:sp>
      <p:pic>
        <p:nvPicPr>
          <p:cNvPr id="120" name="Picture 10" descr=""/>
          <p:cNvPicPr/>
          <p:nvPr/>
        </p:nvPicPr>
        <p:blipFill>
          <a:blip r:embed="rId4"/>
          <a:stretch/>
        </p:blipFill>
        <p:spPr>
          <a:xfrm>
            <a:off x="5059440" y="2276640"/>
            <a:ext cx="3125880" cy="1258560"/>
          </a:xfrm>
          <a:prstGeom prst="rect">
            <a:avLst/>
          </a:prstGeom>
          <a:ln w="0">
            <a:noFill/>
          </a:ln>
        </p:spPr>
      </p:pic>
      <p:sp>
        <p:nvSpPr>
          <p:cNvPr id="121" name="Line 11"/>
          <p:cNvSpPr/>
          <p:nvPr/>
        </p:nvSpPr>
        <p:spPr>
          <a:xfrm flipV="1">
            <a:off x="3983040" y="2852280"/>
            <a:ext cx="4662360" cy="3240"/>
          </a:xfrm>
          <a:prstGeom prst="line">
            <a:avLst/>
          </a:prstGeom>
          <a:ln w="12600">
            <a:solidFill>
              <a:srgbClr val="000000"/>
            </a:solidFill>
            <a:miter/>
            <a:headEnd len="med" type="triangle" w="med"/>
            <a:tailEnd len="med" type="triangle" w="med"/>
          </a:ln>
        </p:spPr>
        <p:style>
          <a:lnRef idx="0"/>
          <a:fillRef idx="0"/>
          <a:effectRef idx="0"/>
          <a:fontRef idx="minor"/>
        </p:style>
        <p:txBody>
          <a:bodyPr lIns="90360" rIns="90360" tIns="-41040" bIns="-41040" anchor="ctr">
            <a:noAutofit/>
          </a:bodyPr>
          <a:p>
            <a:endParaRPr b="0" lang="en-US" sz="1800" spc="-1" strike="noStrike">
              <a:solidFill>
                <a:srgbClr val="000000"/>
              </a:solidFill>
              <a:latin typeface="Arial"/>
            </a:endParaRPr>
          </a:p>
        </p:txBody>
      </p:sp>
      <p:sp>
        <p:nvSpPr>
          <p:cNvPr id="122" name="Rectangle 12"/>
          <p:cNvSpPr/>
          <p:nvPr/>
        </p:nvSpPr>
        <p:spPr>
          <a:xfrm>
            <a:off x="8269920" y="2894040"/>
            <a:ext cx="265320" cy="45468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i="1" lang="en-US" sz="2400" spc="-1" strike="noStrike">
                <a:solidFill>
                  <a:srgbClr val="006633"/>
                </a:solidFill>
                <a:latin typeface="Times New Roman"/>
              </a:rPr>
              <a:t>t</a:t>
            </a:r>
            <a:endParaRPr b="0" lang="en-US" sz="2400" spc="-1" strike="noStrike">
              <a:solidFill>
                <a:srgbClr val="000000"/>
              </a:solidFill>
              <a:latin typeface="Arial"/>
            </a:endParaRPr>
          </a:p>
        </p:txBody>
      </p:sp>
      <p:sp>
        <p:nvSpPr>
          <p:cNvPr id="123" name="Rectangle 13"/>
          <p:cNvSpPr/>
          <p:nvPr/>
        </p:nvSpPr>
        <p:spPr>
          <a:xfrm rot="16200000">
            <a:off x="2486160" y="3910680"/>
            <a:ext cx="265320" cy="332640"/>
          </a:xfrm>
          <a:prstGeom prst="rect">
            <a:avLst/>
          </a:prstGeom>
          <a:noFill/>
          <a:ln w="0">
            <a:noFill/>
          </a:ln>
        </p:spPr>
        <p:style>
          <a:lnRef idx="0"/>
          <a:fillRef idx="0"/>
          <a:effectRef idx="0"/>
          <a:fontRef idx="minor"/>
        </p:style>
        <p:txBody>
          <a:bodyPr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ζ</a:t>
            </a:r>
            <a:endParaRPr b="0" lang="en-US" sz="1600" spc="-1" strike="noStrike">
              <a:solidFill>
                <a:srgbClr val="000000"/>
              </a:solidFill>
              <a:latin typeface="Arial"/>
            </a:endParaRPr>
          </a:p>
        </p:txBody>
      </p:sp>
      <p:sp>
        <p:nvSpPr>
          <p:cNvPr id="124" name="Rectangle 14"/>
          <p:cNvSpPr/>
          <p:nvPr/>
        </p:nvSpPr>
        <p:spPr>
          <a:xfrm rot="16200000">
            <a:off x="3804840" y="2918880"/>
            <a:ext cx="50148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p(ζ)</a:t>
            </a:r>
            <a:endParaRPr b="0" lang="en-US" sz="1600" spc="-1" strike="noStrike">
              <a:solidFill>
                <a:srgbClr val="000000"/>
              </a:solidFill>
              <a:latin typeface="Arial"/>
            </a:endParaRPr>
          </a:p>
        </p:txBody>
      </p:sp>
      <p:sp>
        <p:nvSpPr>
          <p:cNvPr id="125" name="Rectangle 15"/>
          <p:cNvSpPr/>
          <p:nvPr/>
        </p:nvSpPr>
        <p:spPr>
          <a:xfrm rot="16200000">
            <a:off x="4569480" y="1907640"/>
            <a:ext cx="96336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ζ(xo,yo,t)</a:t>
            </a:r>
            <a:endParaRPr b="0" lang="en-US" sz="1600" spc="-1" strike="noStrike">
              <a:solidFill>
                <a:srgbClr val="000000"/>
              </a:solidFill>
              <a:latin typeface="Arial"/>
            </a:endParaRPr>
          </a:p>
        </p:txBody>
      </p:sp>
      <p:sp>
        <p:nvSpPr>
          <p:cNvPr id="126" name="Rectangle 16"/>
          <p:cNvSpPr/>
          <p:nvPr/>
        </p:nvSpPr>
        <p:spPr>
          <a:xfrm>
            <a:off x="2111760" y="4933800"/>
            <a:ext cx="771120" cy="332640"/>
          </a:xfrm>
          <a:prstGeom prst="rect">
            <a:avLst/>
          </a:prstGeom>
          <a:noFill/>
          <a:ln w="0">
            <a:noFill/>
          </a:ln>
        </p:spPr>
        <p:style>
          <a:lnRef idx="0"/>
          <a:fillRef idx="0"/>
          <a:effectRef idx="0"/>
          <a:fontRef idx="minor"/>
        </p:style>
        <p:txBody>
          <a:bodyPr wrap="none" lIns="90360" rIns="90360" tIns="44280" bIns="44280" anchor="t">
            <a:sp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6633"/>
                </a:solidFill>
                <a:latin typeface="Times New Roman"/>
              </a:rPr>
              <a:t>(xo,yo)</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8430921-2482-47DC-96D4-C0859ED9C36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2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2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7CC5AE-C309-4972-A501-ED48382E154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3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How good are these hypotheses?</a:t>
            </a:r>
            <a:endParaRPr b="0" lang="en-US" sz="4200" spc="-1" strike="noStrike">
              <a:solidFill>
                <a:srgbClr val="006633"/>
              </a:solidFill>
              <a:latin typeface="Tahoma"/>
            </a:endParaRPr>
          </a:p>
        </p:txBody>
      </p:sp>
      <p:sp>
        <p:nvSpPr>
          <p:cNvPr id="131" name="Rectangle 3"/>
          <p:cNvSpPr/>
          <p:nvPr/>
        </p:nvSpPr>
        <p:spPr>
          <a:xfrm>
            <a:off x="539640" y="1268280"/>
            <a:ext cx="7775640" cy="413496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From data collected at sea (Haverre &amp; Moan, 1985), it can be stated that</a:t>
            </a: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000" spc="-1" strike="noStrike">
                <a:solidFill>
                  <a:srgbClr val="000000"/>
                </a:solidFill>
                <a:latin typeface="Arial"/>
              </a:rPr>
              <a:t> </a:t>
            </a:r>
            <a:endParaRPr b="0" lang="en-US" sz="2000" spc="-1" strike="noStrike">
              <a:solidFill>
                <a:srgbClr val="000000"/>
              </a:solidFill>
              <a:latin typeface="Arial"/>
            </a:endParaRPr>
          </a:p>
          <a:p>
            <a:pPr>
              <a:buClr>
                <a:srgbClr val="cc9900"/>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For low and moderate seas (H1/3 &lt; 4m), the sea can be considered stationary for periods over 20 min. For more severe sea states, stationarity can be questioned even for periods of 20 min. </a:t>
            </a:r>
            <a:endParaRPr b="0" lang="en-US" sz="2000" spc="-1" strike="noStrike">
              <a:solidFill>
                <a:srgbClr val="000000"/>
              </a:solidFill>
              <a:latin typeface="Arial"/>
            </a:endParaRPr>
          </a:p>
          <a:p>
            <a:pPr>
              <a:buClr>
                <a:srgbClr val="cc9900"/>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a:buClr>
                <a:srgbClr val="cc9900"/>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For medium seas (4m &lt; H1/3 &lt; 8m), Gaussian models are still accurate, but deviations from Gaussianity slightly increase with the increasing severity of the sea state.</a:t>
            </a:r>
            <a:endParaRPr b="0" lang="en-US" sz="2000" spc="-1" strike="noStrike">
              <a:solidFill>
                <a:srgbClr val="000000"/>
              </a:solidFill>
              <a:latin typeface="Arial"/>
            </a:endParaRPr>
          </a:p>
          <a:p>
            <a:pPr>
              <a:buClr>
                <a:srgbClr val="cc9900"/>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a:buClr>
                <a:srgbClr val="cc9900"/>
              </a:buClr>
              <a:buSzPct val="150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 </a:t>
            </a:r>
            <a:r>
              <a:rPr b="0" lang="en-US" sz="2000" spc="-1" strike="noStrike">
                <a:solidFill>
                  <a:srgbClr val="000000"/>
                </a:solidFill>
                <a:latin typeface="Arial"/>
              </a:rPr>
              <a:t>If the water is sufficiently deep, wave elevation can be consider Gaussian regardless of the sea state.</a:t>
            </a:r>
            <a:endParaRPr b="0" lang="en-US" sz="2000" spc="-1" strike="noStrike">
              <a:solidFill>
                <a:srgbClr val="000000"/>
              </a:solidFill>
              <a:latin typeface="Arial"/>
            </a:endParaRPr>
          </a:p>
        </p:txBody>
      </p:sp>
      <p:sp>
        <p:nvSpPr>
          <p:cNvPr id="132" name="Rectangle 4"/>
          <p:cNvSpPr/>
          <p:nvPr/>
        </p:nvSpPr>
        <p:spPr>
          <a:xfrm>
            <a:off x="826920" y="5589720"/>
            <a:ext cx="7426440" cy="36324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996600"/>
                </a:solidFill>
                <a:latin typeface="Arial"/>
              </a:rPr>
              <a:t>(H1/3 is the average of the highest one third of the waves recorded.)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9206AF-DFCD-492A-A866-65E24F0BD58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3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8717EC3-87E3-45A0-A989-53000BCBA54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3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Random sea characterization</a:t>
            </a:r>
            <a:endParaRPr b="0" lang="en-US" sz="4200" spc="-1" strike="noStrike">
              <a:solidFill>
                <a:srgbClr val="006633"/>
              </a:solidFill>
              <a:latin typeface="Tahoma"/>
            </a:endParaRPr>
          </a:p>
        </p:txBody>
      </p:sp>
      <p:sp>
        <p:nvSpPr>
          <p:cNvPr id="137" name="PlaceHolder 2"/>
          <p:cNvSpPr>
            <a:spLocks noGrp="1"/>
          </p:cNvSpPr>
          <p:nvPr>
            <p:ph/>
          </p:nvPr>
        </p:nvSpPr>
        <p:spPr>
          <a:xfrm>
            <a:off x="468360" y="1196640"/>
            <a:ext cx="8229600" cy="4492440"/>
          </a:xfrm>
          <a:prstGeom prst="rect">
            <a:avLst/>
          </a:prstGeom>
          <a:noFill/>
          <a:ln w="0">
            <a:noFill/>
          </a:ln>
        </p:spPr>
        <p:txBody>
          <a:bodyPr lIns="91440" rIns="91440" tIns="45720" bIns="45720" anchor="t">
            <a:normAutofit/>
          </a:bodyPr>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Under the Gaussianity assumption, the process is completely described by</a:t>
            </a: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lnSpc>
                <a:spcPct val="80000"/>
              </a:lnSpc>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Mean</a:t>
            </a:r>
            <a:endParaRPr b="0" lang="en-US" sz="2600" spc="-1" strike="noStrike">
              <a:solidFill>
                <a:srgbClr val="000000"/>
              </a:solidFill>
              <a:latin typeface="Arial"/>
            </a:endParaRPr>
          </a:p>
          <a:p>
            <a:pPr marL="343080" indent="-343080">
              <a:lnSpc>
                <a:spcPct val="80000"/>
              </a:lnSpc>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Variance  </a:t>
            </a: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sea surface elevation is described relative to the mean free surface; therefore, the mean of the SP is zero.</a:t>
            </a: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lnSpc>
                <a:spcPct val="80000"/>
              </a:lnSpc>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The variance is described in terms of a sea </a:t>
            </a:r>
            <a:r>
              <a:rPr b="0" lang="en-AU" sz="2600" spc="-1" strike="noStrike">
                <a:solidFill>
                  <a:srgbClr val="996600"/>
                </a:solidFill>
                <a:latin typeface="Arial"/>
              </a:rPr>
              <a:t>power spectral density or sea spectrum.</a:t>
            </a:r>
            <a:r>
              <a:rPr b="0" lang="en-AU" sz="2600" spc="-1" strike="noStrike">
                <a:solidFill>
                  <a:srgbClr val="000000"/>
                </a:solidFill>
                <a:latin typeface="Arial"/>
              </a:rPr>
              <a:t> </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784CCF-F215-4FB1-BF18-3BD0F4A64E4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3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4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BF61522-D43B-4EB4-A081-17A2DA347CE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4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Power spectral density definition</a:t>
            </a:r>
            <a:endParaRPr b="0" lang="en-US" sz="4200" spc="-1" strike="noStrike">
              <a:solidFill>
                <a:srgbClr val="006633"/>
              </a:solidFill>
              <a:latin typeface="Tahoma"/>
            </a:endParaRPr>
          </a:p>
        </p:txBody>
      </p:sp>
      <p:sp>
        <p:nvSpPr>
          <p:cNvPr id="142" name="PlaceHolder 2"/>
          <p:cNvSpPr>
            <a:spLocks noGrp="1"/>
          </p:cNvSpPr>
          <p:nvPr>
            <p:ph/>
          </p:nvPr>
        </p:nvSpPr>
        <p:spPr>
          <a:xfrm>
            <a:off x="468360" y="1196640"/>
            <a:ext cx="7859520" cy="74916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If we use the frequency in Hz to define the FT, then</a:t>
            </a:r>
            <a:endParaRPr b="0" lang="en-US" sz="2600" spc="-1" strike="noStrike">
              <a:solidFill>
                <a:srgbClr val="000000"/>
              </a:solidFill>
              <a:latin typeface="Arial"/>
            </a:endParaRPr>
          </a:p>
        </p:txBody>
      </p:sp>
      <mc:AlternateContent>
        <mc:Choice xmlns:a14="http://schemas.microsoft.com/office/drawing/2010/main" Requires="a14">
          <p:sp>
            <p:nvSpPr>
              <p:cNvPr id="143" name="Object 4"/>
              <p:cNvSpPr txBox="1"/>
              <p:nvPr/>
            </p:nvSpPr>
            <p:spPr>
              <a:xfrm>
                <a:off x="2484360" y="2060640"/>
                <a:ext cx="4038840" cy="1566720"/>
              </a:xfrm>
              <a:prstGeom prst="rect">
                <a:avLst/>
              </a:prstGeom>
            </p:spPr>
            <p:txBody>
              <a:bodyPr/>
              <a:p>
                <a14:m>
                  <m:oMath xmlns:m="http://schemas.openxmlformats.org/officeDocument/2006/math">
                    <m:eqArr>
                      <m:e>
                        <m:sSub>
                          <m:e>
                            <m:r>
                              <m:t xml:space="preserve">S</m:t>
                            </m:r>
                          </m:e>
                          <m:sub>
                            <m:r>
                              <m:rPr>
                                <m:lit/>
                                <m:nor/>
                              </m:rPr>
                              <m:t xml:space="preserve">xx</m:t>
                            </m:r>
                          </m:sub>
                        </m:sSub>
                        <m:r>
                          <m:t xml:space="preserve">(</m:t>
                        </m:r>
                        <m:r>
                          <m:t xml:space="preserve">f</m:t>
                        </m:r>
                        <m:r>
                          <m:t xml:space="preserve">)</m:t>
                        </m:r>
                        <m:r>
                          <m:t xml:space="preserve">=</m:t>
                        </m:r>
                        <m:nary>
                          <m:naryPr>
                            <m:chr m:val="∫"/>
                            <m:subHide m:val="1"/>
                            <m:supHide m:val="1"/>
                          </m:naryPr>
                          <m:sub/>
                          <m:sup/>
                          <m:e>
                            <m:sSub>
                              <m:e>
                                <m:r>
                                  <m:t xml:space="preserve">R</m:t>
                                </m:r>
                              </m:e>
                              <m:sub>
                                <m:r>
                                  <m:rPr>
                                    <m:lit/>
                                    <m:nor/>
                                  </m:rPr>
                                  <m:t xml:space="preserve">xx</m:t>
                                </m:r>
                              </m:sub>
                            </m:sSub>
                            <m:r>
                              <m:t xml:space="preserve">(</m:t>
                            </m:r>
                            <m:r>
                              <m:t xml:space="preserve">τ</m:t>
                            </m:r>
                            <m:r>
                              <m:t xml:space="preserve">)</m:t>
                            </m:r>
                            <m:r>
                              <m:t xml:space="preserve"> </m:t>
                            </m:r>
                            <m:sSup>
                              <m:e>
                                <m:r>
                                  <m:t xml:space="preserve">e</m:t>
                                </m:r>
                              </m:e>
                              <m:sup>
                                <m:r>
                                  <m:t xml:space="preserve">−</m:t>
                                </m:r>
                                <m:r>
                                  <m:t xml:space="preserve">j</m:t>
                                </m:r>
                                <m:r>
                                  <m:t xml:space="preserve">2</m:t>
                                </m:r>
                                <m:r>
                                  <m:t xml:space="preserve">πfτ</m:t>
                                </m:r>
                              </m:sup>
                            </m:sSup>
                            <m:r>
                              <m:t xml:space="preserve">dτ</m:t>
                            </m:r>
                          </m:e>
                        </m:nary>
                      </m:e>
                      <m:e>
                        <m:sSub>
                          <m:e>
                            <m:r>
                              <m:t xml:space="preserve">R</m:t>
                            </m:r>
                          </m:e>
                          <m:sub>
                            <m:r>
                              <m:rPr>
                                <m:lit/>
                                <m:nor/>
                              </m:rPr>
                              <m:t xml:space="preserve">xx</m:t>
                            </m:r>
                          </m:sub>
                        </m:sSub>
                        <m:r>
                          <m:t xml:space="preserve">(</m:t>
                        </m:r>
                        <m:r>
                          <m:t xml:space="preserve">τ</m:t>
                        </m:r>
                        <m:r>
                          <m:t xml:space="preserve">)</m:t>
                        </m:r>
                        <m:r>
                          <m:t xml:space="preserve">=</m:t>
                        </m:r>
                        <m:nary>
                          <m:naryPr>
                            <m:chr m:val="∫"/>
                            <m:subHide m:val="1"/>
                            <m:supHide m:val="1"/>
                          </m:naryPr>
                          <m:sub/>
                          <m:sup/>
                          <m:e>
                            <m:sSub>
                              <m:e>
                                <m:r>
                                  <m:t xml:space="preserve">S</m:t>
                                </m:r>
                              </m:e>
                              <m:sub>
                                <m:r>
                                  <m:rPr>
                                    <m:lit/>
                                    <m:nor/>
                                  </m:rPr>
                                  <m:t xml:space="preserve">xx</m:t>
                                </m:r>
                              </m:sub>
                            </m:sSub>
                            <m:r>
                              <m:t xml:space="preserve">(</m:t>
                            </m:r>
                            <m:r>
                              <m:t xml:space="preserve">f</m:t>
                            </m:r>
                            <m:r>
                              <m:t xml:space="preserve">)</m:t>
                            </m:r>
                            <m:r>
                              <m:t xml:space="preserve"> </m:t>
                            </m:r>
                            <m:sSup>
                              <m:e>
                                <m:r>
                                  <m:t xml:space="preserve">e</m:t>
                                </m:r>
                              </m:e>
                              <m:sup>
                                <m:r>
                                  <m:t xml:space="preserve">j</m:t>
                                </m:r>
                                <m:r>
                                  <m:t xml:space="preserve">2</m:t>
                                </m:r>
                                <m:r>
                                  <m:t xml:space="preserve">πfτ</m:t>
                                </m:r>
                              </m:sup>
                            </m:sSup>
                            <m:r>
                              <m:rPr>
                                <m:lit/>
                                <m:nor/>
                              </m:rPr>
                              <m:t xml:space="preserve">df</m:t>
                            </m:r>
                          </m:e>
                        </m:nary>
                      </m:e>
                    </m:eqArr>
                  </m:oMath>
                </a14:m>
              </a:p>
            </p:txBody>
          </p:sp>
        </mc:Choice>
        <mc:Fallback/>
      </mc:AlternateContent>
      <mc:AlternateContent>
        <mc:Choice xmlns:a14="http://schemas.microsoft.com/office/drawing/2010/main" Requires="a14">
          <p:sp>
            <p:nvSpPr>
              <p:cNvPr id="144" name="Object 6"/>
              <p:cNvSpPr txBox="1"/>
              <p:nvPr/>
            </p:nvSpPr>
            <p:spPr>
              <a:xfrm>
                <a:off x="2340000" y="4005360"/>
                <a:ext cx="4309920" cy="784080"/>
              </a:xfrm>
              <a:prstGeom prst="rect">
                <a:avLst/>
              </a:prstGeom>
            </p:spPr>
            <p:txBody>
              <a:bodyPr/>
              <a:p>
                <a14:m>
                  <m:oMath xmlns:m="http://schemas.openxmlformats.org/officeDocument/2006/math">
                    <m:r>
                      <m:rPr>
                        <m:lit/>
                        <m:nor/>
                      </m:rPr>
                      <m:t xml:space="preserve">var</m:t>
                    </m:r>
                    <m:d>
                      <m:dPr>
                        <m:begChr m:val="["/>
                        <m:endChr m:val="]"/>
                      </m:dPr>
                      <m:e>
                        <m:r>
                          <m:t xml:space="preserve">x</m:t>
                        </m:r>
                      </m:e>
                    </m:d>
                    <m:r>
                      <m:t xml:space="preserve">=</m:t>
                    </m:r>
                    <m:sSub>
                      <m:e>
                        <m:r>
                          <m:t xml:space="preserve">R</m:t>
                        </m:r>
                      </m:e>
                      <m:sub>
                        <m:r>
                          <m:rPr>
                            <m:lit/>
                            <m:nor/>
                          </m:rPr>
                          <m:t xml:space="preserve">xx</m:t>
                        </m:r>
                      </m:sub>
                    </m:sSub>
                    <m:r>
                      <m:t xml:space="preserve">(</m:t>
                    </m:r>
                    <m:r>
                      <m:t xml:space="preserve">0</m:t>
                    </m:r>
                    <m:r>
                      <m:t xml:space="preserve">)</m:t>
                    </m:r>
                    <m:r>
                      <m:t xml:space="preserve">=</m:t>
                    </m:r>
                    <m:nary>
                      <m:naryPr>
                        <m:chr m:val="∫"/>
                        <m:subHide m:val="1"/>
                        <m:supHide m:val="1"/>
                      </m:naryPr>
                      <m:sub/>
                      <m:sup/>
                      <m:e>
                        <m:sSub>
                          <m:e>
                            <m:r>
                              <m:t xml:space="preserve">S</m:t>
                            </m:r>
                          </m:e>
                          <m:sub>
                            <m:r>
                              <m:rPr>
                                <m:lit/>
                                <m:nor/>
                              </m:rPr>
                              <m:t xml:space="preserve">xx</m:t>
                            </m:r>
                          </m:sub>
                        </m:sSub>
                        <m:r>
                          <m:t xml:space="preserve">(</m:t>
                        </m:r>
                        <m:r>
                          <m:t xml:space="preserve">f</m:t>
                        </m:r>
                        <m:r>
                          <m:t xml:space="preserve">)</m:t>
                        </m:r>
                        <m:r>
                          <m:rPr>
                            <m:lit/>
                            <m:nor/>
                          </m:rPr>
                          <m:t xml:space="preserve">df</m:t>
                        </m:r>
                      </m:e>
                    </m:nary>
                  </m:oMath>
                </a14:m>
              </a:p>
            </p:txBody>
          </p:sp>
        </mc:Choice>
        <mc:Fallback/>
      </mc:AlternateContent>
      <p:sp>
        <p:nvSpPr>
          <p:cNvPr id="145" name="Rectangle 7"/>
          <p:cNvSpPr/>
          <p:nvPr/>
        </p:nvSpPr>
        <p:spPr>
          <a:xfrm>
            <a:off x="611280" y="3933720"/>
            <a:ext cx="151272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 </a:t>
            </a:r>
            <a:r>
              <a:rPr b="0" lang="en-AU" sz="2400" spc="-1" strike="noStrike">
                <a:solidFill>
                  <a:srgbClr val="000000"/>
                </a:solidFill>
                <a:latin typeface="Arial"/>
              </a:rPr>
              <a:t>and</a:t>
            </a:r>
            <a:endParaRPr b="0" lang="en-US" sz="2400" spc="-1" strike="noStrike">
              <a:solidFill>
                <a:srgbClr val="000000"/>
              </a:solidFill>
              <a:latin typeface="Arial"/>
            </a:endParaRPr>
          </a:p>
        </p:txBody>
      </p:sp>
      <p:sp>
        <p:nvSpPr>
          <p:cNvPr id="146" name="Rectangle 8"/>
          <p:cNvSpPr/>
          <p:nvPr/>
        </p:nvSpPr>
        <p:spPr>
          <a:xfrm>
            <a:off x="684360" y="4869000"/>
            <a:ext cx="748800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400" spc="-1" strike="noStrike">
                <a:solidFill>
                  <a:srgbClr val="000000"/>
                </a:solidFill>
                <a:latin typeface="Arial"/>
              </a:rPr>
              <a:t> </a:t>
            </a:r>
            <a:r>
              <a:rPr b="0" lang="en-AU" sz="2400" spc="-1" strike="noStrike">
                <a:solidFill>
                  <a:srgbClr val="000000"/>
                </a:solidFill>
                <a:latin typeface="Arial"/>
              </a:rPr>
              <a:t>from which the name </a:t>
            </a:r>
            <a:r>
              <a:rPr b="0" lang="en-AU" sz="2400" spc="-1" strike="noStrike">
                <a:solidFill>
                  <a:srgbClr val="996600"/>
                </a:solidFill>
                <a:latin typeface="Arial"/>
              </a:rPr>
              <a:t>power spectral density</a:t>
            </a:r>
            <a:r>
              <a:rPr b="0" lang="en-AU" sz="2400" spc="-1" strike="noStrike">
                <a:solidFill>
                  <a:srgbClr val="000000"/>
                </a:solidFill>
                <a:latin typeface="Arial"/>
              </a:rPr>
              <a:t> follows.</a:t>
            </a:r>
            <a:endParaRPr b="0" lang="en-US" sz="2400" spc="-1" strike="noStrike">
              <a:solidFill>
                <a:srgbClr val="000000"/>
              </a:solidFill>
              <a:latin typeface="Arial"/>
            </a:endParaRPr>
          </a:p>
        </p:txBody>
      </p:sp>
      <p:sp>
        <p:nvSpPr>
          <p:cNvPr id="147" name="Rectangle 9"/>
          <p:cNvSpPr/>
          <p:nvPr/>
        </p:nvSpPr>
        <p:spPr>
          <a:xfrm>
            <a:off x="539640" y="5516640"/>
            <a:ext cx="748836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 </a:t>
            </a:r>
            <a:r>
              <a:rPr b="0" lang="en-AU" sz="1800" spc="-1" strike="noStrike">
                <a:solidFill>
                  <a:srgbClr val="000000"/>
                </a:solidFill>
                <a:latin typeface="Arial"/>
              </a:rPr>
              <a:t>This definition is common in the literature of electrical communications and signal processing.</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D8A121B-00E9-4871-BEB1-B709B79D49F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49"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0"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285501D-8EF5-4323-97F1-B8C58ED17E02}"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5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PSD alternative definition</a:t>
            </a:r>
            <a:endParaRPr b="0" lang="en-US" sz="4200" spc="-1" strike="noStrike">
              <a:solidFill>
                <a:srgbClr val="006633"/>
              </a:solidFill>
              <a:latin typeface="Tahoma"/>
            </a:endParaRPr>
          </a:p>
        </p:txBody>
      </p:sp>
      <p:sp>
        <p:nvSpPr>
          <p:cNvPr id="152" name="PlaceHolder 2"/>
          <p:cNvSpPr>
            <a:spLocks noGrp="1"/>
          </p:cNvSpPr>
          <p:nvPr>
            <p:ph/>
          </p:nvPr>
        </p:nvSpPr>
        <p:spPr>
          <a:xfrm>
            <a:off x="468000" y="1268280"/>
            <a:ext cx="8147160" cy="1036800"/>
          </a:xfrm>
          <a:prstGeom prst="rect">
            <a:avLst/>
          </a:prstGeom>
          <a:noFill/>
          <a:ln w="0">
            <a:noFill/>
          </a:ln>
        </p:spPr>
        <p:txBody>
          <a:bodyPr lIns="91440" rIns="91440" tIns="45720" bIns="45720" anchor="t">
            <a:normAutofit/>
          </a:bodyPr>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When we use the circular frequency (rad/s) to define the FT,</a:t>
            </a:r>
            <a:endParaRPr b="0" lang="en-US" sz="2600" spc="-1" strike="noStrike">
              <a:solidFill>
                <a:srgbClr val="000000"/>
              </a:solidFill>
              <a:latin typeface="Arial"/>
            </a:endParaRPr>
          </a:p>
        </p:txBody>
      </p:sp>
      <mc:AlternateContent>
        <mc:Choice xmlns:a14="http://schemas.microsoft.com/office/drawing/2010/main" Requires="a14">
          <p:sp>
            <p:nvSpPr>
              <p:cNvPr id="153" name="Object 4"/>
              <p:cNvSpPr txBox="1"/>
              <p:nvPr/>
            </p:nvSpPr>
            <p:spPr>
              <a:xfrm>
                <a:off x="2411280" y="2349360"/>
                <a:ext cx="4105440" cy="2546640"/>
              </a:xfrm>
              <a:prstGeom prst="rect">
                <a:avLst/>
              </a:prstGeom>
            </p:spPr>
            <p:txBody>
              <a:bodyPr/>
              <a:p>
                <a14:m>
                  <m:oMath xmlns:m="http://schemas.openxmlformats.org/officeDocument/2006/math">
                    <m:eqArr>
                      <m:e>
                        <m:sSub>
                          <m:e>
                            <m:r>
                              <m:t xml:space="preserve">S</m:t>
                            </m:r>
                          </m:e>
                          <m:sub>
                            <m:r>
                              <m:rPr>
                                <m:lit/>
                                <m:nor/>
                              </m:rPr>
                              <m:t xml:space="preserve">xx</m:t>
                            </m:r>
                          </m:sub>
                        </m:sSub>
                        <m:r>
                          <m:t xml:space="preserve">(</m:t>
                        </m:r>
                        <m:r>
                          <m:t xml:space="preserve">ω</m:t>
                        </m:r>
                        <m:r>
                          <m:t xml:space="preserve">)</m:t>
                        </m:r>
                        <m:r>
                          <m:t xml:space="preserve">=</m:t>
                        </m:r>
                        <m:r>
                          <m:t xml:space="preserve">a</m:t>
                        </m:r>
                        <m:r>
                          <m:t xml:space="preserve"> </m:t>
                        </m:r>
                        <m:nary>
                          <m:naryPr>
                            <m:chr m:val="∫"/>
                            <m:subHide m:val="1"/>
                            <m:supHide m:val="1"/>
                          </m:naryPr>
                          <m:sub/>
                          <m:sup/>
                          <m:e>
                            <m:sSub>
                              <m:e>
                                <m:r>
                                  <m:t xml:space="preserve">R</m:t>
                                </m:r>
                              </m:e>
                              <m:sub>
                                <m:r>
                                  <m:rPr>
                                    <m:lit/>
                                    <m:nor/>
                                  </m:rPr>
                                  <m:t xml:space="preserve">xx</m:t>
                                </m:r>
                              </m:sub>
                            </m:sSub>
                            <m:r>
                              <m:t xml:space="preserve">(</m:t>
                            </m:r>
                            <m:r>
                              <m:t xml:space="preserve">τ</m:t>
                            </m:r>
                            <m:r>
                              <m:t xml:space="preserve">)</m:t>
                            </m:r>
                            <m:r>
                              <m:t xml:space="preserve"> </m:t>
                            </m:r>
                            <m:sSup>
                              <m:e>
                                <m:r>
                                  <m:t xml:space="preserve">e</m:t>
                                </m:r>
                              </m:e>
                              <m:sup>
                                <m:r>
                                  <m:t xml:space="preserve">−</m:t>
                                </m:r>
                                <m:r>
                                  <m:t xml:space="preserve">j</m:t>
                                </m:r>
                                <m:r>
                                  <m:rPr>
                                    <m:lit/>
                                    <m:nor/>
                                  </m:rPr>
                                  <m:t xml:space="preserve">ωτ</m:t>
                                </m:r>
                              </m:sup>
                            </m:sSup>
                            <m:r>
                              <m:t xml:space="preserve">dτ</m:t>
                            </m:r>
                          </m:e>
                        </m:nary>
                      </m:e>
                      <m:e>
                        <m:sSub>
                          <m:e>
                            <m:r>
                              <m:t xml:space="preserve">R</m:t>
                            </m:r>
                          </m:e>
                          <m:sub>
                            <m:r>
                              <m:rPr>
                                <m:lit/>
                                <m:nor/>
                              </m:rPr>
                              <m:t xml:space="preserve">xx</m:t>
                            </m:r>
                          </m:sub>
                        </m:sSub>
                        <m:r>
                          <m:t xml:space="preserve">(</m:t>
                        </m:r>
                        <m:r>
                          <m:t xml:space="preserve">τ</m:t>
                        </m:r>
                        <m:r>
                          <m:t xml:space="preserve">)</m:t>
                        </m:r>
                        <m:r>
                          <m:t xml:space="preserve">=</m:t>
                        </m:r>
                        <m:r>
                          <m:t xml:space="preserve">b</m:t>
                        </m:r>
                        <m:r>
                          <m:t xml:space="preserve"> </m:t>
                        </m:r>
                        <m:nary>
                          <m:naryPr>
                            <m:chr m:val="∫"/>
                            <m:subHide m:val="1"/>
                            <m:supHide m:val="1"/>
                          </m:naryPr>
                          <m:sub/>
                          <m:sup/>
                          <m:e>
                            <m:sSub>
                              <m:e>
                                <m:r>
                                  <m:t xml:space="preserve">S</m:t>
                                </m:r>
                              </m:e>
                              <m:sub>
                                <m:r>
                                  <m:rPr>
                                    <m:lit/>
                                    <m:nor/>
                                  </m:rPr>
                                  <m:t xml:space="preserve">xx</m:t>
                                </m:r>
                              </m:sub>
                            </m:sSub>
                            <m:r>
                              <m:t xml:space="preserve">(</m:t>
                            </m:r>
                            <m:r>
                              <m:t xml:space="preserve">ω</m:t>
                            </m:r>
                            <m:r>
                              <m:t xml:space="preserve">)</m:t>
                            </m:r>
                            <m:r>
                              <m:t xml:space="preserve"> </m:t>
                            </m:r>
                            <m:sSup>
                              <m:e>
                                <m:r>
                                  <m:t xml:space="preserve">e</m:t>
                                </m:r>
                              </m:e>
                              <m:sup>
                                <m:r>
                                  <m:t xml:space="preserve">j</m:t>
                                </m:r>
                                <m:r>
                                  <m:rPr>
                                    <m:lit/>
                                    <m:nor/>
                                  </m:rPr>
                                  <m:t xml:space="preserve">ωτ</m:t>
                                </m:r>
                              </m:sup>
                            </m:sSup>
                            <m:r>
                              <m:t xml:space="preserve">dω</m:t>
                            </m:r>
                          </m:e>
                        </m:nary>
                      </m:e>
                      <m:e>
                        <m:r>
                          <m:t xml:space="preserve">a</m:t>
                        </m:r>
                        <m:r>
                          <m:t xml:space="preserve"> </m:t>
                        </m:r>
                        <m:r>
                          <m:t xml:space="preserve">b</m:t>
                        </m:r>
                        <m:r>
                          <m:t xml:space="preserve">=</m:t>
                        </m:r>
                        <m:f>
                          <m:num>
                            <m:r>
                              <m:t xml:space="preserve">1</m:t>
                            </m:r>
                          </m:num>
                          <m:den>
                            <m:r>
                              <m:t xml:space="preserve">2</m:t>
                            </m:r>
                            <m:r>
                              <m:t xml:space="preserve">π</m:t>
                            </m:r>
                          </m:den>
                        </m:f>
                      </m:e>
                    </m:eqArr>
                  </m:oMath>
                </a14:m>
              </a:p>
            </p:txBody>
          </p:sp>
        </mc:Choice>
        <mc:Fallback/>
      </mc:AlternateContent>
      <p:sp>
        <p:nvSpPr>
          <p:cNvPr id="154" name="Rectangle 6"/>
          <p:cNvSpPr/>
          <p:nvPr/>
        </p:nvSpPr>
        <p:spPr>
          <a:xfrm>
            <a:off x="539640" y="5373720"/>
            <a:ext cx="8147160" cy="64764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64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We need to be careful on how we compute power!!!</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Date Placeholder 6"/>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3A78601-4DE4-43AB-AEEB-8D8BD0174D1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56" name="Footer Placeholder 7"/>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57" name="Slide Number Placeholder 8"/>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1AE3A9-DC41-4C4C-B9E2-51D37EF99A3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5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Random sea characterization </a:t>
            </a:r>
            <a:endParaRPr b="0" lang="en-US" sz="4200" spc="-1" strike="noStrike">
              <a:solidFill>
                <a:srgbClr val="006633"/>
              </a:solidFill>
              <a:latin typeface="Tahoma"/>
            </a:endParaRPr>
          </a:p>
        </p:txBody>
      </p:sp>
      <p:pic>
        <p:nvPicPr>
          <p:cNvPr id="159" name="Picture 3" descr=""/>
          <p:cNvPicPr/>
          <p:nvPr/>
        </p:nvPicPr>
        <p:blipFill>
          <a:blip r:embed="rId1"/>
          <a:stretch/>
        </p:blipFill>
        <p:spPr>
          <a:xfrm>
            <a:off x="1763640" y="1557360"/>
            <a:ext cx="5000760" cy="981000"/>
          </a:xfrm>
          <a:prstGeom prst="rect">
            <a:avLst/>
          </a:prstGeom>
          <a:ln w="0">
            <a:noFill/>
          </a:ln>
        </p:spPr>
      </p:pic>
      <p:pic>
        <p:nvPicPr>
          <p:cNvPr id="160" name="Picture 4" descr=""/>
          <p:cNvPicPr/>
          <p:nvPr/>
        </p:nvPicPr>
        <p:blipFill>
          <a:blip r:embed="rId2"/>
          <a:stretch/>
        </p:blipFill>
        <p:spPr>
          <a:xfrm>
            <a:off x="2916360" y="3429000"/>
            <a:ext cx="2652480" cy="906480"/>
          </a:xfrm>
          <a:prstGeom prst="rect">
            <a:avLst/>
          </a:prstGeom>
          <a:ln w="0">
            <a:noFill/>
          </a:ln>
        </p:spPr>
      </p:pic>
      <p:pic>
        <p:nvPicPr>
          <p:cNvPr id="161" name="Picture 5" descr=""/>
          <p:cNvPicPr/>
          <p:nvPr/>
        </p:nvPicPr>
        <p:blipFill>
          <a:blip r:embed="rId3"/>
          <a:stretch/>
        </p:blipFill>
        <p:spPr>
          <a:xfrm>
            <a:off x="6227640" y="5013360"/>
            <a:ext cx="747720" cy="824040"/>
          </a:xfrm>
          <a:prstGeom prst="rect">
            <a:avLst/>
          </a:prstGeom>
          <a:ln w="0">
            <a:noFill/>
          </a:ln>
        </p:spPr>
      </p:pic>
      <p:sp>
        <p:nvSpPr>
          <p:cNvPr id="162" name="Rectangle 7"/>
          <p:cNvSpPr/>
          <p:nvPr/>
        </p:nvSpPr>
        <p:spPr>
          <a:xfrm>
            <a:off x="324000" y="2924280"/>
            <a:ext cx="8221680" cy="45468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 </a:t>
            </a:r>
            <a:r>
              <a:rPr b="0" lang="en-US" sz="2400" spc="-1" strike="noStrike">
                <a:solidFill>
                  <a:srgbClr val="996600"/>
                </a:solidFill>
                <a:latin typeface="Arial"/>
              </a:rPr>
              <a:t>spectral moments</a:t>
            </a:r>
            <a:r>
              <a:rPr b="0" lang="en-US" sz="2400" spc="-1" strike="noStrike">
                <a:solidFill>
                  <a:srgbClr val="000000"/>
                </a:solidFill>
                <a:latin typeface="Arial"/>
              </a:rPr>
              <a:t> of order </a:t>
            </a:r>
            <a:r>
              <a:rPr b="0" i="1" lang="en-US" sz="2400" spc="-1" strike="noStrike">
                <a:solidFill>
                  <a:srgbClr val="000000"/>
                </a:solidFill>
                <a:latin typeface="Arial"/>
              </a:rPr>
              <a:t>n </a:t>
            </a:r>
            <a:r>
              <a:rPr b="0" lang="en-US" sz="2400" spc="-1" strike="noStrike">
                <a:solidFill>
                  <a:srgbClr val="000000"/>
                </a:solidFill>
                <a:latin typeface="Arial"/>
              </a:rPr>
              <a:t>are defined as:</a:t>
            </a:r>
            <a:endParaRPr b="0" lang="en-US" sz="2400" spc="-1" strike="noStrike">
              <a:solidFill>
                <a:srgbClr val="000000"/>
              </a:solidFill>
              <a:latin typeface="Arial"/>
            </a:endParaRPr>
          </a:p>
        </p:txBody>
      </p:sp>
      <p:sp>
        <p:nvSpPr>
          <p:cNvPr id="163" name="Rectangle 8"/>
          <p:cNvSpPr/>
          <p:nvPr/>
        </p:nvSpPr>
        <p:spPr>
          <a:xfrm>
            <a:off x="304920" y="4327560"/>
            <a:ext cx="8221680" cy="45468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Then the </a:t>
            </a:r>
            <a:r>
              <a:rPr b="0" lang="en-US" sz="2400" spc="-1" strike="noStrike">
                <a:solidFill>
                  <a:srgbClr val="996600"/>
                </a:solidFill>
                <a:latin typeface="Arial"/>
              </a:rPr>
              <a:t>variance</a:t>
            </a:r>
            <a:r>
              <a:rPr b="0" lang="en-US" sz="2400" spc="-1" strike="noStrike">
                <a:solidFill>
                  <a:srgbClr val="000000"/>
                </a:solidFill>
                <a:latin typeface="Arial"/>
              </a:rPr>
              <a:t> and </a:t>
            </a:r>
            <a:r>
              <a:rPr b="0" lang="en-US" sz="2400" spc="-1" strike="noStrike">
                <a:solidFill>
                  <a:srgbClr val="996600"/>
                </a:solidFill>
                <a:latin typeface="Arial"/>
              </a:rPr>
              <a:t>standard deviation (RMS value)</a:t>
            </a:r>
            <a:r>
              <a:rPr b="0" lang="en-US" sz="2400" spc="-1" strike="noStrike">
                <a:solidFill>
                  <a:srgbClr val="000000"/>
                </a:solidFill>
                <a:latin typeface="Arial"/>
              </a:rPr>
              <a:t> are </a:t>
            </a:r>
            <a:endParaRPr b="0" lang="en-US" sz="2400" spc="-1" strike="noStrike">
              <a:solidFill>
                <a:srgbClr val="000000"/>
              </a:solidFill>
              <a:latin typeface="Arial"/>
            </a:endParaRPr>
          </a:p>
        </p:txBody>
      </p:sp>
      <p:sp>
        <p:nvSpPr>
          <p:cNvPr id="164" name="Rectangle 9"/>
          <p:cNvSpPr/>
          <p:nvPr/>
        </p:nvSpPr>
        <p:spPr>
          <a:xfrm>
            <a:off x="5608800" y="5192640"/>
            <a:ext cx="819000" cy="454680"/>
          </a:xfrm>
          <a:prstGeom prst="rect">
            <a:avLst/>
          </a:prstGeom>
          <a:noFill/>
          <a:ln w="0">
            <a:noFill/>
          </a:ln>
        </p:spPr>
        <p:style>
          <a:lnRef idx="0"/>
          <a:fillRef idx="0"/>
          <a:effectRef idx="0"/>
          <a:fontRef idx="minor"/>
        </p:style>
        <p:txBody>
          <a:bodyPr lIns="90360" rIns="90360" tIns="44280" bIns="44280" anchor="t">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6633"/>
                </a:solidFill>
                <a:latin typeface="Symbol"/>
                <a:ea typeface="Symbol"/>
              </a:rPr>
              <a:t></a:t>
            </a:r>
            <a:r>
              <a:rPr b="0" lang="en-US" sz="2400" spc="-1" strike="noStrike">
                <a:solidFill>
                  <a:srgbClr val="006633"/>
                </a:solidFill>
                <a:latin typeface="Times New Roman"/>
              </a:rPr>
              <a:t> </a:t>
            </a:r>
            <a:r>
              <a:rPr b="0" lang="en-US" sz="2400" spc="-1" strike="noStrike">
                <a:solidFill>
                  <a:srgbClr val="006633"/>
                </a:solidFill>
                <a:latin typeface="Times New Roman"/>
              </a:rPr>
              <a:t>= </a:t>
            </a:r>
            <a:endParaRPr b="0" lang="en-US" sz="2400" spc="-1" strike="noStrike">
              <a:solidFill>
                <a:srgbClr val="000000"/>
              </a:solidFill>
              <a:latin typeface="Arial"/>
            </a:endParaRPr>
          </a:p>
        </p:txBody>
      </p:sp>
      <p:pic>
        <p:nvPicPr>
          <p:cNvPr id="165" name="Picture 10" descr=""/>
          <p:cNvPicPr/>
          <p:nvPr/>
        </p:nvPicPr>
        <p:blipFill>
          <a:blip r:embed="rId4"/>
          <a:stretch/>
        </p:blipFill>
        <p:spPr>
          <a:xfrm>
            <a:off x="1581120" y="5084640"/>
            <a:ext cx="2449440" cy="674640"/>
          </a:xfrm>
          <a:prstGeom prst="rect">
            <a:avLst/>
          </a:prstGeom>
          <a:ln w="0">
            <a:noFill/>
          </a:ln>
        </p:spPr>
      </p:pic>
      <p:pic>
        <p:nvPicPr>
          <p:cNvPr id="166" name="Picture 11" descr=""/>
          <p:cNvPicPr/>
          <p:nvPr/>
        </p:nvPicPr>
        <p:blipFill>
          <a:blip r:embed="rId5"/>
          <a:stretch/>
        </p:blipFill>
        <p:spPr>
          <a:xfrm>
            <a:off x="4365720" y="5203800"/>
            <a:ext cx="460440" cy="480960"/>
          </a:xfrm>
          <a:prstGeom prst="rect">
            <a:avLst/>
          </a:prstGeom>
          <a:ln w="0">
            <a:noFill/>
          </a:ln>
        </p:spPr>
      </p:pic>
      <p:pic>
        <p:nvPicPr>
          <p:cNvPr id="167" name="Picture 12" descr=""/>
          <p:cNvPicPr/>
          <p:nvPr/>
        </p:nvPicPr>
        <p:blipFill>
          <a:blip r:embed="rId6"/>
          <a:stretch/>
        </p:blipFill>
        <p:spPr>
          <a:xfrm>
            <a:off x="4070520" y="5318280"/>
            <a:ext cx="272880" cy="2473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D89D541-84EE-48DC-A876-BA33C74C2F21}"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6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005ADD0-AFCA-4FC5-AEE9-232CA4BC8CCE}"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Statistics of wave period</a:t>
            </a:r>
            <a:endParaRPr b="0" lang="en-US" sz="4200" spc="-1" strike="noStrike">
              <a:solidFill>
                <a:srgbClr val="006633"/>
              </a:solidFill>
              <a:latin typeface="Tahoma"/>
            </a:endParaRPr>
          </a:p>
        </p:txBody>
      </p:sp>
      <p:pic>
        <p:nvPicPr>
          <p:cNvPr id="172" name="Picture 3" descr=""/>
          <p:cNvPicPr/>
          <p:nvPr/>
        </p:nvPicPr>
        <p:blipFill>
          <a:blip r:embed="rId1"/>
          <a:stretch/>
        </p:blipFill>
        <p:spPr>
          <a:xfrm>
            <a:off x="1219320" y="1309680"/>
            <a:ext cx="6897600" cy="47322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3"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8DF482F-C15F-4324-8AF0-0DE44C8930EA}"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4"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75"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0B54D33-4527-4E7E-BA5E-0F723FF9E42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7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3800" spc="-1" strike="noStrike">
                <a:solidFill>
                  <a:srgbClr val="006633"/>
                </a:solidFill>
                <a:latin typeface="Tahoma"/>
              </a:rPr>
              <a:t>Narrow and wide banded processes</a:t>
            </a:r>
            <a:endParaRPr b="0" lang="en-US" sz="3800" spc="-1" strike="noStrike">
              <a:solidFill>
                <a:srgbClr val="006633"/>
              </a:solidFill>
              <a:latin typeface="Tahoma"/>
            </a:endParaRPr>
          </a:p>
        </p:txBody>
      </p:sp>
      <p:pic>
        <p:nvPicPr>
          <p:cNvPr id="177" name="Picture 3" descr=""/>
          <p:cNvPicPr/>
          <p:nvPr/>
        </p:nvPicPr>
        <p:blipFill>
          <a:blip r:embed="rId1"/>
          <a:stretch/>
        </p:blipFill>
        <p:spPr>
          <a:xfrm>
            <a:off x="900000" y="907920"/>
            <a:ext cx="7324920" cy="50515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2B38B2-F5CF-4183-AA93-8C2197E9AA0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7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DBBB427-DDFD-494F-91C2-D584C65C041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181" name="Picture 4" descr=""/>
          <p:cNvPicPr/>
          <p:nvPr/>
        </p:nvPicPr>
        <p:blipFill>
          <a:blip r:embed="rId1"/>
          <a:stretch/>
        </p:blipFill>
        <p:spPr>
          <a:xfrm>
            <a:off x="684360" y="1052640"/>
            <a:ext cx="6354720" cy="4419360"/>
          </a:xfrm>
          <a:prstGeom prst="rect">
            <a:avLst/>
          </a:prstGeom>
          <a:ln w="0">
            <a:noFill/>
          </a:ln>
        </p:spPr>
      </p:pic>
      <p:sp>
        <p:nvSpPr>
          <p:cNvPr id="18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Example narrow and wide-banded</a:t>
            </a:r>
            <a:endParaRPr b="0" lang="en-US" sz="4200" spc="-1" strike="noStrike">
              <a:solidFill>
                <a:srgbClr val="006633"/>
              </a:solidFill>
              <a:latin typeface="Tahoma"/>
            </a:endParaRPr>
          </a:p>
        </p:txBody>
      </p:sp>
      <p:sp>
        <p:nvSpPr>
          <p:cNvPr id="183" name="PlaceHolder 2"/>
          <p:cNvSpPr>
            <a:spLocks noGrp="1"/>
          </p:cNvSpPr>
          <p:nvPr>
            <p:ph/>
          </p:nvPr>
        </p:nvSpPr>
        <p:spPr>
          <a:xfrm>
            <a:off x="5724360" y="1484280"/>
            <a:ext cx="3097440" cy="432000"/>
          </a:xfrm>
          <a:prstGeom prst="rect">
            <a:avLst/>
          </a:prstGeom>
          <a:solidFill>
            <a:srgbClr val="ffffff"/>
          </a:solidFill>
          <a:ln w="0">
            <a:noFill/>
          </a:ln>
        </p:spPr>
        <p:txBody>
          <a:bodyPr lIns="91440" rIns="91440" tIns="45720" bIns="45720" anchor="t">
            <a:normAutofit/>
          </a:bodyPr>
          <a:p>
            <a:pPr marL="343080" indent="-343080">
              <a:spcBef>
                <a:spcPts val="55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996600"/>
                </a:solidFill>
                <a:latin typeface="Arial"/>
              </a:rPr>
              <a:t>Narrow-banded signal</a:t>
            </a:r>
            <a:endParaRPr b="0" lang="en-US" sz="2200" spc="-1" strike="noStrike">
              <a:solidFill>
                <a:srgbClr val="000000"/>
              </a:solidFill>
              <a:latin typeface="Arial"/>
            </a:endParaRPr>
          </a:p>
        </p:txBody>
      </p:sp>
      <p:sp>
        <p:nvSpPr>
          <p:cNvPr id="184" name="Rectangle 5"/>
          <p:cNvSpPr/>
          <p:nvPr/>
        </p:nvSpPr>
        <p:spPr>
          <a:xfrm>
            <a:off x="5651640" y="3213000"/>
            <a:ext cx="3097080" cy="432000"/>
          </a:xfrm>
          <a:prstGeom prst="rect">
            <a:avLst/>
          </a:prstGeom>
          <a:solidFill>
            <a:srgbClr val="ffffff"/>
          </a:solidFill>
          <a:ln w="0">
            <a:noFill/>
          </a:ln>
        </p:spPr>
        <p:style>
          <a:lnRef idx="0"/>
          <a:fillRef idx="0"/>
          <a:effectRef idx="0"/>
          <a:fontRef idx="minor"/>
        </p:style>
        <p:txBody>
          <a:bodyPr lIns="90000" rIns="90000" tIns="46800" bIns="46800" anchor="t">
            <a:noAutofit/>
          </a:bodyPr>
          <a:p>
            <a:pPr marL="343080" indent="-343080">
              <a:spcBef>
                <a:spcPts val="5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2200" spc="-1" strike="noStrike">
                <a:solidFill>
                  <a:srgbClr val="996600"/>
                </a:solidFill>
                <a:latin typeface="Arial"/>
              </a:rPr>
              <a:t>Wide-banded signal</a:t>
            </a:r>
            <a:endParaRPr b="0" lang="en-US" sz="2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023B4D-B662-4B48-913D-8C9CE46D20A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86"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87"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E07C0C1-EB9A-40D2-BF33-63A30175C22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88"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Statistics of wave height</a:t>
            </a:r>
            <a:endParaRPr b="0" lang="en-US" sz="4200" spc="-1" strike="noStrike">
              <a:solidFill>
                <a:srgbClr val="006633"/>
              </a:solidFill>
              <a:latin typeface="Tahoma"/>
            </a:endParaRPr>
          </a:p>
        </p:txBody>
      </p:sp>
      <p:pic>
        <p:nvPicPr>
          <p:cNvPr id="189" name="Picture 3" descr=""/>
          <p:cNvPicPr/>
          <p:nvPr/>
        </p:nvPicPr>
        <p:blipFill>
          <a:blip r:embed="rId1"/>
          <a:stretch/>
        </p:blipFill>
        <p:spPr>
          <a:xfrm>
            <a:off x="539640" y="1125360"/>
            <a:ext cx="5796000" cy="453708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5C04EC7-2444-4862-B98D-D4439F7E77A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1"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2"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E39783D-B2B6-45F7-8BAC-27CC3B40082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19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Statistics of Maxima</a:t>
            </a:r>
            <a:endParaRPr b="0" lang="en-US" sz="4200" spc="-1" strike="noStrike">
              <a:solidFill>
                <a:srgbClr val="006633"/>
              </a:solidFill>
              <a:latin typeface="Tahoma"/>
            </a:endParaRPr>
          </a:p>
        </p:txBody>
      </p:sp>
      <p:pic>
        <p:nvPicPr>
          <p:cNvPr id="194" name="Picture 3" descr=""/>
          <p:cNvPicPr/>
          <p:nvPr/>
        </p:nvPicPr>
        <p:blipFill>
          <a:blip r:embed="rId1"/>
          <a:stretch/>
        </p:blipFill>
        <p:spPr>
          <a:xfrm>
            <a:off x="684360" y="1413000"/>
            <a:ext cx="7126200" cy="4491000"/>
          </a:xfrm>
          <a:prstGeom prst="rect">
            <a:avLst/>
          </a:prstGeom>
          <a:ln w="0">
            <a:noFill/>
          </a:ln>
        </p:spPr>
      </p:pic>
      <p:pic>
        <p:nvPicPr>
          <p:cNvPr id="195" name="Picture 4" descr=""/>
          <p:cNvPicPr/>
          <p:nvPr/>
        </p:nvPicPr>
        <p:blipFill>
          <a:blip r:embed="rId2"/>
          <a:stretch/>
        </p:blipFill>
        <p:spPr>
          <a:xfrm>
            <a:off x="5076720" y="4653000"/>
            <a:ext cx="2955960" cy="868320"/>
          </a:xfrm>
          <a:prstGeom prst="rect">
            <a:avLst/>
          </a:prstGeom>
          <a:ln w="12600">
            <a:solidFill>
              <a:srgbClr val="000000"/>
            </a:solidFill>
            <a:miter/>
          </a:ln>
        </p:spPr>
      </p:pic>
      <p:pic>
        <p:nvPicPr>
          <p:cNvPr id="196" name="Picture 5" descr=""/>
          <p:cNvPicPr/>
          <p:nvPr/>
        </p:nvPicPr>
        <p:blipFill>
          <a:blip r:embed="rId3"/>
          <a:stretch/>
        </p:blipFill>
        <p:spPr>
          <a:xfrm>
            <a:off x="5364000" y="1916280"/>
            <a:ext cx="3360960" cy="178740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151ED3A-9598-4544-A947-1FBDA0A96A4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19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19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A8D986F-DCB8-4DFF-920D-BD8C63D6E88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0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Long- and short-crested Seas</a:t>
            </a:r>
            <a:endParaRPr b="0" lang="en-US" sz="4200" spc="-1" strike="noStrike">
              <a:solidFill>
                <a:srgbClr val="006633"/>
              </a:solidFill>
              <a:latin typeface="Tahoma"/>
            </a:endParaRPr>
          </a:p>
        </p:txBody>
      </p:sp>
      <p:sp>
        <p:nvSpPr>
          <p:cNvPr id="201" name="PlaceHolder 2"/>
          <p:cNvSpPr>
            <a:spLocks noGrp="1"/>
          </p:cNvSpPr>
          <p:nvPr>
            <p:ph/>
          </p:nvPr>
        </p:nvSpPr>
        <p:spPr>
          <a:xfrm>
            <a:off x="598320" y="1520640"/>
            <a:ext cx="8017200" cy="4082760"/>
          </a:xfrm>
          <a:prstGeom prst="rect">
            <a:avLst/>
          </a:prstGeom>
          <a:noFill/>
          <a:ln w="0">
            <a:noFill/>
          </a:ln>
        </p:spPr>
        <p:txBody>
          <a:bodyPr lIns="91440" rIns="91440" tIns="45720" bIns="45720" anchor="t">
            <a:normAutofit/>
          </a:bodyPr>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After the wind has blown constantly for a certain period of time, the sea elevation can be assumed statistically stable. In this case, the sea is referred to as</a:t>
            </a:r>
            <a:r>
              <a:rPr b="0" lang="en-US" sz="2100" spc="-1" strike="noStrike">
                <a:solidFill>
                  <a:srgbClr val="996600"/>
                </a:solidFill>
                <a:latin typeface="Arial"/>
              </a:rPr>
              <a:t> </a:t>
            </a:r>
            <a:r>
              <a:rPr b="0" i="1" lang="en-US" sz="2100" spc="-1" strike="noStrike">
                <a:solidFill>
                  <a:srgbClr val="996600"/>
                </a:solidFill>
                <a:latin typeface="Arial"/>
              </a:rPr>
              <a:t>fully-developed</a:t>
            </a:r>
            <a:r>
              <a:rPr b="0" lang="en-US" sz="2100" spc="-1" strike="noStrike">
                <a:solidFill>
                  <a:srgbClr val="000000"/>
                </a:solidFill>
                <a:latin typeface="Arial"/>
              </a:rPr>
              <a:t>.</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If the irregularity of the observed waves are only in the dominant wind direction, so that there are mainly uni-directional wave crests with varying separation but remaining parallel to each other, the sea is referred to as a </a:t>
            </a:r>
            <a:r>
              <a:rPr b="0" i="1" lang="en-US" sz="2100" spc="-1" strike="noStrike">
                <a:solidFill>
                  <a:srgbClr val="996600"/>
                </a:solidFill>
                <a:latin typeface="Arial"/>
              </a:rPr>
              <a:t>long-crested</a:t>
            </a:r>
            <a:r>
              <a:rPr b="0" i="1" lang="en-US" sz="2100" spc="-1" strike="noStrike">
                <a:solidFill>
                  <a:srgbClr val="000000"/>
                </a:solidFill>
                <a:latin typeface="Arial"/>
              </a:rPr>
              <a:t> </a:t>
            </a:r>
            <a:r>
              <a:rPr b="0" lang="en-US" sz="2100" spc="-1" strike="noStrike">
                <a:solidFill>
                  <a:srgbClr val="000000"/>
                </a:solidFill>
                <a:latin typeface="Arial"/>
              </a:rPr>
              <a:t>irregular sea.</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When irregularities are apparent along the wave crests at right angles to the direction of the wind, the sea is referred to as </a:t>
            </a:r>
            <a:r>
              <a:rPr b="0" i="1" lang="en-US" sz="2100" spc="-1" strike="noStrike">
                <a:solidFill>
                  <a:srgbClr val="996600"/>
                </a:solidFill>
                <a:latin typeface="Arial"/>
              </a:rPr>
              <a:t>short crested or confused sea.</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5082CE8-8644-4B3B-9226-DB75DA37ED66}"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03"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04"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5023AE6-AFCD-4220-87F4-4935657C5FF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0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Long-crested Seas</a:t>
            </a:r>
            <a:endParaRPr b="0" lang="en-US" sz="4200" spc="-1" strike="noStrike">
              <a:solidFill>
                <a:srgbClr val="006633"/>
              </a:solidFill>
              <a:latin typeface="Tahoma"/>
            </a:endParaRPr>
          </a:p>
        </p:txBody>
      </p:sp>
      <p:pic>
        <p:nvPicPr>
          <p:cNvPr id="206" name="Picture 3" descr=""/>
          <p:cNvPicPr/>
          <p:nvPr/>
        </p:nvPicPr>
        <p:blipFill>
          <a:blip r:embed="rId1"/>
          <a:stretch/>
        </p:blipFill>
        <p:spPr>
          <a:xfrm>
            <a:off x="1074600" y="1530360"/>
            <a:ext cx="7236000" cy="44355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604A8E7-F24E-4807-BD5C-412829B12F02}"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0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0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58F38F-C78B-4DA5-8B17-EC122C5E9284}"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1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Short-crested Seas</a:t>
            </a:r>
            <a:endParaRPr b="0" lang="en-US" sz="4200" spc="-1" strike="noStrike">
              <a:solidFill>
                <a:srgbClr val="006633"/>
              </a:solidFill>
              <a:latin typeface="Tahoma"/>
            </a:endParaRPr>
          </a:p>
        </p:txBody>
      </p:sp>
      <p:pic>
        <p:nvPicPr>
          <p:cNvPr id="211" name="Picture 3" descr=""/>
          <p:cNvPicPr/>
          <p:nvPr/>
        </p:nvPicPr>
        <p:blipFill>
          <a:blip r:embed="rId1"/>
          <a:stretch/>
        </p:blipFill>
        <p:spPr>
          <a:xfrm>
            <a:off x="581040" y="1168560"/>
            <a:ext cx="8205840" cy="4984560"/>
          </a:xfrm>
          <a:prstGeom prst="rect">
            <a:avLst/>
          </a:prstGeom>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3B97F6F-70AB-48E3-AC19-37EE5EA7CCA5}"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13"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14"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391B924-8081-4B04-BAFB-93F268BC16A0}"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15"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3800" spc="-1" strike="noStrike">
                <a:solidFill>
                  <a:srgbClr val="006633"/>
                </a:solidFill>
                <a:latin typeface="Tahoma"/>
              </a:rPr>
              <a:t>Idealised spectra Long-crested seas</a:t>
            </a:r>
            <a:endParaRPr b="0" lang="en-US" sz="3800" spc="-1" strike="noStrike">
              <a:solidFill>
                <a:srgbClr val="006633"/>
              </a:solidFill>
              <a:latin typeface="Tahoma"/>
            </a:endParaRPr>
          </a:p>
        </p:txBody>
      </p:sp>
      <p:pic>
        <p:nvPicPr>
          <p:cNvPr id="216" name="Picture 3" descr=""/>
          <p:cNvPicPr/>
          <p:nvPr/>
        </p:nvPicPr>
        <p:blipFill>
          <a:blip r:embed="rId1"/>
          <a:stretch/>
        </p:blipFill>
        <p:spPr>
          <a:xfrm>
            <a:off x="826920" y="2924280"/>
            <a:ext cx="3600720" cy="955440"/>
          </a:xfrm>
          <a:prstGeom prst="rect">
            <a:avLst/>
          </a:prstGeom>
          <a:ln w="12600">
            <a:solidFill>
              <a:srgbClr val="000000"/>
            </a:solidFill>
            <a:miter/>
          </a:ln>
        </p:spPr>
      </p:pic>
      <p:pic>
        <p:nvPicPr>
          <p:cNvPr id="217" name="Picture 4" descr=""/>
          <p:cNvPicPr/>
          <p:nvPr/>
        </p:nvPicPr>
        <p:blipFill>
          <a:blip r:embed="rId2"/>
          <a:stretch/>
        </p:blipFill>
        <p:spPr>
          <a:xfrm>
            <a:off x="4932360" y="3068640"/>
            <a:ext cx="3814920" cy="878040"/>
          </a:xfrm>
          <a:prstGeom prst="rect">
            <a:avLst/>
          </a:prstGeom>
          <a:ln w="12600">
            <a:solidFill>
              <a:srgbClr val="000000"/>
            </a:solidFill>
            <a:miter/>
          </a:ln>
        </p:spPr>
      </p:pic>
      <p:sp>
        <p:nvSpPr>
          <p:cNvPr id="218" name="Rectangle 5"/>
          <p:cNvSpPr/>
          <p:nvPr/>
        </p:nvSpPr>
        <p:spPr>
          <a:xfrm>
            <a:off x="395280" y="1052640"/>
            <a:ext cx="8345520" cy="155196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In cases where no wave records are available, standard, idealized, formulae can be used. One family of idealized spectra is the </a:t>
            </a:r>
            <a:r>
              <a:rPr b="0" i="1" lang="en-US" sz="2400" spc="-1" strike="noStrike">
                <a:solidFill>
                  <a:srgbClr val="996600"/>
                </a:solidFill>
                <a:latin typeface="Arial"/>
              </a:rPr>
              <a:t>Bretschneither </a:t>
            </a:r>
            <a:r>
              <a:rPr b="0" lang="en-US" sz="2400" spc="-1" strike="noStrike">
                <a:solidFill>
                  <a:srgbClr val="996600"/>
                </a:solidFill>
                <a:latin typeface="Arial"/>
              </a:rPr>
              <a:t>family</a:t>
            </a:r>
            <a:r>
              <a:rPr b="0" lang="en-US" sz="2400" spc="-1" strike="noStrike">
                <a:solidFill>
                  <a:srgbClr val="000000"/>
                </a:solidFill>
                <a:latin typeface="Arial"/>
              </a:rPr>
              <a:t> which was developed in early 1950s:</a:t>
            </a:r>
            <a:endParaRPr b="0" lang="en-US" sz="2400" spc="-1" strike="noStrike">
              <a:solidFill>
                <a:srgbClr val="000000"/>
              </a:solidFill>
              <a:latin typeface="Arial"/>
            </a:endParaRPr>
          </a:p>
        </p:txBody>
      </p:sp>
      <p:pic>
        <p:nvPicPr>
          <p:cNvPr id="219" name="Picture 6" descr=""/>
          <p:cNvPicPr/>
          <p:nvPr/>
        </p:nvPicPr>
        <p:blipFill>
          <a:blip r:embed="rId3"/>
          <a:stretch/>
        </p:blipFill>
        <p:spPr>
          <a:xfrm>
            <a:off x="1187280" y="4437000"/>
            <a:ext cx="6228000" cy="1082880"/>
          </a:xfrm>
          <a:prstGeom prst="rect">
            <a:avLst/>
          </a:prstGeom>
          <a:ln w="12600">
            <a:solidFill>
              <a:srgbClr val="000000"/>
            </a:solidFill>
            <a:miter/>
          </a:ln>
        </p:spPr>
      </p:pic>
      <p:sp>
        <p:nvSpPr>
          <p:cNvPr id="220" name="Rectangle 7"/>
          <p:cNvSpPr/>
          <p:nvPr/>
        </p:nvSpPr>
        <p:spPr>
          <a:xfrm>
            <a:off x="382680" y="5589720"/>
            <a:ext cx="8761320" cy="57636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pc="-1" strike="noStrike">
                <a:solidFill>
                  <a:srgbClr val="000000"/>
                </a:solidFill>
                <a:latin typeface="Arial"/>
              </a:rPr>
              <a:t>(This family can be used to represent rising and falling seas, as well as fully developed seas with no swell and unlimited fetch.)</a:t>
            </a:r>
            <a:endParaRPr b="0" lang="en-US" sz="1600" spc="-1" strike="noStrike">
              <a:solidFill>
                <a:srgbClr val="000000"/>
              </a:solidFill>
              <a:latin typeface="Arial"/>
            </a:endParaRPr>
          </a:p>
        </p:txBody>
      </p:sp>
      <p:sp>
        <p:nvSpPr>
          <p:cNvPr id="221" name="Rectangle 8"/>
          <p:cNvSpPr/>
          <p:nvPr/>
        </p:nvSpPr>
        <p:spPr>
          <a:xfrm>
            <a:off x="4932360" y="2637000"/>
            <a:ext cx="3240000" cy="36324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afbf39"/>
                </a:solidFill>
                <a:latin typeface="Arial"/>
              </a:rPr>
              <a:t> </a:t>
            </a:r>
            <a:r>
              <a:rPr b="0" lang="en-US" sz="1800" spc="-1" strike="noStrike">
                <a:solidFill>
                  <a:srgbClr val="996600"/>
                </a:solidFill>
                <a:latin typeface="Arial"/>
              </a:rPr>
              <a:t>Modal frequency</a:t>
            </a:r>
            <a:endParaRPr b="0" lang="en-US" sz="1800" spc="-1" strike="noStrike">
              <a:solidFill>
                <a:srgbClr val="000000"/>
              </a:solidFill>
              <a:latin typeface="Arial"/>
            </a:endParaRPr>
          </a:p>
        </p:txBody>
      </p:sp>
      <p:sp>
        <p:nvSpPr>
          <p:cNvPr id="222" name="Rectangle 9"/>
          <p:cNvSpPr/>
          <p:nvPr/>
        </p:nvSpPr>
        <p:spPr>
          <a:xfrm>
            <a:off x="826920" y="4076640"/>
            <a:ext cx="2903760" cy="36324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800" spc="-1" strike="noStrike">
                <a:solidFill>
                  <a:srgbClr val="996600"/>
                </a:solidFill>
                <a:latin typeface="Arial"/>
              </a:rPr>
              <a:t> </a:t>
            </a:r>
            <a:r>
              <a:rPr b="0" lang="en-US" sz="1800" spc="-1" strike="noStrike">
                <a:solidFill>
                  <a:srgbClr val="996600"/>
                </a:solidFill>
                <a:latin typeface="Arial"/>
              </a:rPr>
              <a:t>Spectral moments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F986FA2-B9CD-4101-B1AB-ACC050818A3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24"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25"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4FB70F3-43C4-4C71-B5AE-2509EAF6D00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26"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Idealised Spectra</a:t>
            </a:r>
            <a:endParaRPr b="0" lang="en-US" sz="4200" spc="-1" strike="noStrike">
              <a:solidFill>
                <a:srgbClr val="006633"/>
              </a:solidFill>
              <a:latin typeface="Tahoma"/>
            </a:endParaRPr>
          </a:p>
        </p:txBody>
      </p:sp>
      <p:pic>
        <p:nvPicPr>
          <p:cNvPr id="227" name="Picture 3" descr=""/>
          <p:cNvPicPr/>
          <p:nvPr/>
        </p:nvPicPr>
        <p:blipFill>
          <a:blip r:embed="rId1"/>
          <a:stretch/>
        </p:blipFill>
        <p:spPr>
          <a:xfrm>
            <a:off x="2556000" y="2565360"/>
            <a:ext cx="3671640" cy="847800"/>
          </a:xfrm>
          <a:prstGeom prst="rect">
            <a:avLst/>
          </a:prstGeom>
          <a:ln w="12600">
            <a:solidFill>
              <a:srgbClr val="000000"/>
            </a:solidFill>
            <a:miter/>
          </a:ln>
        </p:spPr>
      </p:pic>
      <p:sp>
        <p:nvSpPr>
          <p:cNvPr id="228" name="Rectangle 4"/>
          <p:cNvSpPr/>
          <p:nvPr/>
        </p:nvSpPr>
        <p:spPr>
          <a:xfrm>
            <a:off x="324000" y="1125360"/>
            <a:ext cx="8345160" cy="130860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In the 1960’s, the </a:t>
            </a:r>
            <a:r>
              <a:rPr b="0" i="1" lang="en-US" sz="2000" spc="-1" strike="noStrike">
                <a:solidFill>
                  <a:srgbClr val="996600"/>
                </a:solidFill>
                <a:latin typeface="Arial"/>
              </a:rPr>
              <a:t>Pierson-Moskowitz</a:t>
            </a:r>
            <a:r>
              <a:rPr b="0" i="1" lang="en-US" sz="2000" spc="-1" strike="noStrike">
                <a:solidFill>
                  <a:srgbClr val="000000"/>
                </a:solidFill>
                <a:latin typeface="Arial"/>
              </a:rPr>
              <a:t> </a:t>
            </a:r>
            <a:r>
              <a:rPr b="0" lang="en-US" sz="2000" spc="-1" strike="noStrike">
                <a:solidFill>
                  <a:srgbClr val="000000"/>
                </a:solidFill>
                <a:latin typeface="Arial"/>
              </a:rPr>
              <a:t>family was developed to forecast storm waves at a single point in fully developed seas with no swell using wind data. This family relates the parameters </a:t>
            </a:r>
            <a:r>
              <a:rPr b="0" i="1" lang="en-US" sz="2000" spc="-1" strike="noStrike">
                <a:solidFill>
                  <a:srgbClr val="000000"/>
                </a:solidFill>
                <a:latin typeface="Arial"/>
              </a:rPr>
              <a:t>A</a:t>
            </a:r>
            <a:r>
              <a:rPr b="0" lang="en-US" sz="2000" spc="-1" strike="noStrike">
                <a:solidFill>
                  <a:srgbClr val="000000"/>
                </a:solidFill>
                <a:latin typeface="Arial"/>
              </a:rPr>
              <a:t> and </a:t>
            </a:r>
            <a:r>
              <a:rPr b="0" i="1" lang="en-US" sz="2000" spc="-1" strike="noStrike">
                <a:solidFill>
                  <a:srgbClr val="000000"/>
                </a:solidFill>
                <a:latin typeface="Arial"/>
              </a:rPr>
              <a:t>B</a:t>
            </a:r>
            <a:r>
              <a:rPr b="0" lang="en-US" sz="2000" spc="-1" strike="noStrike">
                <a:solidFill>
                  <a:srgbClr val="000000"/>
                </a:solidFill>
                <a:latin typeface="Arial"/>
              </a:rPr>
              <a:t> to the</a:t>
            </a: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average wind speed at 19.5m above the sea surface:</a:t>
            </a:r>
            <a:endParaRPr b="0" lang="en-US" sz="2000" spc="-1" strike="noStrike">
              <a:solidFill>
                <a:srgbClr val="000000"/>
              </a:solidFill>
              <a:latin typeface="Arial"/>
            </a:endParaRPr>
          </a:p>
        </p:txBody>
      </p:sp>
      <p:sp>
        <p:nvSpPr>
          <p:cNvPr id="229" name="Rectangle 5"/>
          <p:cNvSpPr/>
          <p:nvPr/>
        </p:nvSpPr>
        <p:spPr>
          <a:xfrm>
            <a:off x="395280" y="3573360"/>
            <a:ext cx="7959600" cy="118620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 ITTC recommends the use of the </a:t>
            </a:r>
            <a:r>
              <a:rPr b="0" i="1" lang="en-US" sz="2400" spc="-1" strike="noStrike">
                <a:solidFill>
                  <a:srgbClr val="996600"/>
                </a:solidFill>
                <a:latin typeface="Arial"/>
              </a:rPr>
              <a:t>Modified Pierson-Moskowitz</a:t>
            </a:r>
            <a:r>
              <a:rPr b="0" i="1" lang="en-US" sz="2400" spc="-1" strike="noStrike">
                <a:solidFill>
                  <a:srgbClr val="000000"/>
                </a:solidFill>
                <a:latin typeface="Arial"/>
              </a:rPr>
              <a:t> </a:t>
            </a:r>
            <a:r>
              <a:rPr b="0" lang="en-US" sz="2400" spc="-1" strike="noStrike">
                <a:solidFill>
                  <a:srgbClr val="000000"/>
                </a:solidFill>
                <a:latin typeface="Arial"/>
              </a:rPr>
              <a:t>family; significant wave height and zero-crossing period or the average wave period is used:</a:t>
            </a:r>
            <a:endParaRPr b="0" lang="en-US" sz="2400" spc="-1" strike="noStrike">
              <a:solidFill>
                <a:srgbClr val="000000"/>
              </a:solidFill>
              <a:latin typeface="Arial"/>
            </a:endParaRPr>
          </a:p>
        </p:txBody>
      </p:sp>
      <p:pic>
        <p:nvPicPr>
          <p:cNvPr id="230" name="Picture 6" descr=""/>
          <p:cNvPicPr/>
          <p:nvPr/>
        </p:nvPicPr>
        <p:blipFill>
          <a:blip r:embed="rId2"/>
          <a:stretch/>
        </p:blipFill>
        <p:spPr>
          <a:xfrm>
            <a:off x="1042920" y="4869000"/>
            <a:ext cx="7074000" cy="1095120"/>
          </a:xfrm>
          <a:prstGeom prst="rect">
            <a:avLst/>
          </a:prstGeom>
          <a:ln w="12600">
            <a:solidFill>
              <a:srgbClr val="000000"/>
            </a:solidFill>
            <a:miter/>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0D159C4-D504-4697-9D34-1FBBDACCEC79}"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32"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33"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D26BA8D-54E9-4BF8-B329-29BAA311ADC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3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Example ITTC spectra</a:t>
            </a:r>
            <a:endParaRPr b="0" lang="en-US" sz="4200" spc="-1" strike="noStrike">
              <a:solidFill>
                <a:srgbClr val="006633"/>
              </a:solidFill>
              <a:latin typeface="Tahoma"/>
            </a:endParaRPr>
          </a:p>
        </p:txBody>
      </p:sp>
      <p:pic>
        <p:nvPicPr>
          <p:cNvPr id="235" name="Picture 3" descr=""/>
          <p:cNvPicPr/>
          <p:nvPr/>
        </p:nvPicPr>
        <p:blipFill>
          <a:blip r:embed="rId1"/>
          <a:stretch/>
        </p:blipFill>
        <p:spPr>
          <a:xfrm>
            <a:off x="392040" y="2216160"/>
            <a:ext cx="8353440" cy="301932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A72D283-3AEB-4E25-B7CD-D21A21C33BF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3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3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7FAE109-78D8-4BFF-8043-2D1A3A217BA9}"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3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Other Spectra seas</a:t>
            </a:r>
            <a:endParaRPr b="0" lang="en-US" sz="4200" spc="-1" strike="noStrike">
              <a:solidFill>
                <a:srgbClr val="006633"/>
              </a:solidFill>
              <a:latin typeface="Tahoma"/>
            </a:endParaRPr>
          </a:p>
        </p:txBody>
      </p:sp>
      <p:sp>
        <p:nvSpPr>
          <p:cNvPr id="240" name="PlaceHolder 2"/>
          <p:cNvSpPr>
            <a:spLocks noGrp="1"/>
          </p:cNvSpPr>
          <p:nvPr>
            <p:ph/>
          </p:nvPr>
        </p:nvSpPr>
        <p:spPr>
          <a:xfrm>
            <a:off x="312480" y="1123560"/>
            <a:ext cx="8148600" cy="5249880"/>
          </a:xfrm>
          <a:prstGeom prst="rect">
            <a:avLst/>
          </a:prstGeom>
          <a:noFill/>
          <a:ln w="0">
            <a:noFill/>
          </a:ln>
        </p:spPr>
        <p:txBody>
          <a:bodyPr lIns="91440" rIns="91440" tIns="45720" bIns="45720" anchor="t">
            <a:normAutofit/>
          </a:bodyPr>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Other families:</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a:t>
            </a:r>
            <a:r>
              <a:rPr b="0" lang="en-US" sz="2100" spc="-1" strike="noStrike">
                <a:solidFill>
                  <a:srgbClr val="996600"/>
                </a:solidFill>
                <a:latin typeface="Arial"/>
              </a:rPr>
              <a:t>JONSWAP</a:t>
            </a:r>
            <a:r>
              <a:rPr b="0" lang="en-US" sz="2100" spc="-1" strike="noStrike">
                <a:solidFill>
                  <a:srgbClr val="000000"/>
                </a:solidFill>
                <a:latin typeface="Arial"/>
              </a:rPr>
              <a:t> spectral family accounts for the case of limited fetch wind waves</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a:t>
            </a:r>
            <a:r>
              <a:rPr b="0" lang="en-US" sz="2100" spc="-1" strike="noStrike">
                <a:solidFill>
                  <a:srgbClr val="996600"/>
                </a:solidFill>
                <a:latin typeface="Arial"/>
              </a:rPr>
              <a:t>TMA</a:t>
            </a:r>
            <a:r>
              <a:rPr b="0" lang="en-US" sz="2100" spc="-1" strike="noStrike">
                <a:solidFill>
                  <a:srgbClr val="000000"/>
                </a:solidFill>
                <a:latin typeface="Arial"/>
              </a:rPr>
              <a:t> spectral family is an extension of the JONSWAP for finite water depth,</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double-peak</a:t>
            </a:r>
            <a:r>
              <a:rPr b="0" lang="en-US" sz="2100" spc="-1" strike="noStrike">
                <a:solidFill>
                  <a:srgbClr val="0000ff"/>
                </a:solidFill>
                <a:latin typeface="Arial"/>
              </a:rPr>
              <a:t> </a:t>
            </a:r>
            <a:r>
              <a:rPr b="0" lang="en-US" sz="2100" spc="-1" strike="noStrike">
                <a:solidFill>
                  <a:srgbClr val="996600"/>
                </a:solidFill>
                <a:latin typeface="Arial"/>
              </a:rPr>
              <a:t>Torsethaugen</a:t>
            </a:r>
            <a:r>
              <a:rPr b="0" lang="en-US" sz="2100" spc="-1" strike="noStrike">
                <a:solidFill>
                  <a:srgbClr val="000000"/>
                </a:solidFill>
                <a:latin typeface="Arial"/>
              </a:rPr>
              <a:t> spectral family accounts for both swell and wind waves,</a:t>
            </a:r>
            <a:endParaRPr b="0" lang="en-US" sz="2100" spc="-1" strike="noStrike">
              <a:solidFill>
                <a:srgbClr val="000000"/>
              </a:solidFill>
              <a:latin typeface="Arial"/>
            </a:endParaRPr>
          </a:p>
          <a:p>
            <a:pPr marL="343080" indent="0">
              <a:lnSpc>
                <a:spcPct val="80000"/>
              </a:lnSpc>
              <a:spcBef>
                <a:spcPts val="524"/>
              </a:spcBef>
              <a:buNone/>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524"/>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a:t>
            </a:r>
            <a:r>
              <a:rPr b="0" lang="en-US" sz="2100" spc="-1" strike="noStrike">
                <a:solidFill>
                  <a:srgbClr val="996600"/>
                </a:solidFill>
                <a:latin typeface="Arial"/>
              </a:rPr>
              <a:t>Ochi six-parameter</a:t>
            </a:r>
            <a:r>
              <a:rPr b="0" lang="en-US" sz="2100" spc="-1" strike="noStrike">
                <a:solidFill>
                  <a:srgbClr val="000000"/>
                </a:solidFill>
                <a:latin typeface="Arial"/>
              </a:rPr>
              <a:t> spectral family can be fitted to almost any wave record (it could account for swell and wind waves.)</a:t>
            </a:r>
            <a:endParaRPr b="0" lang="en-US" sz="2100" spc="-1" strike="noStrike">
              <a:solidFill>
                <a:srgbClr val="000000"/>
              </a:solidFill>
              <a:latin typeface="Arial"/>
            </a:endParaRPr>
          </a:p>
          <a:p>
            <a:pPr marL="343080" indent="-343080">
              <a:lnSpc>
                <a:spcPct val="80000"/>
              </a:lnSpc>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lnSpc>
                <a:spcPct val="80000"/>
              </a:lnSpc>
              <a:spcBef>
                <a:spcPts val="37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500" spc="-1" strike="noStrike">
                <a:solidFill>
                  <a:srgbClr val="000000"/>
                </a:solidFill>
                <a:latin typeface="Arial"/>
              </a:rPr>
              <a:t>For further details see</a:t>
            </a:r>
            <a:r>
              <a:rPr b="0" lang="en-US" sz="2100" spc="-1" strike="noStrike">
                <a:solidFill>
                  <a:srgbClr val="000000"/>
                </a:solidFill>
                <a:latin typeface="Arial"/>
              </a:rPr>
              <a:t> </a:t>
            </a:r>
            <a:r>
              <a:rPr b="0" lang="en-US" sz="1500" spc="-1" strike="noStrike">
                <a:solidFill>
                  <a:srgbClr val="000000"/>
                </a:solidFill>
                <a:latin typeface="Arial"/>
              </a:rPr>
              <a:t>Ochi, K. (1998) Ocean Waves: The Stochastic Approach, Cambridge University Press. Ocean Tech. Series.</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E4BA318-F010-4AB8-AFA4-F68467613BA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42"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43"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4FAC43-FE83-45C1-AB18-F51027688C18}"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44"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Spectra for Short-crested Seas</a:t>
            </a:r>
            <a:endParaRPr b="0" lang="en-US" sz="4200" spc="-1" strike="noStrike">
              <a:solidFill>
                <a:srgbClr val="006633"/>
              </a:solidFill>
              <a:latin typeface="Tahoma"/>
            </a:endParaRPr>
          </a:p>
        </p:txBody>
      </p:sp>
      <p:sp>
        <p:nvSpPr>
          <p:cNvPr id="245" name="PlaceHolder 2"/>
          <p:cNvSpPr>
            <a:spLocks noGrp="1"/>
          </p:cNvSpPr>
          <p:nvPr>
            <p:ph/>
          </p:nvPr>
        </p:nvSpPr>
        <p:spPr>
          <a:xfrm>
            <a:off x="404640" y="1179000"/>
            <a:ext cx="8229600" cy="1395720"/>
          </a:xfrm>
          <a:prstGeom prst="rect">
            <a:avLst/>
          </a:prstGeom>
          <a:noFill/>
          <a:ln w="0">
            <a:noFill/>
          </a:ln>
        </p:spPr>
        <p:txBody>
          <a:bodyPr lIns="91440" rIns="91440" tIns="45720" bIns="45720" anchor="t">
            <a:normAutofit/>
          </a:bodyPr>
          <a:p>
            <a:pPr marL="343080" indent="-343080">
              <a:spcBef>
                <a:spcPts val="49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Directional spectra are more realistic and are very important to calculate loads on marine structures since the motion response depends highly on the encounter angle. For simulation, it is common to separate the directional spectrum as a product of two functions:</a:t>
            </a:r>
            <a:endParaRPr b="0" lang="en-US" sz="2000" spc="-1" strike="noStrike">
              <a:solidFill>
                <a:srgbClr val="000000"/>
              </a:solidFill>
              <a:latin typeface="Arial"/>
            </a:endParaRPr>
          </a:p>
        </p:txBody>
      </p:sp>
      <p:pic>
        <p:nvPicPr>
          <p:cNvPr id="246" name="Picture 4" descr=""/>
          <p:cNvPicPr/>
          <p:nvPr/>
        </p:nvPicPr>
        <p:blipFill>
          <a:blip r:embed="rId1"/>
          <a:stretch/>
        </p:blipFill>
        <p:spPr>
          <a:xfrm>
            <a:off x="534960" y="2781360"/>
            <a:ext cx="3327480" cy="815760"/>
          </a:xfrm>
          <a:prstGeom prst="rect">
            <a:avLst/>
          </a:prstGeom>
          <a:ln w="12600">
            <a:solidFill>
              <a:srgbClr val="000000"/>
            </a:solidFill>
            <a:miter/>
          </a:ln>
        </p:spPr>
      </p:pic>
      <p:pic>
        <p:nvPicPr>
          <p:cNvPr id="247" name="Picture 5" descr=""/>
          <p:cNvPicPr/>
          <p:nvPr/>
        </p:nvPicPr>
        <p:blipFill>
          <a:blip r:embed="rId2"/>
          <a:stretch/>
        </p:blipFill>
        <p:spPr>
          <a:xfrm>
            <a:off x="539640" y="4221000"/>
            <a:ext cx="957240" cy="524160"/>
          </a:xfrm>
          <a:prstGeom prst="rect">
            <a:avLst/>
          </a:prstGeom>
          <a:ln w="0">
            <a:noFill/>
          </a:ln>
        </p:spPr>
      </p:pic>
      <p:sp>
        <p:nvSpPr>
          <p:cNvPr id="248" name="Rectangle 6"/>
          <p:cNvSpPr/>
          <p:nvPr/>
        </p:nvSpPr>
        <p:spPr>
          <a:xfrm>
            <a:off x="1482840" y="4241880"/>
            <a:ext cx="2687400" cy="4363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99"/>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is the </a:t>
            </a:r>
            <a:r>
              <a:rPr b="0" lang="en-US" sz="2000" spc="-1" strike="noStrike">
                <a:solidFill>
                  <a:srgbClr val="0000ff"/>
                </a:solidFill>
                <a:latin typeface="Arial"/>
              </a:rPr>
              <a:t>spreading function</a:t>
            </a:r>
            <a:endParaRPr b="0" lang="en-US" sz="2000" spc="-1" strike="noStrike">
              <a:solidFill>
                <a:srgbClr val="000000"/>
              </a:solidFill>
              <a:latin typeface="Arial"/>
            </a:endParaRPr>
          </a:p>
        </p:txBody>
      </p:sp>
      <p:pic>
        <p:nvPicPr>
          <p:cNvPr id="249" name="Picture 7" descr=""/>
          <p:cNvPicPr/>
          <p:nvPr/>
        </p:nvPicPr>
        <p:blipFill>
          <a:blip r:embed="rId3"/>
          <a:stretch/>
        </p:blipFill>
        <p:spPr>
          <a:xfrm>
            <a:off x="4127400" y="2519280"/>
            <a:ext cx="4753080" cy="3214800"/>
          </a:xfrm>
          <a:prstGeom prst="rect">
            <a:avLst/>
          </a:prstGeom>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43482B0-81F5-4F5D-BB37-2D3CA5056D5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51"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2"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408AE3D-28C0-4525-9CD2-D79EF113213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5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Spreading Function</a:t>
            </a:r>
            <a:endParaRPr b="0" lang="en-US" sz="4200" spc="-1" strike="noStrike">
              <a:solidFill>
                <a:srgbClr val="006633"/>
              </a:solidFill>
              <a:latin typeface="Tahoma"/>
            </a:endParaRPr>
          </a:p>
        </p:txBody>
      </p:sp>
      <p:pic>
        <p:nvPicPr>
          <p:cNvPr id="254" name="Picture 3" descr=""/>
          <p:cNvPicPr/>
          <p:nvPr/>
        </p:nvPicPr>
        <p:blipFill>
          <a:blip r:embed="rId1"/>
          <a:stretch/>
        </p:blipFill>
        <p:spPr>
          <a:xfrm>
            <a:off x="851040" y="1144440"/>
            <a:ext cx="7467480" cy="1584360"/>
          </a:xfrm>
          <a:prstGeom prst="rect">
            <a:avLst/>
          </a:prstGeom>
          <a:ln w="0">
            <a:noFill/>
          </a:ln>
        </p:spPr>
      </p:pic>
      <p:sp>
        <p:nvSpPr>
          <p:cNvPr id="255" name="Rectangle 4"/>
          <p:cNvSpPr/>
          <p:nvPr/>
        </p:nvSpPr>
        <p:spPr>
          <a:xfrm>
            <a:off x="539640" y="2852640"/>
            <a:ext cx="4032360" cy="301500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where χ0 is the dominant wave propagation direction, and the values of s = 1, 2 are commonly used. See Lloyd (1989) for a more general form where |χ − χ0| &lt; α; with α not necessarily equal to π/2</a:t>
            </a:r>
            <a:endParaRPr b="0" lang="en-US" sz="2400" spc="-1" strike="noStrike">
              <a:solidFill>
                <a:srgbClr val="000000"/>
              </a:solidFill>
              <a:latin typeface="Arial"/>
            </a:endParaRPr>
          </a:p>
        </p:txBody>
      </p:sp>
      <p:pic>
        <p:nvPicPr>
          <p:cNvPr id="256" name="Picture 5" descr=""/>
          <p:cNvPicPr/>
          <p:nvPr/>
        </p:nvPicPr>
        <p:blipFill>
          <a:blip r:embed="rId2"/>
          <a:stretch/>
        </p:blipFill>
        <p:spPr>
          <a:xfrm>
            <a:off x="4716360" y="2781360"/>
            <a:ext cx="4044960" cy="282564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C7BB06A-39DA-49FF-AB39-020B14A3997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58"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59"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DB9C9EA-00EE-4738-BEA7-2693A24777B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260" name="Picture 4" descr=""/>
          <p:cNvPicPr/>
          <p:nvPr/>
        </p:nvPicPr>
        <p:blipFill>
          <a:blip r:embed="rId1"/>
          <a:stretch/>
        </p:blipFill>
        <p:spPr>
          <a:xfrm>
            <a:off x="1476360" y="4724280"/>
            <a:ext cx="6500880" cy="1327320"/>
          </a:xfrm>
          <a:prstGeom prst="rect">
            <a:avLst/>
          </a:prstGeom>
          <a:ln w="0">
            <a:noFill/>
          </a:ln>
        </p:spPr>
      </p:pic>
      <p:sp>
        <p:nvSpPr>
          <p:cNvPr id="26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Time-domain Simulations</a:t>
            </a:r>
            <a:endParaRPr b="0" lang="en-US" sz="4200" spc="-1" strike="noStrike">
              <a:solidFill>
                <a:srgbClr val="006633"/>
              </a:solidFill>
              <a:latin typeface="Tahoma"/>
            </a:endParaRPr>
          </a:p>
        </p:txBody>
      </p:sp>
      <p:pic>
        <p:nvPicPr>
          <p:cNvPr id="262" name="Picture 3" descr=""/>
          <p:cNvPicPr/>
          <p:nvPr/>
        </p:nvPicPr>
        <p:blipFill>
          <a:blip r:embed="rId2"/>
          <a:stretch/>
        </p:blipFill>
        <p:spPr>
          <a:xfrm>
            <a:off x="2627280" y="1916280"/>
            <a:ext cx="4040280" cy="1195200"/>
          </a:xfrm>
          <a:prstGeom prst="rect">
            <a:avLst/>
          </a:prstGeom>
          <a:ln w="12600">
            <a:solidFill>
              <a:srgbClr val="000000"/>
            </a:solidFill>
            <a:miter/>
          </a:ln>
        </p:spPr>
      </p:pic>
      <p:sp>
        <p:nvSpPr>
          <p:cNvPr id="263" name="Rectangle 5"/>
          <p:cNvSpPr/>
          <p:nvPr/>
        </p:nvSpPr>
        <p:spPr>
          <a:xfrm>
            <a:off x="468360" y="981000"/>
            <a:ext cx="7743600" cy="118620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If</a:t>
            </a:r>
            <a:r>
              <a:rPr b="0" lang="en-US" sz="2400" spc="-1" strike="noStrike">
                <a:solidFill>
                  <a:srgbClr val="006633"/>
                </a:solidFill>
                <a:latin typeface="Times New Roman"/>
              </a:rPr>
              <a:t> ζ(t) </a:t>
            </a:r>
            <a:r>
              <a:rPr b="0" lang="en-US" sz="2400" spc="-1" strike="noStrike">
                <a:solidFill>
                  <a:srgbClr val="000000"/>
                </a:solidFill>
                <a:latin typeface="Arial"/>
              </a:rPr>
              <a:t>is stationary and Gaussian on time interval</a:t>
            </a:r>
            <a:r>
              <a:rPr b="0" lang="en-US" sz="2400" spc="-1" strike="noStrike">
                <a:solidFill>
                  <a:srgbClr val="006633"/>
                </a:solidFill>
                <a:latin typeface="Times New Roman"/>
              </a:rPr>
              <a:t> [0, T</a:t>
            </a:r>
            <a:r>
              <a:rPr b="0" lang="en-US" sz="2400" spc="-1" strike="noStrike">
                <a:solidFill>
                  <a:srgbClr val="000000"/>
                </a:solidFill>
                <a:latin typeface="Arial"/>
              </a:rPr>
              <a:t>], its realizations can be approximated to any degree of accuracy by</a:t>
            </a:r>
            <a:r>
              <a:rPr b="0" lang="en-US" sz="2400" spc="-1" strike="noStrike">
                <a:solidFill>
                  <a:srgbClr val="006633"/>
                </a:solidFill>
                <a:latin typeface="Times New Roman"/>
              </a:rPr>
              <a:t> </a:t>
            </a:r>
            <a:endParaRPr b="0" lang="en-US" sz="2400" spc="-1" strike="noStrike">
              <a:solidFill>
                <a:srgbClr val="000000"/>
              </a:solidFill>
              <a:latin typeface="Arial"/>
            </a:endParaRPr>
          </a:p>
        </p:txBody>
      </p:sp>
      <p:sp>
        <p:nvSpPr>
          <p:cNvPr id="264" name="Rectangle 6"/>
          <p:cNvSpPr/>
          <p:nvPr/>
        </p:nvSpPr>
        <p:spPr>
          <a:xfrm>
            <a:off x="324000" y="3213000"/>
            <a:ext cx="8528040" cy="201852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with </a:t>
            </a:r>
            <a:r>
              <a:rPr b="0" lang="en-US" sz="2400" spc="-1" strike="noStrike">
                <a:solidFill>
                  <a:srgbClr val="006633"/>
                </a:solidFill>
                <a:latin typeface="Times New Roman"/>
              </a:rPr>
              <a:t>N </a:t>
            </a:r>
            <a:r>
              <a:rPr b="0" lang="en-US" sz="2400" spc="-1" strike="noStrike">
                <a:solidFill>
                  <a:srgbClr val="000000"/>
                </a:solidFill>
                <a:latin typeface="Arial"/>
              </a:rPr>
              <a:t>sufficiently large; where</a:t>
            </a:r>
            <a:r>
              <a:rPr b="0" lang="en-US" sz="2400" spc="-1" strike="noStrike">
                <a:solidFill>
                  <a:srgbClr val="006633"/>
                </a:solidFill>
                <a:latin typeface="Times New Roman"/>
              </a:rPr>
              <a:t> σ</a:t>
            </a:r>
            <a:r>
              <a:rPr b="0" lang="en-US" sz="2400" spc="-1" strike="noStrike" baseline="-25000">
                <a:solidFill>
                  <a:srgbClr val="006633"/>
                </a:solidFill>
                <a:latin typeface="Times New Roman"/>
              </a:rPr>
              <a:t>n</a:t>
            </a:r>
            <a:r>
              <a:rPr b="0" lang="en-US" sz="2400" spc="-1" strike="noStrike">
                <a:solidFill>
                  <a:srgbClr val="006633"/>
                </a:solidFill>
                <a:latin typeface="Times New Roman"/>
              </a:rPr>
              <a:t> </a:t>
            </a:r>
            <a:r>
              <a:rPr b="0" lang="en-US" sz="2400" spc="-1" strike="noStrike">
                <a:solidFill>
                  <a:srgbClr val="000000"/>
                </a:solidFill>
                <a:latin typeface="Arial"/>
              </a:rPr>
              <a:t>are constants and the phases</a:t>
            </a:r>
            <a:r>
              <a:rPr b="0" lang="en-US" sz="2400" spc="-1" strike="noStrike">
                <a:solidFill>
                  <a:srgbClr val="006633"/>
                </a:solidFill>
                <a:latin typeface="Times New Roman"/>
              </a:rPr>
              <a:t> ε</a:t>
            </a:r>
            <a:r>
              <a:rPr b="0" lang="en-US" sz="2400" spc="-1" strike="noStrike" baseline="-25000">
                <a:solidFill>
                  <a:srgbClr val="006633"/>
                </a:solidFill>
                <a:latin typeface="Times New Roman"/>
              </a:rPr>
              <a:t>n</a:t>
            </a:r>
            <a:r>
              <a:rPr b="0" lang="en-US" sz="2400" spc="-1" strike="noStrike">
                <a:solidFill>
                  <a:srgbClr val="006633"/>
                </a:solidFill>
                <a:latin typeface="Times New Roman"/>
              </a:rPr>
              <a:t> </a:t>
            </a:r>
            <a:r>
              <a:rPr b="0" lang="en-US" sz="2400" spc="-1" strike="noStrike">
                <a:solidFill>
                  <a:srgbClr val="000000"/>
                </a:solidFill>
                <a:latin typeface="Arial"/>
              </a:rPr>
              <a:t>are independent identically distributed random variables with uniform distribution in</a:t>
            </a:r>
            <a:r>
              <a:rPr b="0" lang="en-US" sz="2400" spc="-1" strike="noStrike">
                <a:solidFill>
                  <a:srgbClr val="006633"/>
                </a:solidFill>
                <a:latin typeface="Times New Roman"/>
              </a:rPr>
              <a:t> [0, 2π].</a:t>
            </a:r>
            <a:endParaRPr b="0" lang="en-US" sz="2400" spc="-1" strike="noStrike">
              <a:solidFill>
                <a:srgbClr val="000000"/>
              </a:solidFill>
              <a:latin typeface="Arial"/>
            </a:endParaRPr>
          </a:p>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The autocorrelation is given by</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Date Placeholder 5"/>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CE9D3D-6091-4860-A5BE-F1D50767A76D}"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66" name="Footer Placeholder 6"/>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67" name="Slide Number Placeholder 7"/>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68A6D90-ADD5-44B1-AE7F-2EF495F35A0F}"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pic>
        <p:nvPicPr>
          <p:cNvPr id="268" name="Picture 3" descr=""/>
          <p:cNvPicPr/>
          <p:nvPr/>
        </p:nvPicPr>
        <p:blipFill>
          <a:blip r:embed="rId1"/>
          <a:stretch/>
        </p:blipFill>
        <p:spPr>
          <a:xfrm>
            <a:off x="684360" y="1700280"/>
            <a:ext cx="7119720" cy="4233960"/>
          </a:xfrm>
          <a:prstGeom prst="rect">
            <a:avLst/>
          </a:prstGeom>
          <a:ln w="0">
            <a:noFill/>
          </a:ln>
        </p:spPr>
      </p:pic>
      <p:sp>
        <p:nvSpPr>
          <p:cNvPr id="26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Time-domain Simulations</a:t>
            </a:r>
            <a:endParaRPr b="0" lang="en-US" sz="4200" spc="-1" strike="noStrike">
              <a:solidFill>
                <a:srgbClr val="006633"/>
              </a:solidFill>
              <a:latin typeface="Tahoma"/>
            </a:endParaRPr>
          </a:p>
        </p:txBody>
      </p:sp>
      <p:pic>
        <p:nvPicPr>
          <p:cNvPr id="270" name="Picture 4" descr=""/>
          <p:cNvPicPr/>
          <p:nvPr/>
        </p:nvPicPr>
        <p:blipFill>
          <a:blip r:embed="rId2"/>
          <a:stretch/>
        </p:blipFill>
        <p:spPr>
          <a:xfrm>
            <a:off x="2693880" y="1201680"/>
            <a:ext cx="3602160" cy="1154160"/>
          </a:xfrm>
          <a:prstGeom prst="rect">
            <a:avLst/>
          </a:prstGeom>
          <a:ln w="12600">
            <a:solidFill>
              <a:srgbClr val="000000"/>
            </a:solidFill>
            <a:miter/>
          </a:ln>
        </p:spPr>
      </p:pic>
      <p:pic>
        <p:nvPicPr>
          <p:cNvPr id="271" name="Picture 5" descr=""/>
          <p:cNvPicPr/>
          <p:nvPr/>
        </p:nvPicPr>
        <p:blipFill>
          <a:blip r:embed="rId3"/>
          <a:stretch/>
        </p:blipFill>
        <p:spPr>
          <a:xfrm>
            <a:off x="4067280" y="2421000"/>
            <a:ext cx="3816360" cy="792000"/>
          </a:xfrm>
          <a:prstGeom prst="rect">
            <a:avLst/>
          </a:prstGeom>
          <a:ln w="0">
            <a:noFill/>
          </a:ln>
        </p:spPr>
      </p:pic>
      <p:pic>
        <p:nvPicPr>
          <p:cNvPr id="272" name="Picture 7" descr=""/>
          <p:cNvPicPr/>
          <p:nvPr/>
        </p:nvPicPr>
        <p:blipFill>
          <a:blip r:embed="rId4"/>
          <a:stretch/>
        </p:blipFill>
        <p:spPr>
          <a:xfrm>
            <a:off x="4500720" y="3068640"/>
            <a:ext cx="3816360" cy="792000"/>
          </a:xfrm>
          <a:prstGeom prst="rect">
            <a:avLst/>
          </a:prstGeom>
          <a:ln w="0">
            <a:noFill/>
          </a:ln>
        </p:spPr>
      </p:pic>
      <p:pic>
        <p:nvPicPr>
          <p:cNvPr id="273" name="Picture 8" descr=""/>
          <p:cNvPicPr/>
          <p:nvPr/>
        </p:nvPicPr>
        <p:blipFill>
          <a:blip r:embed="rId5"/>
          <a:stretch/>
        </p:blipFill>
        <p:spPr>
          <a:xfrm>
            <a:off x="4859280" y="3645000"/>
            <a:ext cx="3816360" cy="79200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Date Placeholder 4"/>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B09CB8B-B2DC-4CE3-9241-FF23E2520F9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75" name="Footer Placeholder 5"/>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76" name="Slide Number Placeholder 6"/>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D72A35B-1B3A-40E2-BB3C-CB08FCE627B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7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Why is it done this way?</a:t>
            </a:r>
            <a:endParaRPr b="0" lang="en-US" sz="4200" spc="-1" strike="noStrike">
              <a:solidFill>
                <a:srgbClr val="006633"/>
              </a:solidFill>
              <a:latin typeface="Tahoma"/>
            </a:endParaRPr>
          </a:p>
        </p:txBody>
      </p:sp>
      <p:pic>
        <p:nvPicPr>
          <p:cNvPr id="278" name="Picture 3" descr=""/>
          <p:cNvPicPr/>
          <p:nvPr/>
        </p:nvPicPr>
        <p:blipFill>
          <a:blip r:embed="rId1"/>
          <a:stretch/>
        </p:blipFill>
        <p:spPr>
          <a:xfrm>
            <a:off x="900000" y="1052640"/>
            <a:ext cx="7118640" cy="492120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A214D53-AC88-464C-8AC6-6C0CED709993}"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8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8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17E2DF2-7E75-4919-B185-51AD5027F2D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8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Formulae for Time-damin Simulations</a:t>
            </a:r>
            <a:endParaRPr b="0" lang="en-US" sz="4200" spc="-1" strike="noStrike">
              <a:solidFill>
                <a:srgbClr val="006633"/>
              </a:solidFill>
              <a:latin typeface="Tahoma"/>
            </a:endParaRPr>
          </a:p>
        </p:txBody>
      </p:sp>
      <p:pic>
        <p:nvPicPr>
          <p:cNvPr id="283" name="Picture 3" descr=""/>
          <p:cNvPicPr/>
          <p:nvPr/>
        </p:nvPicPr>
        <p:blipFill>
          <a:blip r:embed="rId1"/>
          <a:stretch/>
        </p:blipFill>
        <p:spPr>
          <a:xfrm>
            <a:off x="893880" y="1596960"/>
            <a:ext cx="6891120" cy="403704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0CC1363-349D-4755-AF43-9994C5041DCE}"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8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8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ECA66AD-1A0F-4E25-BC5E-5CC7559AEE37}"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8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Wind</a:t>
            </a:r>
            <a:endParaRPr b="0" lang="en-US" sz="4200" spc="-1" strike="noStrike">
              <a:solidFill>
                <a:srgbClr val="006633"/>
              </a:solidFill>
              <a:latin typeface="Tahoma"/>
            </a:endParaRPr>
          </a:p>
        </p:txBody>
      </p:sp>
      <p:sp>
        <p:nvSpPr>
          <p:cNvPr id="288" name="PlaceHolder 2"/>
          <p:cNvSpPr>
            <a:spLocks noGrp="1"/>
          </p:cNvSpPr>
          <p:nvPr>
            <p:ph/>
          </p:nvPr>
        </p:nvSpPr>
        <p:spPr>
          <a:xfrm>
            <a:off x="504360" y="1220400"/>
            <a:ext cx="8280360" cy="4886280"/>
          </a:xfrm>
          <a:prstGeom prst="rect">
            <a:avLst/>
          </a:prstGeom>
          <a:noFill/>
          <a:ln w="0">
            <a:noFill/>
          </a:ln>
        </p:spPr>
        <p:txBody>
          <a:bodyPr lIns="91440" rIns="91440" tIns="45720" bIns="45720" anchor="t">
            <a:normAutofit/>
          </a:bodyPr>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00"/>
                </a:solidFill>
                <a:latin typeface="Arial"/>
              </a:rPr>
              <a:t>Wind is commonly divided in two components; a </a:t>
            </a:r>
            <a:r>
              <a:rPr b="0" lang="en-US" sz="1900" spc="-1" strike="noStrike">
                <a:solidFill>
                  <a:srgbClr val="996600"/>
                </a:solidFill>
                <a:latin typeface="Arial"/>
              </a:rPr>
              <a:t>mean value</a:t>
            </a:r>
            <a:r>
              <a:rPr b="0" lang="en-US" sz="1900" spc="-1" strike="noStrike">
                <a:solidFill>
                  <a:srgbClr val="000000"/>
                </a:solidFill>
                <a:latin typeface="Arial"/>
              </a:rPr>
              <a:t> and a </a:t>
            </a:r>
            <a:r>
              <a:rPr b="0" lang="en-US" sz="1900" spc="-1" strike="noStrike">
                <a:solidFill>
                  <a:srgbClr val="996600"/>
                </a:solidFill>
                <a:latin typeface="Arial"/>
              </a:rPr>
              <a:t>fluctuating component</a:t>
            </a:r>
            <a:r>
              <a:rPr b="0" lang="en-US" sz="1900" spc="-1" strike="noStrike">
                <a:solidFill>
                  <a:srgbClr val="000000"/>
                </a:solidFill>
                <a:latin typeface="Arial"/>
              </a:rPr>
              <a:t>, or </a:t>
            </a:r>
            <a:r>
              <a:rPr b="0" lang="en-US" sz="1900" spc="-1" strike="noStrike">
                <a:solidFill>
                  <a:srgbClr val="996600"/>
                </a:solidFill>
                <a:latin typeface="Arial"/>
              </a:rPr>
              <a:t>gust</a:t>
            </a:r>
            <a:r>
              <a:rPr b="0" lang="en-US" sz="1900" spc="-1" strike="noStrike">
                <a:solidFill>
                  <a:srgbClr val="000000"/>
                </a:solidFill>
                <a:latin typeface="Arial"/>
              </a:rPr>
              <a:t>. </a:t>
            </a: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00"/>
                </a:solidFill>
                <a:latin typeface="Arial"/>
              </a:rPr>
              <a:t>The mean component decreases with the distance towards the ground or the surface of the ocean, whereas the gust is approximately constant with the distance to the ground or the surface of the </a:t>
            </a:r>
            <a:r>
              <a:rPr b="0" lang="en-US" sz="1900" spc="-1" strike="noStrike">
                <a:solidFill>
                  <a:srgbClr val="996600"/>
                </a:solidFill>
                <a:latin typeface="Arial"/>
              </a:rPr>
              <a:t>ocean—boundary layer</a:t>
            </a:r>
            <a:r>
              <a:rPr b="0" lang="en-US" sz="1900" spc="-1" strike="noStrike">
                <a:solidFill>
                  <a:srgbClr val="000000"/>
                </a:solidFill>
                <a:latin typeface="Arial"/>
              </a:rPr>
              <a:t>. </a:t>
            </a: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00"/>
                </a:solidFill>
                <a:latin typeface="Arial"/>
              </a:rPr>
              <a:t>It is a 3D phenomenon, but in marine applications  we restrict it to  2D, and velocities are considered only in the horizontal plane.</a:t>
            </a: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00"/>
                </a:solidFill>
                <a:latin typeface="Arial"/>
              </a:rPr>
              <a:t>Wind is parameterized by the velocity </a:t>
            </a:r>
            <a:r>
              <a:rPr b="0" i="1" lang="en-US" sz="1900" spc="-1" strike="noStrike">
                <a:solidFill>
                  <a:srgbClr val="000000"/>
                </a:solidFill>
                <a:latin typeface="Arial"/>
              </a:rPr>
              <a:t>U</a:t>
            </a:r>
            <a:r>
              <a:rPr b="0" lang="en-US" sz="1900" spc="-1" strike="noStrike">
                <a:solidFill>
                  <a:srgbClr val="000000"/>
                </a:solidFill>
                <a:latin typeface="Arial"/>
              </a:rPr>
              <a:t> and the direction </a:t>
            </a:r>
            <a:r>
              <a:rPr b="0" i="1" lang="en-US" sz="1900" spc="-1" strike="noStrike">
                <a:solidFill>
                  <a:srgbClr val="000000"/>
                </a:solidFill>
                <a:latin typeface="Arial"/>
              </a:rPr>
              <a:t>ψ</a:t>
            </a:r>
            <a:r>
              <a:rPr b="0" lang="en-US" sz="1900" spc="-1" strike="noStrike">
                <a:solidFill>
                  <a:srgbClr val="000000"/>
                </a:solidFill>
                <a:latin typeface="Arial"/>
              </a:rPr>
              <a:t>. </a:t>
            </a:r>
            <a:r>
              <a:rPr b="0" lang="en-US" sz="1900" spc="-1" strike="noStrike">
                <a:solidFill>
                  <a:srgbClr val="996600"/>
                </a:solidFill>
                <a:latin typeface="Arial"/>
              </a:rPr>
              <a:t>The  direction is taken with respect to the North-East</a:t>
            </a:r>
            <a:r>
              <a:rPr b="0" lang="en-US" sz="1900" spc="-1" strike="noStrike">
                <a:solidFill>
                  <a:srgbClr val="000000"/>
                </a:solidFill>
                <a:latin typeface="Arial"/>
              </a:rPr>
              <a:t>. </a:t>
            </a: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900" spc="-1" strike="noStrike">
              <a:solidFill>
                <a:srgbClr val="000000"/>
              </a:solidFill>
              <a:latin typeface="Arial"/>
            </a:endParaRPr>
          </a:p>
          <a:p>
            <a:pPr marL="343080" indent="-343080">
              <a:lnSpc>
                <a:spcPct val="80000"/>
              </a:lnSpc>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00"/>
                </a:solidFill>
                <a:latin typeface="Arial"/>
              </a:rPr>
              <a:t>Note that, in general, the direction of the wind is the direction from where the wind is coming from, e.g., a SE wind blows from the SE towards NW. </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48AFB76-4390-45FB-AA75-DB1AA610E284}"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90"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91"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F30F82-F1EA-43D7-A517-FD0C113511E1}"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292"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Wind Mean-velocity Component</a:t>
            </a:r>
            <a:endParaRPr b="0" lang="en-US" sz="4200" spc="-1" strike="noStrike">
              <a:solidFill>
                <a:srgbClr val="006633"/>
              </a:solidFill>
              <a:latin typeface="Tahoma"/>
            </a:endParaRPr>
          </a:p>
        </p:txBody>
      </p:sp>
      <p:sp>
        <p:nvSpPr>
          <p:cNvPr id="293" name="PlaceHolder 2"/>
          <p:cNvSpPr>
            <a:spLocks noGrp="1"/>
          </p:cNvSpPr>
          <p:nvPr>
            <p:ph/>
          </p:nvPr>
        </p:nvSpPr>
        <p:spPr>
          <a:xfrm>
            <a:off x="447480" y="1185840"/>
            <a:ext cx="7600680" cy="1579680"/>
          </a:xfrm>
          <a:prstGeom prst="rect">
            <a:avLst/>
          </a:prstGeom>
          <a:noFill/>
          <a:ln w="0">
            <a:noFill/>
          </a:ln>
        </p:spPr>
        <p:txBody>
          <a:bodyPr lIns="91440" rIns="91440" tIns="45720" bIns="45720" anchor="t">
            <a:normAutofit/>
          </a:bodyPr>
          <a:p>
            <a:pPr marL="343080" indent="-34308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Slowly-varying fluctuations in the mean wind velocity can be modeled by a 1st order Gauss-Markov Process:</a:t>
            </a:r>
            <a:endParaRPr b="0" lang="en-US" sz="2100" spc="-1" strike="noStrike">
              <a:solidFill>
                <a:srgbClr val="000000"/>
              </a:solidFill>
              <a:latin typeface="Arial"/>
            </a:endParaRPr>
          </a:p>
        </p:txBody>
      </p:sp>
      <p:pic>
        <p:nvPicPr>
          <p:cNvPr id="294" name="Picture 4" descr=""/>
          <p:cNvPicPr/>
          <p:nvPr/>
        </p:nvPicPr>
        <p:blipFill>
          <a:blip r:embed="rId1"/>
          <a:stretch/>
        </p:blipFill>
        <p:spPr>
          <a:xfrm>
            <a:off x="3494160" y="2394000"/>
            <a:ext cx="1927080" cy="941400"/>
          </a:xfrm>
          <a:prstGeom prst="rect">
            <a:avLst/>
          </a:prstGeom>
          <a:ln w="12600">
            <a:solidFill>
              <a:srgbClr val="000000"/>
            </a:solidFill>
            <a:miter/>
          </a:ln>
        </p:spPr>
      </p:pic>
      <p:sp>
        <p:nvSpPr>
          <p:cNvPr id="295" name="Rectangle 5"/>
          <p:cNvSpPr/>
          <p:nvPr/>
        </p:nvSpPr>
        <p:spPr>
          <a:xfrm>
            <a:off x="614520" y="3708360"/>
            <a:ext cx="8367480" cy="1551960"/>
          </a:xfrm>
          <a:prstGeom prst="rect">
            <a:avLst/>
          </a:prstGeom>
          <a:noFill/>
          <a:ln w="0">
            <a:noFill/>
          </a:ln>
        </p:spPr>
        <p:style>
          <a:lnRef idx="0"/>
          <a:fillRef idx="0"/>
          <a:effectRef idx="0"/>
          <a:fontRef idx="minor"/>
        </p:style>
        <p:txBody>
          <a:bodyPr lIns="90360" rIns="90360" tIns="44280" bIns="4428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6633"/>
                </a:solidFill>
                <a:latin typeface="Arial"/>
              </a:rPr>
              <a:t>where</a:t>
            </a:r>
            <a:r>
              <a:rPr b="0" i="1" lang="en-US" sz="2400" spc="-1" strike="noStrike">
                <a:solidFill>
                  <a:srgbClr val="006633"/>
                </a:solidFill>
                <a:latin typeface="Arial"/>
              </a:rPr>
              <a:t> w</a:t>
            </a:r>
            <a:r>
              <a:rPr b="0" lang="en-US" sz="2400" spc="-1" strike="noStrike">
                <a:solidFill>
                  <a:srgbClr val="006633"/>
                </a:solidFill>
                <a:latin typeface="Arial"/>
              </a:rPr>
              <a:t> is Gaussian white noise and μ ≥ 0 is a constant. </a:t>
            </a:r>
            <a:endParaRPr b="0" lang="en-US" sz="24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6633"/>
                </a:solidFill>
                <a:latin typeface="Arial"/>
              </a:rPr>
              <a:t>The magnitude of the velocity should be restricted by saturation elements</a:t>
            </a:r>
            <a:endParaRPr b="0" lang="en-US" sz="2400" spc="-1" strike="noStrike">
              <a:solidFill>
                <a:srgbClr val="000000"/>
              </a:solidFill>
              <a:latin typeface="Arial"/>
            </a:endParaRPr>
          </a:p>
        </p:txBody>
      </p:sp>
      <p:pic>
        <p:nvPicPr>
          <p:cNvPr id="296" name="Picture 6" descr=""/>
          <p:cNvPicPr/>
          <p:nvPr/>
        </p:nvPicPr>
        <p:blipFill>
          <a:blip r:embed="rId2"/>
          <a:stretch/>
        </p:blipFill>
        <p:spPr>
          <a:xfrm>
            <a:off x="3083040" y="5380200"/>
            <a:ext cx="2809800" cy="59364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7"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BEB22FF-045C-4B8A-B2CB-96018269879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298"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299"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6E17371-B076-4C2E-9D69-2866468C0C0C}"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00"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Wind Mean-direction component</a:t>
            </a:r>
            <a:endParaRPr b="0" lang="en-US" sz="4200" spc="-1" strike="noStrike">
              <a:solidFill>
                <a:srgbClr val="006633"/>
              </a:solidFill>
              <a:latin typeface="Tahoma"/>
            </a:endParaRPr>
          </a:p>
        </p:txBody>
      </p:sp>
      <p:sp>
        <p:nvSpPr>
          <p:cNvPr id="301" name="PlaceHolder 2"/>
          <p:cNvSpPr>
            <a:spLocks noGrp="1"/>
          </p:cNvSpPr>
          <p:nvPr>
            <p:ph/>
          </p:nvPr>
        </p:nvSpPr>
        <p:spPr>
          <a:xfrm>
            <a:off x="447480" y="1185840"/>
            <a:ext cx="7600680" cy="1579680"/>
          </a:xfrm>
          <a:prstGeom prst="rect">
            <a:avLst/>
          </a:prstGeom>
          <a:noFill/>
          <a:ln w="0">
            <a:noFill/>
          </a:ln>
        </p:spPr>
        <p:txBody>
          <a:bodyPr lIns="91440" rIns="91440" tIns="45720" bIns="45720" anchor="t">
            <a:normAutofit/>
          </a:bodyPr>
          <a:p>
            <a:pPr marL="343080" indent="-34308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Slowly-varying fluctuations in the mean wind direction  can also be implemented by a 1st order Gauss-Markov Process (Sorensen, 2005):</a:t>
            </a:r>
            <a:endParaRPr b="0" lang="en-US" sz="2100" spc="-1" strike="noStrike">
              <a:solidFill>
                <a:srgbClr val="000000"/>
              </a:solidFill>
              <a:latin typeface="Arial"/>
            </a:endParaRPr>
          </a:p>
        </p:txBody>
      </p:sp>
      <p:pic>
        <p:nvPicPr>
          <p:cNvPr id="302" name="Picture 4" descr=""/>
          <p:cNvPicPr/>
          <p:nvPr/>
        </p:nvPicPr>
        <p:blipFill>
          <a:blip r:embed="rId1"/>
          <a:stretch/>
        </p:blipFill>
        <p:spPr>
          <a:xfrm>
            <a:off x="2627280" y="2637000"/>
            <a:ext cx="3979800" cy="1457280"/>
          </a:xfrm>
          <a:prstGeom prst="rect">
            <a:avLst/>
          </a:prstGeom>
          <a:ln w="0">
            <a:noFill/>
          </a:ln>
        </p:spPr>
      </p:pic>
      <p:sp>
        <p:nvSpPr>
          <p:cNvPr id="303" name="Rectangle 5"/>
          <p:cNvSpPr/>
          <p:nvPr/>
        </p:nvSpPr>
        <p:spPr>
          <a:xfrm>
            <a:off x="882720" y="4529160"/>
            <a:ext cx="7772400" cy="173052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direction is taken with respect to the (n-frame).</a:t>
            </a:r>
            <a:endParaRPr b="0" lang="en-US" sz="2100" spc="-1" strike="noStrike">
              <a:solidFill>
                <a:srgbClr val="000000"/>
              </a:solidFill>
              <a:latin typeface="Arial"/>
            </a:endParaRPr>
          </a:p>
          <a:p>
            <a:pPr marL="343080" indent="-343080">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100" spc="-1" strike="noStrike">
              <a:solidFill>
                <a:srgbClr val="000000"/>
              </a:solidFill>
              <a:latin typeface="Arial"/>
            </a:endParaRPr>
          </a:p>
          <a:p>
            <a:pPr marL="343080" indent="-343080">
              <a:spcBef>
                <a:spcPts val="52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2100" spc="-1" strike="noStrike">
                <a:solidFill>
                  <a:srgbClr val="000000"/>
                </a:solidFill>
                <a:latin typeface="Arial"/>
              </a:rPr>
              <a:t>NOTE:  This direction is </a:t>
            </a:r>
            <a:r>
              <a:rPr b="1" lang="nb-NO" sz="2100" spc="-1" strike="noStrike">
                <a:solidFill>
                  <a:srgbClr val="0000ff"/>
                </a:solidFill>
                <a:latin typeface="Arial"/>
              </a:rPr>
              <a:t>often</a:t>
            </a:r>
            <a:r>
              <a:rPr b="0" lang="nb-NO" sz="2100" spc="-1" strike="noStrike">
                <a:solidFill>
                  <a:srgbClr val="000000"/>
                </a:solidFill>
                <a:latin typeface="Arial"/>
              </a:rPr>
              <a:t> the direction from where the wind is blowing: North-East (NE) wind blows from the NE</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AD8FE18-E17F-4CBE-93CB-7DDE0537301C}"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05"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06"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4130EDA-69FF-40A5-8038-BCDE8FA5003B}"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07"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Wind velocity and direction</a:t>
            </a:r>
            <a:endParaRPr b="0" lang="en-US" sz="4200" spc="-1" strike="noStrike">
              <a:solidFill>
                <a:srgbClr val="006633"/>
              </a:solidFill>
              <a:latin typeface="Tahoma"/>
            </a:endParaRPr>
          </a:p>
        </p:txBody>
      </p:sp>
      <p:pic>
        <p:nvPicPr>
          <p:cNvPr id="308" name="Picture 3" descr=""/>
          <p:cNvPicPr/>
          <p:nvPr/>
        </p:nvPicPr>
        <p:blipFill>
          <a:blip r:embed="rId1"/>
          <a:stretch/>
        </p:blipFill>
        <p:spPr>
          <a:xfrm>
            <a:off x="2050920" y="1052640"/>
            <a:ext cx="5637240" cy="4938480"/>
          </a:xfrm>
          <a:prstGeom prst="rect">
            <a:avLst/>
          </a:prstGeom>
          <a:ln w="0">
            <a:noFill/>
          </a:ln>
        </p:spPr>
      </p:pic>
      <p:sp>
        <p:nvSpPr>
          <p:cNvPr id="309" name="Text Box 4"/>
          <p:cNvSpPr/>
          <p:nvPr/>
        </p:nvSpPr>
        <p:spPr>
          <a:xfrm>
            <a:off x="324000" y="1052640"/>
            <a:ext cx="2519280" cy="368280"/>
          </a:xfrm>
          <a:prstGeom prst="rect">
            <a:avLst/>
          </a:prstGeom>
          <a:noFill/>
          <a:ln w="0">
            <a:noFill/>
          </a:ln>
        </p:spPr>
        <p:style>
          <a:lnRef idx="0"/>
          <a:fillRef idx="0"/>
          <a:effectRef idx="0"/>
          <a:fontRef idx="minor"/>
        </p:style>
        <p:txBody>
          <a:bodyPr lIns="90000" rIns="90000" tIns="46800" bIns="46800" anchor="t">
            <a:spAutoFit/>
          </a:bodyPr>
          <a:p>
            <a:pPr>
              <a:spcBef>
                <a:spcPts val="11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800" spc="-1" strike="noStrike">
                <a:solidFill>
                  <a:srgbClr val="000000"/>
                </a:solidFill>
                <a:latin typeface="Arial"/>
              </a:rPr>
              <a:t>Sorensen, (2005)</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C0B21EE-A885-40B5-A475-9671CD5ABF0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11"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12"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A3F2134-3E1E-4C37-91EE-7969A726C60D}"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13"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Wind Gust</a:t>
            </a:r>
            <a:endParaRPr b="0" lang="en-US" sz="4200" spc="-1" strike="noStrike">
              <a:solidFill>
                <a:srgbClr val="006633"/>
              </a:solidFill>
              <a:latin typeface="Tahoma"/>
            </a:endParaRPr>
          </a:p>
        </p:txBody>
      </p:sp>
      <p:pic>
        <p:nvPicPr>
          <p:cNvPr id="314" name="Picture 3" descr=""/>
          <p:cNvPicPr/>
          <p:nvPr/>
        </p:nvPicPr>
        <p:blipFill>
          <a:blip r:embed="rId1"/>
          <a:stretch/>
        </p:blipFill>
        <p:spPr>
          <a:xfrm>
            <a:off x="1368360" y="2394000"/>
            <a:ext cx="6440400" cy="3432240"/>
          </a:xfrm>
          <a:prstGeom prst="rect">
            <a:avLst/>
          </a:prstGeom>
          <a:ln w="0">
            <a:noFill/>
          </a:ln>
        </p:spPr>
      </p:pic>
      <p:sp>
        <p:nvSpPr>
          <p:cNvPr id="315" name="Rectangle 4"/>
          <p:cNvSpPr/>
          <p:nvPr/>
        </p:nvSpPr>
        <p:spPr>
          <a:xfrm>
            <a:off x="447840" y="1185840"/>
            <a:ext cx="7600680" cy="157968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2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100" spc="-1" strike="noStrike">
                <a:solidFill>
                  <a:srgbClr val="000000"/>
                </a:solidFill>
                <a:latin typeface="Arial"/>
              </a:rPr>
              <a:t>The wind gust is model as a realization of a stochastic process with a particular spectrum (Sorensen, 2005)</a:t>
            </a:r>
            <a:r>
              <a:rPr b="0" lang="en-US" sz="1700" spc="-1" strike="noStrike">
                <a:solidFill>
                  <a:srgbClr val="000000"/>
                </a:solidFill>
                <a:latin typeface="Arial"/>
              </a:rPr>
              <a:t>.</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6"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D143049-D41D-4AEA-95C3-AA95B2149E20}"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17"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18"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3DEBB8-836E-42A0-B46E-1D3580AEAA0E}"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19"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nb-NO" sz="4200" spc="-1" strike="noStrike">
                <a:solidFill>
                  <a:srgbClr val="006633"/>
                </a:solidFill>
                <a:latin typeface="Tahoma"/>
              </a:rPr>
              <a:t>Current</a:t>
            </a:r>
            <a:endParaRPr b="0" lang="en-US" sz="4200" spc="-1" strike="noStrike">
              <a:solidFill>
                <a:srgbClr val="006633"/>
              </a:solidFill>
              <a:latin typeface="Tahoma"/>
            </a:endParaRPr>
          </a:p>
        </p:txBody>
      </p:sp>
      <p:pic>
        <p:nvPicPr>
          <p:cNvPr id="320" name="Picture 3" descr=""/>
          <p:cNvPicPr/>
          <p:nvPr/>
        </p:nvPicPr>
        <p:blipFill>
          <a:blip r:embed="rId1"/>
          <a:stretch/>
        </p:blipFill>
        <p:spPr>
          <a:xfrm>
            <a:off x="1332000" y="1197000"/>
            <a:ext cx="6346800" cy="1361880"/>
          </a:xfrm>
          <a:prstGeom prst="rect">
            <a:avLst/>
          </a:prstGeom>
          <a:ln w="0">
            <a:noFill/>
          </a:ln>
        </p:spPr>
      </p:pic>
      <p:pic>
        <p:nvPicPr>
          <p:cNvPr id="321" name="Picture 4" descr=""/>
          <p:cNvPicPr/>
          <p:nvPr/>
        </p:nvPicPr>
        <p:blipFill>
          <a:blip r:embed="rId2"/>
          <a:stretch/>
        </p:blipFill>
        <p:spPr>
          <a:xfrm>
            <a:off x="3767040" y="3036960"/>
            <a:ext cx="1284480" cy="523800"/>
          </a:xfrm>
          <a:prstGeom prst="rect">
            <a:avLst/>
          </a:prstGeom>
          <a:ln w="0">
            <a:noFill/>
          </a:ln>
        </p:spPr>
      </p:pic>
      <p:pic>
        <p:nvPicPr>
          <p:cNvPr id="322" name="Picture 5" descr=""/>
          <p:cNvPicPr/>
          <p:nvPr/>
        </p:nvPicPr>
        <p:blipFill>
          <a:blip r:embed="rId3"/>
          <a:stretch/>
        </p:blipFill>
        <p:spPr>
          <a:xfrm>
            <a:off x="3648240" y="3606840"/>
            <a:ext cx="1741320" cy="466560"/>
          </a:xfrm>
          <a:prstGeom prst="rect">
            <a:avLst/>
          </a:prstGeom>
          <a:ln w="0">
            <a:noFill/>
          </a:ln>
        </p:spPr>
      </p:pic>
      <p:pic>
        <p:nvPicPr>
          <p:cNvPr id="323" name="Picture 6" descr=""/>
          <p:cNvPicPr/>
          <p:nvPr/>
        </p:nvPicPr>
        <p:blipFill>
          <a:blip r:embed="rId4"/>
          <a:stretch/>
        </p:blipFill>
        <p:spPr>
          <a:xfrm>
            <a:off x="3492360" y="4221000"/>
            <a:ext cx="2549520" cy="943200"/>
          </a:xfrm>
          <a:prstGeom prst="rect">
            <a:avLst/>
          </a:prstGeom>
          <a:ln w="0">
            <a:noFill/>
          </a:ln>
        </p:spPr>
      </p:pic>
      <p:sp>
        <p:nvSpPr>
          <p:cNvPr id="324" name="PlaceHolder 2"/>
          <p:cNvSpPr>
            <a:spLocks noGrp="1"/>
          </p:cNvSpPr>
          <p:nvPr>
            <p:ph/>
          </p:nvPr>
        </p:nvSpPr>
        <p:spPr>
          <a:xfrm>
            <a:off x="610920" y="2997000"/>
            <a:ext cx="2827080" cy="453960"/>
          </a:xfrm>
          <a:prstGeom prst="rect">
            <a:avLst/>
          </a:prstGeom>
          <a:noFill/>
          <a:ln w="0">
            <a:noFill/>
          </a:ln>
        </p:spPr>
        <p:txBody>
          <a:bodyPr lIns="91440" rIns="91440" tIns="45720" bIns="45720" anchor="t">
            <a:normAutofit fontScale="87027"/>
          </a:bodyPr>
          <a:p>
            <a:pPr marL="343080" indent="-343080">
              <a:spcBef>
                <a:spcPts val="476"/>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ff"/>
                </a:solidFill>
                <a:latin typeface="Arial"/>
              </a:rPr>
              <a:t>Current velocity magnitude:</a:t>
            </a:r>
            <a:endParaRPr b="0" lang="en-US" sz="1900" spc="-1" strike="noStrike">
              <a:solidFill>
                <a:srgbClr val="000000"/>
              </a:solidFill>
              <a:latin typeface="Arial"/>
            </a:endParaRPr>
          </a:p>
        </p:txBody>
      </p:sp>
      <p:sp>
        <p:nvSpPr>
          <p:cNvPr id="325" name="Rectangle 8"/>
          <p:cNvSpPr/>
          <p:nvPr/>
        </p:nvSpPr>
        <p:spPr>
          <a:xfrm>
            <a:off x="611280" y="4292640"/>
            <a:ext cx="2827080" cy="4539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pc="-1" strike="noStrike">
                <a:solidFill>
                  <a:srgbClr val="0000ff"/>
                </a:solidFill>
                <a:latin typeface="Arial"/>
              </a:rPr>
              <a:t>Current direction:</a:t>
            </a:r>
            <a:endParaRPr b="0" lang="en-US" sz="1900" spc="-1" strike="noStrike">
              <a:solidFill>
                <a:srgbClr val="000000"/>
              </a:solidFill>
              <a:latin typeface="Arial"/>
            </a:endParaRPr>
          </a:p>
        </p:txBody>
      </p:sp>
      <p:sp>
        <p:nvSpPr>
          <p:cNvPr id="326" name="Rectangle 9"/>
          <p:cNvSpPr/>
          <p:nvPr/>
        </p:nvSpPr>
        <p:spPr>
          <a:xfrm>
            <a:off x="684360" y="5300640"/>
            <a:ext cx="7772400" cy="95724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374"/>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500" spc="-1" strike="noStrike">
                <a:solidFill>
                  <a:srgbClr val="000000"/>
                </a:solidFill>
                <a:latin typeface="Arial"/>
              </a:rPr>
              <a:t>The direction is taken with respect to the (n-frame). </a:t>
            </a:r>
            <a:r>
              <a:rPr b="0" lang="nb-NO" sz="1500" spc="-1" strike="noStrike">
                <a:solidFill>
                  <a:srgbClr val="000000"/>
                </a:solidFill>
                <a:latin typeface="Arial"/>
              </a:rPr>
              <a:t>NOTE:  This direction is the direction  to where the current flows : North-East (NE) current flow towards the NE. (This is different from the convention for wind)</a:t>
            </a:r>
            <a:endParaRPr b="0" lang="en-US" sz="1500" spc="-1" strike="noStrike">
              <a:solidFill>
                <a:srgbClr val="000000"/>
              </a:solidFill>
              <a:latin typeface="Arial"/>
            </a:endParaRPr>
          </a:p>
        </p:txBody>
      </p:sp>
      <p:sp>
        <p:nvSpPr>
          <p:cNvPr id="327" name="Rectangle 10"/>
          <p:cNvSpPr/>
          <p:nvPr/>
        </p:nvSpPr>
        <p:spPr>
          <a:xfrm>
            <a:off x="3206880" y="2638440"/>
            <a:ext cx="2827080" cy="453960"/>
          </a:xfrm>
          <a:prstGeom prst="rect">
            <a:avLst/>
          </a:prstGeom>
          <a:noFill/>
          <a:ln w="0">
            <a:noFill/>
          </a:ln>
        </p:spPr>
        <p:style>
          <a:lnRef idx="0"/>
          <a:fillRef idx="0"/>
          <a:effectRef idx="0"/>
          <a:fontRef idx="minor"/>
        </p:style>
        <p:txBody>
          <a:bodyPr lIns="90000" rIns="90000" tIns="46800" bIns="46800" anchor="t">
            <a:noAutofit/>
          </a:bodyPr>
          <a:p>
            <a:pPr marL="343080" indent="-34308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900" spc="-1" strike="noStrike">
                <a:solidFill>
                  <a:srgbClr val="0000ff"/>
                </a:solidFill>
                <a:latin typeface="Arial"/>
              </a:rPr>
              <a:t>Surface Current</a:t>
            </a:r>
            <a:endParaRPr b="0" lang="en-US" sz="19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Date Placeholder 3"/>
          <p:cNvSpPr/>
          <p:nvPr/>
        </p:nvSpPr>
        <p:spPr>
          <a:xfrm>
            <a:off x="457200" y="6243480"/>
            <a:ext cx="2133720" cy="457200"/>
          </a:xfrm>
          <a:prstGeom prst="rect">
            <a:avLst/>
          </a:prstGeom>
          <a:noFill/>
          <a:ln w="0">
            <a:noFill/>
          </a:ln>
        </p:spPr>
        <p:style>
          <a:lnRef idx="0"/>
          <a:fillRef idx="0"/>
          <a:effectRef idx="0"/>
          <a:fontRef idx="minor"/>
        </p:style>
        <p:txBody>
          <a:bodyPr lIns="90000" rIns="90000" tIns="46800" bIns="46800" anchor="b">
            <a:no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B276304-79A2-44BD-B9F9-6298A9FA6FF7}" type="datetime">
              <a:rPr b="0" lang="en-GB" sz="1200" spc="-1" strike="noStrike">
                <a:solidFill>
                  <a:srgbClr val="000000"/>
                </a:solidFill>
                <a:latin typeface="Garamond"/>
              </a:rPr>
              <a:t>06/06/26</a:t>
            </a:fld>
            <a:endParaRPr b="0" lang="en-US" sz="1200" spc="-1" strike="noStrike">
              <a:solidFill>
                <a:srgbClr val="000000"/>
              </a:solidFill>
              <a:latin typeface="Arial"/>
            </a:endParaRPr>
          </a:p>
        </p:txBody>
      </p:sp>
      <p:sp>
        <p:nvSpPr>
          <p:cNvPr id="329" name="Footer Placeholder 4"/>
          <p:cNvSpPr/>
          <p:nvPr/>
        </p:nvSpPr>
        <p:spPr>
          <a:xfrm>
            <a:off x="2843280" y="6248520"/>
            <a:ext cx="3600360" cy="457200"/>
          </a:xfrm>
          <a:prstGeom prst="rect">
            <a:avLst/>
          </a:prstGeom>
          <a:noFill/>
          <a:ln w="0">
            <a:noFill/>
          </a:ln>
        </p:spPr>
        <p:style>
          <a:lnRef idx="0"/>
          <a:fillRef idx="0"/>
          <a:effectRef idx="0"/>
          <a:fontRef idx="minor"/>
        </p:style>
        <p:txBody>
          <a:bodyPr lIns="90000" rIns="90000" tIns="46800" bIns="46800" anchor="b">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1200" spc="-1" strike="noStrike">
                <a:solidFill>
                  <a:srgbClr val="000000"/>
                </a:solidFill>
                <a:latin typeface="Garamond"/>
              </a:rPr>
              <a:t>One-day Tutorial, CAMS'07, Bol, Croatia</a:t>
            </a:r>
            <a:endParaRPr b="0" lang="en-US" sz="1200" spc="-1" strike="noStrike">
              <a:solidFill>
                <a:srgbClr val="000000"/>
              </a:solidFill>
              <a:latin typeface="Arial"/>
            </a:endParaRPr>
          </a:p>
        </p:txBody>
      </p:sp>
      <p:sp>
        <p:nvSpPr>
          <p:cNvPr id="330" name="Slide Number Placeholder 5"/>
          <p:cNvSpPr/>
          <p:nvPr/>
        </p:nvSpPr>
        <p:spPr>
          <a:xfrm>
            <a:off x="6553080" y="6243480"/>
            <a:ext cx="2133720" cy="457200"/>
          </a:xfrm>
          <a:prstGeom prst="rect">
            <a:avLst/>
          </a:prstGeom>
          <a:noFill/>
          <a:ln w="0">
            <a:noFill/>
          </a:ln>
        </p:spPr>
        <p:style>
          <a:lnRef idx="0"/>
          <a:fillRef idx="0"/>
          <a:effectRef idx="0"/>
          <a:fontRef idx="minor"/>
        </p:style>
        <p:txBody>
          <a:bodyPr lIns="90000" rIns="90000" tIns="46800" bIns="46800" anchor="b">
            <a:noAutofit/>
          </a:bodyPr>
          <a:p>
            <a:pPr algn="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BCF3D26-B433-402D-BF78-6BE2808E48A6}" type="slidenum">
              <a:rPr b="0" lang="en-AU" sz="1200" spc="-1" strike="noStrike">
                <a:solidFill>
                  <a:srgbClr val="000000"/>
                </a:solidFill>
                <a:latin typeface="Garamond"/>
              </a:rPr>
              <a:t>&lt;number&gt;</a:t>
            </a:fld>
            <a:endParaRPr b="0" lang="en-US" sz="1200" spc="-1" strike="noStrike">
              <a:solidFill>
                <a:srgbClr val="000000"/>
              </a:solidFill>
              <a:latin typeface="Arial"/>
            </a:endParaRPr>
          </a:p>
        </p:txBody>
      </p:sp>
      <p:sp>
        <p:nvSpPr>
          <p:cNvPr id="331" name="PlaceHolder 1"/>
          <p:cNvSpPr>
            <a:spLocks noGrp="1"/>
          </p:cNvSpPr>
          <p:nvPr>
            <p:ph type="title"/>
          </p:nvPr>
        </p:nvSpPr>
        <p:spPr>
          <a:xfrm>
            <a:off x="457200" y="277920"/>
            <a:ext cx="8229600" cy="1139760"/>
          </a:xfrm>
          <a:prstGeom prst="rect">
            <a:avLst/>
          </a:prstGeom>
          <a:noFill/>
          <a:ln w="0">
            <a:noFill/>
          </a:ln>
        </p:spPr>
        <p:txBody>
          <a:bodyPr lIns="91440" rIns="91440" tIns="45720" bIns="4572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AU" sz="4200" spc="-1" strike="noStrike">
                <a:solidFill>
                  <a:srgbClr val="006633"/>
                </a:solidFill>
                <a:latin typeface="Tahoma"/>
              </a:rPr>
              <a:t>References</a:t>
            </a:r>
            <a:endParaRPr b="0" lang="en-US" sz="4200" spc="-1" strike="noStrike">
              <a:solidFill>
                <a:srgbClr val="006633"/>
              </a:solidFill>
              <a:latin typeface="Tahoma"/>
            </a:endParaRPr>
          </a:p>
        </p:txBody>
      </p:sp>
      <p:sp>
        <p:nvSpPr>
          <p:cNvPr id="332" name="PlaceHolder 2"/>
          <p:cNvSpPr>
            <a:spLocks noGrp="1"/>
          </p:cNvSpPr>
          <p:nvPr>
            <p:ph/>
          </p:nvPr>
        </p:nvSpPr>
        <p:spPr>
          <a:xfrm>
            <a:off x="457200" y="1599840"/>
            <a:ext cx="8229600" cy="4530600"/>
          </a:xfrm>
          <a:prstGeom prst="rect">
            <a:avLst/>
          </a:prstGeom>
          <a:noFill/>
          <a:ln w="0">
            <a:noFill/>
          </a:ln>
        </p:spPr>
        <p:txBody>
          <a:bodyPr lIns="91440" rIns="91440" tIns="45720" bIns="45720" anchor="t">
            <a:normAutofit/>
          </a:bodyPr>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Perez, T. (2005) </a:t>
            </a:r>
            <a:r>
              <a:rPr b="1" lang="en-AU" sz="2600" spc="-1" strike="noStrike">
                <a:solidFill>
                  <a:srgbClr val="000000"/>
                </a:solidFill>
                <a:latin typeface="Arial"/>
              </a:rPr>
              <a:t>Ship Motion Control</a:t>
            </a:r>
            <a:r>
              <a:rPr b="0" lang="en-AU" sz="2600" spc="-1" strike="noStrike">
                <a:solidFill>
                  <a:srgbClr val="000000"/>
                </a:solidFill>
                <a:latin typeface="Arial"/>
              </a:rPr>
              <a:t>. Springer.</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Ochi, M. (2005) </a:t>
            </a:r>
            <a:r>
              <a:rPr b="1" lang="en-AU" sz="2600" spc="-1" strike="noStrike">
                <a:solidFill>
                  <a:srgbClr val="000000"/>
                </a:solidFill>
                <a:latin typeface="Arial"/>
              </a:rPr>
              <a:t>Ocean Waves: the stochastic approach</a:t>
            </a:r>
            <a:r>
              <a:rPr b="0" lang="en-AU" sz="2600" spc="-1" strike="noStrike">
                <a:solidFill>
                  <a:srgbClr val="000000"/>
                </a:solidFill>
                <a:latin typeface="Arial"/>
              </a:rPr>
              <a:t>. Cambridge University Press.</a:t>
            </a:r>
            <a:endParaRPr b="0" lang="en-US" sz="2600" spc="-1" strike="noStrike">
              <a:solidFill>
                <a:srgbClr val="000000"/>
              </a:solidFill>
              <a:latin typeface="Arial"/>
            </a:endParaRPr>
          </a:p>
          <a:p>
            <a:pPr marL="343080" indent="-343080">
              <a:spcBef>
                <a:spcPts val="649"/>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600" spc="-1" strike="noStrike">
              <a:solidFill>
                <a:srgbClr val="000000"/>
              </a:solidFill>
              <a:latin typeface="Arial"/>
            </a:endParaRPr>
          </a:p>
          <a:p>
            <a:pPr marL="343080" indent="-343080">
              <a:spcBef>
                <a:spcPts val="649"/>
              </a:spcBef>
              <a:buClr>
                <a:srgbClr val="cc9900"/>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AU" sz="2600" spc="-1" strike="noStrike">
                <a:solidFill>
                  <a:srgbClr val="000000"/>
                </a:solidFill>
                <a:latin typeface="Arial"/>
              </a:rPr>
              <a:t>Sorensen, A.J. (2005) “</a:t>
            </a:r>
            <a:r>
              <a:rPr b="0" i="1" lang="en-AU" sz="2600" spc="-1" strike="noStrike">
                <a:solidFill>
                  <a:srgbClr val="000000"/>
                </a:solidFill>
                <a:latin typeface="Arial"/>
              </a:rPr>
              <a:t>Marine Cybernetics</a:t>
            </a:r>
            <a:r>
              <a:rPr b="0" lang="en-AU" sz="2600" spc="-1" strike="noStrike">
                <a:solidFill>
                  <a:srgbClr val="000000"/>
                </a:solidFill>
                <a:latin typeface="Arial"/>
              </a:rPr>
              <a:t>.” Lecture notes, Dept. of Marine Technology NTNU, NORWAY.</a:t>
            </a:r>
            <a:endParaRPr b="0" lang="en-US" sz="2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1560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2007-05-14T14:42:38Z</dcterms:created>
  <dc:creator> </dc:creator>
  <dc:description/>
  <dc:language>en-US</dc:language>
  <cp:lastModifiedBy>Thor I. Fossen</cp:lastModifiedBy>
  <dcterms:modified xsi:type="dcterms:W3CDTF">2007-08-08T18:06:24Z</dcterms:modified>
  <cp:revision>29</cp:revision>
  <dc:subject/>
  <dc:title>CXVXCv</dc:title>
</cp:coreProperties>
</file>