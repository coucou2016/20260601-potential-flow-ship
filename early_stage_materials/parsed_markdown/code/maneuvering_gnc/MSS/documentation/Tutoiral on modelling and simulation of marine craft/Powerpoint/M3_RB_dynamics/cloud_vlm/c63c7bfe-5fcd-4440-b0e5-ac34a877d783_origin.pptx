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58.wmf" ContentType="image/x-wmf"/>
  <Override PartName="/ppt/media/image106.wmf" ContentType="image/x-wmf"/>
  <Override PartName="/ppt/media/image55.wmf" ContentType="image/x-wmf"/>
  <Override PartName="/ppt/media/image103.wmf" ContentType="image/x-wmf"/>
  <Override PartName="/ppt/media/image54.wmf" ContentType="image/x-wmf"/>
  <Override PartName="/ppt/media/image53.wmf" ContentType="image/x-wmf"/>
  <Override PartName="/ppt/media/image101.wmf" ContentType="image/x-wmf"/>
  <Override PartName="/ppt/media/image51.wmf" ContentType="image/x-wmf"/>
  <Override PartName="/ppt/media/image52.wmf" ContentType="image/x-wmf"/>
  <Override PartName="/ppt/media/image100.wmf" ContentType="image/x-wmf"/>
  <Override PartName="/ppt/media/image49.png" ContentType="image/png"/>
  <Override PartName="/ppt/media/image71.wmf" ContentType="image/x-wmf"/>
  <Override PartName="/ppt/media/image47.wmf" ContentType="image/x-wmf"/>
  <Override PartName="/ppt/media/image46.wmf" ContentType="image/x-wmf"/>
  <Override PartName="/ppt/media/image89.png" ContentType="image/png"/>
  <Override PartName="/ppt/media/image45.wmf" ContentType="image/x-wmf"/>
  <Override PartName="/ppt/media/image44.wmf" ContentType="image/x-wmf"/>
  <Override PartName="/ppt/media/image43.wmf" ContentType="image/x-wmf"/>
  <Override PartName="/ppt/media/image41.wmf" ContentType="image/x-wmf"/>
  <Override PartName="/ppt/media/image39.wmf" ContentType="image/x-wmf"/>
  <Override PartName="/ppt/media/image37.wmf" ContentType="image/x-wmf"/>
  <Override PartName="/ppt/media/image36.wmf" ContentType="image/x-wmf"/>
  <Override PartName="/ppt/media/image35.wmf" ContentType="image/x-wmf"/>
  <Override PartName="/ppt/media/image78.png" ContentType="image/png"/>
  <Override PartName="/ppt/media/image33.wmf" ContentType="image/x-wmf"/>
  <Override PartName="/ppt/media/image32.png" ContentType="image/png"/>
  <Override PartName="/ppt/media/image31.wmf" ContentType="image/x-wmf"/>
  <Override PartName="/ppt/media/image48.wmf" ContentType="image/x-wmf"/>
  <Override PartName="/ppt/media/image11.wmf" ContentType="image/x-wmf"/>
  <Override PartName="/ppt/media/image102.png" ContentType="image/png"/>
  <Override PartName="/ppt/media/image26.png" ContentType="image/png"/>
  <Override PartName="/ppt/media/image50.wmf" ContentType="image/x-wmf"/>
  <Override PartName="/ppt/media/image93.png" ContentType="image/png"/>
  <Override PartName="/ppt/media/image10.png" ContentType="image/png"/>
  <Override PartName="/ppt/media/image1.png" ContentType="image/png"/>
  <Override PartName="/ppt/media/image30.png" ContentType="image/png"/>
  <Override PartName="/ppt/media/image98.wmf" ContentType="image/x-wmf"/>
  <Override PartName="/ppt/media/image28.wmf" ContentType="image/x-wmf"/>
  <Override PartName="/ppt/media/image13.wmf" ContentType="image/x-wmf"/>
  <Override PartName="/ppt/media/image56.png" ContentType="image/png"/>
  <Override PartName="/ppt/media/image9.wmf" ContentType="image/x-wmf"/>
  <Override PartName="/ppt/media/image18.wmf" ContentType="image/x-wmf"/>
  <Override PartName="/ppt/media/image83.wmf" ContentType="image/x-wmf"/>
  <Override PartName="/ppt/media/image57.png" ContentType="image/png"/>
  <Override PartName="/ppt/media/image14.wmf" ContentType="image/x-wmf"/>
  <Override PartName="/ppt/media/image105.png" ContentType="image/png"/>
  <Override PartName="/ppt/media/image20.wmf" ContentType="image/x-wmf"/>
  <Override PartName="/ppt/media/image12.wmf" ContentType="image/x-wmf"/>
  <Override PartName="/ppt/media/image8.wmf" ContentType="image/x-wmf"/>
  <Override PartName="/ppt/media/image17.wmf" ContentType="image/x-wmf"/>
  <Override PartName="/ppt/media/image82.wmf" ContentType="image/x-wmf"/>
  <Override PartName="/ppt/media/image42.wmf" ContentType="image/x-wmf"/>
  <Override PartName="/ppt/media/image7.png" ContentType="image/png"/>
  <Override PartName="/ppt/media/image16.png" ContentType="image/png"/>
  <Override PartName="/ppt/media/image40.png" ContentType="image/png"/>
  <Override PartName="/ppt/media/image38.wmf" ContentType="image/x-wmf"/>
  <Override PartName="/ppt/media/image6.wmf" ContentType="image/x-wmf"/>
  <Override PartName="/ppt/media/image15.wmf" ContentType="image/x-wmf"/>
  <Override PartName="/ppt/media/image80.wmf" ContentType="image/x-wmf"/>
  <Override PartName="/ppt/media/image70.wmf" ContentType="image/x-wmf"/>
  <Override PartName="/ppt/media/image72.wmf" ContentType="image/x-wmf"/>
  <Override PartName="/ppt/media/image73.wmf" ContentType="image/x-wmf"/>
  <Override PartName="/ppt/media/image76.wmf" ContentType="image/x-wmf"/>
  <Override PartName="/ppt/media/image4.png" ContentType="image/png"/>
  <Override PartName="/ppt/media/image67.wmf" ContentType="image/x-wmf"/>
  <Override PartName="/ppt/media/image115.wmf" ContentType="image/x-wmf"/>
  <Override PartName="/ppt/media/image85.wmf" ContentType="image/x-wmf"/>
  <Override PartName="/ppt/media/image91.wmf" ContentType="image/x-wmf"/>
  <Override PartName="/ppt/media/image112.wmf" ContentType="image/x-wmf"/>
  <Override PartName="/ppt/media/image118.wmf" ContentType="image/x-wmf"/>
  <Override PartName="/ppt/media/image23.wmf" ContentType="image/x-wmf"/>
  <Override PartName="/ppt/media/image68.wmf" ContentType="image/x-wmf"/>
  <Override PartName="/ppt/media/image116.wmf" ContentType="image/x-wmf"/>
  <Override PartName="/ppt/media/image86.wmf" ContentType="image/x-wmf"/>
  <Override PartName="/ppt/media/image81.wmf" ContentType="image/x-wmf"/>
  <Override PartName="/ppt/media/image109.wmf" ContentType="image/x-wmf"/>
  <Override PartName="/ppt/media/image108.wmf" ContentType="image/x-wmf"/>
  <Override PartName="/ppt/media/image74.wmf" ContentType="image/x-wmf"/>
  <Override PartName="/ppt/media/image34.png" ContentType="image/png"/>
  <Override PartName="/ppt/media/image99.png" ContentType="image/png"/>
  <Override PartName="/ppt/media/image104.wmf" ContentType="image/x-wmf"/>
  <Override PartName="/ppt/media/image77.png" ContentType="image/png"/>
  <Override PartName="/ppt/media/image97.wmf" ContentType="image/x-wmf"/>
  <Override PartName="/ppt/media/image60.wmf" ContentType="image/x-wmf"/>
  <Override PartName="/ppt/media/image96.wmf" ContentType="image/x-wmf"/>
  <Override PartName="/ppt/media/image75.png" ContentType="image/png"/>
  <Override PartName="/ppt/media/image95.wmf" ContentType="image/x-wmf"/>
  <Override PartName="/ppt/media/image88.wmf" ContentType="image/x-wmf"/>
  <Override PartName="/ppt/media/image69.wmf" ContentType="image/x-wmf"/>
  <Override PartName="/ppt/media/image117.wmf" ContentType="image/x-wmf"/>
  <Override PartName="/ppt/media/image22.wmf" ContentType="image/x-wmf"/>
  <Override PartName="/ppt/media/image107.wmf" ContentType="image/x-wmf"/>
  <Override PartName="/ppt/media/image59.wmf" ContentType="image/x-wmf"/>
  <Override PartName="/ppt/media/image87.wmf" ContentType="image/x-wmf"/>
  <Override PartName="/ppt/media/image114.wmf" ContentType="image/x-wmf"/>
  <Override PartName="/ppt/media/image66.wmf" ContentType="image/x-wmf"/>
  <Override PartName="/ppt/media/image113.wmf" ContentType="image/x-wmf"/>
  <Override PartName="/ppt/media/image65.wmf" ContentType="image/x-wmf"/>
  <Override PartName="/ppt/media/image64.png" ContentType="image/png"/>
  <Override PartName="/ppt/media/image111.wmf" ContentType="image/x-wmf"/>
  <Override PartName="/ppt/media/image63.wmf" ContentType="image/x-wmf"/>
  <Override PartName="/ppt/media/image110.wmf" ContentType="image/x-wmf"/>
  <Override PartName="/ppt/media/image62.wmf" ContentType="image/x-wmf"/>
  <Override PartName="/ppt/media/image61.wmf" ContentType="image/x-wmf"/>
  <Override PartName="/ppt/media/image21.png" ContentType="image/png"/>
  <Override PartName="/ppt/media/image92.wmf" ContentType="image/x-wmf"/>
  <Override PartName="/ppt/media/image27.wmf" ContentType="image/x-wmf"/>
  <Override PartName="/ppt/media/image25.wmf" ContentType="image/x-wmf"/>
  <Override PartName="/ppt/media/image90.wmf" ContentType="image/x-wmf"/>
  <Override PartName="/ppt/media/image24.png" ContentType="image/png"/>
  <Override PartName="/ppt/media/image19.wmf" ContentType="image/x-wmf"/>
  <Override PartName="/ppt/media/image84.wmf" ContentType="image/x-wmf"/>
  <Override PartName="/ppt/media/image94.wmf" ContentType="image/x-wmf"/>
  <Override PartName="/ppt/media/image29.wmf" ContentType="image/x-wmf"/>
  <Override PartName="/ppt/media/image2.png" ContentType="image/png"/>
  <Override PartName="/ppt/media/image79.wmf" ContentType="image/x-wmf"/>
  <Override PartName="/ppt/media/image3.png" ContentType="image/png"/>
  <Override PartName="/ppt/media/image5.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2.xml.rels" ContentType="application/vnd.openxmlformats-package.relationships+xml"/>
  <Override PartName="/ppt/slides/_rels/slide49.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51.xml.rels" ContentType="application/vnd.openxmlformats-package.relationships+xml"/>
  <Override PartName="/ppt/slides/_rels/slide13.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5.xml.rels" ContentType="application/vnd.openxmlformats-package.relationships+xml"/>
  <Override PartName="/ppt/slides/_rels/slide41.xml.rels" ContentType="application/vnd.openxmlformats-package.relationships+xml"/>
  <Override PartName="/ppt/slides/_rels/slide39.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notesSlides/_rels/notesSlide2.xml.rels" ContentType="application/vnd.openxmlformats-package.relationships+xml"/>
  <Override PartName="/ppt/notesSlides/_rels/notesSlide48.xml.rels" ContentType="application/vnd.openxmlformats-package.relationships+xml"/>
  <Override PartName="/ppt/notesSlides/_rels/notesSlide11.xml.rels" ContentType="application/vnd.openxmlformats-package.relationships+xml"/>
  <Override PartName="/ppt/notesSlides/_rels/notesSlide47.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12.xml.rels" ContentType="application/vnd.openxmlformats-package.relationships+xml"/>
  <Override PartName="/ppt/notesSlides/_rels/notesSlide49.xml.rels" ContentType="application/vnd.openxmlformats-package.relationships+xml"/>
  <Override PartName="/ppt/notesSlides/_rels/notesSlide3.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13.xml.rels" ContentType="application/vnd.openxmlformats-package.relationships+xml"/>
  <Override PartName="/ppt/notesSlides/_rels/notesSlide4.xml.rels" ContentType="application/vnd.openxmlformats-package.relationships+xml"/>
  <Override PartName="/ppt/notesSlides/_rels/notesSlide50.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23.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24.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27.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39.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44.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39.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0.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48.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49.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47.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8" name="PlaceHolder 2"/>
          <p:cNvSpPr>
            <a:spLocks noGrp="1"/>
          </p:cNvSpPr>
          <p:nvPr>
            <p:ph type="dt" idx="7"/>
          </p:nvPr>
        </p:nvSpPr>
        <p:spPr>
          <a:xfrm>
            <a:off x="388440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9"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move the slide</a:t>
            </a:r>
            <a:endParaRPr b="0" lang="en-US" sz="4200" spc="-1" strike="noStrike">
              <a:solidFill>
                <a:srgbClr val="006633"/>
              </a:solidFill>
              <a:latin typeface="Tahoma"/>
            </a:endParaRPr>
          </a:p>
        </p:txBody>
      </p:sp>
      <p:sp>
        <p:nvSpPr>
          <p:cNvPr id="20"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edit the notes format</a:t>
            </a:r>
            <a:endParaRPr b="0" lang="en-US" sz="1200" spc="-1" strike="noStrike">
              <a:solidFill>
                <a:srgbClr val="000000"/>
              </a:solidFill>
              <a:latin typeface="Arial"/>
            </a:endParaRPr>
          </a:p>
        </p:txBody>
      </p:sp>
      <p:sp>
        <p:nvSpPr>
          <p:cNvPr id="21" name="PlaceHolder 5"/>
          <p:cNvSpPr>
            <a:spLocks noGrp="1"/>
          </p:cNvSpPr>
          <p:nvPr>
            <p:ph type="ftr" idx="8"/>
          </p:nvPr>
        </p:nvSpPr>
        <p:spPr>
          <a:xfrm>
            <a:off x="-360" y="8685360"/>
            <a:ext cx="2971800" cy="457200"/>
          </a:xfrm>
          <a:prstGeom prst="rect">
            <a:avLst/>
          </a:prstGeom>
          <a:noFill/>
          <a:ln w="0">
            <a:noFill/>
          </a:ln>
        </p:spPr>
        <p:txBody>
          <a:bodyPr lIns="90000" rIns="90000" tIns="46800" bIns="46800" anchor="b">
            <a:noAutofit/>
          </a:bodyPr>
          <a:p>
            <a:pPr indent="0">
              <a:buNone/>
            </a:pPr>
            <a:endParaRPr b="0" lang="en-US" sz="2400" spc="-1" strike="noStrike">
              <a:solidFill>
                <a:srgbClr val="000000"/>
              </a:solidFill>
              <a:latin typeface="Times New Roman"/>
            </a:endParaRPr>
          </a:p>
        </p:txBody>
      </p:sp>
      <p:sp>
        <p:nvSpPr>
          <p:cNvPr id="22" name="PlaceHolder 6"/>
          <p:cNvSpPr>
            <a:spLocks noGrp="1"/>
          </p:cNvSpPr>
          <p:nvPr>
            <p:ph type="sldNum" idx="9"/>
          </p:nvPr>
        </p:nvSpPr>
        <p:spPr>
          <a:xfrm>
            <a:off x="3884400" y="8685360"/>
            <a:ext cx="2971800" cy="45720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5AAB272-D2C2-467C-BC1F-29517ECBF82B}" type="slidenum">
              <a:rPr b="0" lang="en-AU"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B2A8EE-519B-4C49-98C2-B5BED7370EBF}"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56" name="PlaceHolder 1"/>
          <p:cNvSpPr>
            <a:spLocks noGrp="1"/>
          </p:cNvSpPr>
          <p:nvPr>
            <p:ph type="sldImg"/>
          </p:nvPr>
        </p:nvSpPr>
        <p:spPr>
          <a:xfrm>
            <a:off x="1143000" y="685800"/>
            <a:ext cx="4572000" cy="3429000"/>
          </a:xfrm>
          <a:prstGeom prst="rect">
            <a:avLst/>
          </a:prstGeom>
          <a:ln w="0">
            <a:noFill/>
          </a:ln>
        </p:spPr>
      </p:sp>
      <p:sp>
        <p:nvSpPr>
          <p:cNvPr id="55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1AE4220-30CB-4C63-9D6A-29015FB7F91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59" name="PlaceHolder 1"/>
          <p:cNvSpPr>
            <a:spLocks noGrp="1"/>
          </p:cNvSpPr>
          <p:nvPr>
            <p:ph type="sldImg"/>
          </p:nvPr>
        </p:nvSpPr>
        <p:spPr>
          <a:xfrm>
            <a:off x="1143000" y="685800"/>
            <a:ext cx="4572000" cy="3429000"/>
          </a:xfrm>
          <a:prstGeom prst="rect">
            <a:avLst/>
          </a:prstGeom>
          <a:ln w="0">
            <a:noFill/>
          </a:ln>
        </p:spPr>
      </p:sp>
      <p:sp>
        <p:nvSpPr>
          <p:cNvPr id="56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872448E-E3D6-403C-9449-78995998C7C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62" name="PlaceHolder 1"/>
          <p:cNvSpPr>
            <a:spLocks noGrp="1"/>
          </p:cNvSpPr>
          <p:nvPr>
            <p:ph type="sldImg"/>
          </p:nvPr>
        </p:nvSpPr>
        <p:spPr>
          <a:xfrm>
            <a:off x="1143000" y="685800"/>
            <a:ext cx="4572000" cy="3429000"/>
          </a:xfrm>
          <a:prstGeom prst="rect">
            <a:avLst/>
          </a:prstGeom>
          <a:ln w="0">
            <a:noFill/>
          </a:ln>
        </p:spPr>
      </p:sp>
      <p:sp>
        <p:nvSpPr>
          <p:cNvPr id="56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E4FE639-ECDD-4C67-9ED1-0F0038194E0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65" name="PlaceHolder 1"/>
          <p:cNvSpPr>
            <a:spLocks noGrp="1"/>
          </p:cNvSpPr>
          <p:nvPr>
            <p:ph type="sldImg"/>
          </p:nvPr>
        </p:nvSpPr>
        <p:spPr>
          <a:xfrm>
            <a:off x="1143000" y="685800"/>
            <a:ext cx="4572000" cy="3429000"/>
          </a:xfrm>
          <a:prstGeom prst="rect">
            <a:avLst/>
          </a:prstGeom>
          <a:ln w="0">
            <a:noFill/>
          </a:ln>
        </p:spPr>
      </p:sp>
      <p:sp>
        <p:nvSpPr>
          <p:cNvPr id="56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4E258F3-23C1-46BF-A776-7C316C34409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68" name="PlaceHolder 1"/>
          <p:cNvSpPr>
            <a:spLocks noGrp="1"/>
          </p:cNvSpPr>
          <p:nvPr>
            <p:ph type="sldImg"/>
          </p:nvPr>
        </p:nvSpPr>
        <p:spPr>
          <a:xfrm>
            <a:off x="1143000" y="685800"/>
            <a:ext cx="4572000" cy="3429000"/>
          </a:xfrm>
          <a:prstGeom prst="rect">
            <a:avLst/>
          </a:prstGeom>
          <a:ln w="0">
            <a:noFill/>
          </a:ln>
        </p:spPr>
      </p:sp>
      <p:sp>
        <p:nvSpPr>
          <p:cNvPr id="56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40A7E5D-DAE3-49A6-910D-5F677CA0B4A1}"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71" name="PlaceHolder 1"/>
          <p:cNvSpPr>
            <a:spLocks noGrp="1"/>
          </p:cNvSpPr>
          <p:nvPr>
            <p:ph type="sldImg"/>
          </p:nvPr>
        </p:nvSpPr>
        <p:spPr>
          <a:xfrm>
            <a:off x="1143000" y="685800"/>
            <a:ext cx="4572000" cy="3429000"/>
          </a:xfrm>
          <a:prstGeom prst="rect">
            <a:avLst/>
          </a:prstGeom>
          <a:ln w="0">
            <a:noFill/>
          </a:ln>
        </p:spPr>
      </p:sp>
      <p:sp>
        <p:nvSpPr>
          <p:cNvPr id="57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80A734-0D47-4CCB-BA9D-55AA60BB54E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74" name="PlaceHolder 1"/>
          <p:cNvSpPr>
            <a:spLocks noGrp="1"/>
          </p:cNvSpPr>
          <p:nvPr>
            <p:ph type="sldImg"/>
          </p:nvPr>
        </p:nvSpPr>
        <p:spPr>
          <a:xfrm>
            <a:off x="1143000" y="685800"/>
            <a:ext cx="4572000" cy="3429000"/>
          </a:xfrm>
          <a:prstGeom prst="rect">
            <a:avLst/>
          </a:prstGeom>
          <a:ln w="0">
            <a:noFill/>
          </a:ln>
        </p:spPr>
      </p:sp>
      <p:sp>
        <p:nvSpPr>
          <p:cNvPr id="57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2F3C31-2631-450A-BF03-CA8D836AF3BD}"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77" name="PlaceHolder 1"/>
          <p:cNvSpPr>
            <a:spLocks noGrp="1"/>
          </p:cNvSpPr>
          <p:nvPr>
            <p:ph type="sldImg"/>
          </p:nvPr>
        </p:nvSpPr>
        <p:spPr>
          <a:xfrm>
            <a:off x="1143000" y="685800"/>
            <a:ext cx="4572000" cy="3429000"/>
          </a:xfrm>
          <a:prstGeom prst="rect">
            <a:avLst/>
          </a:prstGeom>
          <a:ln w="0">
            <a:noFill/>
          </a:ln>
        </p:spPr>
      </p:sp>
      <p:sp>
        <p:nvSpPr>
          <p:cNvPr id="57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A92B30-4A13-4778-B817-AA85F50D9D9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80" name="PlaceHolder 1"/>
          <p:cNvSpPr>
            <a:spLocks noGrp="1"/>
          </p:cNvSpPr>
          <p:nvPr>
            <p:ph type="sldImg"/>
          </p:nvPr>
        </p:nvSpPr>
        <p:spPr>
          <a:xfrm>
            <a:off x="1143000" y="685800"/>
            <a:ext cx="4572000" cy="3429000"/>
          </a:xfrm>
          <a:prstGeom prst="rect">
            <a:avLst/>
          </a:prstGeom>
          <a:ln w="0">
            <a:noFill/>
          </a:ln>
        </p:spPr>
      </p:sp>
      <p:sp>
        <p:nvSpPr>
          <p:cNvPr id="58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B41BBC9-6FB3-4FC0-AAFB-9D2416393BF9}"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83" name="PlaceHolder 1"/>
          <p:cNvSpPr>
            <a:spLocks noGrp="1"/>
          </p:cNvSpPr>
          <p:nvPr>
            <p:ph type="sldImg"/>
          </p:nvPr>
        </p:nvSpPr>
        <p:spPr>
          <a:xfrm>
            <a:off x="1143000" y="685800"/>
            <a:ext cx="4572000" cy="3429000"/>
          </a:xfrm>
          <a:prstGeom prst="rect">
            <a:avLst/>
          </a:prstGeom>
          <a:ln w="0">
            <a:noFill/>
          </a:ln>
        </p:spPr>
      </p:sp>
      <p:sp>
        <p:nvSpPr>
          <p:cNvPr id="58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2622FC3-3A0B-4C0A-813D-561590B6BA66}"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86" name="PlaceHolder 1"/>
          <p:cNvSpPr>
            <a:spLocks noGrp="1"/>
          </p:cNvSpPr>
          <p:nvPr>
            <p:ph type="sldImg"/>
          </p:nvPr>
        </p:nvSpPr>
        <p:spPr>
          <a:xfrm>
            <a:off x="1143000" y="685800"/>
            <a:ext cx="4572000" cy="3429000"/>
          </a:xfrm>
          <a:prstGeom prst="rect">
            <a:avLst/>
          </a:prstGeom>
          <a:ln w="0">
            <a:noFill/>
          </a:ln>
        </p:spPr>
      </p:sp>
      <p:sp>
        <p:nvSpPr>
          <p:cNvPr id="58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C3B81E0-DC73-45EF-9505-3DDE3F105213}"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89" name="PlaceHolder 1"/>
          <p:cNvSpPr>
            <a:spLocks noGrp="1"/>
          </p:cNvSpPr>
          <p:nvPr>
            <p:ph type="sldImg"/>
          </p:nvPr>
        </p:nvSpPr>
        <p:spPr>
          <a:xfrm>
            <a:off x="1143000" y="685800"/>
            <a:ext cx="4572000" cy="3429000"/>
          </a:xfrm>
          <a:prstGeom prst="rect">
            <a:avLst/>
          </a:prstGeom>
          <a:ln w="0">
            <a:noFill/>
          </a:ln>
        </p:spPr>
      </p:sp>
      <p:sp>
        <p:nvSpPr>
          <p:cNvPr id="59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A5CB5BF-0E68-4B0E-B52D-BC7B160EDD0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92" name="PlaceHolder 1"/>
          <p:cNvSpPr>
            <a:spLocks noGrp="1"/>
          </p:cNvSpPr>
          <p:nvPr>
            <p:ph type="sldImg"/>
          </p:nvPr>
        </p:nvSpPr>
        <p:spPr>
          <a:xfrm>
            <a:off x="1143000" y="685800"/>
            <a:ext cx="4572000" cy="3429000"/>
          </a:xfrm>
          <a:prstGeom prst="rect">
            <a:avLst/>
          </a:prstGeom>
          <a:ln w="0">
            <a:noFill/>
          </a:ln>
        </p:spPr>
      </p:sp>
      <p:sp>
        <p:nvSpPr>
          <p:cNvPr id="59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8433735-F5F4-484F-A06B-23DA2AB05583}"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95" name="PlaceHolder 1"/>
          <p:cNvSpPr>
            <a:spLocks noGrp="1"/>
          </p:cNvSpPr>
          <p:nvPr>
            <p:ph type="sldImg"/>
          </p:nvPr>
        </p:nvSpPr>
        <p:spPr>
          <a:xfrm>
            <a:off x="1143000" y="685800"/>
            <a:ext cx="4572000" cy="3429000"/>
          </a:xfrm>
          <a:prstGeom prst="rect">
            <a:avLst/>
          </a:prstGeom>
          <a:ln w="0">
            <a:noFill/>
          </a:ln>
        </p:spPr>
      </p:sp>
      <p:sp>
        <p:nvSpPr>
          <p:cNvPr id="59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85DBBF-4592-4EAE-8B56-A930116AF606}"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598" name="PlaceHolder 1"/>
          <p:cNvSpPr>
            <a:spLocks noGrp="1"/>
          </p:cNvSpPr>
          <p:nvPr>
            <p:ph type="sldImg"/>
          </p:nvPr>
        </p:nvSpPr>
        <p:spPr>
          <a:xfrm>
            <a:off x="1143000" y="685800"/>
            <a:ext cx="4572000" cy="3429000"/>
          </a:xfrm>
          <a:prstGeom prst="rect">
            <a:avLst/>
          </a:prstGeom>
          <a:ln w="0">
            <a:noFill/>
          </a:ln>
        </p:spPr>
      </p:sp>
      <p:sp>
        <p:nvSpPr>
          <p:cNvPr id="59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7C6B56-C2B4-41CF-8452-A068D9A0087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01" name="PlaceHolder 1"/>
          <p:cNvSpPr>
            <a:spLocks noGrp="1"/>
          </p:cNvSpPr>
          <p:nvPr>
            <p:ph type="sldImg"/>
          </p:nvPr>
        </p:nvSpPr>
        <p:spPr>
          <a:xfrm>
            <a:off x="1143000" y="685800"/>
            <a:ext cx="4572000" cy="3429000"/>
          </a:xfrm>
          <a:prstGeom prst="rect">
            <a:avLst/>
          </a:prstGeom>
          <a:ln w="0">
            <a:noFill/>
          </a:ln>
        </p:spPr>
      </p:sp>
      <p:sp>
        <p:nvSpPr>
          <p:cNvPr id="60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44B93EC-9626-4C23-9FD4-C918EDC7B30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04" name="PlaceHolder 1"/>
          <p:cNvSpPr>
            <a:spLocks noGrp="1"/>
          </p:cNvSpPr>
          <p:nvPr>
            <p:ph type="sldImg"/>
          </p:nvPr>
        </p:nvSpPr>
        <p:spPr>
          <a:xfrm>
            <a:off x="1143000" y="685800"/>
            <a:ext cx="4572000" cy="3429000"/>
          </a:xfrm>
          <a:prstGeom prst="rect">
            <a:avLst/>
          </a:prstGeom>
          <a:ln w="0">
            <a:noFill/>
          </a:ln>
        </p:spPr>
      </p:sp>
      <p:sp>
        <p:nvSpPr>
          <p:cNvPr id="60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C892836-B05E-4496-951C-8F478A34C26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07" name="PlaceHolder 1"/>
          <p:cNvSpPr>
            <a:spLocks noGrp="1"/>
          </p:cNvSpPr>
          <p:nvPr>
            <p:ph type="sldImg"/>
          </p:nvPr>
        </p:nvSpPr>
        <p:spPr>
          <a:xfrm>
            <a:off x="1143000" y="685800"/>
            <a:ext cx="4572000" cy="3429000"/>
          </a:xfrm>
          <a:prstGeom prst="rect">
            <a:avLst/>
          </a:prstGeom>
          <a:ln w="0">
            <a:noFill/>
          </a:ln>
        </p:spPr>
      </p:sp>
      <p:sp>
        <p:nvSpPr>
          <p:cNvPr id="60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03EDC32-10E6-4B20-9ED1-142836D1710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10" name="PlaceHolder 1"/>
          <p:cNvSpPr>
            <a:spLocks noGrp="1"/>
          </p:cNvSpPr>
          <p:nvPr>
            <p:ph type="sldImg"/>
          </p:nvPr>
        </p:nvSpPr>
        <p:spPr>
          <a:xfrm>
            <a:off x="1143000" y="685800"/>
            <a:ext cx="4572000" cy="3429000"/>
          </a:xfrm>
          <a:prstGeom prst="rect">
            <a:avLst/>
          </a:prstGeom>
          <a:ln w="0">
            <a:noFill/>
          </a:ln>
        </p:spPr>
      </p:sp>
      <p:sp>
        <p:nvSpPr>
          <p:cNvPr id="61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ECB01B4-079F-463E-9E2C-2629D07DB17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13" name="PlaceHolder 1"/>
          <p:cNvSpPr>
            <a:spLocks noGrp="1"/>
          </p:cNvSpPr>
          <p:nvPr>
            <p:ph type="sldImg"/>
          </p:nvPr>
        </p:nvSpPr>
        <p:spPr>
          <a:xfrm>
            <a:off x="1143000" y="685800"/>
            <a:ext cx="4572000" cy="3429000"/>
          </a:xfrm>
          <a:prstGeom prst="rect">
            <a:avLst/>
          </a:prstGeom>
          <a:ln w="0">
            <a:noFill/>
          </a:ln>
        </p:spPr>
      </p:sp>
      <p:sp>
        <p:nvSpPr>
          <p:cNvPr id="61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D4B54DA-1E62-46AC-89B5-BC090839F1C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16" name="PlaceHolder 1"/>
          <p:cNvSpPr>
            <a:spLocks noGrp="1"/>
          </p:cNvSpPr>
          <p:nvPr>
            <p:ph type="sldImg"/>
          </p:nvPr>
        </p:nvSpPr>
        <p:spPr>
          <a:xfrm>
            <a:off x="1143000" y="685800"/>
            <a:ext cx="4572000" cy="3429000"/>
          </a:xfrm>
          <a:prstGeom prst="rect">
            <a:avLst/>
          </a:prstGeom>
          <a:ln w="0">
            <a:noFill/>
          </a:ln>
        </p:spPr>
      </p:sp>
      <p:sp>
        <p:nvSpPr>
          <p:cNvPr id="61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A29F2C9-B282-427A-B2D1-498C4E6FC38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19" name="PlaceHolder 1"/>
          <p:cNvSpPr>
            <a:spLocks noGrp="1"/>
          </p:cNvSpPr>
          <p:nvPr>
            <p:ph type="sldImg"/>
          </p:nvPr>
        </p:nvSpPr>
        <p:spPr>
          <a:xfrm>
            <a:off x="1143000" y="685800"/>
            <a:ext cx="4572000" cy="3429000"/>
          </a:xfrm>
          <a:prstGeom prst="rect">
            <a:avLst/>
          </a:prstGeom>
          <a:ln w="0">
            <a:noFill/>
          </a:ln>
        </p:spPr>
      </p:sp>
      <p:sp>
        <p:nvSpPr>
          <p:cNvPr id="62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0E61FD-CDD7-44F3-8C7A-9B04E6862981}"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22" name="PlaceHolder 1"/>
          <p:cNvSpPr>
            <a:spLocks noGrp="1"/>
          </p:cNvSpPr>
          <p:nvPr>
            <p:ph type="sldImg"/>
          </p:nvPr>
        </p:nvSpPr>
        <p:spPr>
          <a:xfrm>
            <a:off x="1143000" y="685800"/>
            <a:ext cx="4572000" cy="3429000"/>
          </a:xfrm>
          <a:prstGeom prst="rect">
            <a:avLst/>
          </a:prstGeom>
          <a:ln w="0">
            <a:noFill/>
          </a:ln>
        </p:spPr>
      </p:sp>
      <p:sp>
        <p:nvSpPr>
          <p:cNvPr id="62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8F32A8-DEFF-4908-9517-33F951470AF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25" name="PlaceHolder 1"/>
          <p:cNvSpPr>
            <a:spLocks noGrp="1"/>
          </p:cNvSpPr>
          <p:nvPr>
            <p:ph type="sldImg"/>
          </p:nvPr>
        </p:nvSpPr>
        <p:spPr>
          <a:xfrm>
            <a:off x="1143000" y="685800"/>
            <a:ext cx="4572000" cy="3429000"/>
          </a:xfrm>
          <a:prstGeom prst="rect">
            <a:avLst/>
          </a:prstGeom>
          <a:ln w="0">
            <a:noFill/>
          </a:ln>
        </p:spPr>
      </p:sp>
      <p:sp>
        <p:nvSpPr>
          <p:cNvPr id="62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E44199F-30D0-4036-B076-0F4247F22DF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28" name="PlaceHolder 1"/>
          <p:cNvSpPr>
            <a:spLocks noGrp="1"/>
          </p:cNvSpPr>
          <p:nvPr>
            <p:ph type="sldImg"/>
          </p:nvPr>
        </p:nvSpPr>
        <p:spPr>
          <a:xfrm>
            <a:off x="1143000" y="685800"/>
            <a:ext cx="4572000" cy="3429000"/>
          </a:xfrm>
          <a:prstGeom prst="rect">
            <a:avLst/>
          </a:prstGeom>
          <a:ln w="0">
            <a:noFill/>
          </a:ln>
        </p:spPr>
      </p:sp>
      <p:sp>
        <p:nvSpPr>
          <p:cNvPr id="62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60073DB-C947-4518-9D42-666FD6CB04AA}"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31" name="PlaceHolder 1"/>
          <p:cNvSpPr>
            <a:spLocks noGrp="1"/>
          </p:cNvSpPr>
          <p:nvPr>
            <p:ph type="sldImg"/>
          </p:nvPr>
        </p:nvSpPr>
        <p:spPr>
          <a:xfrm>
            <a:off x="1143000" y="685800"/>
            <a:ext cx="4572000" cy="3429000"/>
          </a:xfrm>
          <a:prstGeom prst="rect">
            <a:avLst/>
          </a:prstGeom>
          <a:ln w="0">
            <a:noFill/>
          </a:ln>
        </p:spPr>
      </p:sp>
      <p:sp>
        <p:nvSpPr>
          <p:cNvPr id="63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3055263-EB78-44C3-AAAF-BD919F007093}"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34" name="PlaceHolder 1"/>
          <p:cNvSpPr>
            <a:spLocks noGrp="1"/>
          </p:cNvSpPr>
          <p:nvPr>
            <p:ph type="sldImg"/>
          </p:nvPr>
        </p:nvSpPr>
        <p:spPr>
          <a:xfrm>
            <a:off x="1143000" y="685800"/>
            <a:ext cx="4572000" cy="3429000"/>
          </a:xfrm>
          <a:prstGeom prst="rect">
            <a:avLst/>
          </a:prstGeom>
          <a:ln w="0">
            <a:noFill/>
          </a:ln>
        </p:spPr>
      </p:sp>
      <p:sp>
        <p:nvSpPr>
          <p:cNvPr id="63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1590B45-C52F-402D-9B29-A165ED4ABC00}"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37" name="PlaceHolder 1"/>
          <p:cNvSpPr>
            <a:spLocks noGrp="1"/>
          </p:cNvSpPr>
          <p:nvPr>
            <p:ph type="sldImg"/>
          </p:nvPr>
        </p:nvSpPr>
        <p:spPr>
          <a:xfrm>
            <a:off x="1143000" y="685800"/>
            <a:ext cx="4572000" cy="3429000"/>
          </a:xfrm>
          <a:prstGeom prst="rect">
            <a:avLst/>
          </a:prstGeom>
          <a:ln w="0">
            <a:noFill/>
          </a:ln>
        </p:spPr>
      </p:sp>
      <p:sp>
        <p:nvSpPr>
          <p:cNvPr id="63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86CAE69-3622-4624-A4FE-922C5F95A51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40" name="PlaceHolder 1"/>
          <p:cNvSpPr>
            <a:spLocks noGrp="1"/>
          </p:cNvSpPr>
          <p:nvPr>
            <p:ph type="sldImg"/>
          </p:nvPr>
        </p:nvSpPr>
        <p:spPr>
          <a:xfrm>
            <a:off x="1143000" y="685800"/>
            <a:ext cx="4572000" cy="3429000"/>
          </a:xfrm>
          <a:prstGeom prst="rect">
            <a:avLst/>
          </a:prstGeom>
          <a:ln w="0">
            <a:noFill/>
          </a:ln>
        </p:spPr>
      </p:sp>
      <p:sp>
        <p:nvSpPr>
          <p:cNvPr id="64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6FEAD4F-A292-4021-8E7F-83D351B3099A}"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43" name="PlaceHolder 1"/>
          <p:cNvSpPr>
            <a:spLocks noGrp="1"/>
          </p:cNvSpPr>
          <p:nvPr>
            <p:ph type="sldImg"/>
          </p:nvPr>
        </p:nvSpPr>
        <p:spPr>
          <a:xfrm>
            <a:off x="1143000" y="685800"/>
            <a:ext cx="4572000" cy="3429000"/>
          </a:xfrm>
          <a:prstGeom prst="rect">
            <a:avLst/>
          </a:prstGeom>
          <a:ln w="0">
            <a:noFill/>
          </a:ln>
        </p:spPr>
      </p:sp>
      <p:sp>
        <p:nvSpPr>
          <p:cNvPr id="64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D3CABC2-0981-42AA-98F0-657EA1E485B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46" name="PlaceHolder 1"/>
          <p:cNvSpPr>
            <a:spLocks noGrp="1"/>
          </p:cNvSpPr>
          <p:nvPr>
            <p:ph type="sldImg"/>
          </p:nvPr>
        </p:nvSpPr>
        <p:spPr>
          <a:xfrm>
            <a:off x="1143000" y="685800"/>
            <a:ext cx="4572000" cy="3429000"/>
          </a:xfrm>
          <a:prstGeom prst="rect">
            <a:avLst/>
          </a:prstGeom>
          <a:ln w="0">
            <a:noFill/>
          </a:ln>
        </p:spPr>
      </p:sp>
      <p:sp>
        <p:nvSpPr>
          <p:cNvPr id="64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1317FC-1350-45B2-8CE1-F7D8DD569C8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49" name="PlaceHolder 1"/>
          <p:cNvSpPr>
            <a:spLocks noGrp="1"/>
          </p:cNvSpPr>
          <p:nvPr>
            <p:ph type="sldImg"/>
          </p:nvPr>
        </p:nvSpPr>
        <p:spPr>
          <a:xfrm>
            <a:off x="1143000" y="685800"/>
            <a:ext cx="4572000" cy="3429000"/>
          </a:xfrm>
          <a:prstGeom prst="rect">
            <a:avLst/>
          </a:prstGeom>
          <a:ln w="0">
            <a:noFill/>
          </a:ln>
        </p:spPr>
      </p:sp>
      <p:sp>
        <p:nvSpPr>
          <p:cNvPr id="65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9A0A17C-599B-40CD-9731-2353CB484B62}"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52" name="PlaceHolder 1"/>
          <p:cNvSpPr>
            <a:spLocks noGrp="1"/>
          </p:cNvSpPr>
          <p:nvPr>
            <p:ph type="sldImg"/>
          </p:nvPr>
        </p:nvSpPr>
        <p:spPr>
          <a:xfrm>
            <a:off x="1143000" y="685800"/>
            <a:ext cx="4572000" cy="3429000"/>
          </a:xfrm>
          <a:prstGeom prst="rect">
            <a:avLst/>
          </a:prstGeom>
          <a:ln w="0">
            <a:noFill/>
          </a:ln>
        </p:spPr>
      </p:sp>
      <p:sp>
        <p:nvSpPr>
          <p:cNvPr id="65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4535D9C-0DCA-47F2-8374-10C5929DAA1D}"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55" name="PlaceHolder 1"/>
          <p:cNvSpPr>
            <a:spLocks noGrp="1"/>
          </p:cNvSpPr>
          <p:nvPr>
            <p:ph type="sldImg"/>
          </p:nvPr>
        </p:nvSpPr>
        <p:spPr>
          <a:xfrm>
            <a:off x="1143000" y="685800"/>
            <a:ext cx="4572000" cy="3429000"/>
          </a:xfrm>
          <a:prstGeom prst="rect">
            <a:avLst/>
          </a:prstGeom>
          <a:ln w="0">
            <a:noFill/>
          </a:ln>
        </p:spPr>
      </p:sp>
      <p:sp>
        <p:nvSpPr>
          <p:cNvPr id="65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F5BA233-9153-4FE2-8284-40D39E0D695A}"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58" name="PlaceHolder 1"/>
          <p:cNvSpPr>
            <a:spLocks noGrp="1"/>
          </p:cNvSpPr>
          <p:nvPr>
            <p:ph type="sldImg"/>
          </p:nvPr>
        </p:nvSpPr>
        <p:spPr>
          <a:xfrm>
            <a:off x="1143000" y="685800"/>
            <a:ext cx="4572000" cy="3429000"/>
          </a:xfrm>
          <a:prstGeom prst="rect">
            <a:avLst/>
          </a:prstGeom>
          <a:ln w="0">
            <a:noFill/>
          </a:ln>
        </p:spPr>
      </p:sp>
      <p:sp>
        <p:nvSpPr>
          <p:cNvPr id="65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A404875-FEA4-4D62-8115-32FE4F04B80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61" name="PlaceHolder 1"/>
          <p:cNvSpPr>
            <a:spLocks noGrp="1"/>
          </p:cNvSpPr>
          <p:nvPr>
            <p:ph type="sldImg"/>
          </p:nvPr>
        </p:nvSpPr>
        <p:spPr>
          <a:xfrm>
            <a:off x="1143000" y="685800"/>
            <a:ext cx="4572000" cy="3429000"/>
          </a:xfrm>
          <a:prstGeom prst="rect">
            <a:avLst/>
          </a:prstGeom>
          <a:ln w="0">
            <a:noFill/>
          </a:ln>
        </p:spPr>
      </p:sp>
      <p:sp>
        <p:nvSpPr>
          <p:cNvPr id="66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799D988-3CCC-491E-8F94-5501EB5D093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64" name="PlaceHolder 1"/>
          <p:cNvSpPr>
            <a:spLocks noGrp="1"/>
          </p:cNvSpPr>
          <p:nvPr>
            <p:ph type="sldImg"/>
          </p:nvPr>
        </p:nvSpPr>
        <p:spPr>
          <a:xfrm>
            <a:off x="1143000" y="685800"/>
            <a:ext cx="4572000" cy="3429000"/>
          </a:xfrm>
          <a:prstGeom prst="rect">
            <a:avLst/>
          </a:prstGeom>
          <a:ln w="0">
            <a:noFill/>
          </a:ln>
        </p:spPr>
      </p:sp>
      <p:sp>
        <p:nvSpPr>
          <p:cNvPr id="66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2B7B0EF-4917-40CD-A1CE-03C779B1385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67" name="PlaceHolder 1"/>
          <p:cNvSpPr>
            <a:spLocks noGrp="1"/>
          </p:cNvSpPr>
          <p:nvPr>
            <p:ph type="sldImg"/>
          </p:nvPr>
        </p:nvSpPr>
        <p:spPr>
          <a:xfrm>
            <a:off x="1143000" y="685800"/>
            <a:ext cx="4572000" cy="3429000"/>
          </a:xfrm>
          <a:prstGeom prst="rect">
            <a:avLst/>
          </a:prstGeom>
          <a:ln w="0">
            <a:noFill/>
          </a:ln>
        </p:spPr>
      </p:sp>
      <p:sp>
        <p:nvSpPr>
          <p:cNvPr id="66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21E1344-4F23-4D16-8576-A34C4848083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70" name="PlaceHolder 1"/>
          <p:cNvSpPr>
            <a:spLocks noGrp="1"/>
          </p:cNvSpPr>
          <p:nvPr>
            <p:ph type="sldImg"/>
          </p:nvPr>
        </p:nvSpPr>
        <p:spPr>
          <a:xfrm>
            <a:off x="1143000" y="685800"/>
            <a:ext cx="4572000" cy="3429000"/>
          </a:xfrm>
          <a:prstGeom prst="rect">
            <a:avLst/>
          </a:prstGeom>
          <a:ln w="0">
            <a:noFill/>
          </a:ln>
        </p:spPr>
      </p:sp>
      <p:sp>
        <p:nvSpPr>
          <p:cNvPr id="67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45F9A3-D56D-4CC5-B8F3-DCE49F8C7CF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73" name="PlaceHolder 1"/>
          <p:cNvSpPr>
            <a:spLocks noGrp="1"/>
          </p:cNvSpPr>
          <p:nvPr>
            <p:ph type="sldImg"/>
          </p:nvPr>
        </p:nvSpPr>
        <p:spPr>
          <a:xfrm>
            <a:off x="1143000" y="685800"/>
            <a:ext cx="4572000" cy="3429000"/>
          </a:xfrm>
          <a:prstGeom prst="rect">
            <a:avLst/>
          </a:prstGeom>
          <a:ln w="0">
            <a:noFill/>
          </a:ln>
        </p:spPr>
      </p:sp>
      <p:sp>
        <p:nvSpPr>
          <p:cNvPr id="67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4C315BB-BAD7-4F0B-9128-6C25A79F969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76" name="PlaceHolder 1"/>
          <p:cNvSpPr>
            <a:spLocks noGrp="1"/>
          </p:cNvSpPr>
          <p:nvPr>
            <p:ph type="sldImg"/>
          </p:nvPr>
        </p:nvSpPr>
        <p:spPr>
          <a:xfrm>
            <a:off x="1143000" y="685800"/>
            <a:ext cx="4572000" cy="3429000"/>
          </a:xfrm>
          <a:prstGeom prst="rect">
            <a:avLst/>
          </a:prstGeom>
          <a:ln w="0">
            <a:noFill/>
          </a:ln>
        </p:spPr>
      </p:sp>
      <p:sp>
        <p:nvSpPr>
          <p:cNvPr id="67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1C8CA2-2AE4-4D47-B46D-0CF4F9933852}"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79" name="PlaceHolder 1"/>
          <p:cNvSpPr>
            <a:spLocks noGrp="1"/>
          </p:cNvSpPr>
          <p:nvPr>
            <p:ph type="sldImg"/>
          </p:nvPr>
        </p:nvSpPr>
        <p:spPr>
          <a:xfrm>
            <a:off x="1143000" y="685800"/>
            <a:ext cx="4572000" cy="3429000"/>
          </a:xfrm>
          <a:prstGeom prst="rect">
            <a:avLst/>
          </a:prstGeom>
          <a:ln w="0">
            <a:noFill/>
          </a:ln>
        </p:spPr>
      </p:sp>
      <p:sp>
        <p:nvSpPr>
          <p:cNvPr id="68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3F86B7A-4D47-4867-880A-56043ACEC04D}"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82" name="PlaceHolder 1"/>
          <p:cNvSpPr>
            <a:spLocks noGrp="1"/>
          </p:cNvSpPr>
          <p:nvPr>
            <p:ph type="sldImg"/>
          </p:nvPr>
        </p:nvSpPr>
        <p:spPr>
          <a:xfrm>
            <a:off x="1143000" y="685800"/>
            <a:ext cx="4572000" cy="3429000"/>
          </a:xfrm>
          <a:prstGeom prst="rect">
            <a:avLst/>
          </a:prstGeom>
          <a:ln w="0">
            <a:noFill/>
          </a:ln>
        </p:spPr>
      </p:sp>
      <p:sp>
        <p:nvSpPr>
          <p:cNvPr id="68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06A29C9-8688-4F14-BEEE-C5D8CDAF026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85" name="PlaceHolder 1"/>
          <p:cNvSpPr>
            <a:spLocks noGrp="1"/>
          </p:cNvSpPr>
          <p:nvPr>
            <p:ph type="sldImg"/>
          </p:nvPr>
        </p:nvSpPr>
        <p:spPr>
          <a:xfrm>
            <a:off x="1143000" y="685800"/>
            <a:ext cx="4572000" cy="3429000"/>
          </a:xfrm>
          <a:prstGeom prst="rect">
            <a:avLst/>
          </a:prstGeom>
          <a:ln w="0">
            <a:noFill/>
          </a:ln>
        </p:spPr>
      </p:sp>
      <p:sp>
        <p:nvSpPr>
          <p:cNvPr id="68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0F0A12C-3006-4564-AE2B-7D9BD7285B2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88" name="PlaceHolder 1"/>
          <p:cNvSpPr>
            <a:spLocks noGrp="1"/>
          </p:cNvSpPr>
          <p:nvPr>
            <p:ph type="sldImg"/>
          </p:nvPr>
        </p:nvSpPr>
        <p:spPr>
          <a:xfrm>
            <a:off x="1143000" y="685800"/>
            <a:ext cx="4572000" cy="3429000"/>
          </a:xfrm>
          <a:prstGeom prst="rect">
            <a:avLst/>
          </a:prstGeom>
          <a:ln w="0">
            <a:noFill/>
          </a:ln>
        </p:spPr>
      </p:sp>
      <p:sp>
        <p:nvSpPr>
          <p:cNvPr id="68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CAFB366-607F-44A8-9A96-1D6272B6B53D}"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91" name="PlaceHolder 1"/>
          <p:cNvSpPr>
            <a:spLocks noGrp="1"/>
          </p:cNvSpPr>
          <p:nvPr>
            <p:ph type="sldImg"/>
          </p:nvPr>
        </p:nvSpPr>
        <p:spPr>
          <a:xfrm>
            <a:off x="1143000" y="685800"/>
            <a:ext cx="4572000" cy="3429000"/>
          </a:xfrm>
          <a:prstGeom prst="rect">
            <a:avLst/>
          </a:prstGeom>
          <a:ln w="0">
            <a:noFill/>
          </a:ln>
        </p:spPr>
      </p:sp>
      <p:sp>
        <p:nvSpPr>
          <p:cNvPr id="69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B050A85-248F-46A5-BCAC-C5D5ED7895C9}"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94" name="PlaceHolder 1"/>
          <p:cNvSpPr>
            <a:spLocks noGrp="1"/>
          </p:cNvSpPr>
          <p:nvPr>
            <p:ph type="sldImg"/>
          </p:nvPr>
        </p:nvSpPr>
        <p:spPr>
          <a:xfrm>
            <a:off x="1143000" y="685800"/>
            <a:ext cx="4572000" cy="3429000"/>
          </a:xfrm>
          <a:prstGeom prst="rect">
            <a:avLst/>
          </a:prstGeom>
          <a:ln w="0">
            <a:noFill/>
          </a:ln>
        </p:spPr>
      </p:sp>
      <p:sp>
        <p:nvSpPr>
          <p:cNvPr id="69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4CB030F-3EA5-4C2F-9B83-53456747FC91}"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697" name="PlaceHolder 1"/>
          <p:cNvSpPr>
            <a:spLocks noGrp="1"/>
          </p:cNvSpPr>
          <p:nvPr>
            <p:ph type="sldImg"/>
          </p:nvPr>
        </p:nvSpPr>
        <p:spPr>
          <a:xfrm>
            <a:off x="1143000" y="685800"/>
            <a:ext cx="4572000" cy="3429000"/>
          </a:xfrm>
          <a:prstGeom prst="rect">
            <a:avLst/>
          </a:prstGeom>
          <a:ln w="0">
            <a:noFill/>
          </a:ln>
        </p:spPr>
      </p:sp>
      <p:sp>
        <p:nvSpPr>
          <p:cNvPr id="69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A074EF9-3A84-4A56-BE80-AF190700B170}"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700" name="PlaceHolder 1"/>
          <p:cNvSpPr>
            <a:spLocks noGrp="1"/>
          </p:cNvSpPr>
          <p:nvPr>
            <p:ph type="sldImg"/>
          </p:nvPr>
        </p:nvSpPr>
        <p:spPr>
          <a:xfrm>
            <a:off x="1143000" y="685800"/>
            <a:ext cx="4572000" cy="3429000"/>
          </a:xfrm>
          <a:prstGeom prst="rect">
            <a:avLst/>
          </a:prstGeom>
          <a:ln w="0">
            <a:noFill/>
          </a:ln>
        </p:spPr>
      </p:sp>
      <p:sp>
        <p:nvSpPr>
          <p:cNvPr id="70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743FAE1-E440-41D2-B444-A0F14977628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703" name="PlaceHolder 1"/>
          <p:cNvSpPr>
            <a:spLocks noGrp="1"/>
          </p:cNvSpPr>
          <p:nvPr>
            <p:ph type="sldImg"/>
          </p:nvPr>
        </p:nvSpPr>
        <p:spPr>
          <a:xfrm>
            <a:off x="1143000" y="685800"/>
            <a:ext cx="4572000" cy="3429000"/>
          </a:xfrm>
          <a:prstGeom prst="rect">
            <a:avLst/>
          </a:prstGeom>
          <a:ln w="0">
            <a:noFill/>
          </a:ln>
        </p:spPr>
      </p:sp>
      <p:sp>
        <p:nvSpPr>
          <p:cNvPr id="70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DF99E4B-48D6-4A4D-B34C-0033E3573418}"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38C82E2D-D070-41B5-8BD9-D63FFBC0CA89}" type="slidenum">
              <a:t>&lt;#&gt;</a:t>
            </a:fld>
          </a:p>
        </p:txBody>
      </p:sp>
      <p:sp>
        <p:nvSpPr>
          <p:cNvPr id="4" name="PlaceHolder 3"/>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2" name="PlaceHolder 3"/>
          <p:cNvSpPr>
            <a:spLocks noGrp="1"/>
          </p:cNvSpPr>
          <p:nvPr>
            <p:ph type="dt" idx="1"/>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AB90D3C-7291-4F92-8D3F-F0FC16C833A8}"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3" name="PlaceHolder 4"/>
          <p:cNvSpPr>
            <a:spLocks noGrp="1"/>
          </p:cNvSpPr>
          <p:nvPr>
            <p:ph type="ftr" idx="2"/>
          </p:nvPr>
        </p:nvSpPr>
        <p:spPr>
          <a:xfrm>
            <a:off x="2842920" y="6248520"/>
            <a:ext cx="360036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4" name="PlaceHolder 5"/>
          <p:cNvSpPr>
            <a:spLocks noGrp="1"/>
          </p:cNvSpPr>
          <p:nvPr>
            <p:ph type="sldNum" idx="3"/>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BFB7CAE-7BC8-4D74-81EB-990EDED2A76F}"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
        <p:nvSpPr>
          <p:cNvPr id="5" name="Freeform 7"/>
          <p:cNvSpPr/>
          <p:nvPr/>
        </p:nvSpPr>
        <p:spPr>
          <a:xfrm>
            <a:off x="380880" y="228600"/>
            <a:ext cx="8229600" cy="609480"/>
          </a:xfrm>
          <a:prstGeom prst="pie">
            <a:avLst/>
          </a:prstGeom>
          <a:noFill/>
          <a:ln w="19080">
            <a:solidFill>
              <a:srgbClr val="cc9900"/>
            </a:solidFill>
            <a:miter/>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6" name="Line 8"/>
          <p:cNvSpPr/>
          <p:nvPr/>
        </p:nvSpPr>
        <p:spPr>
          <a:xfrm>
            <a:off x="457200" y="6172200"/>
            <a:ext cx="822960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7" name="Picture 10" descr=""/>
          <p:cNvPicPr/>
          <p:nvPr/>
        </p:nvPicPr>
        <p:blipFill>
          <a:blip r:embed="rId2"/>
          <a:stretch/>
        </p:blipFill>
        <p:spPr>
          <a:xfrm>
            <a:off x="1979640" y="6237360"/>
            <a:ext cx="1276200" cy="498240"/>
          </a:xfrm>
          <a:prstGeom prst="rect">
            <a:avLst/>
          </a:prstGeom>
          <a:ln w="0">
            <a:noFill/>
          </a:ln>
        </p:spPr>
      </p:pic>
      <p:pic>
        <p:nvPicPr>
          <p:cNvPr id="8" name="Picture 12" descr=""/>
          <p:cNvPicPr/>
          <p:nvPr/>
        </p:nvPicPr>
        <p:blipFill>
          <a:blip r:embed="rId3"/>
          <a:stretch/>
        </p:blipFill>
        <p:spPr>
          <a:xfrm>
            <a:off x="6012000" y="6237360"/>
            <a:ext cx="1716120" cy="500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Freeform 7"/>
          <p:cNvSpPr/>
          <p:nvPr/>
        </p:nvSpPr>
        <p:spPr>
          <a:xfrm>
            <a:off x="609480" y="1219320"/>
            <a:ext cx="7925040" cy="914400"/>
          </a:xfrm>
          <a:prstGeom prst="pie">
            <a:avLst/>
          </a:prstGeom>
          <a:noFill/>
          <a:ln w="25560">
            <a:solidFill>
              <a:srgbClr val="cc99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0" name="Line 8"/>
          <p:cNvSpPr/>
          <p:nvPr/>
        </p:nvSpPr>
        <p:spPr>
          <a:xfrm>
            <a:off x="1981080" y="3962520"/>
            <a:ext cx="651204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2"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13" name="PlaceHolder 3"/>
          <p:cNvSpPr>
            <a:spLocks noGrp="1"/>
          </p:cNvSpPr>
          <p:nvPr>
            <p:ph type="dt" idx="4"/>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B27FD84-E399-403F-A648-40E377ABACA0}"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14" name="PlaceHolder 4"/>
          <p:cNvSpPr>
            <a:spLocks noGrp="1"/>
          </p:cNvSpPr>
          <p:nvPr>
            <p:ph type="ftr" idx="5"/>
          </p:nvPr>
        </p:nvSpPr>
        <p:spPr>
          <a:xfrm>
            <a:off x="2771640" y="6243480"/>
            <a:ext cx="360072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15" name="PlaceHolder 5"/>
          <p:cNvSpPr>
            <a:spLocks noGrp="1"/>
          </p:cNvSpPr>
          <p:nvPr>
            <p:ph type="sldNum" idx="6"/>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6739BF5-28A4-4CE3-94F8-F6A3EE00D868}"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wmf"/><Relationship Id="rId3" Type="http://schemas.openxmlformats.org/officeDocument/2006/relationships/slideLayout" Target="../slideLayouts/slideLayout1.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wmf"/><Relationship Id="rId2" Type="http://schemas.openxmlformats.org/officeDocument/2006/relationships/image" Target="../media/image9.wmf"/><Relationship Id="rId3" Type="http://schemas.openxmlformats.org/officeDocument/2006/relationships/image" Target="../media/image10.png"/><Relationship Id="rId4" Type="http://schemas.openxmlformats.org/officeDocument/2006/relationships/image" Target="../media/image11.wmf"/><Relationship Id="rId5" Type="http://schemas.openxmlformats.org/officeDocument/2006/relationships/image" Target="../media/image12.wmf"/><Relationship Id="rId6" Type="http://schemas.openxmlformats.org/officeDocument/2006/relationships/slideLayout" Target="../slideLayouts/slideLayout1.xml"/><Relationship Id="rId7"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wmf"/><Relationship Id="rId3" Type="http://schemas.openxmlformats.org/officeDocument/2006/relationships/image" Target="../media/image15.wmf"/><Relationship Id="rId4" Type="http://schemas.openxmlformats.org/officeDocument/2006/relationships/image" Target="../media/image16.png"/><Relationship Id="rId5" Type="http://schemas.openxmlformats.org/officeDocument/2006/relationships/image" Target="../media/image17.wmf"/><Relationship Id="rId6" Type="http://schemas.openxmlformats.org/officeDocument/2006/relationships/image" Target="../media/image18.wmf"/><Relationship Id="rId7" Type="http://schemas.openxmlformats.org/officeDocument/2006/relationships/slideLayout" Target="../slideLayouts/slideLayout1.xml"/><Relationship Id="rId8"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4.wmf"/><Relationship Id="rId2" Type="http://schemas.openxmlformats.org/officeDocument/2006/relationships/image" Target="../media/image19.wmf"/><Relationship Id="rId3" Type="http://schemas.openxmlformats.org/officeDocument/2006/relationships/image" Target="../media/image20.wmf"/><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4.wmf"/><Relationship Id="rId3" Type="http://schemas.openxmlformats.org/officeDocument/2006/relationships/image" Target="../media/image22.wmf"/><Relationship Id="rId4" Type="http://schemas.openxmlformats.org/officeDocument/2006/relationships/image" Target="../media/image23.wmf"/><Relationship Id="rId5" Type="http://schemas.openxmlformats.org/officeDocument/2006/relationships/image" Target="../media/image24.png"/><Relationship Id="rId6" Type="http://schemas.openxmlformats.org/officeDocument/2006/relationships/slideLayout" Target="../slideLayouts/slideLayout1.xml"/><Relationship Id="rId7"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5.wmf"/><Relationship Id="rId2" Type="http://schemas.openxmlformats.org/officeDocument/2006/relationships/image" Target="../media/image26.png"/><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7.wmf"/><Relationship Id="rId2" Type="http://schemas.openxmlformats.org/officeDocument/2006/relationships/image" Target="../media/image28.wmf"/><Relationship Id="rId3" Type="http://schemas.openxmlformats.org/officeDocument/2006/relationships/image" Target="../media/image29.wmf"/><Relationship Id="rId4" Type="http://schemas.openxmlformats.org/officeDocument/2006/relationships/image" Target="../media/image30.png"/><Relationship Id="rId5" Type="http://schemas.openxmlformats.org/officeDocument/2006/relationships/image" Target="../media/image31.wmf"/><Relationship Id="rId6" Type="http://schemas.openxmlformats.org/officeDocument/2006/relationships/slideLayout" Target="../slideLayouts/slideLayout1.xml"/><Relationship Id="rId7"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wmf"/><Relationship Id="rId3" Type="http://schemas.openxmlformats.org/officeDocument/2006/relationships/image" Target="../media/image34.png"/><Relationship Id="rId4" Type="http://schemas.openxmlformats.org/officeDocument/2006/relationships/image" Target="../media/image35.wmf"/><Relationship Id="rId5" Type="http://schemas.openxmlformats.org/officeDocument/2006/relationships/slideLayout" Target="../slideLayouts/slideLayout1.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6.wmf"/><Relationship Id="rId2" Type="http://schemas.openxmlformats.org/officeDocument/2006/relationships/image" Target="../media/image37.wmf"/><Relationship Id="rId3" Type="http://schemas.openxmlformats.org/officeDocument/2006/relationships/image" Target="../media/image38.wmf"/><Relationship Id="rId4" Type="http://schemas.openxmlformats.org/officeDocument/2006/relationships/image" Target="../media/image39.wmf"/><Relationship Id="rId5" Type="http://schemas.openxmlformats.org/officeDocument/2006/relationships/slideLayout" Target="../slideLayouts/slideLayout1.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8.wmf"/><Relationship Id="rId2" Type="http://schemas.openxmlformats.org/officeDocument/2006/relationships/image" Target="../media/image39.wmf"/><Relationship Id="rId3" Type="http://schemas.openxmlformats.org/officeDocument/2006/relationships/image" Target="../media/image40.png"/><Relationship Id="rId4" Type="http://schemas.openxmlformats.org/officeDocument/2006/relationships/image" Target="../media/image41.wmf"/><Relationship Id="rId5" Type="http://schemas.openxmlformats.org/officeDocument/2006/relationships/image" Target="../media/image42.wmf"/><Relationship Id="rId6" Type="http://schemas.openxmlformats.org/officeDocument/2006/relationships/image" Target="../media/image43.wmf"/><Relationship Id="rId7" Type="http://schemas.openxmlformats.org/officeDocument/2006/relationships/slideLayout" Target="../slideLayouts/slideLayout1.xml"/><Relationship Id="rId8"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4.wmf"/><Relationship Id="rId2" Type="http://schemas.openxmlformats.org/officeDocument/2006/relationships/image" Target="../media/image45.wmf"/><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46.wmf"/><Relationship Id="rId2" Type="http://schemas.openxmlformats.org/officeDocument/2006/relationships/image" Target="../media/image47.wmf"/><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48.wmf"/><Relationship Id="rId2" Type="http://schemas.openxmlformats.org/officeDocument/2006/relationships/image" Target="../media/image49.png"/><Relationship Id="rId3" Type="http://schemas.openxmlformats.org/officeDocument/2006/relationships/image" Target="../media/image50.wmf"/><Relationship Id="rId4" Type="http://schemas.openxmlformats.org/officeDocument/2006/relationships/image" Target="../media/image51.wmf"/><Relationship Id="rId5" Type="http://schemas.openxmlformats.org/officeDocument/2006/relationships/image" Target="../media/image52.wmf"/><Relationship Id="rId6" Type="http://schemas.openxmlformats.org/officeDocument/2006/relationships/image" Target="../media/image53.wmf"/><Relationship Id="rId7" Type="http://schemas.openxmlformats.org/officeDocument/2006/relationships/image" Target="../media/image54.wmf"/><Relationship Id="rId8" Type="http://schemas.openxmlformats.org/officeDocument/2006/relationships/slideLayout" Target="../slideLayouts/slideLayout1.xml"/><Relationship Id="rId9"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55.wmf"/><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wmf"/><Relationship Id="rId5" Type="http://schemas.openxmlformats.org/officeDocument/2006/relationships/image" Target="../media/image59.wmf"/><Relationship Id="rId6" Type="http://schemas.openxmlformats.org/officeDocument/2006/relationships/slideLayout" Target="../slideLayouts/slideLayout1.xml"/><Relationship Id="rId7"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60.wmf"/><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61.wmf"/><Relationship Id="rId2" Type="http://schemas.openxmlformats.org/officeDocument/2006/relationships/image" Target="../media/image62.wmf"/><Relationship Id="rId3" Type="http://schemas.openxmlformats.org/officeDocument/2006/relationships/image" Target="../media/image63.wmf"/><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65.wmf"/><Relationship Id="rId2" Type="http://schemas.openxmlformats.org/officeDocument/2006/relationships/image" Target="../media/image66.wmf"/><Relationship Id="rId3" Type="http://schemas.openxmlformats.org/officeDocument/2006/relationships/image" Target="../media/image64.png"/><Relationship Id="rId4" Type="http://schemas.openxmlformats.org/officeDocument/2006/relationships/image" Target="../media/image67.wmf"/><Relationship Id="rId5" Type="http://schemas.openxmlformats.org/officeDocument/2006/relationships/slideLayout" Target="../slideLayouts/slideLayout1.xml"/><Relationship Id="rId6"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68.wmf"/><Relationship Id="rId2" Type="http://schemas.openxmlformats.org/officeDocument/2006/relationships/image" Target="../media/image69.wmf"/><Relationship Id="rId3" Type="http://schemas.openxmlformats.org/officeDocument/2006/relationships/image" Target="../media/image70.wmf"/><Relationship Id="rId4" Type="http://schemas.openxmlformats.org/officeDocument/2006/relationships/slideLayout" Target="../slideLayouts/slideLayout1.xml"/><Relationship Id="rId5"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68.wmf"/><Relationship Id="rId2" Type="http://schemas.openxmlformats.org/officeDocument/2006/relationships/image" Target="../media/image71.wmf"/><Relationship Id="rId3" Type="http://schemas.openxmlformats.org/officeDocument/2006/relationships/image" Target="../media/image72.wmf"/><Relationship Id="rId4" Type="http://schemas.openxmlformats.org/officeDocument/2006/relationships/image" Target="../media/image73.wmf"/><Relationship Id="rId5" Type="http://schemas.openxmlformats.org/officeDocument/2006/relationships/image" Target="../media/image74.wmf"/><Relationship Id="rId6" Type="http://schemas.openxmlformats.org/officeDocument/2006/relationships/slideLayout" Target="../slideLayouts/slideLayout1.xml"/><Relationship Id="rId7"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image" Target="../media/image76.wmf"/><Relationship Id="rId3" Type="http://schemas.openxmlformats.org/officeDocument/2006/relationships/image" Target="../media/image77.png"/><Relationship Id="rId4" Type="http://schemas.openxmlformats.org/officeDocument/2006/relationships/slideLayout" Target="../slideLayouts/slideLayout1.xml"/><Relationship Id="rId5"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78.png"/><Relationship Id="rId2" Type="http://schemas.openxmlformats.org/officeDocument/2006/relationships/image" Target="../media/image79.wmf"/><Relationship Id="rId3" Type="http://schemas.openxmlformats.org/officeDocument/2006/relationships/slideLayout" Target="../slideLayouts/slideLayout1.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80.wmf"/><Relationship Id="rId2" Type="http://schemas.openxmlformats.org/officeDocument/2006/relationships/image" Target="../media/image81.wmf"/><Relationship Id="rId3" Type="http://schemas.openxmlformats.org/officeDocument/2006/relationships/image" Target="../media/image82.wmf"/><Relationship Id="rId4" Type="http://schemas.openxmlformats.org/officeDocument/2006/relationships/image" Target="../media/image83.wmf"/><Relationship Id="rId5" Type="http://schemas.openxmlformats.org/officeDocument/2006/relationships/image" Target="../media/image84.wmf"/><Relationship Id="rId6" Type="http://schemas.openxmlformats.org/officeDocument/2006/relationships/slideLayout" Target="../slideLayouts/slideLayout1.xml"/><Relationship Id="rId7"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85.wmf"/><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86.wmf"/><Relationship Id="rId2" Type="http://schemas.openxmlformats.org/officeDocument/2006/relationships/image" Target="../media/image87.wmf"/><Relationship Id="rId3" Type="http://schemas.openxmlformats.org/officeDocument/2006/relationships/image" Target="../media/image88.wmf"/><Relationship Id="rId4" Type="http://schemas.openxmlformats.org/officeDocument/2006/relationships/image" Target="../media/image89.png"/><Relationship Id="rId5" Type="http://schemas.openxmlformats.org/officeDocument/2006/relationships/slideLayout" Target="../slideLayouts/slideLayout1.xml"/><Relationship Id="rId6"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90.wmf"/><Relationship Id="rId2" Type="http://schemas.openxmlformats.org/officeDocument/2006/relationships/image" Target="../media/image91.wmf"/><Relationship Id="rId3" Type="http://schemas.openxmlformats.org/officeDocument/2006/relationships/image" Target="../media/image92.wmf"/><Relationship Id="rId4" Type="http://schemas.openxmlformats.org/officeDocument/2006/relationships/slideLayout" Target="../slideLayouts/slideLayout1.xml"/><Relationship Id="rId5"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93.png"/><Relationship Id="rId2" Type="http://schemas.openxmlformats.org/officeDocument/2006/relationships/image" Target="../media/image94.wmf"/><Relationship Id="rId3" Type="http://schemas.openxmlformats.org/officeDocument/2006/relationships/slideLayout" Target="../slideLayouts/slideLayout1.xml"/><Relationship Id="rId4"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95.wmf"/><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96.wmf"/><Relationship Id="rId2" Type="http://schemas.openxmlformats.org/officeDocument/2006/relationships/image" Target="../media/image97.wmf"/><Relationship Id="rId3" Type="http://schemas.openxmlformats.org/officeDocument/2006/relationships/image" Target="../media/image98.wmf"/><Relationship Id="rId4" Type="http://schemas.openxmlformats.org/officeDocument/2006/relationships/slideLayout" Target="../slideLayouts/slideLayout1.xml"/><Relationship Id="rId5"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99.png"/><Relationship Id="rId2" Type="http://schemas.openxmlformats.org/officeDocument/2006/relationships/image" Target="../media/image100.wmf"/><Relationship Id="rId3" Type="http://schemas.openxmlformats.org/officeDocument/2006/relationships/image" Target="../media/image101.wmf"/><Relationship Id="rId4" Type="http://schemas.openxmlformats.org/officeDocument/2006/relationships/slideLayout" Target="../slideLayouts/slideLayout1.xml"/><Relationship Id="rId5"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102.png"/><Relationship Id="rId2" Type="http://schemas.openxmlformats.org/officeDocument/2006/relationships/image" Target="../media/image103.wmf"/><Relationship Id="rId3" Type="http://schemas.openxmlformats.org/officeDocument/2006/relationships/image" Target="../media/image104.wmf"/><Relationship Id="rId4" Type="http://schemas.openxmlformats.org/officeDocument/2006/relationships/image" Target="../media/image105.png"/><Relationship Id="rId5" Type="http://schemas.openxmlformats.org/officeDocument/2006/relationships/slideLayout" Target="../slideLayouts/slideLayout1.xml"/><Relationship Id="rId6"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106.wmf"/><Relationship Id="rId2" Type="http://schemas.openxmlformats.org/officeDocument/2006/relationships/image" Target="../media/image107.wmf"/><Relationship Id="rId3" Type="http://schemas.openxmlformats.org/officeDocument/2006/relationships/image" Target="../media/image108.wmf"/><Relationship Id="rId4" Type="http://schemas.openxmlformats.org/officeDocument/2006/relationships/slideLayout" Target="../slideLayouts/slideLayout1.xml"/><Relationship Id="rId5"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109.wmf"/><Relationship Id="rId2" Type="http://schemas.openxmlformats.org/officeDocument/2006/relationships/image" Target="../media/image78.png"/><Relationship Id="rId3" Type="http://schemas.openxmlformats.org/officeDocument/2006/relationships/image" Target="../media/image79.wmf"/><Relationship Id="rId4" Type="http://schemas.openxmlformats.org/officeDocument/2006/relationships/slideLayout" Target="../slideLayouts/slideLayout1.xml"/><Relationship Id="rId5"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110.wmf"/><Relationship Id="rId2" Type="http://schemas.openxmlformats.org/officeDocument/2006/relationships/image" Target="../media/image111.wmf"/><Relationship Id="rId3" Type="http://schemas.openxmlformats.org/officeDocument/2006/relationships/image" Target="../media/image112.wmf"/><Relationship Id="rId4" Type="http://schemas.openxmlformats.org/officeDocument/2006/relationships/slideLayout" Target="../slideLayouts/slideLayout1.xml"/><Relationship Id="rId5"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113.wmf"/><Relationship Id="rId2" Type="http://schemas.openxmlformats.org/officeDocument/2006/relationships/slideLayout" Target="../slideLayouts/slideLayout1.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114.wmf"/><Relationship Id="rId2" Type="http://schemas.openxmlformats.org/officeDocument/2006/relationships/image" Target="../media/image109.wmf"/><Relationship Id="rId3" Type="http://schemas.openxmlformats.org/officeDocument/2006/relationships/slideLayout" Target="../slideLayouts/slideLayout1.xml"/><Relationship Id="rId4"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115.wmf"/><Relationship Id="rId2" Type="http://schemas.openxmlformats.org/officeDocument/2006/relationships/slideLayout" Target="../slideLayouts/slideLayout1.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116.wmf"/><Relationship Id="rId2" Type="http://schemas.openxmlformats.org/officeDocument/2006/relationships/image" Target="../media/image117.wmf"/><Relationship Id="rId3" Type="http://schemas.openxmlformats.org/officeDocument/2006/relationships/image" Target="../media/image118.wmf"/><Relationship Id="rId4" Type="http://schemas.openxmlformats.org/officeDocument/2006/relationships/slideLayout" Target="../slideLayouts/slideLayout1.xml"/><Relationship Id="rId5"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Rectangle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6A40465-41D5-4A9E-A101-03E5794E2DFA}"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4" name="Rectangle 5"/>
          <p:cNvSpPr/>
          <p:nvPr/>
        </p:nvSpPr>
        <p:spPr>
          <a:xfrm>
            <a:off x="2771640" y="6243480"/>
            <a:ext cx="360072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 name="Rectangle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EE704E-C925-40C2-A469-2BCD2DBC0C7E}"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6" name="PlaceHolder 1"/>
          <p:cNvSpPr>
            <a:spLocks noGrp="1"/>
          </p:cNvSpPr>
          <p:nvPr>
            <p:ph type="title"/>
          </p:nvPr>
        </p:nvSpPr>
        <p:spPr>
          <a:xfrm>
            <a:off x="755640" y="1341000"/>
            <a:ext cx="7694640" cy="2592360"/>
          </a:xfrm>
          <a:prstGeom prst="rect">
            <a:avLst/>
          </a:prstGeom>
          <a:noFill/>
          <a:ln w="0">
            <a:noFill/>
          </a:ln>
        </p:spPr>
        <p:txBody>
          <a:bodyPr lIns="91440" rIns="91440" tIns="45720" bIns="45720" anchor="t">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600" spc="-1" strike="noStrike">
                <a:solidFill>
                  <a:srgbClr val="006633"/>
                </a:solidFill>
                <a:latin typeface="Tahoma"/>
              </a:rPr>
              <a:t>Rigid-Body Dynamics of Marine Structures</a:t>
            </a:r>
            <a:br>
              <a:rPr sz="3400"/>
            </a:br>
            <a:br>
              <a:rPr sz="3400"/>
            </a:br>
            <a:r>
              <a:rPr b="0" lang="en-AU" sz="3400" spc="-1" strike="noStrike">
                <a:solidFill>
                  <a:srgbClr val="006633"/>
                </a:solidFill>
                <a:latin typeface="Tahoma"/>
              </a:rPr>
              <a:t>(Module 3)</a:t>
            </a:r>
            <a:endParaRPr b="0" lang="en-US" sz="3400" spc="-1" strike="noStrike">
              <a:solidFill>
                <a:srgbClr val="006633"/>
              </a:solidFill>
              <a:latin typeface="Tahoma"/>
            </a:endParaRPr>
          </a:p>
        </p:txBody>
      </p:sp>
      <p:pic>
        <p:nvPicPr>
          <p:cNvPr id="27" name="Picture 5" descr=""/>
          <p:cNvPicPr/>
          <p:nvPr/>
        </p:nvPicPr>
        <p:blipFill>
          <a:blip r:embed="rId1"/>
          <a:stretch/>
        </p:blipFill>
        <p:spPr>
          <a:xfrm>
            <a:off x="1835280" y="5300640"/>
            <a:ext cx="2320920" cy="890640"/>
          </a:xfrm>
          <a:prstGeom prst="rect">
            <a:avLst/>
          </a:prstGeom>
          <a:ln w="0">
            <a:noFill/>
          </a:ln>
        </p:spPr>
      </p:pic>
      <p:sp>
        <p:nvSpPr>
          <p:cNvPr id="28" name="Rectangle 7"/>
          <p:cNvSpPr/>
          <p:nvPr/>
        </p:nvSpPr>
        <p:spPr>
          <a:xfrm>
            <a:off x="1403280" y="4005360"/>
            <a:ext cx="324180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Dr Tristan Perez </a:t>
            </a:r>
            <a:r>
              <a:rPr b="0" lang="en-AU" sz="2800" spc="-1" strike="noStrike">
                <a:solidFill>
                  <a:srgbClr val="000000"/>
                </a:solidFill>
                <a:latin typeface="Arial"/>
              </a:rPr>
              <a:t>	</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Centre for Complex Dynamic Systems and Control (CDSC)</a:t>
            </a:r>
            <a:endParaRPr b="0" lang="en-US" sz="1800" spc="-1" strike="noStrike">
              <a:solidFill>
                <a:srgbClr val="000000"/>
              </a:solidFill>
              <a:latin typeface="Arial"/>
            </a:endParaRPr>
          </a:p>
        </p:txBody>
      </p:sp>
      <p:sp>
        <p:nvSpPr>
          <p:cNvPr id="29" name="Rectangle 11"/>
          <p:cNvSpPr/>
          <p:nvPr/>
        </p:nvSpPr>
        <p:spPr>
          <a:xfrm>
            <a:off x="4932360" y="4005360"/>
            <a:ext cx="374508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Prof. Thor I Fossen</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Department of Engineering Cybernetics</a:t>
            </a:r>
            <a:endParaRPr b="0" lang="en-US" sz="1800" spc="-1" strike="noStrike">
              <a:solidFill>
                <a:srgbClr val="000000"/>
              </a:solidFill>
              <a:latin typeface="Arial"/>
            </a:endParaRPr>
          </a:p>
        </p:txBody>
      </p:sp>
      <p:pic>
        <p:nvPicPr>
          <p:cNvPr id="30" name="Picture 12" descr=""/>
          <p:cNvPicPr/>
          <p:nvPr/>
        </p:nvPicPr>
        <p:blipFill>
          <a:blip r:embed="rId2"/>
          <a:stretch/>
        </p:blipFill>
        <p:spPr>
          <a:xfrm>
            <a:off x="5651640" y="5445000"/>
            <a:ext cx="2436840" cy="7095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Rectangle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4A1BF80-A8D7-4B56-B634-6C47176FAAF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2" name="Rectangle 5"/>
          <p:cNvSpPr/>
          <p:nvPr/>
        </p:nvSpPr>
        <p:spPr>
          <a:xfrm>
            <a:off x="2771640" y="6243480"/>
            <a:ext cx="360072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3" name="Rectangle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F7D9D8-E032-48A2-8117-8514B1C0CF9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4" name="PlaceHolder 1"/>
          <p:cNvSpPr>
            <a:spLocks noGrp="1"/>
          </p:cNvSpPr>
          <p:nvPr>
            <p:ph type="title"/>
          </p:nvPr>
        </p:nvSpPr>
        <p:spPr>
          <a:xfrm>
            <a:off x="914040" y="1523520"/>
            <a:ext cx="7623000" cy="175284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5000" spc="-1" strike="noStrike">
                <a:solidFill>
                  <a:srgbClr val="006633"/>
                </a:solidFill>
                <a:latin typeface="Tahoma"/>
              </a:rPr>
              <a:t>Kinematics</a:t>
            </a:r>
            <a:endParaRPr b="0" lang="en-US" sz="5000" spc="-1" strike="noStrike">
              <a:solidFill>
                <a:srgbClr val="006633"/>
              </a:solidFill>
              <a:latin typeface="Tahoma"/>
            </a:endParaRPr>
          </a:p>
        </p:txBody>
      </p:sp>
      <p:sp>
        <p:nvSpPr>
          <p:cNvPr id="35" name="PlaceHolder 2"/>
          <p:cNvSpPr>
            <a:spLocks noGrp="1"/>
          </p:cNvSpPr>
          <p:nvPr>
            <p:ph type="subTitle"/>
          </p:nvPr>
        </p:nvSpPr>
        <p:spPr>
          <a:xfrm>
            <a:off x="1981080" y="3962520"/>
            <a:ext cx="6553440" cy="1752480"/>
          </a:xfrm>
          <a:prstGeom prst="rect">
            <a:avLst/>
          </a:prstGeom>
          <a:noFill/>
          <a:ln w="0">
            <a:noFill/>
          </a:ln>
        </p:spPr>
        <p:txBody>
          <a:bodyPr lIns="91440" rIns="91440" tIns="45720" bIns="45720" anchor="t">
            <a:noAutofit/>
          </a:bodyPr>
          <a:p>
            <a:pPr indent="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Description of geometrical aspects of motion without regard to the forces that create the motion.</a:t>
            </a:r>
            <a:endParaRPr b="0" lang="en-US" sz="3000" spc="-1" strike="noStrike">
              <a:solidFill>
                <a:srgbClr val="000000"/>
              </a:solidFill>
              <a:latin typeface="Arial"/>
            </a:endParaRPr>
          </a:p>
          <a:p>
            <a:pPr indent="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8FF748-C0FA-47C4-BAF5-20A2B946B786}"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7"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8"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FB04978-5C0F-4850-8ECF-25AD066796B6}"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Ship Motion description</a:t>
            </a:r>
            <a:endParaRPr b="0" lang="en-US" sz="4200" spc="-1" strike="noStrike">
              <a:solidFill>
                <a:srgbClr val="006633"/>
              </a:solidFill>
              <a:latin typeface="Tahoma"/>
            </a:endParaRPr>
          </a:p>
        </p:txBody>
      </p:sp>
      <p:sp>
        <p:nvSpPr>
          <p:cNvPr id="40" name="PlaceHolder 2"/>
          <p:cNvSpPr>
            <a:spLocks noGrp="1"/>
          </p:cNvSpPr>
          <p:nvPr>
            <p:ph/>
          </p:nvPr>
        </p:nvSpPr>
        <p:spPr>
          <a:xfrm>
            <a:off x="395280" y="1125360"/>
            <a:ext cx="8229600" cy="154152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To describe the ship motion the following coordinate systems are used:</a:t>
            </a:r>
            <a:endParaRPr b="0" lang="en-US" sz="3000" spc="-1" strike="noStrike">
              <a:solidFill>
                <a:srgbClr val="000000"/>
              </a:solidFill>
              <a:latin typeface="Arial"/>
            </a:endParaRPr>
          </a:p>
        </p:txBody>
      </p:sp>
      <p:pic>
        <p:nvPicPr>
          <p:cNvPr id="41" name="Picture 4" descr=""/>
          <p:cNvPicPr/>
          <p:nvPr/>
        </p:nvPicPr>
        <p:blipFill>
          <a:blip r:embed="rId1"/>
          <a:stretch/>
        </p:blipFill>
        <p:spPr>
          <a:xfrm>
            <a:off x="324000" y="2421000"/>
            <a:ext cx="2808000" cy="1328760"/>
          </a:xfrm>
          <a:prstGeom prst="rect">
            <a:avLst/>
          </a:prstGeom>
          <a:ln w="0">
            <a:noFill/>
          </a:ln>
        </p:spPr>
      </p:pic>
      <p:pic>
        <p:nvPicPr>
          <p:cNvPr id="42" name="Picture 5" descr=""/>
          <p:cNvPicPr/>
          <p:nvPr/>
        </p:nvPicPr>
        <p:blipFill>
          <a:blip r:embed="rId2"/>
          <a:stretch/>
        </p:blipFill>
        <p:spPr>
          <a:xfrm>
            <a:off x="2987640" y="2060640"/>
            <a:ext cx="5884920" cy="38988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1C21C8E-6832-473E-AD7A-199ACEB2886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4"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5"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6E34CDB-59E9-45F3-92A3-9A3F262F60D4}"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Vector notation</a:t>
            </a:r>
            <a:endParaRPr b="0" lang="en-US" sz="4200" spc="-1" strike="noStrike">
              <a:solidFill>
                <a:srgbClr val="006633"/>
              </a:solidFill>
              <a:latin typeface="Tahoma"/>
            </a:endParaRPr>
          </a:p>
        </p:txBody>
      </p:sp>
      <p:sp>
        <p:nvSpPr>
          <p:cNvPr id="47" name="PlaceHolder 2"/>
          <p:cNvSpPr>
            <a:spLocks noGrp="1"/>
          </p:cNvSpPr>
          <p:nvPr>
            <p:ph/>
          </p:nvPr>
        </p:nvSpPr>
        <p:spPr>
          <a:xfrm>
            <a:off x="468000" y="1125360"/>
            <a:ext cx="8147160" cy="965520"/>
          </a:xfrm>
          <a:prstGeom prst="rect">
            <a:avLst/>
          </a:prstGeom>
          <a:noFill/>
          <a:ln w="0">
            <a:noFill/>
          </a:ln>
        </p:spPr>
        <p:txBody>
          <a:bodyPr lIns="91440" rIns="91440" tIns="45720" bIns="45720" anchor="t">
            <a:normAutofit/>
          </a:bodyPr>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The vectors defined as directed line segments (</a:t>
            </a:r>
            <a:r>
              <a:rPr b="0" lang="en-AU" sz="2200" spc="-1" strike="noStrike">
                <a:solidFill>
                  <a:srgbClr val="996600"/>
                </a:solidFill>
                <a:latin typeface="Arial"/>
              </a:rPr>
              <a:t>coordinate free representation</a:t>
            </a:r>
            <a:r>
              <a:rPr b="0" lang="en-AU" sz="2200" spc="-1" strike="noStrike">
                <a:solidFill>
                  <a:srgbClr val="000000"/>
                </a:solidFill>
                <a:latin typeface="Arial"/>
              </a:rPr>
              <a:t>) belong a to a three-dimensional space:</a:t>
            </a:r>
            <a:endParaRPr b="0" lang="en-US" sz="2200" spc="-1" strike="noStrike">
              <a:solidFill>
                <a:srgbClr val="000000"/>
              </a:solidFill>
              <a:latin typeface="Arial"/>
            </a:endParaRPr>
          </a:p>
        </p:txBody>
      </p:sp>
      <p:sp>
        <p:nvSpPr>
          <p:cNvPr id="48" name="Rectangle 19"/>
          <p:cNvSpPr/>
          <p:nvPr/>
        </p:nvSpPr>
        <p:spPr>
          <a:xfrm>
            <a:off x="395280" y="3213000"/>
            <a:ext cx="8137440" cy="129708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Alternatively consider the </a:t>
            </a:r>
            <a:r>
              <a:rPr b="0" lang="en-AU" sz="2200" spc="-1" strike="noStrike">
                <a:solidFill>
                  <a:srgbClr val="996600"/>
                </a:solidFill>
                <a:latin typeface="Arial"/>
              </a:rPr>
              <a:t>coordinate vector</a:t>
            </a:r>
            <a:r>
              <a:rPr b="0" lang="en-AU" sz="2200" spc="-1" strike="noStrike">
                <a:solidFill>
                  <a:srgbClr val="000000"/>
                </a:solidFill>
                <a:latin typeface="Arial"/>
              </a:rPr>
              <a:t> representation in a given coordinate system as a 3x1 matrix:</a:t>
            </a:r>
            <a:endParaRPr b="0" lang="en-US" sz="2200" spc="-1" strike="noStrike">
              <a:solidFill>
                <a:srgbClr val="000000"/>
              </a:solidFill>
              <a:latin typeface="Arial"/>
            </a:endParaRPr>
          </a:p>
        </p:txBody>
      </p:sp>
      <p:pic>
        <p:nvPicPr>
          <p:cNvPr id="49" name="Picture 20" descr=""/>
          <p:cNvPicPr/>
          <p:nvPr/>
        </p:nvPicPr>
        <p:blipFill>
          <a:blip r:embed="rId1"/>
          <a:stretch/>
        </p:blipFill>
        <p:spPr>
          <a:xfrm>
            <a:off x="2556000" y="3933720"/>
            <a:ext cx="3641760" cy="1266840"/>
          </a:xfrm>
          <a:prstGeom prst="rect">
            <a:avLst/>
          </a:prstGeom>
          <a:ln w="0">
            <a:noFill/>
          </a:ln>
        </p:spPr>
      </p:pic>
      <p:sp>
        <p:nvSpPr>
          <p:cNvPr id="50" name="Rectangle 21"/>
          <p:cNvSpPr/>
          <p:nvPr/>
        </p:nvSpPr>
        <p:spPr>
          <a:xfrm>
            <a:off x="898560" y="5157720"/>
            <a:ext cx="7561080" cy="3376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600" spc="-1" strike="noStrike">
                <a:solidFill>
                  <a:srgbClr val="996600"/>
                </a:solidFill>
                <a:latin typeface="Arial"/>
              </a:rPr>
              <a:t>Coordinate vectors are always given relative to a basis (coordinate system)</a:t>
            </a:r>
            <a:endParaRPr b="0" lang="en-US" sz="1600" spc="-1" strike="noStrike">
              <a:solidFill>
                <a:srgbClr val="000000"/>
              </a:solidFill>
              <a:latin typeface="Arial"/>
            </a:endParaRPr>
          </a:p>
        </p:txBody>
      </p:sp>
      <p:sp>
        <p:nvSpPr>
          <p:cNvPr id="51" name="Line 22"/>
          <p:cNvSpPr/>
          <p:nvPr/>
        </p:nvSpPr>
        <p:spPr>
          <a:xfrm flipH="1" flipV="1">
            <a:off x="2987280" y="4797000"/>
            <a:ext cx="142920" cy="360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mc:AlternateContent>
        <mc:Choice xmlns:a14="http://schemas.microsoft.com/office/drawing/2010/main" Requires="a14">
          <p:sp>
            <p:nvSpPr>
              <p:cNvPr id="52" name="Object 24"/>
              <p:cNvSpPr txBox="1"/>
              <p:nvPr/>
            </p:nvSpPr>
            <p:spPr>
              <a:xfrm>
                <a:off x="1417680" y="1916280"/>
                <a:ext cx="5937120" cy="517320"/>
              </a:xfrm>
              <a:prstGeom prst="rect">
                <a:avLst/>
              </a:prstGeom>
            </p:spPr>
            <p:txBody>
              <a:bodyPr/>
              <a:p>
                <a14:m>
                  <m:oMath xmlns:m="http://schemas.openxmlformats.org/officeDocument/2006/math">
                    <m:acc>
                      <m:accPr>
                        <m:chr m:val="⃗"/>
                      </m:accPr>
                      <m:e>
                        <m:r>
                          <m:t xml:space="preserve">u</m:t>
                        </m:r>
                      </m:e>
                    </m:acc>
                    <m:r>
                      <m:t xml:space="preserve">=</m:t>
                    </m:r>
                    <m:sSubSup>
                      <m:e>
                        <m:r>
                          <m:t xml:space="preserve">u</m:t>
                        </m:r>
                      </m:e>
                      <m:sub>
                        <m:r>
                          <m:t xml:space="preserve">1</m:t>
                        </m:r>
                      </m:sub>
                      <m:sup>
                        <m:r>
                          <m:t xml:space="preserve">a</m:t>
                        </m:r>
                      </m:sup>
                    </m:sSubSup>
                    <m:r>
                      <m:t xml:space="preserve"> </m:t>
                    </m:r>
                    <m:sSub>
                      <m:e>
                        <m:acc>
                          <m:accPr>
                            <m:chr m:val="⃗"/>
                          </m:accPr>
                          <m:e>
                            <m:r>
                              <m:t xml:space="preserve">a</m:t>
                            </m:r>
                          </m:e>
                        </m:acc>
                      </m:e>
                      <m:sub>
                        <m:r>
                          <m:t xml:space="preserve">1</m:t>
                        </m:r>
                      </m:sub>
                    </m:sSub>
                    <m:r>
                      <m:t xml:space="preserve">+</m:t>
                    </m:r>
                    <m:sSubSup>
                      <m:e>
                        <m:r>
                          <m:t xml:space="preserve">u</m:t>
                        </m:r>
                      </m:e>
                      <m:sub>
                        <m:r>
                          <m:t xml:space="preserve">2</m:t>
                        </m:r>
                      </m:sub>
                      <m:sup>
                        <m:r>
                          <m:t xml:space="preserve">a</m:t>
                        </m:r>
                      </m:sup>
                    </m:sSubSup>
                    <m:r>
                      <m:t xml:space="preserve"> </m:t>
                    </m:r>
                    <m:sSub>
                      <m:e>
                        <m:acc>
                          <m:accPr>
                            <m:chr m:val="⃗"/>
                          </m:accPr>
                          <m:e>
                            <m:r>
                              <m:t xml:space="preserve">a</m:t>
                            </m:r>
                          </m:e>
                        </m:acc>
                      </m:e>
                      <m:sub>
                        <m:r>
                          <m:t xml:space="preserve">2</m:t>
                        </m:r>
                      </m:sub>
                    </m:sSub>
                    <m:r>
                      <m:t xml:space="preserve">+</m:t>
                    </m:r>
                    <m:sSubSup>
                      <m:e>
                        <m:r>
                          <m:t xml:space="preserve">u</m:t>
                        </m:r>
                      </m:e>
                      <m:sub>
                        <m:r>
                          <m:t xml:space="preserve">2</m:t>
                        </m:r>
                      </m:sub>
                      <m:sup>
                        <m:r>
                          <m:t xml:space="preserve">a</m:t>
                        </m:r>
                      </m:sup>
                    </m:sSubSup>
                    <m:r>
                      <m:t xml:space="preserve"> </m:t>
                    </m:r>
                    <m:sSub>
                      <m:e>
                        <m:acc>
                          <m:accPr>
                            <m:chr m:val="⃗"/>
                          </m:accPr>
                          <m:e>
                            <m:r>
                              <m:t xml:space="preserve">a</m:t>
                            </m:r>
                          </m:e>
                        </m:acc>
                      </m:e>
                      <m:sub>
                        <m:r>
                          <m:t xml:space="preserve">2</m:t>
                        </m:r>
                      </m:sub>
                    </m:sSub>
                    <m:r>
                      <m:t xml:space="preserve">=</m:t>
                    </m:r>
                    <m:sSubSup>
                      <m:e>
                        <m:r>
                          <m:t xml:space="preserve">u</m:t>
                        </m:r>
                      </m:e>
                      <m:sub>
                        <m:r>
                          <m:t xml:space="preserve">1</m:t>
                        </m:r>
                      </m:sub>
                      <m:sup>
                        <m:r>
                          <m:t xml:space="preserve">b</m:t>
                        </m:r>
                      </m:sup>
                    </m:sSubSup>
                    <m:r>
                      <m:t xml:space="preserve"> </m:t>
                    </m:r>
                    <m:sSub>
                      <m:e>
                        <m:acc>
                          <m:accPr>
                            <m:chr m:val="⃗"/>
                          </m:accPr>
                          <m:e>
                            <m:r>
                              <m:t xml:space="preserve">b</m:t>
                            </m:r>
                          </m:e>
                        </m:acc>
                      </m:e>
                      <m:sub>
                        <m:r>
                          <m:t xml:space="preserve">1</m:t>
                        </m:r>
                      </m:sub>
                    </m:sSub>
                    <m:r>
                      <m:t xml:space="preserve">+</m:t>
                    </m:r>
                    <m:sSubSup>
                      <m:e>
                        <m:r>
                          <m:t xml:space="preserve">u</m:t>
                        </m:r>
                      </m:e>
                      <m:sub>
                        <m:r>
                          <m:t xml:space="preserve">2</m:t>
                        </m:r>
                      </m:sub>
                      <m:sup>
                        <m:r>
                          <m:t xml:space="preserve">b</m:t>
                        </m:r>
                      </m:sup>
                    </m:sSubSup>
                    <m:r>
                      <m:t xml:space="preserve"> </m:t>
                    </m:r>
                    <m:sSub>
                      <m:e>
                        <m:acc>
                          <m:accPr>
                            <m:chr m:val="⃗"/>
                          </m:accPr>
                          <m:e>
                            <m:r>
                              <m:t xml:space="preserve">b</m:t>
                            </m:r>
                          </m:e>
                        </m:acc>
                      </m:e>
                      <m:sub>
                        <m:r>
                          <m:t xml:space="preserve">2</m:t>
                        </m:r>
                      </m:sub>
                    </m:sSub>
                    <m:r>
                      <m:t xml:space="preserve">+</m:t>
                    </m:r>
                    <m:sSubSup>
                      <m:e>
                        <m:r>
                          <m:t xml:space="preserve">u</m:t>
                        </m:r>
                      </m:e>
                      <m:sub>
                        <m:r>
                          <m:t xml:space="preserve">2</m:t>
                        </m:r>
                      </m:sub>
                      <m:sup>
                        <m:r>
                          <m:t xml:space="preserve">b</m:t>
                        </m:r>
                      </m:sup>
                    </m:sSubSup>
                    <m:r>
                      <m:t xml:space="preserve"> </m:t>
                    </m:r>
                    <m:sSub>
                      <m:e>
                        <m:acc>
                          <m:accPr>
                            <m:chr m:val="⃗"/>
                          </m:accPr>
                          <m:e>
                            <m:r>
                              <m:t xml:space="preserve">b</m:t>
                            </m:r>
                          </m:e>
                        </m:acc>
                      </m:e>
                      <m:sub>
                        <m:r>
                          <m:t xml:space="preserve">2</m:t>
                        </m:r>
                      </m:sub>
                    </m:sSub>
                  </m:oMath>
                </a14:m>
              </a:p>
            </p:txBody>
          </p:sp>
        </mc:Choice>
        <mc:Fallback/>
      </mc:AlternateContent>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66754CF-D35A-45C9-ABCE-6D35D21F397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0A17751-9239-4D54-91AD-F0DEE24F3F16}"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Dot and Cross products</a:t>
            </a:r>
            <a:endParaRPr b="0" lang="en-US" sz="4200" spc="-1" strike="noStrike">
              <a:solidFill>
                <a:srgbClr val="006633"/>
              </a:solidFill>
              <a:latin typeface="Tahoma"/>
            </a:endParaRPr>
          </a:p>
        </p:txBody>
      </p:sp>
      <p:pic>
        <p:nvPicPr>
          <p:cNvPr id="57" name="Picture 4" descr=""/>
          <p:cNvPicPr/>
          <p:nvPr/>
        </p:nvPicPr>
        <p:blipFill>
          <a:blip r:embed="rId1"/>
          <a:stretch/>
        </p:blipFill>
        <p:spPr>
          <a:xfrm>
            <a:off x="2411280" y="1268280"/>
            <a:ext cx="3894120" cy="1152720"/>
          </a:xfrm>
          <a:prstGeom prst="rect">
            <a:avLst/>
          </a:prstGeom>
          <a:ln w="0">
            <a:noFill/>
          </a:ln>
        </p:spPr>
      </p:pic>
      <p:pic>
        <p:nvPicPr>
          <p:cNvPr id="58" name="Picture 5" descr=""/>
          <p:cNvPicPr/>
          <p:nvPr/>
        </p:nvPicPr>
        <p:blipFill>
          <a:blip r:embed="rId2"/>
          <a:stretch/>
        </p:blipFill>
        <p:spPr>
          <a:xfrm>
            <a:off x="2484360" y="2708280"/>
            <a:ext cx="3648240" cy="701640"/>
          </a:xfrm>
          <a:prstGeom prst="rect">
            <a:avLst/>
          </a:prstGeom>
          <a:ln w="0">
            <a:noFill/>
          </a:ln>
        </p:spPr>
      </p:pic>
      <p:pic>
        <p:nvPicPr>
          <p:cNvPr id="59" name="Picture 6" descr=""/>
          <p:cNvPicPr/>
          <p:nvPr/>
        </p:nvPicPr>
        <p:blipFill>
          <a:blip r:embed="rId3"/>
          <a:stretch/>
        </p:blipFill>
        <p:spPr>
          <a:xfrm>
            <a:off x="1332000" y="4221000"/>
            <a:ext cx="2950920" cy="1046160"/>
          </a:xfrm>
          <a:prstGeom prst="rect">
            <a:avLst/>
          </a:prstGeom>
          <a:ln w="0">
            <a:noFill/>
          </a:ln>
        </p:spPr>
      </p:pic>
      <p:pic>
        <p:nvPicPr>
          <p:cNvPr id="60" name="Picture 7" descr=""/>
          <p:cNvPicPr/>
          <p:nvPr/>
        </p:nvPicPr>
        <p:blipFill>
          <a:blip r:embed="rId4"/>
          <a:stretch/>
        </p:blipFill>
        <p:spPr>
          <a:xfrm>
            <a:off x="5292720" y="4437000"/>
            <a:ext cx="2592360" cy="555840"/>
          </a:xfrm>
          <a:prstGeom prst="rect">
            <a:avLst/>
          </a:prstGeom>
          <a:ln w="0">
            <a:noFill/>
          </a:ln>
        </p:spPr>
      </p:pic>
      <p:pic>
        <p:nvPicPr>
          <p:cNvPr id="61" name="Picture 8" descr=""/>
          <p:cNvPicPr/>
          <p:nvPr/>
        </p:nvPicPr>
        <p:blipFill>
          <a:blip r:embed="rId5"/>
          <a:stretch/>
        </p:blipFill>
        <p:spPr>
          <a:xfrm>
            <a:off x="1187280" y="5516640"/>
            <a:ext cx="6429600" cy="476280"/>
          </a:xfrm>
          <a:prstGeom prst="rect">
            <a:avLst/>
          </a:prstGeom>
          <a:ln w="0">
            <a:noFill/>
          </a:ln>
        </p:spPr>
      </p:pic>
      <p:sp>
        <p:nvSpPr>
          <p:cNvPr id="62" name="Rectangle 9"/>
          <p:cNvSpPr/>
          <p:nvPr/>
        </p:nvSpPr>
        <p:spPr>
          <a:xfrm>
            <a:off x="541080" y="1557360"/>
            <a:ext cx="14259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Dot product:</a:t>
            </a:r>
            <a:endParaRPr b="0" lang="en-US" sz="1800" spc="-1" strike="noStrike">
              <a:solidFill>
                <a:srgbClr val="000000"/>
              </a:solidFill>
              <a:latin typeface="Arial"/>
            </a:endParaRPr>
          </a:p>
        </p:txBody>
      </p:sp>
      <p:sp>
        <p:nvSpPr>
          <p:cNvPr id="63" name="Rectangle 10"/>
          <p:cNvSpPr/>
          <p:nvPr/>
        </p:nvSpPr>
        <p:spPr>
          <a:xfrm>
            <a:off x="469800" y="2924280"/>
            <a:ext cx="16668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Cross product:</a:t>
            </a:r>
            <a:endParaRPr b="0" lang="en-US" sz="1800" spc="-1" strike="noStrike">
              <a:solidFill>
                <a:srgbClr val="000000"/>
              </a:solidFill>
              <a:latin typeface="Arial"/>
            </a:endParaRPr>
          </a:p>
        </p:txBody>
      </p:sp>
      <p:sp>
        <p:nvSpPr>
          <p:cNvPr id="64" name="Rectangle 11"/>
          <p:cNvSpPr/>
          <p:nvPr/>
        </p:nvSpPr>
        <p:spPr>
          <a:xfrm>
            <a:off x="396720" y="3789360"/>
            <a:ext cx="470232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Skew-symmetric form of a coordinate vector: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3C9E7D6-9B21-438B-96EA-6709E25B94B6}"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6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6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340B84-1DE4-496A-8A57-5226A135EA6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pic>
        <p:nvPicPr>
          <p:cNvPr id="68" name="Picture 11" descr=""/>
          <p:cNvPicPr/>
          <p:nvPr/>
        </p:nvPicPr>
        <p:blipFill>
          <a:blip r:embed="rId1"/>
          <a:stretch/>
        </p:blipFill>
        <p:spPr>
          <a:xfrm>
            <a:off x="468360" y="1052640"/>
            <a:ext cx="8163000" cy="2803320"/>
          </a:xfrm>
          <a:prstGeom prst="rect">
            <a:avLst/>
          </a:prstGeom>
          <a:ln w="0">
            <a:noFill/>
          </a:ln>
        </p:spPr>
      </p:pic>
      <p:sp>
        <p:nvSpPr>
          <p:cNvPr id="6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Rotation Matrices</a:t>
            </a:r>
            <a:endParaRPr b="0" lang="en-US" sz="4200" spc="-1" strike="noStrike">
              <a:solidFill>
                <a:srgbClr val="006633"/>
              </a:solidFill>
              <a:latin typeface="Tahoma"/>
            </a:endParaRPr>
          </a:p>
        </p:txBody>
      </p:sp>
      <p:pic>
        <p:nvPicPr>
          <p:cNvPr id="70" name="Picture 10" descr=""/>
          <p:cNvPicPr/>
          <p:nvPr/>
        </p:nvPicPr>
        <p:blipFill>
          <a:blip r:embed="rId2"/>
          <a:stretch/>
        </p:blipFill>
        <p:spPr>
          <a:xfrm>
            <a:off x="7956720" y="3213000"/>
            <a:ext cx="760320" cy="457200"/>
          </a:xfrm>
          <a:prstGeom prst="rect">
            <a:avLst/>
          </a:prstGeom>
          <a:ln w="0">
            <a:noFill/>
          </a:ln>
        </p:spPr>
      </p:pic>
      <p:pic>
        <p:nvPicPr>
          <p:cNvPr id="71" name="Picture 12" descr=""/>
          <p:cNvPicPr/>
          <p:nvPr/>
        </p:nvPicPr>
        <p:blipFill>
          <a:blip r:embed="rId3"/>
          <a:stretch/>
        </p:blipFill>
        <p:spPr>
          <a:xfrm>
            <a:off x="3059280" y="5013360"/>
            <a:ext cx="2963520" cy="666720"/>
          </a:xfrm>
          <a:prstGeom prst="rect">
            <a:avLst/>
          </a:prstGeom>
          <a:ln w="0">
            <a:noFill/>
          </a:ln>
        </p:spPr>
      </p:pic>
      <p:pic>
        <p:nvPicPr>
          <p:cNvPr id="72" name="Picture 13" descr=""/>
          <p:cNvPicPr/>
          <p:nvPr/>
        </p:nvPicPr>
        <p:blipFill>
          <a:blip r:embed="rId4"/>
          <a:stretch/>
        </p:blipFill>
        <p:spPr>
          <a:xfrm>
            <a:off x="2556000" y="4076640"/>
            <a:ext cx="5686200" cy="655560"/>
          </a:xfrm>
          <a:prstGeom prst="rect">
            <a:avLst/>
          </a:prstGeom>
          <a:ln w="0">
            <a:noFill/>
          </a:ln>
        </p:spPr>
      </p:pic>
      <p:pic>
        <p:nvPicPr>
          <p:cNvPr id="73" name="Picture 14" descr=""/>
          <p:cNvPicPr/>
          <p:nvPr/>
        </p:nvPicPr>
        <p:blipFill>
          <a:blip r:embed="rId5"/>
          <a:stretch/>
        </p:blipFill>
        <p:spPr>
          <a:xfrm>
            <a:off x="1619280" y="4149720"/>
            <a:ext cx="563400" cy="531720"/>
          </a:xfrm>
          <a:prstGeom prst="rect">
            <a:avLst/>
          </a:prstGeom>
          <a:ln w="0">
            <a:noFill/>
          </a:ln>
        </p:spPr>
      </p:pic>
      <p:pic>
        <p:nvPicPr>
          <p:cNvPr id="74" name="Picture 15" descr=""/>
          <p:cNvPicPr/>
          <p:nvPr/>
        </p:nvPicPr>
        <p:blipFill>
          <a:blip r:embed="rId6"/>
          <a:stretch/>
        </p:blipFill>
        <p:spPr>
          <a:xfrm>
            <a:off x="2268360" y="4149720"/>
            <a:ext cx="290520" cy="6001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E46D62E-EFC7-4453-A417-6E4E54BD470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7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7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E672F15-28D5-4768-9EC5-30768C1434D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7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Interpretation of Rotation Matrices</a:t>
            </a:r>
            <a:endParaRPr b="0" lang="en-US" sz="3800" spc="-1" strike="noStrike">
              <a:solidFill>
                <a:srgbClr val="006633"/>
              </a:solidFill>
              <a:latin typeface="Tahoma"/>
            </a:endParaRPr>
          </a:p>
        </p:txBody>
      </p:sp>
      <p:pic>
        <p:nvPicPr>
          <p:cNvPr id="79" name="Picture 3" descr=""/>
          <p:cNvPicPr/>
          <p:nvPr/>
        </p:nvPicPr>
        <p:blipFill>
          <a:blip r:embed="rId1"/>
          <a:stretch/>
        </p:blipFill>
        <p:spPr>
          <a:xfrm>
            <a:off x="6804000" y="2421000"/>
            <a:ext cx="760320" cy="457200"/>
          </a:xfrm>
          <a:prstGeom prst="rect">
            <a:avLst/>
          </a:prstGeom>
          <a:ln w="0">
            <a:noFill/>
          </a:ln>
        </p:spPr>
      </p:pic>
      <p:pic>
        <p:nvPicPr>
          <p:cNvPr id="80" name="Picture 4" descr=""/>
          <p:cNvPicPr/>
          <p:nvPr/>
        </p:nvPicPr>
        <p:blipFill>
          <a:blip r:embed="rId2"/>
          <a:stretch/>
        </p:blipFill>
        <p:spPr>
          <a:xfrm>
            <a:off x="468360" y="1566720"/>
            <a:ext cx="8283600" cy="2509920"/>
          </a:xfrm>
          <a:prstGeom prst="rect">
            <a:avLst/>
          </a:prstGeom>
          <a:ln w="0">
            <a:noFill/>
          </a:ln>
        </p:spPr>
      </p:pic>
      <p:pic>
        <p:nvPicPr>
          <p:cNvPr id="81" name="Picture 5" descr=""/>
          <p:cNvPicPr/>
          <p:nvPr/>
        </p:nvPicPr>
        <p:blipFill>
          <a:blip r:embed="rId3"/>
          <a:stretch/>
        </p:blipFill>
        <p:spPr>
          <a:xfrm>
            <a:off x="755640" y="4221000"/>
            <a:ext cx="6132600" cy="12114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BFB883F-7F5A-4C22-B1A0-EB1F066039E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8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8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4C264B4-FC54-4839-8982-FA86C657575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pic>
        <p:nvPicPr>
          <p:cNvPr id="85" name="Picture 6" descr=""/>
          <p:cNvPicPr/>
          <p:nvPr/>
        </p:nvPicPr>
        <p:blipFill>
          <a:blip r:embed="rId1"/>
          <a:stretch/>
        </p:blipFill>
        <p:spPr>
          <a:xfrm>
            <a:off x="611280" y="1844640"/>
            <a:ext cx="4572000" cy="4092480"/>
          </a:xfrm>
          <a:prstGeom prst="rect">
            <a:avLst/>
          </a:prstGeom>
          <a:ln w="0">
            <a:noFill/>
          </a:ln>
        </p:spPr>
      </p:pic>
      <p:sp>
        <p:nvSpPr>
          <p:cNvPr id="8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Single and Composite Rotations</a:t>
            </a:r>
            <a:endParaRPr b="0" lang="en-US" sz="4200" spc="-1" strike="noStrike">
              <a:solidFill>
                <a:srgbClr val="006633"/>
              </a:solidFill>
              <a:latin typeface="Tahoma"/>
            </a:endParaRPr>
          </a:p>
        </p:txBody>
      </p:sp>
      <p:pic>
        <p:nvPicPr>
          <p:cNvPr id="87" name="Picture 3" descr=""/>
          <p:cNvPicPr/>
          <p:nvPr/>
        </p:nvPicPr>
        <p:blipFill>
          <a:blip r:embed="rId2"/>
          <a:stretch/>
        </p:blipFill>
        <p:spPr>
          <a:xfrm>
            <a:off x="6804000" y="2421000"/>
            <a:ext cx="760320" cy="457200"/>
          </a:xfrm>
          <a:prstGeom prst="rect">
            <a:avLst/>
          </a:prstGeom>
          <a:ln w="0">
            <a:noFill/>
          </a:ln>
        </p:spPr>
      </p:pic>
      <p:sp>
        <p:nvSpPr>
          <p:cNvPr id="88" name="Rectangle 8"/>
          <p:cNvSpPr/>
          <p:nvPr/>
        </p:nvSpPr>
        <p:spPr>
          <a:xfrm>
            <a:off x="468360" y="1197000"/>
            <a:ext cx="4103640" cy="5763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Simple rotations about a coordinate axis:</a:t>
            </a:r>
            <a:endParaRPr b="0" lang="en-US" sz="1800" spc="-1" strike="noStrike">
              <a:solidFill>
                <a:srgbClr val="000000"/>
              </a:solidFill>
              <a:latin typeface="Arial"/>
            </a:endParaRPr>
          </a:p>
        </p:txBody>
      </p:sp>
      <p:pic>
        <p:nvPicPr>
          <p:cNvPr id="89" name="Picture 9" descr=""/>
          <p:cNvPicPr/>
          <p:nvPr/>
        </p:nvPicPr>
        <p:blipFill>
          <a:blip r:embed="rId3"/>
          <a:stretch/>
        </p:blipFill>
        <p:spPr>
          <a:xfrm>
            <a:off x="5796000" y="1557360"/>
            <a:ext cx="2146320" cy="1347840"/>
          </a:xfrm>
          <a:prstGeom prst="rect">
            <a:avLst/>
          </a:prstGeom>
          <a:ln w="0">
            <a:noFill/>
          </a:ln>
        </p:spPr>
      </p:pic>
      <p:pic>
        <p:nvPicPr>
          <p:cNvPr id="90" name="Picture 10" descr=""/>
          <p:cNvPicPr/>
          <p:nvPr/>
        </p:nvPicPr>
        <p:blipFill>
          <a:blip r:embed="rId4"/>
          <a:stretch/>
        </p:blipFill>
        <p:spPr>
          <a:xfrm>
            <a:off x="5940360" y="3789360"/>
            <a:ext cx="1900440" cy="544680"/>
          </a:xfrm>
          <a:prstGeom prst="rect">
            <a:avLst/>
          </a:prstGeom>
          <a:ln w="0">
            <a:noFill/>
          </a:ln>
        </p:spPr>
      </p:pic>
      <p:pic>
        <p:nvPicPr>
          <p:cNvPr id="91" name="Picture 11" descr=""/>
          <p:cNvPicPr/>
          <p:nvPr/>
        </p:nvPicPr>
        <p:blipFill>
          <a:blip r:embed="rId5"/>
          <a:stretch/>
        </p:blipFill>
        <p:spPr>
          <a:xfrm>
            <a:off x="6300720" y="5229360"/>
            <a:ext cx="1627200" cy="779400"/>
          </a:xfrm>
          <a:prstGeom prst="rect">
            <a:avLst/>
          </a:prstGeom>
          <a:ln w="0">
            <a:noFill/>
          </a:ln>
        </p:spPr>
      </p:pic>
      <p:sp>
        <p:nvSpPr>
          <p:cNvPr id="92" name="Rectangle 12"/>
          <p:cNvSpPr/>
          <p:nvPr/>
        </p:nvSpPr>
        <p:spPr>
          <a:xfrm>
            <a:off x="5724360" y="1052640"/>
            <a:ext cx="2340000" cy="57600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Composite rotations:</a:t>
            </a:r>
            <a:endParaRPr b="0" lang="en-US" sz="1800" spc="-1" strike="noStrike">
              <a:solidFill>
                <a:srgbClr val="000000"/>
              </a:solidFill>
              <a:latin typeface="Arial"/>
            </a:endParaRPr>
          </a:p>
        </p:txBody>
      </p:sp>
      <mc:AlternateContent>
        <mc:Choice xmlns:a14="http://schemas.microsoft.com/office/drawing/2010/main" Requires="a14">
          <p:sp>
            <p:nvSpPr>
              <p:cNvPr id="93" name="Object 13"/>
              <p:cNvSpPr txBox="1"/>
              <p:nvPr/>
            </p:nvSpPr>
            <p:spPr>
              <a:xfrm>
                <a:off x="6804000" y="2781360"/>
                <a:ext cx="604800" cy="934920"/>
              </a:xfrm>
              <a:prstGeom prst="rect">
                <a:avLst/>
              </a:prstGeom>
            </p:spPr>
            <p:txBody>
              <a:bodyPr/>
              <a:p>
                <a14:m>
                  <m:oMath xmlns:m="http://schemas.openxmlformats.org/officeDocument/2006/math">
                    <m:r>
                      <m:t xml:space="preserve">⇕</m:t>
                    </m:r>
                  </m:oMath>
                </a14:m>
              </a:p>
            </p:txBody>
          </p:sp>
        </mc:Choice>
        <mc:Fallback/>
      </mc:AlternateContent>
      <mc:AlternateContent>
        <mc:Choice xmlns:a14="http://schemas.microsoft.com/office/drawing/2010/main" Requires="a14">
          <p:sp>
            <p:nvSpPr>
              <p:cNvPr id="94" name="Object 15"/>
              <p:cNvSpPr txBox="1"/>
              <p:nvPr/>
            </p:nvSpPr>
            <p:spPr>
              <a:xfrm>
                <a:off x="6804000" y="4365720"/>
                <a:ext cx="604800" cy="934920"/>
              </a:xfrm>
              <a:prstGeom prst="rect">
                <a:avLst/>
              </a:prstGeom>
            </p:spPr>
            <p:txBody>
              <a:bodyPr/>
              <a:p>
                <a14:m>
                  <m:oMath xmlns:m="http://schemas.openxmlformats.org/officeDocument/2006/math">
                    <m:r>
                      <m:t xml:space="preserve">⇕</m:t>
                    </m:r>
                  </m:oMath>
                </a14:m>
              </a:p>
            </p:txBody>
          </p:sp>
        </mc:Choice>
        <mc:Fallback/>
      </mc:AlternateContent>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DC591BA-4387-4D75-87DD-7DA367EBE53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9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9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FB7C0DA-A75F-41B0-952C-431A91EFFFC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9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Euler Angles</a:t>
            </a:r>
            <a:endParaRPr b="0" lang="en-US" sz="4200" spc="-1" strike="noStrike">
              <a:solidFill>
                <a:srgbClr val="006633"/>
              </a:solidFill>
              <a:latin typeface="Tahoma"/>
            </a:endParaRPr>
          </a:p>
        </p:txBody>
      </p:sp>
      <p:sp>
        <p:nvSpPr>
          <p:cNvPr id="99"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The attitude of one coordinate system relative to another can be described by </a:t>
            </a:r>
            <a:r>
              <a:rPr b="0" lang="en-AU" sz="3000" spc="-1" strike="noStrike">
                <a:solidFill>
                  <a:srgbClr val="996600"/>
                </a:solidFill>
                <a:latin typeface="Arial"/>
              </a:rPr>
              <a:t>three consecutive rotations</a:t>
            </a:r>
            <a:r>
              <a:rPr b="0" lang="en-AU" sz="3000" spc="-1" strike="noStrike">
                <a:solidFill>
                  <a:srgbClr val="000000"/>
                </a:solidFill>
                <a:latin typeface="Arial"/>
              </a:rPr>
              <a:t>.</a:t>
            </a:r>
            <a:endParaRPr b="0" lang="en-US" sz="3000" spc="-1" strike="noStrike">
              <a:solidFill>
                <a:srgbClr val="000000"/>
              </a:solidFill>
              <a:latin typeface="Arial"/>
            </a:endParaRPr>
          </a:p>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000" spc="-1" strike="noStrike">
              <a:solidFill>
                <a:srgbClr val="000000"/>
              </a:solidFill>
              <a:latin typeface="Arial"/>
            </a:endParaRPr>
          </a:p>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There are 12 ways of doing this depending on the order of the rotations, and each triplet of rotated angles is called a set of </a:t>
            </a:r>
            <a:r>
              <a:rPr b="0" lang="en-AU" sz="3000" spc="-1" strike="noStrike">
                <a:solidFill>
                  <a:srgbClr val="996600"/>
                </a:solidFill>
                <a:latin typeface="Arial"/>
              </a:rPr>
              <a:t>Euler Angles</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CF18257-E2EB-4443-A140-B608CC68A18F}"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0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0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9409654-9B79-4ED2-95CA-2B9B3E78C723}"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0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Roll, Pitch and Yaw</a:t>
            </a:r>
            <a:endParaRPr b="0" lang="en-US" sz="4200" spc="-1" strike="noStrike">
              <a:solidFill>
                <a:srgbClr val="006633"/>
              </a:solidFill>
              <a:latin typeface="Tahoma"/>
            </a:endParaRPr>
          </a:p>
        </p:txBody>
      </p:sp>
      <p:pic>
        <p:nvPicPr>
          <p:cNvPr id="104" name="Picture 8" descr=""/>
          <p:cNvPicPr/>
          <p:nvPr/>
        </p:nvPicPr>
        <p:blipFill>
          <a:blip r:embed="rId1"/>
          <a:stretch/>
        </p:blipFill>
        <p:spPr>
          <a:xfrm>
            <a:off x="755640" y="1916280"/>
            <a:ext cx="5996160" cy="4044960"/>
          </a:xfrm>
          <a:prstGeom prst="rect">
            <a:avLst/>
          </a:prstGeom>
          <a:ln w="0">
            <a:noFill/>
          </a:ln>
        </p:spPr>
      </p:pic>
      <p:sp>
        <p:nvSpPr>
          <p:cNvPr id="105" name="PlaceHolder 2"/>
          <p:cNvSpPr>
            <a:spLocks noGrp="1"/>
          </p:cNvSpPr>
          <p:nvPr>
            <p:ph/>
          </p:nvPr>
        </p:nvSpPr>
        <p:spPr>
          <a:xfrm>
            <a:off x="468360" y="1052640"/>
            <a:ext cx="8229600" cy="792000"/>
          </a:xfrm>
          <a:prstGeom prst="rect">
            <a:avLst/>
          </a:prstGeom>
          <a:noFill/>
          <a:ln w="0">
            <a:noFill/>
          </a:ln>
        </p:spPr>
        <p:txBody>
          <a:bodyPr lIns="91440" rIns="91440" tIns="45720" bIns="45720" anchor="t">
            <a:normAutofit/>
          </a:bodyPr>
          <a:p>
            <a:pPr marL="343080" indent="-343080">
              <a:lnSpc>
                <a:spcPct val="9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The roll, pitch and yaw is set of Euler angles commonly use in guidance and navigation. </a:t>
            </a:r>
            <a:endParaRPr b="0" lang="en-US" sz="2200" spc="-1" strike="noStrike">
              <a:solidFill>
                <a:srgbClr val="000000"/>
              </a:solidFill>
              <a:latin typeface="Arial"/>
            </a:endParaRPr>
          </a:p>
        </p:txBody>
      </p:sp>
      <p:pic>
        <p:nvPicPr>
          <p:cNvPr id="106" name="Picture 10" descr=""/>
          <p:cNvPicPr/>
          <p:nvPr/>
        </p:nvPicPr>
        <p:blipFill>
          <a:blip r:embed="rId2"/>
          <a:stretch/>
        </p:blipFill>
        <p:spPr>
          <a:xfrm>
            <a:off x="6823080" y="3645000"/>
            <a:ext cx="2320920" cy="734760"/>
          </a:xfrm>
          <a:prstGeom prst="rect">
            <a:avLst/>
          </a:prstGeom>
          <a:ln w="0">
            <a:noFill/>
          </a:ln>
        </p:spPr>
      </p:pic>
      <p:sp>
        <p:nvSpPr>
          <p:cNvPr id="107" name="Rectangle 11"/>
          <p:cNvSpPr/>
          <p:nvPr/>
        </p:nvSpPr>
        <p:spPr>
          <a:xfrm>
            <a:off x="6732720" y="2492280"/>
            <a:ext cx="2050920" cy="9651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9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600" spc="-1" strike="noStrike">
                <a:solidFill>
                  <a:srgbClr val="000000"/>
                </a:solidFill>
                <a:latin typeface="Arial"/>
              </a:rPr>
              <a:t>Vector of Roll, Pitch and Yaw that take {a} into the orientation of {b}: </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19D562-A6CD-41A5-A697-C93BA35F479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0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1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837629C-399C-460E-B14E-791B704F9B8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1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Rotation matrix in terms of RPY</a:t>
            </a:r>
            <a:endParaRPr b="0" lang="en-US" sz="4200" spc="-1" strike="noStrike">
              <a:solidFill>
                <a:srgbClr val="006633"/>
              </a:solidFill>
              <a:latin typeface="Tahoma"/>
            </a:endParaRPr>
          </a:p>
        </p:txBody>
      </p:sp>
      <p:pic>
        <p:nvPicPr>
          <p:cNvPr id="112" name="Picture 4" descr=""/>
          <p:cNvPicPr/>
          <p:nvPr/>
        </p:nvPicPr>
        <p:blipFill>
          <a:blip r:embed="rId1"/>
          <a:stretch/>
        </p:blipFill>
        <p:spPr>
          <a:xfrm>
            <a:off x="2700360" y="1557360"/>
            <a:ext cx="2989080" cy="728640"/>
          </a:xfrm>
          <a:prstGeom prst="rect">
            <a:avLst/>
          </a:prstGeom>
          <a:ln w="0">
            <a:noFill/>
          </a:ln>
        </p:spPr>
      </p:pic>
      <p:sp>
        <p:nvSpPr>
          <p:cNvPr id="113" name="Text Box 5"/>
          <p:cNvSpPr/>
          <p:nvPr/>
        </p:nvSpPr>
        <p:spPr>
          <a:xfrm>
            <a:off x="684360" y="2276640"/>
            <a:ext cx="2663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After multiplication:</a:t>
            </a:r>
            <a:endParaRPr b="0" lang="en-US" sz="1800" spc="-1" strike="noStrike">
              <a:solidFill>
                <a:srgbClr val="000000"/>
              </a:solidFill>
              <a:latin typeface="Arial"/>
            </a:endParaRPr>
          </a:p>
        </p:txBody>
      </p:sp>
      <p:pic>
        <p:nvPicPr>
          <p:cNvPr id="114" name="Picture 6" descr=""/>
          <p:cNvPicPr/>
          <p:nvPr/>
        </p:nvPicPr>
        <p:blipFill>
          <a:blip r:embed="rId2"/>
          <a:stretch/>
        </p:blipFill>
        <p:spPr>
          <a:xfrm>
            <a:off x="1042920" y="2637000"/>
            <a:ext cx="6453360" cy="1582560"/>
          </a:xfrm>
          <a:prstGeom prst="rect">
            <a:avLst/>
          </a:prstGeom>
          <a:ln w="0">
            <a:noFill/>
          </a:ln>
        </p:spPr>
      </p:pic>
      <p:pic>
        <p:nvPicPr>
          <p:cNvPr id="115" name="Picture 7" descr=""/>
          <p:cNvPicPr/>
          <p:nvPr/>
        </p:nvPicPr>
        <p:blipFill>
          <a:blip r:embed="rId3"/>
          <a:stretch/>
        </p:blipFill>
        <p:spPr>
          <a:xfrm>
            <a:off x="1692360" y="4221000"/>
            <a:ext cx="1306440" cy="470160"/>
          </a:xfrm>
          <a:prstGeom prst="rect">
            <a:avLst/>
          </a:prstGeom>
          <a:ln w="0">
            <a:noFill/>
          </a:ln>
        </p:spPr>
      </p:pic>
      <p:pic>
        <p:nvPicPr>
          <p:cNvPr id="116" name="Picture 9" descr=""/>
          <p:cNvPicPr/>
          <p:nvPr/>
        </p:nvPicPr>
        <p:blipFill>
          <a:blip r:embed="rId4"/>
          <a:stretch/>
        </p:blipFill>
        <p:spPr>
          <a:xfrm>
            <a:off x="3924360" y="4292640"/>
            <a:ext cx="1206360" cy="438120"/>
          </a:xfrm>
          <a:prstGeom prst="rect">
            <a:avLst/>
          </a:prstGeom>
          <a:ln w="0">
            <a:noFill/>
          </a:ln>
        </p:spPr>
      </p:pic>
      <p:pic>
        <p:nvPicPr>
          <p:cNvPr id="117" name="Picture 10" descr=""/>
          <p:cNvPicPr/>
          <p:nvPr/>
        </p:nvPicPr>
        <p:blipFill>
          <a:blip r:embed="rId5"/>
          <a:stretch/>
        </p:blipFill>
        <p:spPr>
          <a:xfrm>
            <a:off x="3635280" y="5516640"/>
            <a:ext cx="1355760" cy="463320"/>
          </a:xfrm>
          <a:prstGeom prst="rect">
            <a:avLst/>
          </a:prstGeom>
          <a:ln w="0">
            <a:noFill/>
          </a:ln>
        </p:spPr>
      </p:pic>
      <p:sp>
        <p:nvSpPr>
          <p:cNvPr id="118" name="Text Box 11"/>
          <p:cNvSpPr/>
          <p:nvPr/>
        </p:nvSpPr>
        <p:spPr>
          <a:xfrm>
            <a:off x="539640" y="5013360"/>
            <a:ext cx="612000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Note that the multiplication is consistent with the transformation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CF5CEC6-E773-499D-A6AF-F2303BA2571C}"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2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2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DDD6B25-B409-4434-89DB-D1C839E9B75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2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Angular velocity</a:t>
            </a:r>
            <a:endParaRPr b="0" lang="en-US" sz="4200" spc="-1" strike="noStrike">
              <a:solidFill>
                <a:srgbClr val="006633"/>
              </a:solidFill>
              <a:latin typeface="Tahoma"/>
            </a:endParaRPr>
          </a:p>
        </p:txBody>
      </p:sp>
      <p:sp>
        <p:nvSpPr>
          <p:cNvPr id="123" name="Text Box 4"/>
          <p:cNvSpPr/>
          <p:nvPr/>
        </p:nvSpPr>
        <p:spPr>
          <a:xfrm>
            <a:off x="395280" y="1125360"/>
            <a:ext cx="48243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Since the rotation matrix is orthogonal, then</a:t>
            </a:r>
            <a:endParaRPr b="0" lang="en-US" sz="1800" spc="-1" strike="noStrike">
              <a:solidFill>
                <a:srgbClr val="000000"/>
              </a:solidFill>
              <a:latin typeface="Arial"/>
            </a:endParaRPr>
          </a:p>
        </p:txBody>
      </p:sp>
      <p:sp>
        <p:nvSpPr>
          <p:cNvPr id="124" name="Text Box 9"/>
          <p:cNvSpPr/>
          <p:nvPr/>
        </p:nvSpPr>
        <p:spPr>
          <a:xfrm>
            <a:off x="684360" y="4365720"/>
            <a:ext cx="72723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This is the angular velocity of {b} with respect to {a}, expressed in {a}</a:t>
            </a:r>
            <a:endParaRPr b="0" lang="en-US" sz="1800" spc="-1" strike="noStrike">
              <a:solidFill>
                <a:srgbClr val="000000"/>
              </a:solidFill>
              <a:latin typeface="Arial"/>
            </a:endParaRPr>
          </a:p>
        </p:txBody>
      </p:sp>
      <p:pic>
        <p:nvPicPr>
          <p:cNvPr id="125" name="Picture 10" descr=""/>
          <p:cNvPicPr/>
          <p:nvPr/>
        </p:nvPicPr>
        <p:blipFill>
          <a:blip r:embed="rId1"/>
          <a:stretch/>
        </p:blipFill>
        <p:spPr>
          <a:xfrm>
            <a:off x="1979640" y="1628640"/>
            <a:ext cx="5116320" cy="773280"/>
          </a:xfrm>
          <a:prstGeom prst="rect">
            <a:avLst/>
          </a:prstGeom>
          <a:ln w="0">
            <a:noFill/>
          </a:ln>
        </p:spPr>
      </p:pic>
      <p:sp>
        <p:nvSpPr>
          <p:cNvPr id="126" name="Text Box 11"/>
          <p:cNvSpPr/>
          <p:nvPr/>
        </p:nvSpPr>
        <p:spPr>
          <a:xfrm>
            <a:off x="395280" y="2781360"/>
            <a:ext cx="777708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This imply that                        is skew symmetric, and hence be represented by a single coordinate vector (Egeland and Gravdahl, 2002):</a:t>
            </a:r>
            <a:endParaRPr b="0" lang="en-US" sz="1800" spc="-1" strike="noStrike">
              <a:solidFill>
                <a:srgbClr val="000000"/>
              </a:solidFill>
              <a:latin typeface="Arial"/>
            </a:endParaRPr>
          </a:p>
        </p:txBody>
      </p:sp>
      <p:pic>
        <p:nvPicPr>
          <p:cNvPr id="127" name="Picture 12" descr=""/>
          <p:cNvPicPr/>
          <p:nvPr/>
        </p:nvPicPr>
        <p:blipFill>
          <a:blip r:embed="rId2"/>
          <a:stretch/>
        </p:blipFill>
        <p:spPr>
          <a:xfrm>
            <a:off x="2124000" y="2708280"/>
            <a:ext cx="1206720" cy="426960"/>
          </a:xfrm>
          <a:prstGeom prst="rect">
            <a:avLst/>
          </a:prstGeom>
          <a:ln w="0">
            <a:noFill/>
          </a:ln>
        </p:spPr>
      </p:pic>
      <p:pic>
        <p:nvPicPr>
          <p:cNvPr id="128" name="Picture 13" descr=""/>
          <p:cNvPicPr/>
          <p:nvPr/>
        </p:nvPicPr>
        <p:blipFill>
          <a:blip r:embed="rId3"/>
          <a:stretch/>
        </p:blipFill>
        <p:spPr>
          <a:xfrm>
            <a:off x="2195640" y="3500280"/>
            <a:ext cx="3706560" cy="723960"/>
          </a:xfrm>
          <a:prstGeom prst="rect">
            <a:avLst/>
          </a:prstGeom>
          <a:ln w="0">
            <a:noFill/>
          </a:ln>
        </p:spPr>
      </p:pic>
      <p:sp>
        <p:nvSpPr>
          <p:cNvPr id="129" name="Text Box 17"/>
          <p:cNvSpPr/>
          <p:nvPr/>
        </p:nvSpPr>
        <p:spPr>
          <a:xfrm>
            <a:off x="684360" y="4941720"/>
            <a:ext cx="669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The </a:t>
            </a:r>
            <a:r>
              <a:rPr b="0" lang="en-AU" sz="1800" spc="-1" strike="noStrike">
                <a:solidFill>
                  <a:srgbClr val="996600"/>
                </a:solidFill>
                <a:latin typeface="Arial"/>
              </a:rPr>
              <a:t>derivative of the rotation matrix</a:t>
            </a:r>
            <a:r>
              <a:rPr b="0" lang="en-AU" sz="1800" spc="-1" strike="noStrike">
                <a:solidFill>
                  <a:srgbClr val="000000"/>
                </a:solidFill>
                <a:latin typeface="Arial"/>
              </a:rPr>
              <a:t> can then be expressed as</a:t>
            </a:r>
            <a:endParaRPr b="0" lang="en-US" sz="1800" spc="-1" strike="noStrike">
              <a:solidFill>
                <a:srgbClr val="000000"/>
              </a:solidFill>
              <a:latin typeface="Arial"/>
            </a:endParaRPr>
          </a:p>
        </p:txBody>
      </p:sp>
      <p:pic>
        <p:nvPicPr>
          <p:cNvPr id="130" name="Picture 18" descr=""/>
          <p:cNvPicPr/>
          <p:nvPr/>
        </p:nvPicPr>
        <p:blipFill>
          <a:blip r:embed="rId4"/>
          <a:stretch/>
        </p:blipFill>
        <p:spPr>
          <a:xfrm>
            <a:off x="2627280" y="5373720"/>
            <a:ext cx="3854520" cy="69228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58A1BE-32D3-4C2D-A02F-2331FBDBC4D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32"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33"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13F77B3-FC5F-4276-8FD9-EC867B1995C4}"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3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Angular velocity and deriv of RPY</a:t>
            </a:r>
            <a:endParaRPr b="0" lang="en-US" sz="4200" spc="-1" strike="noStrike">
              <a:solidFill>
                <a:srgbClr val="006633"/>
              </a:solidFill>
              <a:latin typeface="Tahoma"/>
            </a:endParaRPr>
          </a:p>
        </p:txBody>
      </p:sp>
      <p:sp>
        <p:nvSpPr>
          <p:cNvPr id="135" name="Text Box 3"/>
          <p:cNvSpPr/>
          <p:nvPr/>
        </p:nvSpPr>
        <p:spPr>
          <a:xfrm>
            <a:off x="468360" y="2492280"/>
            <a:ext cx="45352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 angular velocities are </a:t>
            </a:r>
            <a:endParaRPr b="0" lang="en-US" sz="2400" spc="-1" strike="noStrike">
              <a:solidFill>
                <a:srgbClr val="000000"/>
              </a:solidFill>
              <a:latin typeface="Arial"/>
            </a:endParaRPr>
          </a:p>
        </p:txBody>
      </p:sp>
      <p:sp>
        <p:nvSpPr>
          <p:cNvPr id="136" name="Text Box 4"/>
          <p:cNvSpPr/>
          <p:nvPr/>
        </p:nvSpPr>
        <p:spPr>
          <a:xfrm>
            <a:off x="395280" y="1197000"/>
            <a:ext cx="6264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Consider a rotation from {a} to {d} via RPY:</a:t>
            </a:r>
            <a:endParaRPr b="0" lang="en-US" sz="2400" spc="-1" strike="noStrike">
              <a:solidFill>
                <a:srgbClr val="000000"/>
              </a:solidFill>
              <a:latin typeface="Arial"/>
            </a:endParaRPr>
          </a:p>
        </p:txBody>
      </p:sp>
      <p:sp>
        <p:nvSpPr>
          <p:cNvPr id="137" name="Text Box 5"/>
          <p:cNvSpPr/>
          <p:nvPr/>
        </p:nvSpPr>
        <p:spPr>
          <a:xfrm>
            <a:off x="395280" y="3716280"/>
            <a:ext cx="4535640" cy="119124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Then from the theorem of addition of angular velocities we have</a:t>
            </a:r>
            <a:endParaRPr b="0" lang="en-US" sz="2400" spc="-1" strike="noStrike">
              <a:solidFill>
                <a:srgbClr val="000000"/>
              </a:solidFill>
              <a:latin typeface="Arial"/>
            </a:endParaRPr>
          </a:p>
        </p:txBody>
      </p:sp>
      <p:pic>
        <p:nvPicPr>
          <p:cNvPr id="138" name="Picture 6" descr=""/>
          <p:cNvPicPr/>
          <p:nvPr/>
        </p:nvPicPr>
        <p:blipFill>
          <a:blip r:embed="rId1"/>
          <a:stretch/>
        </p:blipFill>
        <p:spPr>
          <a:xfrm>
            <a:off x="2195640" y="1755720"/>
            <a:ext cx="4321080" cy="460440"/>
          </a:xfrm>
          <a:prstGeom prst="rect">
            <a:avLst/>
          </a:prstGeom>
          <a:ln w="0">
            <a:noFill/>
          </a:ln>
        </p:spPr>
      </p:pic>
      <p:pic>
        <p:nvPicPr>
          <p:cNvPr id="139" name="Picture 7" descr=""/>
          <p:cNvPicPr/>
          <p:nvPr/>
        </p:nvPicPr>
        <p:blipFill>
          <a:blip r:embed="rId2"/>
          <a:stretch/>
        </p:blipFill>
        <p:spPr>
          <a:xfrm>
            <a:off x="4356000" y="2421000"/>
            <a:ext cx="1836720" cy="1260360"/>
          </a:xfrm>
          <a:prstGeom prst="rect">
            <a:avLst/>
          </a:prstGeom>
          <a:ln w="0">
            <a:noFill/>
          </a:ln>
        </p:spPr>
      </p:pic>
      <p:pic>
        <p:nvPicPr>
          <p:cNvPr id="140" name="Picture 8" descr=""/>
          <p:cNvPicPr/>
          <p:nvPr/>
        </p:nvPicPr>
        <p:blipFill>
          <a:blip r:embed="rId3"/>
          <a:stretch/>
        </p:blipFill>
        <p:spPr>
          <a:xfrm>
            <a:off x="2340000" y="4724280"/>
            <a:ext cx="3887640" cy="528840"/>
          </a:xfrm>
          <a:prstGeom prst="rect">
            <a:avLst/>
          </a:prstGeom>
          <a:ln w="0">
            <a:noFill/>
          </a:ln>
        </p:spPr>
      </p:pic>
      <p:pic>
        <p:nvPicPr>
          <p:cNvPr id="141" name="Picture 9" descr=""/>
          <p:cNvPicPr/>
          <p:nvPr/>
        </p:nvPicPr>
        <p:blipFill>
          <a:blip r:embed="rId4"/>
          <a:stretch/>
        </p:blipFill>
        <p:spPr>
          <a:xfrm>
            <a:off x="2484360" y="5445000"/>
            <a:ext cx="3822840" cy="4874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787070-2414-4358-8569-9B75CAEED80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4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4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37EDF04-5053-4F15-8873-7C899CD53EF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4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Angular velocity and deriv of RPY</a:t>
            </a:r>
            <a:endParaRPr b="0" lang="en-US" sz="4200" spc="-1" strike="noStrike">
              <a:solidFill>
                <a:srgbClr val="006633"/>
              </a:solidFill>
              <a:latin typeface="Tahoma"/>
            </a:endParaRPr>
          </a:p>
        </p:txBody>
      </p:sp>
      <p:sp>
        <p:nvSpPr>
          <p:cNvPr id="146" name="Text Box 3"/>
          <p:cNvSpPr/>
          <p:nvPr/>
        </p:nvSpPr>
        <p:spPr>
          <a:xfrm>
            <a:off x="395280" y="1197000"/>
            <a:ext cx="6264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From</a:t>
            </a:r>
            <a:endParaRPr b="0" lang="en-US" sz="2400" spc="-1" strike="noStrike">
              <a:solidFill>
                <a:srgbClr val="000000"/>
              </a:solidFill>
              <a:latin typeface="Arial"/>
            </a:endParaRPr>
          </a:p>
        </p:txBody>
      </p:sp>
      <p:pic>
        <p:nvPicPr>
          <p:cNvPr id="147" name="Picture 4" descr=""/>
          <p:cNvPicPr/>
          <p:nvPr/>
        </p:nvPicPr>
        <p:blipFill>
          <a:blip r:embed="rId1"/>
          <a:stretch/>
        </p:blipFill>
        <p:spPr>
          <a:xfrm>
            <a:off x="1835280" y="1268280"/>
            <a:ext cx="3887640" cy="528840"/>
          </a:xfrm>
          <a:prstGeom prst="rect">
            <a:avLst/>
          </a:prstGeom>
          <a:ln w="0">
            <a:noFill/>
          </a:ln>
        </p:spPr>
      </p:pic>
      <p:pic>
        <p:nvPicPr>
          <p:cNvPr id="148" name="Picture 5" descr=""/>
          <p:cNvPicPr/>
          <p:nvPr/>
        </p:nvPicPr>
        <p:blipFill>
          <a:blip r:embed="rId2"/>
          <a:stretch/>
        </p:blipFill>
        <p:spPr>
          <a:xfrm>
            <a:off x="1908000" y="1773360"/>
            <a:ext cx="3822840" cy="487080"/>
          </a:xfrm>
          <a:prstGeom prst="rect">
            <a:avLst/>
          </a:prstGeom>
          <a:ln w="0">
            <a:noFill/>
          </a:ln>
        </p:spPr>
      </p:pic>
      <p:pic>
        <p:nvPicPr>
          <p:cNvPr id="149" name="Picture 6" descr=""/>
          <p:cNvPicPr/>
          <p:nvPr/>
        </p:nvPicPr>
        <p:blipFill>
          <a:blip r:embed="rId3"/>
          <a:stretch/>
        </p:blipFill>
        <p:spPr>
          <a:xfrm>
            <a:off x="468360" y="3614760"/>
            <a:ext cx="3681360" cy="1527120"/>
          </a:xfrm>
          <a:prstGeom prst="rect">
            <a:avLst/>
          </a:prstGeom>
          <a:ln w="0">
            <a:noFill/>
          </a:ln>
        </p:spPr>
      </p:pic>
      <p:pic>
        <p:nvPicPr>
          <p:cNvPr id="150" name="Picture 7" descr=""/>
          <p:cNvPicPr/>
          <p:nvPr/>
        </p:nvPicPr>
        <p:blipFill>
          <a:blip r:embed="rId4"/>
          <a:stretch/>
        </p:blipFill>
        <p:spPr>
          <a:xfrm>
            <a:off x="5003640" y="3543480"/>
            <a:ext cx="3657600" cy="858600"/>
          </a:xfrm>
          <a:prstGeom prst="rect">
            <a:avLst/>
          </a:prstGeom>
          <a:ln w="0">
            <a:noFill/>
          </a:ln>
        </p:spPr>
      </p:pic>
      <p:pic>
        <p:nvPicPr>
          <p:cNvPr id="151" name="Picture 8" descr=""/>
          <p:cNvPicPr/>
          <p:nvPr/>
        </p:nvPicPr>
        <p:blipFill>
          <a:blip r:embed="rId5"/>
          <a:stretch/>
        </p:blipFill>
        <p:spPr>
          <a:xfrm>
            <a:off x="5003640" y="4335480"/>
            <a:ext cx="3681720" cy="822240"/>
          </a:xfrm>
          <a:prstGeom prst="rect">
            <a:avLst/>
          </a:prstGeom>
          <a:ln w="0">
            <a:noFill/>
          </a:ln>
        </p:spPr>
      </p:pic>
      <p:pic>
        <p:nvPicPr>
          <p:cNvPr id="152" name="Picture 9" descr=""/>
          <p:cNvPicPr/>
          <p:nvPr/>
        </p:nvPicPr>
        <p:blipFill>
          <a:blip r:embed="rId6"/>
          <a:stretch/>
        </p:blipFill>
        <p:spPr>
          <a:xfrm>
            <a:off x="3059280" y="2421000"/>
            <a:ext cx="1765080" cy="504720"/>
          </a:xfrm>
          <a:prstGeom prst="rect">
            <a:avLst/>
          </a:prstGeom>
          <a:ln w="0">
            <a:noFill/>
          </a:ln>
        </p:spPr>
      </p:pic>
      <p:sp>
        <p:nvSpPr>
          <p:cNvPr id="153" name="Text Box 10"/>
          <p:cNvSpPr/>
          <p:nvPr/>
        </p:nvSpPr>
        <p:spPr>
          <a:xfrm>
            <a:off x="395280" y="2421000"/>
            <a:ext cx="6264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using,</a:t>
            </a:r>
            <a:endParaRPr b="0" lang="en-US" sz="2400" spc="-1" strike="noStrike">
              <a:solidFill>
                <a:srgbClr val="000000"/>
              </a:solidFill>
              <a:latin typeface="Arial"/>
            </a:endParaRPr>
          </a:p>
        </p:txBody>
      </p:sp>
      <mc:AlternateContent>
        <mc:Choice xmlns:a14="http://schemas.microsoft.com/office/drawing/2010/main" Requires="a14">
          <p:sp>
            <p:nvSpPr>
              <p:cNvPr id="154" name="Object 11"/>
              <p:cNvSpPr txBox="1"/>
              <p:nvPr/>
            </p:nvSpPr>
            <p:spPr>
              <a:xfrm>
                <a:off x="4284720" y="4191120"/>
                <a:ext cx="647640" cy="457200"/>
              </a:xfrm>
              <a:prstGeom prst="rect">
                <a:avLst/>
              </a:prstGeom>
            </p:spPr>
            <p:txBody>
              <a:bodyPr/>
              <a:p>
                <a14:m>
                  <m:oMath xmlns:m="http://schemas.openxmlformats.org/officeDocument/2006/math">
                    <m:r>
                      <m:t xml:space="preserve">⇔</m:t>
                    </m:r>
                  </m:oMath>
                </a14:m>
              </a:p>
            </p:txBody>
          </p:sp>
        </mc:Choice>
        <mc:Fallback/>
      </mc:AlternateContent>
      <p:sp>
        <p:nvSpPr>
          <p:cNvPr id="155" name="Text Box 12"/>
          <p:cNvSpPr/>
          <p:nvPr/>
        </p:nvSpPr>
        <p:spPr>
          <a:xfrm>
            <a:off x="468360" y="3068640"/>
            <a:ext cx="6264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we obtain</a:t>
            </a:r>
            <a:endParaRPr b="0" lang="en-US" sz="2400" spc="-1" strike="noStrike">
              <a:solidFill>
                <a:srgbClr val="000000"/>
              </a:solidFill>
              <a:latin typeface="Arial"/>
            </a:endParaRPr>
          </a:p>
        </p:txBody>
      </p:sp>
      <p:sp>
        <p:nvSpPr>
          <p:cNvPr id="156" name="Text Box 13"/>
          <p:cNvSpPr/>
          <p:nvPr/>
        </p:nvSpPr>
        <p:spPr>
          <a:xfrm>
            <a:off x="468360" y="5445000"/>
            <a:ext cx="813600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The angular velocity and the derivative of the Euler angles are, in general, different things.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CB1D39E-6416-4DF2-AD4B-B2691378CF4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5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5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E15C69-FC29-40BB-9864-C136E821861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6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Position</a:t>
            </a:r>
            <a:endParaRPr b="0" lang="en-US" sz="4200" spc="-1" strike="noStrike">
              <a:solidFill>
                <a:srgbClr val="006633"/>
              </a:solidFill>
              <a:latin typeface="Tahoma"/>
            </a:endParaRPr>
          </a:p>
        </p:txBody>
      </p:sp>
      <p:pic>
        <p:nvPicPr>
          <p:cNvPr id="161" name="Picture 3" descr=""/>
          <p:cNvPicPr/>
          <p:nvPr/>
        </p:nvPicPr>
        <p:blipFill>
          <a:blip r:embed="rId1"/>
          <a:stretch/>
        </p:blipFill>
        <p:spPr>
          <a:xfrm>
            <a:off x="2700360" y="1700280"/>
            <a:ext cx="2871720" cy="614160"/>
          </a:xfrm>
          <a:prstGeom prst="rect">
            <a:avLst/>
          </a:prstGeom>
          <a:ln w="0">
            <a:noFill/>
          </a:ln>
        </p:spPr>
      </p:pic>
      <p:sp>
        <p:nvSpPr>
          <p:cNvPr id="162" name="Text Box 4"/>
          <p:cNvSpPr/>
          <p:nvPr/>
        </p:nvSpPr>
        <p:spPr>
          <a:xfrm>
            <a:off x="395280" y="981000"/>
            <a:ext cx="813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Position of “p” with respect to {a}, and expressed in {a}:</a:t>
            </a:r>
            <a:endParaRPr b="0" lang="en-US" sz="1800" spc="-1" strike="noStrike">
              <a:solidFill>
                <a:srgbClr val="000000"/>
              </a:solidFill>
              <a:latin typeface="Arial"/>
            </a:endParaRPr>
          </a:p>
        </p:txBody>
      </p:sp>
      <p:pic>
        <p:nvPicPr>
          <p:cNvPr id="163" name="Picture 5" descr=""/>
          <p:cNvPicPr/>
          <p:nvPr/>
        </p:nvPicPr>
        <p:blipFill>
          <a:blip r:embed="rId2"/>
          <a:stretch/>
        </p:blipFill>
        <p:spPr>
          <a:xfrm>
            <a:off x="1692360" y="2421000"/>
            <a:ext cx="5513400" cy="3659040"/>
          </a:xfrm>
          <a:prstGeom prst="rect">
            <a:avLst/>
          </a:prstGeom>
          <a:ln w="0">
            <a:noFill/>
          </a:ln>
        </p:spPr>
      </p:pic>
      <p:sp>
        <p:nvSpPr>
          <p:cNvPr id="164" name="Text Box 6"/>
          <p:cNvSpPr/>
          <p:nvPr/>
        </p:nvSpPr>
        <p:spPr>
          <a:xfrm>
            <a:off x="6300720" y="2349360"/>
            <a:ext cx="2303640" cy="91692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Position of “p” with respect to {a}, and expressed in {b}.</a:t>
            </a:r>
            <a:endParaRPr b="0" lang="en-US" sz="1800" spc="-1" strike="noStrike">
              <a:solidFill>
                <a:srgbClr val="000000"/>
              </a:solidFill>
              <a:latin typeface="Arial"/>
            </a:endParaRPr>
          </a:p>
        </p:txBody>
      </p:sp>
      <p:sp>
        <p:nvSpPr>
          <p:cNvPr id="165" name="Line 7"/>
          <p:cNvSpPr/>
          <p:nvPr/>
        </p:nvSpPr>
        <p:spPr>
          <a:xfrm flipH="1">
            <a:off x="5867280" y="2708280"/>
            <a:ext cx="433440" cy="9367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66" name="Text Box 8"/>
          <p:cNvSpPr/>
          <p:nvPr/>
        </p:nvSpPr>
        <p:spPr>
          <a:xfrm>
            <a:off x="3419640" y="2276640"/>
            <a:ext cx="2303280" cy="30744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400" spc="-1" strike="noStrike">
                <a:solidFill>
                  <a:srgbClr val="996600"/>
                </a:solidFill>
                <a:latin typeface="Arial"/>
              </a:rPr>
              <a:t>Point of interest</a:t>
            </a:r>
            <a:endParaRPr b="0" lang="en-US" sz="1400" spc="-1" strike="noStrike">
              <a:solidFill>
                <a:srgbClr val="000000"/>
              </a:solidFill>
              <a:latin typeface="Arial"/>
            </a:endParaRPr>
          </a:p>
        </p:txBody>
      </p:sp>
      <p:sp>
        <p:nvSpPr>
          <p:cNvPr id="167" name="Text Box 9"/>
          <p:cNvSpPr/>
          <p:nvPr/>
        </p:nvSpPr>
        <p:spPr>
          <a:xfrm>
            <a:off x="826920" y="2565360"/>
            <a:ext cx="2592720" cy="30744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400" spc="-1" strike="noStrike">
                <a:solidFill>
                  <a:srgbClr val="996600"/>
                </a:solidFill>
                <a:latin typeface="Arial"/>
              </a:rPr>
              <a:t>Reference coordinate system</a:t>
            </a:r>
            <a:endParaRPr b="0" lang="en-US" sz="1400" spc="-1" strike="noStrike">
              <a:solidFill>
                <a:srgbClr val="000000"/>
              </a:solidFill>
              <a:latin typeface="Arial"/>
            </a:endParaRPr>
          </a:p>
        </p:txBody>
      </p:sp>
      <p:sp>
        <p:nvSpPr>
          <p:cNvPr id="168" name="Text Box 10"/>
          <p:cNvSpPr/>
          <p:nvPr/>
        </p:nvSpPr>
        <p:spPr>
          <a:xfrm>
            <a:off x="395280" y="1557360"/>
            <a:ext cx="2592360" cy="52092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400" spc="-1" strike="noStrike">
                <a:solidFill>
                  <a:srgbClr val="996600"/>
                </a:solidFill>
                <a:latin typeface="Arial"/>
              </a:rPr>
              <a:t>Coordinate system where the vector is expressed</a:t>
            </a:r>
            <a:endParaRPr b="0" lang="en-US" sz="1400" spc="-1" strike="noStrike">
              <a:solidFill>
                <a:srgbClr val="000000"/>
              </a:solidFill>
              <a:latin typeface="Arial"/>
            </a:endParaRPr>
          </a:p>
        </p:txBody>
      </p:sp>
      <p:sp>
        <p:nvSpPr>
          <p:cNvPr id="169" name="Line 11"/>
          <p:cNvSpPr/>
          <p:nvPr/>
        </p:nvSpPr>
        <p:spPr>
          <a:xfrm>
            <a:off x="2771640" y="1773360"/>
            <a:ext cx="216000" cy="1429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70" name="Line 12"/>
          <p:cNvSpPr/>
          <p:nvPr/>
        </p:nvSpPr>
        <p:spPr>
          <a:xfrm flipV="1">
            <a:off x="2843280" y="2204640"/>
            <a:ext cx="144360" cy="360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71" name="Line 13"/>
          <p:cNvSpPr/>
          <p:nvPr/>
        </p:nvSpPr>
        <p:spPr>
          <a:xfrm flipH="1" flipV="1">
            <a:off x="3203640" y="2204640"/>
            <a:ext cx="288720" cy="144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72" name="Text Box 14"/>
          <p:cNvSpPr/>
          <p:nvPr/>
        </p:nvSpPr>
        <p:spPr>
          <a:xfrm>
            <a:off x="5508720" y="4508640"/>
            <a:ext cx="3168720" cy="119124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Note that a change in coord sys does not change the position vector; it is still p in {a}.</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545FC6-AC95-48C9-95EF-2272FB6044F2}"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74"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75"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EAF09EA-CD78-48E1-A64A-35B8A8853DA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7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Velocity</a:t>
            </a:r>
            <a:endParaRPr b="0" lang="en-US" sz="4200" spc="-1" strike="noStrike">
              <a:solidFill>
                <a:srgbClr val="006633"/>
              </a:solidFill>
              <a:latin typeface="Tahoma"/>
            </a:endParaRPr>
          </a:p>
        </p:txBody>
      </p:sp>
      <p:sp>
        <p:nvSpPr>
          <p:cNvPr id="177" name="PlaceHolder 2"/>
          <p:cNvSpPr>
            <a:spLocks noGrp="1"/>
          </p:cNvSpPr>
          <p:nvPr>
            <p:ph/>
          </p:nvPr>
        </p:nvSpPr>
        <p:spPr>
          <a:xfrm>
            <a:off x="394920" y="1052640"/>
            <a:ext cx="8064360" cy="1512720"/>
          </a:xfrm>
          <a:prstGeom prst="rect">
            <a:avLst/>
          </a:prstGeom>
          <a:noFill/>
          <a:ln w="0">
            <a:noFill/>
          </a:ln>
        </p:spPr>
        <p:txBody>
          <a:bodyPr lIns="91440" rIns="91440" tIns="45720" bIns="45720" anchor="t">
            <a:normAutofit/>
          </a:bodyPr>
          <a:p>
            <a:pPr marL="343080" indent="-343080">
              <a:lnSpc>
                <a:spcPct val="80000"/>
              </a:lnSpc>
              <a:spcBef>
                <a:spcPts val="49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The relative </a:t>
            </a:r>
            <a:r>
              <a:rPr b="0" lang="en-AU" sz="2000" spc="-1" strike="noStrike">
                <a:solidFill>
                  <a:srgbClr val="996600"/>
                </a:solidFill>
                <a:latin typeface="Arial"/>
              </a:rPr>
              <a:t>position</a:t>
            </a:r>
            <a:r>
              <a:rPr b="0" lang="en-AU" sz="2000" spc="-1" strike="noStrike">
                <a:solidFill>
                  <a:srgbClr val="000000"/>
                </a:solidFill>
                <a:latin typeface="Arial"/>
              </a:rPr>
              <a:t> of any two points is </a:t>
            </a:r>
            <a:r>
              <a:rPr b="0" lang="en-AU" sz="2000" spc="-1" strike="noStrike">
                <a:solidFill>
                  <a:srgbClr val="996600"/>
                </a:solidFill>
                <a:latin typeface="Arial"/>
              </a:rPr>
              <a:t>invariant </a:t>
            </a:r>
            <a:r>
              <a:rPr b="0" lang="en-AU" sz="2000" spc="-1" strike="noStrike">
                <a:solidFill>
                  <a:srgbClr val="000000"/>
                </a:solidFill>
                <a:latin typeface="Arial"/>
              </a:rPr>
              <a:t>in any coordinate system (||r1-r2|| is independent of the coordinate system used to express r1 and r2).</a:t>
            </a:r>
            <a:endParaRPr b="0" lang="en-US" sz="2000" spc="-1" strike="noStrike">
              <a:solidFill>
                <a:srgbClr val="000000"/>
              </a:solidFill>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marL="343080" indent="-343080">
              <a:lnSpc>
                <a:spcPct val="80000"/>
              </a:lnSpc>
              <a:spcBef>
                <a:spcPts val="49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The velocity depends on the coordinate system adopted.</a:t>
            </a:r>
            <a:endParaRPr b="0" lang="en-US" sz="2000" spc="-1" strike="noStrike">
              <a:solidFill>
                <a:srgbClr val="000000"/>
              </a:solidFill>
              <a:latin typeface="Arial"/>
            </a:endParaRPr>
          </a:p>
        </p:txBody>
      </p:sp>
      <p:sp>
        <p:nvSpPr>
          <p:cNvPr id="178" name="Oval 4"/>
          <p:cNvSpPr/>
          <p:nvPr/>
        </p:nvSpPr>
        <p:spPr>
          <a:xfrm>
            <a:off x="3564000" y="3262320"/>
            <a:ext cx="1655640" cy="1584360"/>
          </a:xfrm>
          <a:prstGeom prst="ellipse">
            <a:avLst/>
          </a:prstGeom>
          <a:no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79" name="Line 5"/>
          <p:cNvSpPr/>
          <p:nvPr/>
        </p:nvSpPr>
        <p:spPr>
          <a:xfrm flipV="1">
            <a:off x="4356000" y="3117600"/>
            <a:ext cx="1152720" cy="936360"/>
          </a:xfrm>
          <a:prstGeom prst="line">
            <a:avLst/>
          </a:prstGeom>
          <a:ln w="93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80" name="Line 6"/>
          <p:cNvSpPr/>
          <p:nvPr/>
        </p:nvSpPr>
        <p:spPr>
          <a:xfrm flipH="1" flipV="1">
            <a:off x="3564000" y="3262320"/>
            <a:ext cx="792000" cy="7920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81" name="Oval 7"/>
          <p:cNvSpPr/>
          <p:nvPr/>
        </p:nvSpPr>
        <p:spPr>
          <a:xfrm>
            <a:off x="4572000" y="3262320"/>
            <a:ext cx="144360" cy="142920"/>
          </a:xfrm>
          <a:prstGeom prst="ellipse">
            <a:avLst/>
          </a:prstGeom>
          <a:solidFill>
            <a:srgbClr val="cc99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82" name="Line 8"/>
          <p:cNvSpPr/>
          <p:nvPr/>
        </p:nvSpPr>
        <p:spPr>
          <a:xfrm flipV="1">
            <a:off x="4356000" y="3404880"/>
            <a:ext cx="287280" cy="649080"/>
          </a:xfrm>
          <a:prstGeom prst="line">
            <a:avLst/>
          </a:prstGeom>
          <a:ln w="2844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83" name="Arc 9"/>
          <p:cNvSpPr/>
          <p:nvPr/>
        </p:nvSpPr>
        <p:spPr>
          <a:xfrm flipH="1" flipV="1" rot="11131200">
            <a:off x="5075640" y="2757600"/>
            <a:ext cx="792360" cy="792000"/>
          </a:xfrm>
          <a:prstGeom prst="pie">
            <a:avLst/>
          </a:prstGeom>
          <a:noFill/>
          <a:ln w="9360">
            <a:solidFill>
              <a:srgbClr val="000000"/>
            </a:solidFill>
            <a:round/>
            <a:headEnd len="med" type="triangle" w="med"/>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mc:AlternateContent>
        <mc:Choice xmlns:a14="http://schemas.microsoft.com/office/drawing/2010/main" Requires="a14">
          <p:sp>
            <p:nvSpPr>
              <p:cNvPr id="184" name="Object 10"/>
              <p:cNvSpPr txBox="1"/>
              <p:nvPr/>
            </p:nvSpPr>
            <p:spPr>
              <a:xfrm>
                <a:off x="5867280" y="2708280"/>
                <a:ext cx="395280" cy="361800"/>
              </a:xfrm>
              <a:prstGeom prst="rect">
                <a:avLst/>
              </a:prstGeom>
            </p:spPr>
            <p:txBody>
              <a:bodyPr/>
              <a:p>
                <a14:m>
                  <m:oMath xmlns:m="http://schemas.openxmlformats.org/officeDocument/2006/math">
                    <m:r>
                      <m:t xml:space="preserve">ω</m:t>
                    </m:r>
                  </m:oMath>
                </a14:m>
              </a:p>
            </p:txBody>
          </p:sp>
        </mc:Choice>
        <mc:Fallback/>
      </mc:AlternateContent>
      <mc:AlternateContent>
        <mc:Choice xmlns:a14="http://schemas.microsoft.com/office/drawing/2010/main" Requires="a14">
          <p:sp>
            <p:nvSpPr>
              <p:cNvPr id="185" name="Object 11"/>
              <p:cNvSpPr txBox="1"/>
              <p:nvPr/>
            </p:nvSpPr>
            <p:spPr>
              <a:xfrm>
                <a:off x="4500720" y="2830680"/>
                <a:ext cx="395280" cy="428400"/>
              </a:xfrm>
              <a:prstGeom prst="rect">
                <a:avLst/>
              </a:prstGeom>
            </p:spPr>
            <p:txBody>
              <a:bodyPr/>
              <a:p>
                <a14:m>
                  <m:oMath xmlns:m="http://schemas.openxmlformats.org/officeDocument/2006/math">
                    <m:r>
                      <m:t xml:space="preserve">p</m:t>
                    </m:r>
                  </m:oMath>
                </a14:m>
              </a:p>
            </p:txBody>
          </p:sp>
        </mc:Choice>
        <mc:Fallback/>
      </mc:AlternateContent>
      <p:sp>
        <p:nvSpPr>
          <p:cNvPr id="186" name="Line 12"/>
          <p:cNvSpPr/>
          <p:nvPr/>
        </p:nvSpPr>
        <p:spPr>
          <a:xfrm>
            <a:off x="2700360" y="4989600"/>
            <a:ext cx="273528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87" name="Line 13"/>
          <p:cNvSpPr/>
          <p:nvPr/>
        </p:nvSpPr>
        <p:spPr>
          <a:xfrm flipV="1">
            <a:off x="2700360" y="3333600"/>
            <a:ext cx="0" cy="16560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88" name="Line 14"/>
          <p:cNvSpPr/>
          <p:nvPr/>
        </p:nvSpPr>
        <p:spPr>
          <a:xfrm flipV="1">
            <a:off x="2700360" y="3404880"/>
            <a:ext cx="1871640" cy="1584360"/>
          </a:xfrm>
          <a:prstGeom prst="line">
            <a:avLst/>
          </a:prstGeom>
          <a:ln w="2844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mc:AlternateContent>
        <mc:Choice xmlns:a14="http://schemas.microsoft.com/office/drawing/2010/main" Requires="a14">
          <p:sp>
            <p:nvSpPr>
              <p:cNvPr id="189" name="Object 15"/>
              <p:cNvSpPr txBox="1"/>
              <p:nvPr/>
            </p:nvSpPr>
            <p:spPr>
              <a:xfrm>
                <a:off x="2050920" y="4005360"/>
                <a:ext cx="627120" cy="527040"/>
              </a:xfrm>
              <a:prstGeom prst="rect">
                <a:avLst/>
              </a:prstGeom>
            </p:spPr>
            <p:txBody>
              <a:bodyPr/>
              <a:p>
                <a14:m>
                  <m:oMath xmlns:m="http://schemas.openxmlformats.org/officeDocument/2006/math">
                    <m:d>
                      <m:dPr>
                        <m:begChr m:val="{"/>
                        <m:endChr m:val="}"/>
                      </m:dPr>
                      <m:e>
                        <m:r>
                          <m:t xml:space="preserve">a</m:t>
                        </m:r>
                      </m:e>
                    </m:d>
                  </m:oMath>
                </a14:m>
              </a:p>
            </p:txBody>
          </p:sp>
        </mc:Choice>
        <mc:Fallback/>
      </mc:AlternateContent>
      <mc:AlternateContent>
        <mc:Choice xmlns:a14="http://schemas.microsoft.com/office/drawing/2010/main" Requires="a14">
          <p:sp>
            <p:nvSpPr>
              <p:cNvPr id="190" name="Object 16"/>
              <p:cNvSpPr txBox="1"/>
              <p:nvPr/>
            </p:nvSpPr>
            <p:spPr>
              <a:xfrm>
                <a:off x="4356000" y="3838680"/>
                <a:ext cx="594000" cy="527040"/>
              </a:xfrm>
              <a:prstGeom prst="rect">
                <a:avLst/>
              </a:prstGeom>
            </p:spPr>
            <p:txBody>
              <a:bodyPr/>
              <a:p>
                <a14:m>
                  <m:oMath xmlns:m="http://schemas.openxmlformats.org/officeDocument/2006/math">
                    <m:d>
                      <m:dPr>
                        <m:begChr m:val="{"/>
                        <m:endChr m:val="}"/>
                      </m:dPr>
                      <m:e>
                        <m:r>
                          <m:t xml:space="preserve">b</m:t>
                        </m:r>
                      </m:e>
                    </m:d>
                  </m:oMath>
                </a14:m>
              </a:p>
            </p:txBody>
          </p:sp>
        </mc:Choice>
        <mc:Fallback/>
      </mc:AlternateContent>
      <p:sp>
        <p:nvSpPr>
          <p:cNvPr id="191" name="Text Box 17"/>
          <p:cNvSpPr/>
          <p:nvPr/>
        </p:nvSpPr>
        <p:spPr>
          <a:xfrm>
            <a:off x="395280" y="5373720"/>
            <a:ext cx="82090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996600"/>
                </a:solidFill>
                <a:latin typeface="Arial"/>
              </a:rPr>
              <a:t>The velocity of “p” wrt {b} is zero, but not wrt {a}.</a:t>
            </a:r>
            <a:endParaRPr b="0" lang="en-US" sz="2400" spc="-1" strike="noStrike">
              <a:solidFill>
                <a:srgbClr val="000000"/>
              </a:solidFill>
              <a:latin typeface="Arial"/>
            </a:endParaRPr>
          </a:p>
        </p:txBody>
      </p:sp>
      <p:sp>
        <p:nvSpPr>
          <p:cNvPr id="192" name="Text Box 18"/>
          <p:cNvSpPr/>
          <p:nvPr/>
        </p:nvSpPr>
        <p:spPr>
          <a:xfrm>
            <a:off x="6372360" y="3068640"/>
            <a:ext cx="2160360" cy="91692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{b} and “p” rotate with angular velocity </a:t>
            </a:r>
            <a:r>
              <a:rPr b="0" lang="en-AU" sz="1800" spc="-1" strike="noStrike">
                <a:solidFill>
                  <a:srgbClr val="996600"/>
                </a:solidFill>
                <a:latin typeface="Symbol"/>
                <a:ea typeface="Symbol"/>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E2973B0-94D7-4729-A310-A4382327D8D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94"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95"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13D6E05-CFE6-424B-8993-CD0CB062ABA3}"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9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Derivative of a vector</a:t>
            </a:r>
            <a:endParaRPr b="0" lang="en-US" sz="4200" spc="-1" strike="noStrike">
              <a:solidFill>
                <a:srgbClr val="006633"/>
              </a:solidFill>
              <a:latin typeface="Tahoma"/>
            </a:endParaRPr>
          </a:p>
        </p:txBody>
      </p:sp>
      <p:sp>
        <p:nvSpPr>
          <p:cNvPr id="197" name="PlaceHolder 2"/>
          <p:cNvSpPr>
            <a:spLocks noGrp="1"/>
          </p:cNvSpPr>
          <p:nvPr>
            <p:ph/>
          </p:nvPr>
        </p:nvSpPr>
        <p:spPr>
          <a:xfrm>
            <a:off x="394920" y="1197000"/>
            <a:ext cx="8064360" cy="151272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u="sng">
                <a:solidFill>
                  <a:srgbClr val="996600"/>
                </a:solidFill>
                <a:uFillTx/>
                <a:latin typeface="Arial"/>
              </a:rPr>
              <a:t>The derivative of a vector makes no sense without specifying the</a:t>
            </a:r>
            <a:r>
              <a:rPr b="0" lang="en-AU" sz="2600" spc="-1" strike="noStrike">
                <a:solidFill>
                  <a:srgbClr val="000000"/>
                </a:solidFill>
                <a:latin typeface="Arial"/>
              </a:rPr>
              <a:t> </a:t>
            </a:r>
            <a:r>
              <a:rPr b="0" lang="en-AU" sz="2600" spc="-1" strike="noStrike" u="sng">
                <a:solidFill>
                  <a:srgbClr val="996600"/>
                </a:solidFill>
                <a:uFillTx/>
                <a:latin typeface="Arial"/>
              </a:rPr>
              <a:t>coordinate system with respect of which the derivative is taken</a:t>
            </a:r>
            <a:r>
              <a:rPr b="0" lang="en-AU" sz="2600" spc="-1" strike="noStrike">
                <a:solidFill>
                  <a:srgbClr val="000000"/>
                </a:solidFill>
                <a:latin typeface="Arial"/>
              </a:rPr>
              <a:t>:</a:t>
            </a:r>
            <a:endParaRPr b="0" lang="en-US" sz="2600" spc="-1" strike="noStrike">
              <a:solidFill>
                <a:srgbClr val="000000"/>
              </a:solidFill>
              <a:latin typeface="Arial"/>
            </a:endParaRPr>
          </a:p>
        </p:txBody>
      </p:sp>
      <p:pic>
        <p:nvPicPr>
          <p:cNvPr id="198" name="Picture 4" descr=""/>
          <p:cNvPicPr/>
          <p:nvPr/>
        </p:nvPicPr>
        <p:blipFill>
          <a:blip r:embed="rId1"/>
          <a:stretch/>
        </p:blipFill>
        <p:spPr>
          <a:xfrm>
            <a:off x="971640" y="2708280"/>
            <a:ext cx="4321080" cy="1987560"/>
          </a:xfrm>
          <a:prstGeom prst="rect">
            <a:avLst/>
          </a:prstGeom>
          <a:ln w="0">
            <a:noFill/>
          </a:ln>
        </p:spPr>
      </p:pic>
      <p:pic>
        <p:nvPicPr>
          <p:cNvPr id="199" name="Picture 5" descr=""/>
          <p:cNvPicPr/>
          <p:nvPr/>
        </p:nvPicPr>
        <p:blipFill>
          <a:blip r:embed="rId2"/>
          <a:stretch/>
        </p:blipFill>
        <p:spPr>
          <a:xfrm>
            <a:off x="6084720" y="3141720"/>
            <a:ext cx="1872000" cy="987480"/>
          </a:xfrm>
          <a:prstGeom prst="rect">
            <a:avLst/>
          </a:prstGeom>
          <a:ln w="0">
            <a:noFill/>
          </a:ln>
        </p:spPr>
      </p:pic>
      <p:sp>
        <p:nvSpPr>
          <p:cNvPr id="200" name="Text Box 6"/>
          <p:cNvSpPr/>
          <p:nvPr/>
        </p:nvSpPr>
        <p:spPr>
          <a:xfrm>
            <a:off x="6372360" y="2781360"/>
            <a:ext cx="21603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In general</a:t>
            </a:r>
            <a:endParaRPr b="0" lang="en-US" sz="1800" spc="-1" strike="noStrike">
              <a:solidFill>
                <a:srgbClr val="000000"/>
              </a:solidFill>
              <a:latin typeface="Arial"/>
            </a:endParaRPr>
          </a:p>
        </p:txBody>
      </p:sp>
      <p:sp>
        <p:nvSpPr>
          <p:cNvPr id="201" name="Line 7"/>
          <p:cNvSpPr/>
          <p:nvPr/>
        </p:nvSpPr>
        <p:spPr>
          <a:xfrm>
            <a:off x="826920" y="2492280"/>
            <a:ext cx="289080" cy="360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2" name="Line 8"/>
          <p:cNvSpPr/>
          <p:nvPr/>
        </p:nvSpPr>
        <p:spPr>
          <a:xfrm>
            <a:off x="826920" y="2492280"/>
            <a:ext cx="360360" cy="12970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DFC51A4-7D3E-4E7C-B935-5FF82B4CBDB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0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0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54FB023-47B9-430E-A471-72F157A587A5}"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0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Transport Theorem</a:t>
            </a:r>
            <a:endParaRPr b="0" lang="en-US" sz="4200" spc="-1" strike="noStrike">
              <a:solidFill>
                <a:srgbClr val="006633"/>
              </a:solidFill>
              <a:latin typeface="Tahoma"/>
            </a:endParaRPr>
          </a:p>
        </p:txBody>
      </p:sp>
      <p:pic>
        <p:nvPicPr>
          <p:cNvPr id="207" name="Picture 3" descr=""/>
          <p:cNvPicPr/>
          <p:nvPr/>
        </p:nvPicPr>
        <p:blipFill>
          <a:blip r:embed="rId1"/>
          <a:stretch/>
        </p:blipFill>
        <p:spPr>
          <a:xfrm>
            <a:off x="2843280" y="981000"/>
            <a:ext cx="2879640" cy="920880"/>
          </a:xfrm>
          <a:prstGeom prst="rect">
            <a:avLst/>
          </a:prstGeom>
          <a:ln w="0">
            <a:noFill/>
          </a:ln>
        </p:spPr>
      </p:pic>
      <p:pic>
        <p:nvPicPr>
          <p:cNvPr id="208" name="Picture 4" descr=""/>
          <p:cNvPicPr/>
          <p:nvPr/>
        </p:nvPicPr>
        <p:blipFill>
          <a:blip r:embed="rId2"/>
          <a:stretch/>
        </p:blipFill>
        <p:spPr>
          <a:xfrm>
            <a:off x="2843280" y="2349360"/>
            <a:ext cx="1584360" cy="479520"/>
          </a:xfrm>
          <a:prstGeom prst="rect">
            <a:avLst/>
          </a:prstGeom>
          <a:ln w="0">
            <a:noFill/>
          </a:ln>
        </p:spPr>
      </p:pic>
      <p:pic>
        <p:nvPicPr>
          <p:cNvPr id="209" name="Picture 5" descr=""/>
          <p:cNvPicPr/>
          <p:nvPr/>
        </p:nvPicPr>
        <p:blipFill>
          <a:blip r:embed="rId3"/>
          <a:stretch/>
        </p:blipFill>
        <p:spPr>
          <a:xfrm>
            <a:off x="2340000" y="2854440"/>
            <a:ext cx="2873520" cy="641160"/>
          </a:xfrm>
          <a:prstGeom prst="rect">
            <a:avLst/>
          </a:prstGeom>
          <a:ln w="0">
            <a:noFill/>
          </a:ln>
        </p:spPr>
      </p:pic>
      <p:pic>
        <p:nvPicPr>
          <p:cNvPr id="210" name="Picture 6" descr=""/>
          <p:cNvPicPr/>
          <p:nvPr/>
        </p:nvPicPr>
        <p:blipFill>
          <a:blip r:embed="rId4"/>
          <a:stretch/>
        </p:blipFill>
        <p:spPr>
          <a:xfrm>
            <a:off x="900000" y="5157720"/>
            <a:ext cx="2165400" cy="495360"/>
          </a:xfrm>
          <a:prstGeom prst="rect">
            <a:avLst/>
          </a:prstGeom>
          <a:ln w="0">
            <a:noFill/>
          </a:ln>
        </p:spPr>
      </p:pic>
      <p:sp>
        <p:nvSpPr>
          <p:cNvPr id="211" name="Text Box 8"/>
          <p:cNvSpPr/>
          <p:nvPr/>
        </p:nvSpPr>
        <p:spPr>
          <a:xfrm>
            <a:off x="468360" y="2133720"/>
            <a:ext cx="2160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In coordinate form</a:t>
            </a:r>
            <a:endParaRPr b="0" lang="en-US" sz="1800" spc="-1" strike="noStrike">
              <a:solidFill>
                <a:srgbClr val="000000"/>
              </a:solidFill>
              <a:latin typeface="Arial"/>
            </a:endParaRPr>
          </a:p>
        </p:txBody>
      </p:sp>
      <p:sp>
        <p:nvSpPr>
          <p:cNvPr id="212" name="Text Box 9"/>
          <p:cNvSpPr/>
          <p:nvPr/>
        </p:nvSpPr>
        <p:spPr>
          <a:xfrm>
            <a:off x="324000" y="4292640"/>
            <a:ext cx="3097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If we multiply both sides by</a:t>
            </a:r>
            <a:endParaRPr b="0" lang="en-US" sz="1800" spc="-1" strike="noStrike">
              <a:solidFill>
                <a:srgbClr val="000000"/>
              </a:solidFill>
              <a:latin typeface="Arial"/>
            </a:endParaRPr>
          </a:p>
        </p:txBody>
      </p:sp>
      <p:pic>
        <p:nvPicPr>
          <p:cNvPr id="213" name="Picture 10" descr=""/>
          <p:cNvPicPr/>
          <p:nvPr/>
        </p:nvPicPr>
        <p:blipFill>
          <a:blip r:embed="rId5"/>
          <a:stretch/>
        </p:blipFill>
        <p:spPr>
          <a:xfrm>
            <a:off x="3203640" y="4292640"/>
            <a:ext cx="431640" cy="380880"/>
          </a:xfrm>
          <a:prstGeom prst="rect">
            <a:avLst/>
          </a:prstGeom>
          <a:ln w="0">
            <a:noFill/>
          </a:ln>
        </p:spPr>
      </p:pic>
      <p:pic>
        <p:nvPicPr>
          <p:cNvPr id="214" name="Picture 11" descr=""/>
          <p:cNvPicPr/>
          <p:nvPr/>
        </p:nvPicPr>
        <p:blipFill>
          <a:blip r:embed="rId6"/>
          <a:stretch/>
        </p:blipFill>
        <p:spPr>
          <a:xfrm>
            <a:off x="2987640" y="3429000"/>
            <a:ext cx="2879640" cy="635040"/>
          </a:xfrm>
          <a:prstGeom prst="rect">
            <a:avLst/>
          </a:prstGeom>
          <a:ln w="0">
            <a:noFill/>
          </a:ln>
        </p:spPr>
      </p:pic>
      <p:sp>
        <p:nvSpPr>
          <p:cNvPr id="215" name="Text Box 12"/>
          <p:cNvSpPr/>
          <p:nvPr/>
        </p:nvSpPr>
        <p:spPr>
          <a:xfrm>
            <a:off x="3059280" y="5229360"/>
            <a:ext cx="3952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996600"/>
                </a:solidFill>
                <a:latin typeface="Arial"/>
              </a:rPr>
              <a:t>?</a:t>
            </a:r>
            <a:endParaRPr b="0" lang="en-US" sz="2400" spc="-1" strike="noStrike">
              <a:solidFill>
                <a:srgbClr val="000000"/>
              </a:solidFill>
              <a:latin typeface="Arial"/>
            </a:endParaRPr>
          </a:p>
        </p:txBody>
      </p:sp>
      <p:sp>
        <p:nvSpPr>
          <p:cNvPr id="216" name="Text Box 13"/>
          <p:cNvSpPr/>
          <p:nvPr/>
        </p:nvSpPr>
        <p:spPr>
          <a:xfrm>
            <a:off x="4572000" y="4149720"/>
            <a:ext cx="3097080" cy="91692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We need to use double script so we don’t have this problem in notation:</a:t>
            </a:r>
            <a:endParaRPr b="0" lang="en-US" sz="1800" spc="-1" strike="noStrike">
              <a:solidFill>
                <a:srgbClr val="000000"/>
              </a:solidFill>
              <a:latin typeface="Arial"/>
            </a:endParaRPr>
          </a:p>
        </p:txBody>
      </p:sp>
      <p:pic>
        <p:nvPicPr>
          <p:cNvPr id="217" name="Picture 14" descr=""/>
          <p:cNvPicPr/>
          <p:nvPr/>
        </p:nvPicPr>
        <p:blipFill>
          <a:blip r:embed="rId7"/>
          <a:stretch/>
        </p:blipFill>
        <p:spPr>
          <a:xfrm>
            <a:off x="5219640" y="5300640"/>
            <a:ext cx="2889360" cy="5857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E53C082-AC79-4271-A8DA-0448B8D084D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19"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20"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100FB13-F3D9-4A5B-8FFA-1B0A9700702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2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Sum of angular velocities revisited</a:t>
            </a:r>
            <a:endParaRPr b="0" lang="en-US" sz="3800" spc="-1" strike="noStrike">
              <a:solidFill>
                <a:srgbClr val="006633"/>
              </a:solidFill>
              <a:latin typeface="Tahoma"/>
            </a:endParaRPr>
          </a:p>
        </p:txBody>
      </p:sp>
      <p:sp>
        <p:nvSpPr>
          <p:cNvPr id="222" name="Text Box 3"/>
          <p:cNvSpPr/>
          <p:nvPr/>
        </p:nvSpPr>
        <p:spPr>
          <a:xfrm>
            <a:off x="468360" y="1125360"/>
            <a:ext cx="453528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This one is easier to show in coordinate-free form: </a:t>
            </a:r>
            <a:endParaRPr b="0" lang="en-US" sz="2400" spc="-1" strike="noStrike">
              <a:solidFill>
                <a:srgbClr val="000000"/>
              </a:solidFill>
              <a:latin typeface="Arial"/>
            </a:endParaRPr>
          </a:p>
        </p:txBody>
      </p:sp>
      <p:sp>
        <p:nvSpPr>
          <p:cNvPr id="223" name="Text Box 4"/>
          <p:cNvSpPr/>
          <p:nvPr/>
        </p:nvSpPr>
        <p:spPr>
          <a:xfrm>
            <a:off x="4427640" y="1989000"/>
            <a:ext cx="10810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Then</a:t>
            </a:r>
            <a:endParaRPr b="0" lang="en-US" sz="2400" spc="-1" strike="noStrike">
              <a:solidFill>
                <a:srgbClr val="000000"/>
              </a:solidFill>
              <a:latin typeface="Arial"/>
            </a:endParaRPr>
          </a:p>
        </p:txBody>
      </p:sp>
      <mc:AlternateContent>
        <mc:Choice xmlns:a14="http://schemas.microsoft.com/office/drawing/2010/main" Requires="a14">
          <p:sp>
            <p:nvSpPr>
              <p:cNvPr id="224" name="Object 5"/>
              <p:cNvSpPr txBox="1"/>
              <p:nvPr/>
            </p:nvSpPr>
            <p:spPr>
              <a:xfrm>
                <a:off x="900000" y="2708280"/>
                <a:ext cx="2376720" cy="2160720"/>
              </a:xfrm>
              <a:prstGeom prst="rect">
                <a:avLst/>
              </a:prstGeom>
            </p:spPr>
            <p:txBody>
              <a:bodyPr/>
              <a:p>
                <a14:m>
                  <m:oMath xmlns:m="http://schemas.openxmlformats.org/officeDocument/2006/math">
                    <m:eqArr>
                      <m:e>
                        <m:f>
                          <m:num>
                            <m:r>
                              <m:t xml:space="preserve">d</m:t>
                            </m:r>
                            <m:r>
                              <m:t xml:space="preserve"> </m:t>
                            </m:r>
                            <m:acc>
                              <m:accPr>
                                <m:chr m:val="⃗"/>
                              </m:accPr>
                              <m:e>
                                <m:r>
                                  <m:t xml:space="preserve">ρ</m:t>
                                </m:r>
                              </m:e>
                            </m:acc>
                          </m:num>
                          <m:den>
                            <m:r>
                              <m:rPr>
                                <m:lit/>
                                <m:nor/>
                              </m:rPr>
                              <m:t xml:space="preserve">dt</m:t>
                            </m:r>
                          </m:den>
                        </m:f>
                        <m:r>
                          <m:t xml:space="preserve">=</m:t>
                        </m:r>
                        <m:f>
                          <m:num>
                            <m:r>
                              <m:t xml:space="preserve">d</m:t>
                            </m:r>
                            <m:r>
                              <m:t xml:space="preserve"> </m:t>
                            </m:r>
                            <m:acc>
                              <m:accPr>
                                <m:chr m:val="⃗"/>
                              </m:accPr>
                              <m:e>
                                <m:r>
                                  <m:t xml:space="preserve">ρ</m:t>
                                </m:r>
                              </m:e>
                            </m:acc>
                          </m:num>
                          <m:den>
                            <m:r>
                              <m:rPr>
                                <m:lit/>
                                <m:nor/>
                              </m:rPr>
                              <m:t xml:space="preserve">dt</m:t>
                            </m:r>
                          </m:den>
                        </m:f>
                        <m:r>
                          <m:t xml:space="preserve">+</m:t>
                        </m:r>
                        <m:sSub>
                          <m:e>
                            <m:acc>
                              <m:accPr>
                                <m:chr m:val="⃗"/>
                              </m:accPr>
                              <m:e>
                                <m:r>
                                  <m:t xml:space="preserve">ω</m:t>
                                </m:r>
                              </m:e>
                            </m:acc>
                          </m:e>
                          <m:sub>
                            <m:r>
                              <m:rPr>
                                <m:lit/>
                                <m:nor/>
                              </m:rPr>
                              <m:t xml:space="preserve">ab</m:t>
                            </m:r>
                          </m:sub>
                        </m:sSub>
                        <m:r>
                          <m:t xml:space="preserve">×</m:t>
                        </m:r>
                        <m:acc>
                          <m:accPr>
                            <m:chr m:val="⃗"/>
                          </m:accPr>
                          <m:e>
                            <m:r>
                              <m:t xml:space="preserve">ρ</m:t>
                            </m:r>
                          </m:e>
                        </m:acc>
                      </m:e>
                      <m:e>
                        <m:f>
                          <m:num>
                            <m:r>
                              <m:t xml:space="preserve">d</m:t>
                            </m:r>
                            <m:r>
                              <m:t xml:space="preserve"> </m:t>
                            </m:r>
                            <m:acc>
                              <m:accPr>
                                <m:chr m:val="⃗"/>
                              </m:accPr>
                              <m:e>
                                <m:r>
                                  <m:t xml:space="preserve">ρ</m:t>
                                </m:r>
                              </m:e>
                            </m:acc>
                          </m:num>
                          <m:den>
                            <m:r>
                              <m:rPr>
                                <m:lit/>
                                <m:nor/>
                              </m:rPr>
                              <m:t xml:space="preserve">dt</m:t>
                            </m:r>
                          </m:den>
                        </m:f>
                        <m:r>
                          <m:t xml:space="preserve">=</m:t>
                        </m:r>
                        <m:f>
                          <m:num>
                            <m:r>
                              <m:t xml:space="preserve">d</m:t>
                            </m:r>
                            <m:r>
                              <m:t xml:space="preserve"> </m:t>
                            </m:r>
                            <m:acc>
                              <m:accPr>
                                <m:chr m:val="⃗"/>
                              </m:accPr>
                              <m:e>
                                <m:r>
                                  <m:t xml:space="preserve">ρ</m:t>
                                </m:r>
                              </m:e>
                            </m:acc>
                          </m:num>
                          <m:den>
                            <m:r>
                              <m:rPr>
                                <m:lit/>
                                <m:nor/>
                              </m:rPr>
                              <m:t xml:space="preserve">dt</m:t>
                            </m:r>
                          </m:den>
                        </m:f>
                        <m:r>
                          <m:t xml:space="preserve">+</m:t>
                        </m:r>
                        <m:sSub>
                          <m:e>
                            <m:acc>
                              <m:accPr>
                                <m:chr m:val="⃗"/>
                              </m:accPr>
                              <m:e>
                                <m:r>
                                  <m:t xml:space="preserve">ω</m:t>
                                </m:r>
                              </m:e>
                            </m:acc>
                          </m:e>
                          <m:sub>
                            <m:r>
                              <m:rPr>
                                <m:lit/>
                                <m:nor/>
                              </m:rPr>
                              <m:t xml:space="preserve">bc</m:t>
                            </m:r>
                          </m:sub>
                        </m:sSub>
                        <m:r>
                          <m:t xml:space="preserve">×</m:t>
                        </m:r>
                        <m:acc>
                          <m:accPr>
                            <m:chr m:val="⃗"/>
                          </m:accPr>
                          <m:e>
                            <m:r>
                              <m:t xml:space="preserve">ρ</m:t>
                            </m:r>
                          </m:e>
                        </m:acc>
                      </m:e>
                      <m:e>
                        <m:f>
                          <m:num>
                            <m:r>
                              <m:t xml:space="preserve">d</m:t>
                            </m:r>
                            <m:r>
                              <m:t xml:space="preserve"> </m:t>
                            </m:r>
                            <m:acc>
                              <m:accPr>
                                <m:chr m:val="⃗"/>
                              </m:accPr>
                              <m:e>
                                <m:r>
                                  <m:t xml:space="preserve">ρ</m:t>
                                </m:r>
                              </m:e>
                            </m:acc>
                          </m:num>
                          <m:den>
                            <m:r>
                              <m:rPr>
                                <m:lit/>
                                <m:nor/>
                              </m:rPr>
                              <m:t xml:space="preserve">dt</m:t>
                            </m:r>
                          </m:den>
                        </m:f>
                        <m:r>
                          <m:t xml:space="preserve">=</m:t>
                        </m:r>
                        <m:f>
                          <m:num>
                            <m:r>
                              <m:t xml:space="preserve">d</m:t>
                            </m:r>
                            <m:r>
                              <m:t xml:space="preserve"> </m:t>
                            </m:r>
                            <m:acc>
                              <m:accPr>
                                <m:chr m:val="⃗"/>
                              </m:accPr>
                              <m:e>
                                <m:r>
                                  <m:t xml:space="preserve">ρ</m:t>
                                </m:r>
                              </m:e>
                            </m:acc>
                          </m:num>
                          <m:den>
                            <m:r>
                              <m:rPr>
                                <m:lit/>
                                <m:nor/>
                              </m:rPr>
                              <m:t xml:space="preserve">dt</m:t>
                            </m:r>
                          </m:den>
                        </m:f>
                        <m:r>
                          <m:t xml:space="preserve">+</m:t>
                        </m:r>
                        <m:sSub>
                          <m:e>
                            <m:acc>
                              <m:accPr>
                                <m:chr m:val="⃗"/>
                              </m:accPr>
                              <m:e>
                                <m:r>
                                  <m:t xml:space="preserve">ω</m:t>
                                </m:r>
                              </m:e>
                            </m:acc>
                          </m:e>
                          <m:sub>
                            <m:r>
                              <m:rPr>
                                <m:lit/>
                                <m:nor/>
                              </m:rPr>
                              <m:t xml:space="preserve">cd</m:t>
                            </m:r>
                          </m:sub>
                        </m:sSub>
                        <m:r>
                          <m:t xml:space="preserve">×</m:t>
                        </m:r>
                        <m:acc>
                          <m:accPr>
                            <m:chr m:val="⃗"/>
                          </m:accPr>
                          <m:e>
                            <m:r>
                              <m:t xml:space="preserve">ρ</m:t>
                            </m:r>
                          </m:e>
                        </m:acc>
                      </m:e>
                    </m:eqArr>
                  </m:oMath>
                </a14:m>
              </a:p>
            </p:txBody>
          </p:sp>
        </mc:Choice>
        <mc:Fallback/>
      </mc:AlternateContent>
      <mc:AlternateContent>
        <mc:Choice xmlns:a14="http://schemas.microsoft.com/office/drawing/2010/main" Requires="a14">
          <p:sp>
            <p:nvSpPr>
              <p:cNvPr id="225" name="Object 6"/>
              <p:cNvSpPr txBox="1"/>
              <p:nvPr/>
            </p:nvSpPr>
            <p:spPr>
              <a:xfrm>
                <a:off x="4500720" y="2637000"/>
                <a:ext cx="4321080" cy="2481120"/>
              </a:xfrm>
              <a:prstGeom prst="rect">
                <a:avLst/>
              </a:prstGeom>
            </p:spPr>
            <p:txBody>
              <a:bodyPr/>
              <a:p>
                <a14:m>
                  <m:oMath xmlns:m="http://schemas.openxmlformats.org/officeDocument/2006/math">
                    <m:eqArr>
                      <m:e>
                        <m:f>
                          <m:num>
                            <m:r>
                              <m:t xml:space="preserve">d</m:t>
                            </m:r>
                            <m:r>
                              <m:t xml:space="preserve"> </m:t>
                            </m:r>
                            <m:acc>
                              <m:accPr>
                                <m:chr m:val="⃗"/>
                              </m:accPr>
                              <m:e>
                                <m:r>
                                  <m:t xml:space="preserve">ρ</m:t>
                                </m:r>
                              </m:e>
                            </m:acc>
                          </m:num>
                          <m:den>
                            <m:r>
                              <m:rPr>
                                <m:lit/>
                                <m:nor/>
                              </m:rPr>
                              <m:t xml:space="preserve">dt</m:t>
                            </m:r>
                          </m:den>
                        </m:f>
                        <m:r>
                          <m:t xml:space="preserve">=</m:t>
                        </m:r>
                        <m:f>
                          <m:num>
                            <m:r>
                              <m:t xml:space="preserve">d</m:t>
                            </m:r>
                            <m:r>
                              <m:t xml:space="preserve"> </m:t>
                            </m:r>
                            <m:acc>
                              <m:accPr>
                                <m:chr m:val="⃗"/>
                              </m:accPr>
                              <m:e>
                                <m:r>
                                  <m:t xml:space="preserve">ρ</m:t>
                                </m:r>
                              </m:e>
                            </m:acc>
                          </m:num>
                          <m:den>
                            <m:r>
                              <m:rPr>
                                <m:lit/>
                                <m:nor/>
                              </m:rPr>
                              <m:t xml:space="preserve">dt</m:t>
                            </m:r>
                          </m:den>
                        </m:f>
                        <m:r>
                          <m:t xml:space="preserve">+</m:t>
                        </m:r>
                        <m:sSub>
                          <m:e>
                            <m:acc>
                              <m:accPr>
                                <m:chr m:val="⃗"/>
                              </m:accPr>
                              <m:e>
                                <m:r>
                                  <m:t xml:space="preserve">ω</m:t>
                                </m:r>
                              </m:e>
                            </m:acc>
                          </m:e>
                          <m:sub>
                            <m:r>
                              <m:rPr>
                                <m:lit/>
                                <m:nor/>
                              </m:rPr>
                              <m:t xml:space="preserve">bc</m:t>
                            </m:r>
                          </m:sub>
                        </m:sSub>
                        <m:r>
                          <m:t xml:space="preserve">×</m:t>
                        </m:r>
                        <m:acc>
                          <m:accPr>
                            <m:chr m:val="⃗"/>
                          </m:accPr>
                          <m:e>
                            <m:r>
                              <m:t xml:space="preserve">ρ</m:t>
                            </m:r>
                          </m:e>
                        </m:acc>
                        <m:r>
                          <m:t xml:space="preserve">+</m:t>
                        </m:r>
                        <m:sSub>
                          <m:e>
                            <m:acc>
                              <m:accPr>
                                <m:chr m:val="⃗"/>
                              </m:accPr>
                              <m:e>
                                <m:r>
                                  <m:t xml:space="preserve">ω</m:t>
                                </m:r>
                              </m:e>
                            </m:acc>
                          </m:e>
                          <m:sub>
                            <m:r>
                              <m:rPr>
                                <m:lit/>
                                <m:nor/>
                              </m:rPr>
                              <m:t xml:space="preserve">ab</m:t>
                            </m:r>
                          </m:sub>
                        </m:sSub>
                        <m:r>
                          <m:t xml:space="preserve">×</m:t>
                        </m:r>
                        <m:acc>
                          <m:accPr>
                            <m:chr m:val="⃗"/>
                          </m:accPr>
                          <m:e>
                            <m:r>
                              <m:t xml:space="preserve">ρ</m:t>
                            </m:r>
                          </m:e>
                        </m:acc>
                      </m:e>
                      <m:e>
                        <m:r>
                          <m:t xml:space="preserve"> </m:t>
                        </m:r>
                        <m:f>
                          <m:num>
                            <m:r>
                              <m:t xml:space="preserve">d</m:t>
                            </m:r>
                            <m:r>
                              <m:t xml:space="preserve"> </m:t>
                            </m:r>
                            <m:acc>
                              <m:accPr>
                                <m:chr m:val="⃗"/>
                              </m:accPr>
                              <m:e>
                                <m:r>
                                  <m:t xml:space="preserve">ρ</m:t>
                                </m:r>
                              </m:e>
                            </m:acc>
                          </m:num>
                          <m:den>
                            <m:r>
                              <m:rPr>
                                <m:lit/>
                                <m:nor/>
                              </m:rPr>
                              <m:t xml:space="preserve">dt</m:t>
                            </m:r>
                          </m:den>
                        </m:f>
                        <m:r>
                          <m:t xml:space="preserve">+</m:t>
                        </m:r>
                        <m:sSub>
                          <m:e>
                            <m:acc>
                              <m:accPr>
                                <m:chr m:val="⃗"/>
                              </m:accPr>
                              <m:e>
                                <m:r>
                                  <m:t xml:space="preserve">ω</m:t>
                                </m:r>
                              </m:e>
                            </m:acc>
                          </m:e>
                          <m:sub>
                            <m:r>
                              <m:rPr>
                                <m:lit/>
                                <m:nor/>
                              </m:rPr>
                              <m:t xml:space="preserve">dc</m:t>
                            </m:r>
                          </m:sub>
                        </m:sSub>
                        <m:r>
                          <m:t xml:space="preserve">×</m:t>
                        </m:r>
                        <m:acc>
                          <m:accPr>
                            <m:chr m:val="⃗"/>
                          </m:accPr>
                          <m:e>
                            <m:r>
                              <m:t xml:space="preserve">ρ</m:t>
                            </m:r>
                          </m:e>
                        </m:acc>
                        <m:r>
                          <m:t xml:space="preserve">+</m:t>
                        </m:r>
                        <m:sSub>
                          <m:e>
                            <m:acc>
                              <m:accPr>
                                <m:chr m:val="⃗"/>
                              </m:accPr>
                              <m:e>
                                <m:r>
                                  <m:t xml:space="preserve">ω</m:t>
                                </m:r>
                              </m:e>
                            </m:acc>
                          </m:e>
                          <m:sub>
                            <m:r>
                              <m:rPr>
                                <m:lit/>
                                <m:nor/>
                              </m:rPr>
                              <m:t xml:space="preserve">bc</m:t>
                            </m:r>
                          </m:sub>
                        </m:sSub>
                        <m:r>
                          <m:t xml:space="preserve">×</m:t>
                        </m:r>
                        <m:acc>
                          <m:accPr>
                            <m:chr m:val="⃗"/>
                          </m:accPr>
                          <m:e>
                            <m:r>
                              <m:t xml:space="preserve">ρ</m:t>
                            </m:r>
                          </m:e>
                        </m:acc>
                        <m:r>
                          <m:t xml:space="preserve">+</m:t>
                        </m:r>
                        <m:sSub>
                          <m:e>
                            <m:acc>
                              <m:accPr>
                                <m:chr m:val="⃗"/>
                              </m:accPr>
                              <m:e>
                                <m:r>
                                  <m:t xml:space="preserve">ω</m:t>
                                </m:r>
                              </m:e>
                            </m:acc>
                          </m:e>
                          <m:sub>
                            <m:r>
                              <m:rPr>
                                <m:lit/>
                                <m:nor/>
                              </m:rPr>
                              <m:t xml:space="preserve">ab</m:t>
                            </m:r>
                          </m:sub>
                        </m:sSub>
                        <m:r>
                          <m:t xml:space="preserve">×</m:t>
                        </m:r>
                        <m:acc>
                          <m:accPr>
                            <m:chr m:val="⃗"/>
                          </m:accPr>
                          <m:e>
                            <m:r>
                              <m:t xml:space="preserve">ρ</m:t>
                            </m:r>
                          </m:e>
                        </m:acc>
                      </m:e>
                      <m:e>
                        <m:r>
                          <m:t xml:space="preserve"> </m:t>
                        </m:r>
                        <m:r>
                          <m:t xml:space="preserve">=</m:t>
                        </m:r>
                        <m:f>
                          <m:num>
                            <m:r>
                              <m:t xml:space="preserve">d</m:t>
                            </m:r>
                            <m:r>
                              <m:t xml:space="preserve"> </m:t>
                            </m:r>
                            <m:acc>
                              <m:accPr>
                                <m:chr m:val="⃗"/>
                              </m:accPr>
                              <m:e>
                                <m:r>
                                  <m:t xml:space="preserve">ρ</m:t>
                                </m:r>
                              </m:e>
                            </m:acc>
                          </m:num>
                          <m:den>
                            <m:r>
                              <m:rPr>
                                <m:lit/>
                                <m:nor/>
                              </m:rPr>
                              <m:t xml:space="preserve">dt</m:t>
                            </m:r>
                          </m:den>
                        </m:f>
                        <m:r>
                          <m:t xml:space="preserve">+</m:t>
                        </m:r>
                        <m:limLow>
                          <m:e>
                            <m:groupChr>
                              <m:groupChrPr>
                                <m:chr m:val="⏟"/>
                                <m:pos m:val="bot"/>
                                <m:vertJc m:val="top"/>
                              </m:groupChrPr>
                              <m:e>
                                <m:r>
                                  <m:t xml:space="preserve">(</m:t>
                                </m:r>
                                <m:sSub>
                                  <m:e>
                                    <m:acc>
                                      <m:accPr>
                                        <m:chr m:val="⃗"/>
                                      </m:accPr>
                                      <m:e>
                                        <m:r>
                                          <m:t xml:space="preserve">ω</m:t>
                                        </m:r>
                                      </m:e>
                                    </m:acc>
                                  </m:e>
                                  <m:sub>
                                    <m:r>
                                      <m:rPr>
                                        <m:lit/>
                                        <m:nor/>
                                      </m:rPr>
                                      <m:t xml:space="preserve">dc</m:t>
                                    </m:r>
                                  </m:sub>
                                </m:sSub>
                                <m:r>
                                  <m:t xml:space="preserve">+</m:t>
                                </m:r>
                                <m:sSub>
                                  <m:e>
                                    <m:acc>
                                      <m:accPr>
                                        <m:chr m:val="⃗"/>
                                      </m:accPr>
                                      <m:e>
                                        <m:r>
                                          <m:t xml:space="preserve">ω</m:t>
                                        </m:r>
                                      </m:e>
                                    </m:acc>
                                  </m:e>
                                  <m:sub>
                                    <m:r>
                                      <m:rPr>
                                        <m:lit/>
                                        <m:nor/>
                                      </m:rPr>
                                      <m:t xml:space="preserve">bc</m:t>
                                    </m:r>
                                  </m:sub>
                                </m:sSub>
                                <m:r>
                                  <m:t xml:space="preserve">+</m:t>
                                </m:r>
                                <m:sSub>
                                  <m:e>
                                    <m:acc>
                                      <m:accPr>
                                        <m:chr m:val="⃗"/>
                                      </m:accPr>
                                      <m:e>
                                        <m:r>
                                          <m:t xml:space="preserve">ω</m:t>
                                        </m:r>
                                      </m:e>
                                    </m:acc>
                                  </m:e>
                                  <m:sub>
                                    <m:r>
                                      <m:rPr>
                                        <m:lit/>
                                        <m:nor/>
                                      </m:rPr>
                                      <m:t xml:space="preserve">ab</m:t>
                                    </m:r>
                                  </m:sub>
                                </m:sSub>
                                <m:r>
                                  <m:t xml:space="preserve">)</m:t>
                                </m:r>
                              </m:e>
                            </m:groupChr>
                          </m:e>
                          <m:lim>
                            <m:sSub>
                              <m:e>
                                <m:acc>
                                  <m:accPr>
                                    <m:chr m:val="⃗"/>
                                  </m:accPr>
                                  <m:e>
                                    <m:r>
                                      <m:t xml:space="preserve">ω</m:t>
                                    </m:r>
                                  </m:e>
                                </m:acc>
                              </m:e>
                              <m:sub>
                                <m:r>
                                  <m:rPr>
                                    <m:lit/>
                                    <m:nor/>
                                  </m:rPr>
                                  <m:t xml:space="preserve">ad</m:t>
                                </m:r>
                              </m:sub>
                            </m:sSub>
                          </m:lim>
                        </m:limLow>
                        <m:r>
                          <m:t xml:space="preserve">×</m:t>
                        </m:r>
                        <m:acc>
                          <m:accPr>
                            <m:chr m:val="⃗"/>
                          </m:accPr>
                          <m:e>
                            <m:r>
                              <m:t xml:space="preserve">ρ</m:t>
                            </m:r>
                          </m:e>
                        </m:acc>
                      </m:e>
                    </m:eqArr>
                  </m:oMath>
                </a14:m>
              </a:p>
            </p:txBody>
          </p:sp>
        </mc:Choice>
        <mc:Fallback/>
      </mc:AlternateContent>
      <p:sp>
        <p:nvSpPr>
          <p:cNvPr id="226" name="Text Box 7"/>
          <p:cNvSpPr/>
          <p:nvPr/>
        </p:nvSpPr>
        <p:spPr>
          <a:xfrm>
            <a:off x="539640" y="5373720"/>
            <a:ext cx="828216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It is convenient to be familiar with both coordinate and coordinate-free representations, for some derivations are easier in one form than in the other.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C855891-D7A9-42C7-A557-A0E6AC600A0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28"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29"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359CAF0-E19F-4A49-AE68-E2AE92FB664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3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Velocity and Acceleration</a:t>
            </a:r>
            <a:endParaRPr b="0" lang="en-US" sz="4200" spc="-1" strike="noStrike">
              <a:solidFill>
                <a:srgbClr val="006633"/>
              </a:solidFill>
              <a:latin typeface="Tahoma"/>
            </a:endParaRPr>
          </a:p>
        </p:txBody>
      </p:sp>
      <p:sp>
        <p:nvSpPr>
          <p:cNvPr id="231" name="Text Box 3"/>
          <p:cNvSpPr/>
          <p:nvPr/>
        </p:nvSpPr>
        <p:spPr>
          <a:xfrm>
            <a:off x="468360" y="1125360"/>
            <a:ext cx="6192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If {i} denotes an inertial coordinate system, then</a:t>
            </a:r>
            <a:endParaRPr b="0" lang="en-US" sz="1800" spc="-1" strike="noStrike">
              <a:solidFill>
                <a:srgbClr val="000000"/>
              </a:solidFill>
              <a:latin typeface="Arial"/>
            </a:endParaRPr>
          </a:p>
        </p:txBody>
      </p:sp>
      <p:sp>
        <p:nvSpPr>
          <p:cNvPr id="232" name="Text Box 4"/>
          <p:cNvSpPr/>
          <p:nvPr/>
        </p:nvSpPr>
        <p:spPr>
          <a:xfrm>
            <a:off x="2556000" y="2781360"/>
            <a:ext cx="4824360" cy="91692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The first subscript Indicates the coordinate system with respect of which the derivative is taken</a:t>
            </a:r>
            <a:endParaRPr b="0" lang="en-US" sz="1800" spc="-1" strike="noStrike">
              <a:solidFill>
                <a:srgbClr val="000000"/>
              </a:solidFill>
              <a:latin typeface="Arial"/>
            </a:endParaRPr>
          </a:p>
        </p:txBody>
      </p:sp>
      <p:pic>
        <p:nvPicPr>
          <p:cNvPr id="233" name="Picture 5" descr=""/>
          <p:cNvPicPr/>
          <p:nvPr/>
        </p:nvPicPr>
        <p:blipFill>
          <a:blip r:embed="rId1"/>
          <a:stretch/>
        </p:blipFill>
        <p:spPr>
          <a:xfrm>
            <a:off x="1403280" y="1557360"/>
            <a:ext cx="1800360" cy="938160"/>
          </a:xfrm>
          <a:prstGeom prst="rect">
            <a:avLst/>
          </a:prstGeom>
          <a:ln w="0">
            <a:noFill/>
          </a:ln>
        </p:spPr>
      </p:pic>
      <p:pic>
        <p:nvPicPr>
          <p:cNvPr id="234" name="Picture 6" descr=""/>
          <p:cNvPicPr/>
          <p:nvPr/>
        </p:nvPicPr>
        <p:blipFill>
          <a:blip r:embed="rId2"/>
          <a:stretch/>
        </p:blipFill>
        <p:spPr>
          <a:xfrm>
            <a:off x="4500720" y="1557360"/>
            <a:ext cx="1882440" cy="1000080"/>
          </a:xfrm>
          <a:prstGeom prst="rect">
            <a:avLst/>
          </a:prstGeom>
          <a:ln w="0">
            <a:noFill/>
          </a:ln>
        </p:spPr>
      </p:pic>
      <p:sp>
        <p:nvSpPr>
          <p:cNvPr id="235" name="Line 7"/>
          <p:cNvSpPr/>
          <p:nvPr/>
        </p:nvSpPr>
        <p:spPr>
          <a:xfrm flipH="1" flipV="1">
            <a:off x="1835280" y="2276640"/>
            <a:ext cx="2016000" cy="5047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6" name="Line 8"/>
          <p:cNvSpPr/>
          <p:nvPr/>
        </p:nvSpPr>
        <p:spPr>
          <a:xfrm flipV="1">
            <a:off x="3851280" y="2276640"/>
            <a:ext cx="1225440" cy="5047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237" name="Picture 9" descr=""/>
          <p:cNvPicPr/>
          <p:nvPr/>
        </p:nvPicPr>
        <p:blipFill>
          <a:blip r:embed="rId3"/>
          <a:stretch/>
        </p:blipFill>
        <p:spPr>
          <a:xfrm>
            <a:off x="900000" y="4724280"/>
            <a:ext cx="2232000" cy="682920"/>
          </a:xfrm>
          <a:prstGeom prst="rect">
            <a:avLst/>
          </a:prstGeom>
          <a:ln w="0">
            <a:noFill/>
          </a:ln>
        </p:spPr>
      </p:pic>
      <p:pic>
        <p:nvPicPr>
          <p:cNvPr id="238" name="Picture 10" descr=""/>
          <p:cNvPicPr/>
          <p:nvPr/>
        </p:nvPicPr>
        <p:blipFill>
          <a:blip r:embed="rId4"/>
          <a:stretch/>
        </p:blipFill>
        <p:spPr>
          <a:xfrm>
            <a:off x="5796000" y="5229360"/>
            <a:ext cx="2228760" cy="806400"/>
          </a:xfrm>
          <a:prstGeom prst="rect">
            <a:avLst/>
          </a:prstGeom>
          <a:ln w="0">
            <a:noFill/>
          </a:ln>
        </p:spPr>
      </p:pic>
      <p:sp>
        <p:nvSpPr>
          <p:cNvPr id="239" name="Text Box 11"/>
          <p:cNvSpPr/>
          <p:nvPr/>
        </p:nvSpPr>
        <p:spPr>
          <a:xfrm>
            <a:off x="611280" y="4221000"/>
            <a:ext cx="2952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Linear acceleration:</a:t>
            </a:r>
            <a:endParaRPr b="0" lang="en-US" sz="1800" spc="-1" strike="noStrike">
              <a:solidFill>
                <a:srgbClr val="000000"/>
              </a:solidFill>
              <a:latin typeface="Arial"/>
            </a:endParaRPr>
          </a:p>
        </p:txBody>
      </p:sp>
      <p:sp>
        <p:nvSpPr>
          <p:cNvPr id="240" name="Text Box 12"/>
          <p:cNvSpPr/>
          <p:nvPr/>
        </p:nvSpPr>
        <p:spPr>
          <a:xfrm>
            <a:off x="5364000" y="3860640"/>
            <a:ext cx="2953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Angular acceleration</a:t>
            </a:r>
            <a:endParaRPr b="0" lang="en-US" sz="1800" spc="-1" strike="noStrike">
              <a:solidFill>
                <a:srgbClr val="000000"/>
              </a:solidFill>
              <a:latin typeface="Arial"/>
            </a:endParaRPr>
          </a:p>
        </p:txBody>
      </p:sp>
      <p:pic>
        <p:nvPicPr>
          <p:cNvPr id="241" name="Picture 13" descr=""/>
          <p:cNvPicPr/>
          <p:nvPr/>
        </p:nvPicPr>
        <p:blipFill>
          <a:blip r:embed="rId5"/>
          <a:stretch/>
        </p:blipFill>
        <p:spPr>
          <a:xfrm>
            <a:off x="5508720" y="4365720"/>
            <a:ext cx="2533680" cy="7952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09F6D3-4ECF-44F1-A631-D9A3BF34D1F1}"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4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4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86F361E-E8F1-4459-8917-AD574E28611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4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Motion in different coord systems</a:t>
            </a:r>
            <a:endParaRPr b="0" lang="en-US" sz="4200" spc="-1" strike="noStrike">
              <a:solidFill>
                <a:srgbClr val="006633"/>
              </a:solidFill>
              <a:latin typeface="Tahoma"/>
            </a:endParaRPr>
          </a:p>
        </p:txBody>
      </p:sp>
      <p:pic>
        <p:nvPicPr>
          <p:cNvPr id="246" name="Picture 3" descr=""/>
          <p:cNvPicPr/>
          <p:nvPr/>
        </p:nvPicPr>
        <p:blipFill>
          <a:blip r:embed="rId1"/>
          <a:stretch/>
        </p:blipFill>
        <p:spPr>
          <a:xfrm>
            <a:off x="1403280" y="1484280"/>
            <a:ext cx="6624720" cy="4175280"/>
          </a:xfrm>
          <a:prstGeom prst="rect">
            <a:avLst/>
          </a:prstGeom>
          <a:ln w="0">
            <a:noFill/>
          </a:ln>
        </p:spPr>
      </p:pic>
      <p:sp>
        <p:nvSpPr>
          <p:cNvPr id="247" name="Text Box 4"/>
          <p:cNvSpPr/>
          <p:nvPr/>
        </p:nvSpPr>
        <p:spPr>
          <a:xfrm>
            <a:off x="1476360" y="2997360"/>
            <a:ext cx="1224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inertial</a:t>
            </a:r>
            <a:endParaRPr b="0" lang="en-US" sz="1800" spc="-1" strike="noStrike">
              <a:solidFill>
                <a:srgbClr val="000000"/>
              </a:solidFill>
              <a:latin typeface="Arial"/>
            </a:endParaRPr>
          </a:p>
        </p:txBody>
      </p:sp>
      <p:sp>
        <p:nvSpPr>
          <p:cNvPr id="248" name="Text Box 5"/>
          <p:cNvSpPr/>
          <p:nvPr/>
        </p:nvSpPr>
        <p:spPr>
          <a:xfrm>
            <a:off x="5435640" y="1989000"/>
            <a:ext cx="1728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Not inertial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64DB8A7-28B8-47F0-B35D-35E0A845E64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5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557B747-71E0-4251-9D93-113B2B3B057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5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Motion in different coord systems</a:t>
            </a:r>
            <a:endParaRPr b="0" lang="en-US" sz="4200" spc="-1" strike="noStrike">
              <a:solidFill>
                <a:srgbClr val="006633"/>
              </a:solidFill>
              <a:latin typeface="Tahoma"/>
            </a:endParaRPr>
          </a:p>
        </p:txBody>
      </p:sp>
      <p:sp>
        <p:nvSpPr>
          <p:cNvPr id="253" name="Text Box 3"/>
          <p:cNvSpPr/>
          <p:nvPr/>
        </p:nvSpPr>
        <p:spPr>
          <a:xfrm>
            <a:off x="468360" y="4581360"/>
            <a:ext cx="28814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In coordinate form</a:t>
            </a:r>
            <a:endParaRPr b="0" lang="en-US" sz="1800" spc="-1" strike="noStrike">
              <a:solidFill>
                <a:srgbClr val="000000"/>
              </a:solidFill>
              <a:latin typeface="Arial"/>
            </a:endParaRPr>
          </a:p>
        </p:txBody>
      </p:sp>
      <p:sp>
        <p:nvSpPr>
          <p:cNvPr id="254" name="Text Box 4"/>
          <p:cNvSpPr/>
          <p:nvPr/>
        </p:nvSpPr>
        <p:spPr>
          <a:xfrm>
            <a:off x="3348000" y="3141720"/>
            <a:ext cx="129528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Transport Theorem</a:t>
            </a:r>
            <a:endParaRPr b="0" lang="en-US" sz="1800" spc="-1" strike="noStrike">
              <a:solidFill>
                <a:srgbClr val="000000"/>
              </a:solidFill>
              <a:latin typeface="Arial"/>
            </a:endParaRPr>
          </a:p>
        </p:txBody>
      </p:sp>
      <p:pic>
        <p:nvPicPr>
          <p:cNvPr id="255" name="Picture 5" descr=""/>
          <p:cNvPicPr/>
          <p:nvPr/>
        </p:nvPicPr>
        <p:blipFill>
          <a:blip r:embed="rId1"/>
          <a:stretch/>
        </p:blipFill>
        <p:spPr>
          <a:xfrm>
            <a:off x="3492360" y="1341360"/>
            <a:ext cx="1756080" cy="593640"/>
          </a:xfrm>
          <a:prstGeom prst="rect">
            <a:avLst/>
          </a:prstGeom>
          <a:ln w="0">
            <a:noFill/>
          </a:ln>
        </p:spPr>
      </p:pic>
      <p:pic>
        <p:nvPicPr>
          <p:cNvPr id="256" name="Picture 6" descr=""/>
          <p:cNvPicPr/>
          <p:nvPr/>
        </p:nvPicPr>
        <p:blipFill>
          <a:blip r:embed="rId2"/>
          <a:stretch/>
        </p:blipFill>
        <p:spPr>
          <a:xfrm>
            <a:off x="395280" y="2565360"/>
            <a:ext cx="2616120" cy="757440"/>
          </a:xfrm>
          <a:prstGeom prst="rect">
            <a:avLst/>
          </a:prstGeom>
          <a:ln w="0">
            <a:noFill/>
          </a:ln>
        </p:spPr>
      </p:pic>
      <p:pic>
        <p:nvPicPr>
          <p:cNvPr id="257" name="Picture 7" descr=""/>
          <p:cNvPicPr/>
          <p:nvPr/>
        </p:nvPicPr>
        <p:blipFill>
          <a:blip r:embed="rId3"/>
          <a:stretch/>
        </p:blipFill>
        <p:spPr>
          <a:xfrm>
            <a:off x="2556000" y="5013360"/>
            <a:ext cx="4032000" cy="711000"/>
          </a:xfrm>
          <a:prstGeom prst="rect">
            <a:avLst/>
          </a:prstGeom>
          <a:ln w="0">
            <a:noFill/>
          </a:ln>
        </p:spPr>
      </p:pic>
      <mc:AlternateContent>
        <mc:Choice xmlns:a14="http://schemas.microsoft.com/office/drawing/2010/main" Requires="a14">
          <p:sp>
            <p:nvSpPr>
              <p:cNvPr id="258" name="Object 8"/>
              <p:cNvSpPr txBox="1"/>
              <p:nvPr/>
            </p:nvSpPr>
            <p:spPr>
              <a:xfrm>
                <a:off x="3564000" y="2708280"/>
                <a:ext cx="612720" cy="431640"/>
              </a:xfrm>
              <a:prstGeom prst="rect">
                <a:avLst/>
              </a:prstGeom>
            </p:spPr>
            <p:txBody>
              <a:bodyPr/>
              <a:p>
                <a14:m>
                  <m:oMath xmlns:m="http://schemas.openxmlformats.org/officeDocument/2006/math">
                    <m:r>
                      <m:t xml:space="preserve">⇔</m:t>
                    </m:r>
                  </m:oMath>
                </a14:m>
              </a:p>
            </p:txBody>
          </p:sp>
        </mc:Choice>
        <mc:Fallback/>
      </mc:AlternateContent>
      <p:pic>
        <p:nvPicPr>
          <p:cNvPr id="259" name="Picture 9" descr=""/>
          <p:cNvPicPr/>
          <p:nvPr/>
        </p:nvPicPr>
        <p:blipFill>
          <a:blip r:embed="rId4"/>
          <a:stretch/>
        </p:blipFill>
        <p:spPr>
          <a:xfrm>
            <a:off x="4500720" y="2637000"/>
            <a:ext cx="4101840" cy="75384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6AA23AC-3072-4543-B280-ED0D06E4FD56}"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6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6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EE2E4BE-414E-461A-9106-5602DFE94583}"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6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Motion in different coord systems</a:t>
            </a:r>
            <a:endParaRPr b="0" lang="en-US" sz="4200" spc="-1" strike="noStrike">
              <a:solidFill>
                <a:srgbClr val="006633"/>
              </a:solidFill>
              <a:latin typeface="Tahoma"/>
            </a:endParaRPr>
          </a:p>
        </p:txBody>
      </p:sp>
      <p:sp>
        <p:nvSpPr>
          <p:cNvPr id="264" name="Text Box 3"/>
          <p:cNvSpPr/>
          <p:nvPr/>
        </p:nvSpPr>
        <p:spPr>
          <a:xfrm>
            <a:off x="250920" y="4149720"/>
            <a:ext cx="2881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With the adopted notation</a:t>
            </a:r>
            <a:endParaRPr b="0" lang="en-US" sz="1800" spc="-1" strike="noStrike">
              <a:solidFill>
                <a:srgbClr val="000000"/>
              </a:solidFill>
              <a:latin typeface="Arial"/>
            </a:endParaRPr>
          </a:p>
        </p:txBody>
      </p:sp>
      <p:sp>
        <p:nvSpPr>
          <p:cNvPr id="265" name="Text Box 4"/>
          <p:cNvSpPr/>
          <p:nvPr/>
        </p:nvSpPr>
        <p:spPr>
          <a:xfrm>
            <a:off x="324000" y="1989000"/>
            <a:ext cx="3097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Taking a derivative again:</a:t>
            </a:r>
            <a:endParaRPr b="0" lang="en-US" sz="1800" spc="-1" strike="noStrike">
              <a:solidFill>
                <a:srgbClr val="000000"/>
              </a:solidFill>
              <a:latin typeface="Arial"/>
            </a:endParaRPr>
          </a:p>
        </p:txBody>
      </p:sp>
      <p:pic>
        <p:nvPicPr>
          <p:cNvPr id="266" name="Picture 5" descr=""/>
          <p:cNvPicPr/>
          <p:nvPr/>
        </p:nvPicPr>
        <p:blipFill>
          <a:blip r:embed="rId1"/>
          <a:stretch/>
        </p:blipFill>
        <p:spPr>
          <a:xfrm>
            <a:off x="1332000" y="4508640"/>
            <a:ext cx="6480000" cy="923760"/>
          </a:xfrm>
          <a:prstGeom prst="rect">
            <a:avLst/>
          </a:prstGeom>
          <a:ln w="0">
            <a:noFill/>
          </a:ln>
        </p:spPr>
      </p:pic>
      <p:pic>
        <p:nvPicPr>
          <p:cNvPr id="267" name="Picture 6" descr=""/>
          <p:cNvPicPr/>
          <p:nvPr/>
        </p:nvPicPr>
        <p:blipFill>
          <a:blip r:embed="rId2"/>
          <a:stretch/>
        </p:blipFill>
        <p:spPr>
          <a:xfrm>
            <a:off x="1187280" y="5516640"/>
            <a:ext cx="7201080" cy="453960"/>
          </a:xfrm>
          <a:prstGeom prst="rect">
            <a:avLst/>
          </a:prstGeom>
          <a:ln w="0">
            <a:noFill/>
          </a:ln>
        </p:spPr>
      </p:pic>
      <p:pic>
        <p:nvPicPr>
          <p:cNvPr id="268" name="Picture 7" descr=""/>
          <p:cNvPicPr/>
          <p:nvPr/>
        </p:nvPicPr>
        <p:blipFill>
          <a:blip r:embed="rId3"/>
          <a:stretch/>
        </p:blipFill>
        <p:spPr>
          <a:xfrm>
            <a:off x="2771640" y="1052640"/>
            <a:ext cx="4102200" cy="753840"/>
          </a:xfrm>
          <a:prstGeom prst="rect">
            <a:avLst/>
          </a:prstGeom>
          <a:ln w="0">
            <a:noFill/>
          </a:ln>
        </p:spPr>
      </p:pic>
      <p:pic>
        <p:nvPicPr>
          <p:cNvPr id="269" name="Picture 8" descr=""/>
          <p:cNvPicPr/>
          <p:nvPr/>
        </p:nvPicPr>
        <p:blipFill>
          <a:blip r:embed="rId4"/>
          <a:stretch/>
        </p:blipFill>
        <p:spPr>
          <a:xfrm>
            <a:off x="1763640" y="2492280"/>
            <a:ext cx="5686560" cy="151452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0224BCF-B2A4-41D5-B682-D64097901C83}"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7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7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4CCBE57-E405-45D4-8D8C-37BF8FB7112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7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Ship kinematics</a:t>
            </a:r>
            <a:endParaRPr b="0" lang="en-US" sz="4200" spc="-1" strike="noStrike">
              <a:solidFill>
                <a:srgbClr val="006633"/>
              </a:solidFill>
              <a:latin typeface="Tahoma"/>
            </a:endParaRPr>
          </a:p>
        </p:txBody>
      </p:sp>
      <p:sp>
        <p:nvSpPr>
          <p:cNvPr id="274"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Ship kinematics is different depending on the assumptions made to describe the motion:</a:t>
            </a:r>
            <a:endParaRPr b="0" lang="en-US" sz="3000" spc="-1" strike="noStrike">
              <a:solidFill>
                <a:srgbClr val="000000"/>
              </a:solidFill>
              <a:latin typeface="Arial"/>
            </a:endParaRPr>
          </a:p>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000" spc="-1" strike="noStrike">
              <a:solidFill>
                <a:srgbClr val="000000"/>
              </a:solidFill>
              <a:latin typeface="Arial"/>
            </a:endParaRPr>
          </a:p>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Manoeuvring </a:t>
            </a:r>
            <a:endParaRPr b="0" lang="en-US" sz="3000" spc="-1" strike="noStrike">
              <a:solidFill>
                <a:srgbClr val="000000"/>
              </a:solidFill>
              <a:latin typeface="Arial"/>
            </a:endParaRPr>
          </a:p>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Seakeeping</a:t>
            </a:r>
            <a:endParaRPr b="0" lang="en-US" sz="3000" spc="-1" strike="noStrike">
              <a:solidFill>
                <a:srgbClr val="000000"/>
              </a:solidFill>
              <a:latin typeface="Arial"/>
            </a:endParaRPr>
          </a:p>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1078909-6986-4656-AB64-0F87C1D585CF}"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7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7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9E2D903-990F-4DB8-B7F7-1BD7411AB7D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7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Manoeuvring Kinematics</a:t>
            </a:r>
            <a:endParaRPr b="0" lang="en-US" sz="4200" spc="-1" strike="noStrike">
              <a:solidFill>
                <a:srgbClr val="006633"/>
              </a:solidFill>
              <a:latin typeface="Tahoma"/>
            </a:endParaRPr>
          </a:p>
        </p:txBody>
      </p:sp>
      <p:sp>
        <p:nvSpPr>
          <p:cNvPr id="279" name="PlaceHolder 2"/>
          <p:cNvSpPr>
            <a:spLocks noGrp="1"/>
          </p:cNvSpPr>
          <p:nvPr>
            <p:ph/>
          </p:nvPr>
        </p:nvSpPr>
        <p:spPr>
          <a:xfrm>
            <a:off x="395280" y="1268280"/>
            <a:ext cx="8229600" cy="1944720"/>
          </a:xfrm>
          <a:prstGeom prst="rect">
            <a:avLst/>
          </a:prstGeom>
          <a:noFill/>
          <a:ln w="0">
            <a:noFill/>
          </a:ln>
        </p:spPr>
        <p:txBody>
          <a:bodyPr lIns="91440" rIns="91440" tIns="45720" bIns="45720" anchor="t">
            <a:normAutofit/>
          </a:bodyPr>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In manoeuvring, the position of the vessel is given by the position of of {b}-body-fixed coordinate system with respect to {n}-North-East-Down coordinate system.</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attitude is given by the angles of roll, pitch and yaw that take {n} into the orientation of {b}.</a:t>
            </a:r>
            <a:endParaRPr b="0" lang="en-US" sz="2100" spc="-1" strike="noStrike">
              <a:solidFill>
                <a:srgbClr val="000000"/>
              </a:solidFill>
              <a:latin typeface="Arial"/>
            </a:endParaRPr>
          </a:p>
        </p:txBody>
      </p:sp>
      <p:pic>
        <p:nvPicPr>
          <p:cNvPr id="280" name="Picture 4" descr=""/>
          <p:cNvPicPr/>
          <p:nvPr/>
        </p:nvPicPr>
        <p:blipFill>
          <a:blip r:embed="rId1"/>
          <a:stretch/>
        </p:blipFill>
        <p:spPr>
          <a:xfrm>
            <a:off x="5003640" y="3141720"/>
            <a:ext cx="3905280" cy="2868480"/>
          </a:xfrm>
          <a:prstGeom prst="rect">
            <a:avLst/>
          </a:prstGeom>
          <a:ln w="0">
            <a:noFill/>
          </a:ln>
        </p:spPr>
      </p:pic>
      <p:pic>
        <p:nvPicPr>
          <p:cNvPr id="281" name="Picture 5" descr=""/>
          <p:cNvPicPr/>
          <p:nvPr/>
        </p:nvPicPr>
        <p:blipFill>
          <a:blip r:embed="rId2"/>
          <a:stretch/>
        </p:blipFill>
        <p:spPr>
          <a:xfrm>
            <a:off x="1258920" y="3645000"/>
            <a:ext cx="1944720" cy="671400"/>
          </a:xfrm>
          <a:prstGeom prst="rect">
            <a:avLst/>
          </a:prstGeom>
          <a:ln w="0">
            <a:noFill/>
          </a:ln>
        </p:spPr>
      </p:pic>
      <p:pic>
        <p:nvPicPr>
          <p:cNvPr id="282" name="Picture 6" descr=""/>
          <p:cNvPicPr/>
          <p:nvPr/>
        </p:nvPicPr>
        <p:blipFill>
          <a:blip r:embed="rId3"/>
          <a:stretch/>
        </p:blipFill>
        <p:spPr>
          <a:xfrm>
            <a:off x="1187280" y="4797360"/>
            <a:ext cx="2017800" cy="80496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52F891-7AFD-4ED1-B69A-26C933C72C76}"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8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8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74EBC8F-C025-4B1C-B416-01CE6897034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8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Vessel linear velocities</a:t>
            </a:r>
            <a:endParaRPr b="0" lang="en-US" sz="4200" spc="-1" strike="noStrike">
              <a:solidFill>
                <a:srgbClr val="006633"/>
              </a:solidFill>
              <a:latin typeface="Tahoma"/>
            </a:endParaRPr>
          </a:p>
        </p:txBody>
      </p:sp>
      <p:sp>
        <p:nvSpPr>
          <p:cNvPr id="287" name="PlaceHolder 2"/>
          <p:cNvSpPr>
            <a:spLocks noGrp="1"/>
          </p:cNvSpPr>
          <p:nvPr>
            <p:ph/>
          </p:nvPr>
        </p:nvSpPr>
        <p:spPr>
          <a:xfrm>
            <a:off x="395280" y="1268280"/>
            <a:ext cx="8229600" cy="194472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velocities are more conveniently expressed in {b}-body-fixed coordinate system:</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p:txBody>
      </p:sp>
      <p:pic>
        <p:nvPicPr>
          <p:cNvPr id="288" name="Picture 4" descr=""/>
          <p:cNvPicPr/>
          <p:nvPr/>
        </p:nvPicPr>
        <p:blipFill>
          <a:blip r:embed="rId1"/>
          <a:stretch/>
        </p:blipFill>
        <p:spPr>
          <a:xfrm>
            <a:off x="5076720" y="2349360"/>
            <a:ext cx="3905280" cy="2868840"/>
          </a:xfrm>
          <a:prstGeom prst="rect">
            <a:avLst/>
          </a:prstGeom>
          <a:ln w="0">
            <a:noFill/>
          </a:ln>
        </p:spPr>
      </p:pic>
      <p:pic>
        <p:nvPicPr>
          <p:cNvPr id="289" name="Picture 5" descr=""/>
          <p:cNvPicPr/>
          <p:nvPr/>
        </p:nvPicPr>
        <p:blipFill>
          <a:blip r:embed="rId2"/>
          <a:stretch/>
        </p:blipFill>
        <p:spPr>
          <a:xfrm>
            <a:off x="1403280" y="5230800"/>
            <a:ext cx="1284480" cy="847800"/>
          </a:xfrm>
          <a:prstGeom prst="rect">
            <a:avLst/>
          </a:prstGeom>
          <a:ln w="0">
            <a:noFill/>
          </a:ln>
        </p:spPr>
      </p:pic>
      <p:pic>
        <p:nvPicPr>
          <p:cNvPr id="290" name="Picture 6" descr=""/>
          <p:cNvPicPr/>
          <p:nvPr/>
        </p:nvPicPr>
        <p:blipFill>
          <a:blip r:embed="rId3"/>
          <a:stretch/>
        </p:blipFill>
        <p:spPr>
          <a:xfrm>
            <a:off x="2050920" y="3068640"/>
            <a:ext cx="2544840" cy="819000"/>
          </a:xfrm>
          <a:prstGeom prst="rect">
            <a:avLst/>
          </a:prstGeom>
          <a:ln w="0">
            <a:noFill/>
          </a:ln>
        </p:spPr>
      </p:pic>
      <p:pic>
        <p:nvPicPr>
          <p:cNvPr id="291" name="Picture 7" descr=""/>
          <p:cNvPicPr/>
          <p:nvPr/>
        </p:nvPicPr>
        <p:blipFill>
          <a:blip r:embed="rId4"/>
          <a:stretch/>
        </p:blipFill>
        <p:spPr>
          <a:xfrm>
            <a:off x="1476360" y="2276640"/>
            <a:ext cx="3459240" cy="604800"/>
          </a:xfrm>
          <a:prstGeom prst="rect">
            <a:avLst/>
          </a:prstGeom>
          <a:ln w="0">
            <a:noFill/>
          </a:ln>
        </p:spPr>
      </p:pic>
      <p:sp>
        <p:nvSpPr>
          <p:cNvPr id="292" name="Text Box 8"/>
          <p:cNvSpPr/>
          <p:nvPr/>
        </p:nvSpPr>
        <p:spPr>
          <a:xfrm>
            <a:off x="324000" y="4437000"/>
            <a:ext cx="2881080" cy="91692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Note that the following integral has no physical meaning:</a:t>
            </a:r>
            <a:endParaRPr b="0" lang="en-US" sz="1800" spc="-1" strike="noStrike">
              <a:solidFill>
                <a:srgbClr val="000000"/>
              </a:solidFill>
              <a:latin typeface="Arial"/>
            </a:endParaRPr>
          </a:p>
        </p:txBody>
      </p:sp>
      <p:pic>
        <p:nvPicPr>
          <p:cNvPr id="293" name="Picture 9" descr=""/>
          <p:cNvPicPr/>
          <p:nvPr/>
        </p:nvPicPr>
        <p:blipFill>
          <a:blip r:embed="rId5"/>
          <a:stretch/>
        </p:blipFill>
        <p:spPr>
          <a:xfrm>
            <a:off x="5003640" y="5229360"/>
            <a:ext cx="3557880" cy="890280"/>
          </a:xfrm>
          <a:prstGeom prst="rect">
            <a:avLst/>
          </a:prstGeom>
          <a:ln w="0">
            <a:noFill/>
          </a:ln>
        </p:spPr>
      </p:pic>
      <p:sp>
        <p:nvSpPr>
          <p:cNvPr id="294" name="Text Box 10"/>
          <p:cNvSpPr/>
          <p:nvPr/>
        </p:nvSpPr>
        <p:spPr>
          <a:xfrm>
            <a:off x="3276720" y="5516640"/>
            <a:ext cx="1800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Ship trajectory:</a:t>
            </a:r>
            <a:endParaRPr b="0" lang="en-US" sz="1800" spc="-1" strike="noStrike">
              <a:solidFill>
                <a:srgbClr val="000000"/>
              </a:solidFill>
              <a:latin typeface="Arial"/>
            </a:endParaRPr>
          </a:p>
        </p:txBody>
      </p:sp>
      <p:sp>
        <p:nvSpPr>
          <p:cNvPr id="295" name="Text Box 11"/>
          <p:cNvSpPr/>
          <p:nvPr/>
        </p:nvSpPr>
        <p:spPr>
          <a:xfrm>
            <a:off x="2195640" y="4005360"/>
            <a:ext cx="865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surge</a:t>
            </a:r>
            <a:endParaRPr b="0" lang="en-US" sz="1800" spc="-1" strike="noStrike">
              <a:solidFill>
                <a:srgbClr val="000000"/>
              </a:solidFill>
              <a:latin typeface="Arial"/>
            </a:endParaRPr>
          </a:p>
        </p:txBody>
      </p:sp>
      <p:sp>
        <p:nvSpPr>
          <p:cNvPr id="296" name="Text Box 12"/>
          <p:cNvSpPr/>
          <p:nvPr/>
        </p:nvSpPr>
        <p:spPr>
          <a:xfrm>
            <a:off x="3419640" y="4005360"/>
            <a:ext cx="865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sway</a:t>
            </a:r>
            <a:endParaRPr b="0" lang="en-US" sz="1800" spc="-1" strike="noStrike">
              <a:solidFill>
                <a:srgbClr val="000000"/>
              </a:solidFill>
              <a:latin typeface="Arial"/>
            </a:endParaRPr>
          </a:p>
        </p:txBody>
      </p:sp>
      <p:sp>
        <p:nvSpPr>
          <p:cNvPr id="297" name="Text Box 13"/>
          <p:cNvSpPr/>
          <p:nvPr/>
        </p:nvSpPr>
        <p:spPr>
          <a:xfrm>
            <a:off x="4284720" y="4005360"/>
            <a:ext cx="865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heave</a:t>
            </a:r>
            <a:endParaRPr b="0" lang="en-US" sz="1800" spc="-1" strike="noStrike">
              <a:solidFill>
                <a:srgbClr val="000000"/>
              </a:solidFill>
              <a:latin typeface="Arial"/>
            </a:endParaRPr>
          </a:p>
        </p:txBody>
      </p:sp>
      <p:sp>
        <p:nvSpPr>
          <p:cNvPr id="298" name="Line 14"/>
          <p:cNvSpPr/>
          <p:nvPr/>
        </p:nvSpPr>
        <p:spPr>
          <a:xfrm flipV="1">
            <a:off x="2916360" y="3789360"/>
            <a:ext cx="431640" cy="2872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99" name="Line 15"/>
          <p:cNvSpPr/>
          <p:nvPr/>
        </p:nvSpPr>
        <p:spPr>
          <a:xfrm flipV="1">
            <a:off x="3780000" y="3715920"/>
            <a:ext cx="0" cy="360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00" name="Line 16"/>
          <p:cNvSpPr/>
          <p:nvPr/>
        </p:nvSpPr>
        <p:spPr>
          <a:xfrm flipH="1" flipV="1">
            <a:off x="4140000" y="3715920"/>
            <a:ext cx="215640" cy="360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82E1A07-81CC-4E6F-880B-6C4664974FE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02"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03"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DA4A6FE-B9D8-4210-83C6-3E034C7513B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0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Vessel angular velocities</a:t>
            </a:r>
            <a:endParaRPr b="0" lang="en-US" sz="4200" spc="-1" strike="noStrike">
              <a:solidFill>
                <a:srgbClr val="006633"/>
              </a:solidFill>
              <a:latin typeface="Tahoma"/>
            </a:endParaRPr>
          </a:p>
        </p:txBody>
      </p:sp>
      <p:sp>
        <p:nvSpPr>
          <p:cNvPr id="305" name="PlaceHolder 2"/>
          <p:cNvSpPr>
            <a:spLocks noGrp="1"/>
          </p:cNvSpPr>
          <p:nvPr>
            <p:ph/>
          </p:nvPr>
        </p:nvSpPr>
        <p:spPr>
          <a:xfrm>
            <a:off x="395280" y="1268280"/>
            <a:ext cx="8229600" cy="194472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The angular velocity expressed in {b}-body-fixed coordinate system is</a:t>
            </a:r>
            <a:endParaRPr b="0" lang="en-US" sz="3000" spc="-1" strike="noStrike">
              <a:solidFill>
                <a:srgbClr val="000000"/>
              </a:solidFill>
              <a:latin typeface="Arial"/>
            </a:endParaRPr>
          </a:p>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000" spc="-1" strike="noStrike">
              <a:solidFill>
                <a:srgbClr val="000000"/>
              </a:solidFill>
              <a:latin typeface="Arial"/>
            </a:endParaRPr>
          </a:p>
        </p:txBody>
      </p:sp>
      <p:sp>
        <p:nvSpPr>
          <p:cNvPr id="306" name="Text Box 4"/>
          <p:cNvSpPr/>
          <p:nvPr/>
        </p:nvSpPr>
        <p:spPr>
          <a:xfrm>
            <a:off x="250920" y="3860640"/>
            <a:ext cx="489744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Note that the following integral has no physical meaning:</a:t>
            </a:r>
            <a:endParaRPr b="0" lang="en-US" sz="1800" spc="-1" strike="noStrike">
              <a:solidFill>
                <a:srgbClr val="000000"/>
              </a:solidFill>
              <a:latin typeface="Arial"/>
            </a:endParaRPr>
          </a:p>
        </p:txBody>
      </p:sp>
      <p:sp>
        <p:nvSpPr>
          <p:cNvPr id="307" name="Text Box 5"/>
          <p:cNvSpPr/>
          <p:nvPr/>
        </p:nvSpPr>
        <p:spPr>
          <a:xfrm>
            <a:off x="324000" y="5157720"/>
            <a:ext cx="331308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The ship orientation is obtained integrating </a:t>
            </a:r>
            <a:endParaRPr b="0" lang="en-US" sz="1800" spc="-1" strike="noStrike">
              <a:solidFill>
                <a:srgbClr val="000000"/>
              </a:solidFill>
              <a:latin typeface="Arial"/>
            </a:endParaRPr>
          </a:p>
        </p:txBody>
      </p:sp>
      <p:pic>
        <p:nvPicPr>
          <p:cNvPr id="308" name="Picture 6" descr=""/>
          <p:cNvPicPr/>
          <p:nvPr/>
        </p:nvPicPr>
        <p:blipFill>
          <a:blip r:embed="rId1"/>
          <a:stretch/>
        </p:blipFill>
        <p:spPr>
          <a:xfrm>
            <a:off x="1835280" y="2276640"/>
            <a:ext cx="5688000" cy="842760"/>
          </a:xfrm>
          <a:prstGeom prst="rect">
            <a:avLst/>
          </a:prstGeom>
          <a:ln w="0">
            <a:noFill/>
          </a:ln>
        </p:spPr>
      </p:pic>
      <p:pic>
        <p:nvPicPr>
          <p:cNvPr id="309" name="Picture 7" descr=""/>
          <p:cNvPicPr/>
          <p:nvPr/>
        </p:nvPicPr>
        <p:blipFill>
          <a:blip r:embed="rId2"/>
          <a:stretch/>
        </p:blipFill>
        <p:spPr>
          <a:xfrm>
            <a:off x="3059280" y="4292640"/>
            <a:ext cx="1150920" cy="789120"/>
          </a:xfrm>
          <a:prstGeom prst="rect">
            <a:avLst/>
          </a:prstGeom>
          <a:ln w="0">
            <a:noFill/>
          </a:ln>
        </p:spPr>
      </p:pic>
      <p:pic>
        <p:nvPicPr>
          <p:cNvPr id="310" name="Picture 8" descr=""/>
          <p:cNvPicPr/>
          <p:nvPr/>
        </p:nvPicPr>
        <p:blipFill>
          <a:blip r:embed="rId3"/>
          <a:stretch/>
        </p:blipFill>
        <p:spPr>
          <a:xfrm>
            <a:off x="3203640" y="5157720"/>
            <a:ext cx="2592360" cy="750960"/>
          </a:xfrm>
          <a:prstGeom prst="rect">
            <a:avLst/>
          </a:prstGeom>
          <a:ln w="0">
            <a:noFill/>
          </a:ln>
        </p:spPr>
      </p:pic>
      <p:sp>
        <p:nvSpPr>
          <p:cNvPr id="311" name="Text Box 9"/>
          <p:cNvSpPr/>
          <p:nvPr/>
        </p:nvSpPr>
        <p:spPr>
          <a:xfrm>
            <a:off x="6227640" y="4653000"/>
            <a:ext cx="2738520" cy="146556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Which is the relationship we have already shown between the ang vel and the derivative of the Euler angles.</a:t>
            </a:r>
            <a:endParaRPr b="0" lang="en-US" sz="1800" spc="-1" strike="noStrike">
              <a:solidFill>
                <a:srgbClr val="000000"/>
              </a:solidFill>
              <a:latin typeface="Arial"/>
            </a:endParaRPr>
          </a:p>
        </p:txBody>
      </p:sp>
      <p:sp>
        <p:nvSpPr>
          <p:cNvPr id="312" name="Text Box 10"/>
          <p:cNvSpPr/>
          <p:nvPr/>
        </p:nvSpPr>
        <p:spPr>
          <a:xfrm>
            <a:off x="1908000" y="3213000"/>
            <a:ext cx="8654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roll</a:t>
            </a:r>
            <a:endParaRPr b="0" lang="en-US" sz="1800" spc="-1" strike="noStrike">
              <a:solidFill>
                <a:srgbClr val="000000"/>
              </a:solidFill>
              <a:latin typeface="Arial"/>
            </a:endParaRPr>
          </a:p>
        </p:txBody>
      </p:sp>
      <p:sp>
        <p:nvSpPr>
          <p:cNvPr id="313" name="Text Box 11"/>
          <p:cNvSpPr/>
          <p:nvPr/>
        </p:nvSpPr>
        <p:spPr>
          <a:xfrm>
            <a:off x="3132000" y="3213000"/>
            <a:ext cx="8654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pitch</a:t>
            </a:r>
            <a:endParaRPr b="0" lang="en-US" sz="1800" spc="-1" strike="noStrike">
              <a:solidFill>
                <a:srgbClr val="000000"/>
              </a:solidFill>
              <a:latin typeface="Arial"/>
            </a:endParaRPr>
          </a:p>
        </p:txBody>
      </p:sp>
      <p:sp>
        <p:nvSpPr>
          <p:cNvPr id="314" name="Text Box 12"/>
          <p:cNvSpPr/>
          <p:nvPr/>
        </p:nvSpPr>
        <p:spPr>
          <a:xfrm>
            <a:off x="3997440" y="3213000"/>
            <a:ext cx="865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yaw</a:t>
            </a:r>
            <a:endParaRPr b="0" lang="en-US" sz="1800" spc="-1" strike="noStrike">
              <a:solidFill>
                <a:srgbClr val="000000"/>
              </a:solidFill>
              <a:latin typeface="Arial"/>
            </a:endParaRPr>
          </a:p>
        </p:txBody>
      </p:sp>
      <p:sp>
        <p:nvSpPr>
          <p:cNvPr id="315" name="Line 13"/>
          <p:cNvSpPr/>
          <p:nvPr/>
        </p:nvSpPr>
        <p:spPr>
          <a:xfrm flipV="1">
            <a:off x="2629080" y="2997360"/>
            <a:ext cx="431640" cy="2872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16" name="Line 14"/>
          <p:cNvSpPr/>
          <p:nvPr/>
        </p:nvSpPr>
        <p:spPr>
          <a:xfrm flipV="1">
            <a:off x="3492360" y="2923920"/>
            <a:ext cx="0" cy="360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17" name="Line 15"/>
          <p:cNvSpPr/>
          <p:nvPr/>
        </p:nvSpPr>
        <p:spPr>
          <a:xfrm flipH="1" flipV="1">
            <a:off x="3852720" y="2923920"/>
            <a:ext cx="216000" cy="360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02BABBC-EC7F-44D3-90E9-CDF714415A3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1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2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02009DE-3955-4B47-8389-D9623FE4BE3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2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Generalised position and velocity</a:t>
            </a:r>
            <a:endParaRPr b="0" lang="en-US" sz="4200" spc="-1" strike="noStrike">
              <a:solidFill>
                <a:srgbClr val="006633"/>
              </a:solidFill>
              <a:latin typeface="Tahoma"/>
            </a:endParaRPr>
          </a:p>
        </p:txBody>
      </p:sp>
      <p:sp>
        <p:nvSpPr>
          <p:cNvPr id="322" name="PlaceHolder 2"/>
          <p:cNvSpPr>
            <a:spLocks noGrp="1"/>
          </p:cNvSpPr>
          <p:nvPr>
            <p:ph/>
          </p:nvPr>
        </p:nvSpPr>
        <p:spPr>
          <a:xfrm>
            <a:off x="468360" y="1197000"/>
            <a:ext cx="8229600" cy="1008000"/>
          </a:xfrm>
          <a:prstGeom prst="rect">
            <a:avLst/>
          </a:prstGeom>
          <a:noFill/>
          <a:ln w="0">
            <a:noFill/>
          </a:ln>
        </p:spPr>
        <p:txBody>
          <a:bodyPr lIns="91440" rIns="91440" tIns="45720" bIns="4572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We define the </a:t>
            </a:r>
            <a:r>
              <a:rPr b="0" lang="en-AU" sz="3000" spc="-1" strike="noStrike">
                <a:solidFill>
                  <a:srgbClr val="996600"/>
                </a:solidFill>
                <a:latin typeface="Arial"/>
              </a:rPr>
              <a:t>coordinate position-orientation vector</a:t>
            </a:r>
            <a:r>
              <a:rPr b="0" lang="en-AU" sz="3000" spc="-1" strike="noStrike">
                <a:solidFill>
                  <a:srgbClr val="000000"/>
                </a:solidFill>
                <a:latin typeface="Arial"/>
              </a:rPr>
              <a:t> (Fossen, 1994):</a:t>
            </a:r>
            <a:endParaRPr b="0" lang="en-US" sz="3000" spc="-1" strike="noStrike">
              <a:solidFill>
                <a:srgbClr val="000000"/>
              </a:solidFill>
              <a:latin typeface="Arial"/>
            </a:endParaRPr>
          </a:p>
        </p:txBody>
      </p:sp>
      <p:pic>
        <p:nvPicPr>
          <p:cNvPr id="323" name="Picture 4" descr=""/>
          <p:cNvPicPr/>
          <p:nvPr/>
        </p:nvPicPr>
        <p:blipFill>
          <a:blip r:embed="rId1"/>
          <a:stretch/>
        </p:blipFill>
        <p:spPr>
          <a:xfrm>
            <a:off x="1979640" y="2349360"/>
            <a:ext cx="4948200" cy="1150920"/>
          </a:xfrm>
          <a:prstGeom prst="rect">
            <a:avLst/>
          </a:prstGeom>
          <a:ln w="0">
            <a:noFill/>
          </a:ln>
        </p:spPr>
      </p:pic>
      <p:sp>
        <p:nvSpPr>
          <p:cNvPr id="324" name="Rectangle 5"/>
          <p:cNvSpPr/>
          <p:nvPr/>
        </p:nvSpPr>
        <p:spPr>
          <a:xfrm>
            <a:off x="539640" y="3573360"/>
            <a:ext cx="8229600" cy="10080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We define the </a:t>
            </a:r>
            <a:r>
              <a:rPr b="0" lang="en-AU" sz="3000" spc="-1" strike="noStrike">
                <a:solidFill>
                  <a:srgbClr val="996600"/>
                </a:solidFill>
                <a:latin typeface="Arial"/>
              </a:rPr>
              <a:t>coordinate linear-angular velocity vector</a:t>
            </a:r>
            <a:r>
              <a:rPr b="0" lang="en-AU" sz="3000" spc="-1" strike="noStrike">
                <a:solidFill>
                  <a:srgbClr val="000000"/>
                </a:solidFill>
                <a:latin typeface="Arial"/>
              </a:rPr>
              <a:t> (Fossen, 1994):</a:t>
            </a:r>
            <a:endParaRPr b="0" lang="en-US" sz="3000" spc="-1" strike="noStrike">
              <a:solidFill>
                <a:srgbClr val="000000"/>
              </a:solidFill>
              <a:latin typeface="Arial"/>
            </a:endParaRPr>
          </a:p>
        </p:txBody>
      </p:sp>
      <p:pic>
        <p:nvPicPr>
          <p:cNvPr id="325" name="Picture 6" descr=""/>
          <p:cNvPicPr/>
          <p:nvPr/>
        </p:nvPicPr>
        <p:blipFill>
          <a:blip r:embed="rId2"/>
          <a:stretch/>
        </p:blipFill>
        <p:spPr>
          <a:xfrm>
            <a:off x="1908000" y="4724280"/>
            <a:ext cx="4629240" cy="127980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2D911B5-54E5-459C-A28B-0AA438D8FBB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27"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28"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FC9AC98-E1E2-4C93-84AE-93ABFA157542}"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29" name="Text Box 2"/>
          <p:cNvSpPr/>
          <p:nvPr/>
        </p:nvSpPr>
        <p:spPr>
          <a:xfrm>
            <a:off x="4284720" y="5516640"/>
            <a:ext cx="4176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Because         is not orthogonal.</a:t>
            </a:r>
            <a:endParaRPr b="0" lang="en-US" sz="1800" spc="-1" strike="noStrike">
              <a:solidFill>
                <a:srgbClr val="000000"/>
              </a:solidFill>
              <a:latin typeface="Arial"/>
            </a:endParaRPr>
          </a:p>
        </p:txBody>
      </p:sp>
      <p:sp>
        <p:nvSpPr>
          <p:cNvPr id="33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Kinematic model {n}-{b}</a:t>
            </a:r>
            <a:endParaRPr b="0" lang="en-US" sz="4200" spc="-1" strike="noStrike">
              <a:solidFill>
                <a:srgbClr val="006633"/>
              </a:solidFill>
              <a:latin typeface="Tahoma"/>
            </a:endParaRPr>
          </a:p>
        </p:txBody>
      </p:sp>
      <p:sp>
        <p:nvSpPr>
          <p:cNvPr id="331" name="PlaceHolder 2"/>
          <p:cNvSpPr>
            <a:spLocks noGrp="1"/>
          </p:cNvSpPr>
          <p:nvPr>
            <p:ph/>
          </p:nvPr>
        </p:nvSpPr>
        <p:spPr>
          <a:xfrm>
            <a:off x="468360" y="1197000"/>
            <a:ext cx="8229600" cy="100800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Then,</a:t>
            </a:r>
            <a:endParaRPr b="0" lang="en-US" sz="3000" spc="-1" strike="noStrike">
              <a:solidFill>
                <a:srgbClr val="000000"/>
              </a:solidFill>
              <a:latin typeface="Arial"/>
            </a:endParaRPr>
          </a:p>
        </p:txBody>
      </p:sp>
      <p:pic>
        <p:nvPicPr>
          <p:cNvPr id="332" name="Picture 5" descr=""/>
          <p:cNvPicPr/>
          <p:nvPr/>
        </p:nvPicPr>
        <p:blipFill>
          <a:blip r:embed="rId1"/>
          <a:stretch/>
        </p:blipFill>
        <p:spPr>
          <a:xfrm>
            <a:off x="2987640" y="1197000"/>
            <a:ext cx="2376360" cy="1003320"/>
          </a:xfrm>
          <a:prstGeom prst="rect">
            <a:avLst/>
          </a:prstGeom>
          <a:ln w="0">
            <a:noFill/>
          </a:ln>
        </p:spPr>
      </p:pic>
      <p:pic>
        <p:nvPicPr>
          <p:cNvPr id="333" name="Picture 6" descr=""/>
          <p:cNvPicPr/>
          <p:nvPr/>
        </p:nvPicPr>
        <p:blipFill>
          <a:blip r:embed="rId2"/>
          <a:stretch/>
        </p:blipFill>
        <p:spPr>
          <a:xfrm>
            <a:off x="2268360" y="2133720"/>
            <a:ext cx="4824720" cy="1069920"/>
          </a:xfrm>
          <a:prstGeom prst="rect">
            <a:avLst/>
          </a:prstGeom>
          <a:ln w="0">
            <a:noFill/>
          </a:ln>
        </p:spPr>
      </p:pic>
      <p:pic>
        <p:nvPicPr>
          <p:cNvPr id="334" name="Picture 7" descr=""/>
          <p:cNvPicPr/>
          <p:nvPr/>
        </p:nvPicPr>
        <p:blipFill>
          <a:blip r:embed="rId3"/>
          <a:stretch/>
        </p:blipFill>
        <p:spPr>
          <a:xfrm>
            <a:off x="1835280" y="4076640"/>
            <a:ext cx="4943520" cy="901800"/>
          </a:xfrm>
          <a:prstGeom prst="rect">
            <a:avLst/>
          </a:prstGeom>
          <a:ln w="0">
            <a:noFill/>
          </a:ln>
        </p:spPr>
      </p:pic>
      <p:pic>
        <p:nvPicPr>
          <p:cNvPr id="335" name="Picture 8" descr=""/>
          <p:cNvPicPr/>
          <p:nvPr/>
        </p:nvPicPr>
        <p:blipFill>
          <a:blip r:embed="rId4"/>
          <a:stretch/>
        </p:blipFill>
        <p:spPr>
          <a:xfrm>
            <a:off x="2124000" y="5445000"/>
            <a:ext cx="2073240" cy="451080"/>
          </a:xfrm>
          <a:prstGeom prst="rect">
            <a:avLst/>
          </a:prstGeom>
          <a:ln w="0">
            <a:noFill/>
          </a:ln>
        </p:spPr>
      </p:pic>
      <p:pic>
        <p:nvPicPr>
          <p:cNvPr id="336" name="Picture 9" descr=""/>
          <p:cNvPicPr/>
          <p:nvPr/>
        </p:nvPicPr>
        <p:blipFill>
          <a:blip r:embed="rId5"/>
          <a:stretch/>
        </p:blipFill>
        <p:spPr>
          <a:xfrm>
            <a:off x="5364000" y="5445000"/>
            <a:ext cx="390600" cy="506520"/>
          </a:xfrm>
          <a:prstGeom prst="rect">
            <a:avLst/>
          </a:prstGeom>
          <a:ln w="0">
            <a:noFill/>
          </a:ln>
        </p:spPr>
      </p:pic>
      <p:sp>
        <p:nvSpPr>
          <p:cNvPr id="337" name="Text Box 10"/>
          <p:cNvSpPr/>
          <p:nvPr/>
        </p:nvSpPr>
        <p:spPr>
          <a:xfrm>
            <a:off x="250920" y="4365720"/>
            <a:ext cx="2881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Note that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341A3F6-EF69-4575-84ED-DE726CA0479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3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4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60496CA-B45B-4DF4-A186-18A26FB52143}"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4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Summary manoeuvring coordinates</a:t>
            </a:r>
            <a:endParaRPr b="0" lang="en-US" sz="3800" spc="-1" strike="noStrike">
              <a:solidFill>
                <a:srgbClr val="006633"/>
              </a:solidFill>
              <a:latin typeface="Tahoma"/>
            </a:endParaRPr>
          </a:p>
        </p:txBody>
      </p:sp>
      <p:pic>
        <p:nvPicPr>
          <p:cNvPr id="342" name="Picture 4" descr=""/>
          <p:cNvPicPr/>
          <p:nvPr/>
        </p:nvPicPr>
        <p:blipFill>
          <a:blip r:embed="rId1"/>
          <a:stretch/>
        </p:blipFill>
        <p:spPr>
          <a:xfrm>
            <a:off x="684360" y="2060640"/>
            <a:ext cx="7467480" cy="2641680"/>
          </a:xfrm>
          <a:prstGeom prst="rect">
            <a:avLst/>
          </a:prstGeom>
          <a:ln w="0">
            <a:noFill/>
          </a:ln>
        </p:spPr>
      </p:pic>
      <p:sp>
        <p:nvSpPr>
          <p:cNvPr id="343" name="Text Box 5"/>
          <p:cNvSpPr/>
          <p:nvPr/>
        </p:nvSpPr>
        <p:spPr>
          <a:xfrm>
            <a:off x="755640" y="1413000"/>
            <a:ext cx="4321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Perez, T. and T.I. Fossen (2007)</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45A1EFF-C9E4-41A5-8468-1D68FC9D316A}"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45"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46"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FC4911-421E-442A-BB4A-4D61DACF45E3}"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47" name="Text Box 2"/>
          <p:cNvSpPr/>
          <p:nvPr/>
        </p:nvSpPr>
        <p:spPr>
          <a:xfrm>
            <a:off x="4140360" y="5516640"/>
            <a:ext cx="3382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Vessel average forward speed.</a:t>
            </a:r>
            <a:endParaRPr b="0" lang="en-US" sz="1800" spc="-1" strike="noStrike">
              <a:solidFill>
                <a:srgbClr val="000000"/>
              </a:solidFill>
              <a:latin typeface="Arial"/>
            </a:endParaRPr>
          </a:p>
        </p:txBody>
      </p:sp>
      <p:sp>
        <p:nvSpPr>
          <p:cNvPr id="34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Seakeeping kinematics</a:t>
            </a:r>
            <a:endParaRPr b="0" lang="en-US" sz="4200" spc="-1" strike="noStrike">
              <a:solidFill>
                <a:srgbClr val="006633"/>
              </a:solidFill>
              <a:latin typeface="Tahoma"/>
            </a:endParaRPr>
          </a:p>
        </p:txBody>
      </p:sp>
      <p:sp>
        <p:nvSpPr>
          <p:cNvPr id="349" name="PlaceHolder 2"/>
          <p:cNvSpPr>
            <a:spLocks noGrp="1"/>
          </p:cNvSpPr>
          <p:nvPr>
            <p:ph/>
          </p:nvPr>
        </p:nvSpPr>
        <p:spPr>
          <a:xfrm>
            <a:off x="468360" y="1197000"/>
            <a:ext cx="8229600" cy="1008000"/>
          </a:xfrm>
          <a:prstGeom prst="rect">
            <a:avLst/>
          </a:prstGeom>
          <a:noFill/>
          <a:ln w="0">
            <a:noFill/>
          </a:ln>
        </p:spPr>
        <p:txBody>
          <a:bodyPr lIns="91440" rIns="91440" tIns="45720" bIns="45720" anchor="t">
            <a:normAutofit fontScale="83693" lnSpcReduction="20000"/>
          </a:bodyPr>
          <a:p>
            <a:pPr marL="343080" indent="-343080">
              <a:lnSpc>
                <a:spcPct val="80000"/>
              </a:lnSpc>
              <a:spcBef>
                <a:spcPts val="476"/>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In seakeeping, the motion is described from a reference frame which represents the equilibrium position and orientation of the vessel. </a:t>
            </a:r>
            <a:endParaRPr b="0" lang="en-US" sz="1900" spc="-1" strike="noStrike">
              <a:solidFill>
                <a:srgbClr val="000000"/>
              </a:solidFill>
              <a:latin typeface="Arial"/>
            </a:endParaRPr>
          </a:p>
          <a:p>
            <a:pPr marL="343080" indent="0">
              <a:lnSpc>
                <a:spcPct val="80000"/>
              </a:lnSpc>
              <a:spcBef>
                <a:spcPts val="476"/>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80000"/>
              </a:lnSpc>
              <a:spcBef>
                <a:spcPts val="476"/>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Then the action of the waves makes the vessel oscillate with respect to this equilibrium</a:t>
            </a:r>
            <a:endParaRPr b="0" lang="en-US" sz="1900" spc="-1" strike="noStrike">
              <a:solidFill>
                <a:srgbClr val="000000"/>
              </a:solidFill>
              <a:latin typeface="Arial"/>
            </a:endParaRPr>
          </a:p>
        </p:txBody>
      </p:sp>
      <p:sp>
        <p:nvSpPr>
          <p:cNvPr id="350" name="Text Box 10"/>
          <p:cNvSpPr/>
          <p:nvPr/>
        </p:nvSpPr>
        <p:spPr>
          <a:xfrm>
            <a:off x="684360" y="2781360"/>
            <a:ext cx="288108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Definition of equilibrium reference frame:</a:t>
            </a:r>
            <a:endParaRPr b="0" lang="en-US" sz="1800" spc="-1" strike="noStrike">
              <a:solidFill>
                <a:srgbClr val="000000"/>
              </a:solidFill>
              <a:latin typeface="Arial"/>
            </a:endParaRPr>
          </a:p>
        </p:txBody>
      </p:sp>
      <p:pic>
        <p:nvPicPr>
          <p:cNvPr id="351" name="Picture 11" descr=""/>
          <p:cNvPicPr/>
          <p:nvPr/>
        </p:nvPicPr>
        <p:blipFill>
          <a:blip r:embed="rId1"/>
          <a:stretch/>
        </p:blipFill>
        <p:spPr>
          <a:xfrm>
            <a:off x="4716360" y="2421000"/>
            <a:ext cx="4033800" cy="2900160"/>
          </a:xfrm>
          <a:prstGeom prst="rect">
            <a:avLst/>
          </a:prstGeom>
          <a:ln w="0">
            <a:noFill/>
          </a:ln>
        </p:spPr>
      </p:pic>
      <p:pic>
        <p:nvPicPr>
          <p:cNvPr id="352" name="Picture 12" descr=""/>
          <p:cNvPicPr/>
          <p:nvPr/>
        </p:nvPicPr>
        <p:blipFill>
          <a:blip r:embed="rId2"/>
          <a:stretch/>
        </p:blipFill>
        <p:spPr>
          <a:xfrm>
            <a:off x="755640" y="3357720"/>
            <a:ext cx="3854520" cy="1353960"/>
          </a:xfrm>
          <a:prstGeom prst="rect">
            <a:avLst/>
          </a:prstGeom>
          <a:ln w="0">
            <a:noFill/>
          </a:ln>
        </p:spPr>
      </p:pic>
      <p:pic>
        <p:nvPicPr>
          <p:cNvPr id="353" name="Picture 13" descr=""/>
          <p:cNvPicPr/>
          <p:nvPr/>
        </p:nvPicPr>
        <p:blipFill>
          <a:blip r:embed="rId3"/>
          <a:stretch/>
        </p:blipFill>
        <p:spPr>
          <a:xfrm>
            <a:off x="826920" y="5445000"/>
            <a:ext cx="2889360" cy="414360"/>
          </a:xfrm>
          <a:prstGeom prst="rect">
            <a:avLst/>
          </a:prstGeom>
          <a:ln w="0">
            <a:noFill/>
          </a:ln>
        </p:spPr>
      </p:pic>
      <p:pic>
        <p:nvPicPr>
          <p:cNvPr id="354" name="Picture 14" descr=""/>
          <p:cNvPicPr/>
          <p:nvPr/>
        </p:nvPicPr>
        <p:blipFill>
          <a:blip r:embed="rId4"/>
          <a:stretch/>
        </p:blipFill>
        <p:spPr>
          <a:xfrm>
            <a:off x="755640" y="4869000"/>
            <a:ext cx="2865600" cy="56196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B23EE89-E4B3-4115-98D1-E1BD53795C7C}"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5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5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138B5C-D806-44A1-9C41-59BC529F6A5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58" name="Text Box 2"/>
          <p:cNvSpPr/>
          <p:nvPr/>
        </p:nvSpPr>
        <p:spPr>
          <a:xfrm>
            <a:off x="395280" y="3068640"/>
            <a:ext cx="3382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Perturbation roll, pitch and yaw:</a:t>
            </a:r>
            <a:endParaRPr b="0" lang="en-US" sz="1800" spc="-1" strike="noStrike">
              <a:solidFill>
                <a:srgbClr val="000000"/>
              </a:solidFill>
              <a:latin typeface="Arial"/>
            </a:endParaRPr>
          </a:p>
        </p:txBody>
      </p:sp>
      <p:sp>
        <p:nvSpPr>
          <p:cNvPr id="35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Seakeeping coordinates</a:t>
            </a:r>
            <a:endParaRPr b="0" lang="en-US" sz="4200" spc="-1" strike="noStrike">
              <a:solidFill>
                <a:srgbClr val="006633"/>
              </a:solidFill>
              <a:latin typeface="Tahoma"/>
            </a:endParaRPr>
          </a:p>
        </p:txBody>
      </p:sp>
      <p:sp>
        <p:nvSpPr>
          <p:cNvPr id="360" name="PlaceHolder 2"/>
          <p:cNvSpPr>
            <a:spLocks noGrp="1"/>
          </p:cNvSpPr>
          <p:nvPr>
            <p:ph/>
          </p:nvPr>
        </p:nvSpPr>
        <p:spPr>
          <a:xfrm>
            <a:off x="468360" y="1197000"/>
            <a:ext cx="8229600" cy="1008000"/>
          </a:xfrm>
          <a:prstGeom prst="rect">
            <a:avLst/>
          </a:prstGeom>
          <a:noFill/>
          <a:ln w="0">
            <a:noFill/>
          </a:ln>
        </p:spPr>
        <p:txBody>
          <a:bodyPr lIns="91440" rIns="91440" tIns="45720" bIns="45720" anchor="t">
            <a:normAutofit/>
          </a:bodyPr>
          <a:p>
            <a:pPr marL="343080" indent="-343080">
              <a:lnSpc>
                <a:spcPct val="9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In a similar fashion as we did in manoeuvring, we can define the </a:t>
            </a:r>
            <a:r>
              <a:rPr b="0" lang="en-AU" sz="2100" spc="-1" strike="noStrike">
                <a:solidFill>
                  <a:srgbClr val="996600"/>
                </a:solidFill>
                <a:latin typeface="Arial"/>
              </a:rPr>
              <a:t>perturbation body-fixed linear and angular velocities</a:t>
            </a:r>
            <a:endParaRPr b="0" lang="en-US" sz="2100" spc="-1" strike="noStrike">
              <a:solidFill>
                <a:srgbClr val="000000"/>
              </a:solidFill>
              <a:latin typeface="Arial"/>
            </a:endParaRPr>
          </a:p>
        </p:txBody>
      </p:sp>
      <p:pic>
        <p:nvPicPr>
          <p:cNvPr id="361" name="Picture 10" descr=""/>
          <p:cNvPicPr/>
          <p:nvPr/>
        </p:nvPicPr>
        <p:blipFill>
          <a:blip r:embed="rId1"/>
          <a:stretch/>
        </p:blipFill>
        <p:spPr>
          <a:xfrm>
            <a:off x="2843280" y="1916280"/>
            <a:ext cx="3359160" cy="1093680"/>
          </a:xfrm>
          <a:prstGeom prst="rect">
            <a:avLst/>
          </a:prstGeom>
          <a:ln w="0">
            <a:noFill/>
          </a:ln>
        </p:spPr>
      </p:pic>
      <p:pic>
        <p:nvPicPr>
          <p:cNvPr id="362" name="Picture 11" descr=""/>
          <p:cNvPicPr/>
          <p:nvPr/>
        </p:nvPicPr>
        <p:blipFill>
          <a:blip r:embed="rId2"/>
          <a:stretch/>
        </p:blipFill>
        <p:spPr>
          <a:xfrm>
            <a:off x="3492360" y="3357720"/>
            <a:ext cx="2221200" cy="691920"/>
          </a:xfrm>
          <a:prstGeom prst="rect">
            <a:avLst/>
          </a:prstGeom>
          <a:ln w="0">
            <a:noFill/>
          </a:ln>
        </p:spPr>
      </p:pic>
      <p:pic>
        <p:nvPicPr>
          <p:cNvPr id="363" name="Picture 12" descr=""/>
          <p:cNvPicPr/>
          <p:nvPr/>
        </p:nvPicPr>
        <p:blipFill>
          <a:blip r:embed="rId3"/>
          <a:stretch/>
        </p:blipFill>
        <p:spPr>
          <a:xfrm>
            <a:off x="2268360" y="4076640"/>
            <a:ext cx="4102200" cy="195264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3D7DD5A-9D6D-4217-AA60-30AA5728E83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65"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66"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3257CE5-1793-434F-BDDA-A49D0F49FEC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6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Seakeeping coordinates</a:t>
            </a:r>
            <a:endParaRPr b="0" lang="en-US" sz="4200" spc="-1" strike="noStrike">
              <a:solidFill>
                <a:srgbClr val="006633"/>
              </a:solidFill>
              <a:latin typeface="Tahoma"/>
            </a:endParaRPr>
          </a:p>
        </p:txBody>
      </p:sp>
      <p:sp>
        <p:nvSpPr>
          <p:cNvPr id="368" name="PlaceHolder 2"/>
          <p:cNvSpPr>
            <a:spLocks noGrp="1"/>
          </p:cNvSpPr>
          <p:nvPr>
            <p:ph/>
          </p:nvPr>
        </p:nvSpPr>
        <p:spPr>
          <a:xfrm>
            <a:off x="468360" y="1196640"/>
            <a:ext cx="4038480" cy="453060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Further, we can define the </a:t>
            </a:r>
            <a:r>
              <a:rPr b="0" lang="en-AU" sz="2600" spc="-1" strike="noStrike">
                <a:solidFill>
                  <a:srgbClr val="996600"/>
                </a:solidFill>
                <a:latin typeface="Arial"/>
              </a:rPr>
              <a:t>perturbation position an velocity vector:</a:t>
            </a:r>
            <a:endParaRPr b="0" lang="en-US" sz="2600" spc="-1" strike="noStrike">
              <a:solidFill>
                <a:srgbClr val="000000"/>
              </a:solidFill>
              <a:latin typeface="Arial"/>
            </a:endParaRPr>
          </a:p>
        </p:txBody>
      </p:sp>
      <p:pic>
        <p:nvPicPr>
          <p:cNvPr id="369" name="Picture 8" descr=""/>
          <p:cNvPicPr/>
          <p:nvPr/>
        </p:nvPicPr>
        <p:blipFill>
          <a:blip r:embed="rId1"/>
          <a:stretch/>
        </p:blipFill>
        <p:spPr>
          <a:xfrm>
            <a:off x="2916360" y="2492280"/>
            <a:ext cx="3286080" cy="884160"/>
          </a:xfrm>
          <a:prstGeom prst="rect">
            <a:avLst/>
          </a:prstGeom>
          <a:ln w="0">
            <a:noFill/>
          </a:ln>
        </p:spPr>
      </p:pic>
      <p:sp>
        <p:nvSpPr>
          <p:cNvPr id="370" name="Rectangle 9"/>
          <p:cNvSpPr/>
          <p:nvPr/>
        </p:nvSpPr>
        <p:spPr>
          <a:xfrm>
            <a:off x="468360" y="3645000"/>
            <a:ext cx="8229600" cy="10080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In the hydrodynamic literature, the following variables are used:</a:t>
            </a:r>
            <a:endParaRPr b="0" lang="en-US" sz="2600" spc="-1" strike="noStrike">
              <a:solidFill>
                <a:srgbClr val="000000"/>
              </a:solidFill>
              <a:latin typeface="Arial"/>
            </a:endParaRPr>
          </a:p>
        </p:txBody>
      </p:sp>
      <p:pic>
        <p:nvPicPr>
          <p:cNvPr id="371" name="Picture 10" descr=""/>
          <p:cNvPicPr/>
          <p:nvPr/>
        </p:nvPicPr>
        <p:blipFill>
          <a:blip r:embed="rId2"/>
          <a:stretch/>
        </p:blipFill>
        <p:spPr>
          <a:xfrm>
            <a:off x="2484360" y="4365720"/>
            <a:ext cx="1368360" cy="828720"/>
          </a:xfrm>
          <a:prstGeom prst="rect">
            <a:avLst/>
          </a:prstGeom>
          <a:ln w="0">
            <a:noFill/>
          </a:ln>
        </p:spPr>
      </p:pic>
      <mc:AlternateContent>
        <mc:Choice xmlns:a14="http://schemas.microsoft.com/office/drawing/2010/main" Requires="a14">
          <p:sp>
            <p:nvSpPr>
              <p:cNvPr id="372" name="Object 12"/>
              <p:cNvSpPr txBox="1"/>
              <p:nvPr/>
            </p:nvSpPr>
            <p:spPr>
              <a:xfrm>
                <a:off x="2627280" y="5229360"/>
                <a:ext cx="1738440" cy="588960"/>
              </a:xfrm>
              <a:prstGeom prst="rect">
                <a:avLst/>
              </a:prstGeom>
            </p:spPr>
            <p:txBody>
              <a:bodyPr/>
              <a:p>
                <a14:m>
                  <m:oMath xmlns:m="http://schemas.openxmlformats.org/officeDocument/2006/math">
                    <m:acc>
                      <m:accPr>
                        <m:chr m:val="˙"/>
                      </m:accPr>
                      <m:e>
                        <m:r>
                          <m:t xml:space="preserve">ξ</m:t>
                        </m:r>
                      </m:e>
                    </m:acc>
                    <m:r>
                      <m:t xml:space="preserve">=</m:t>
                    </m:r>
                    <m:r>
                      <m:t xml:space="preserve">δν</m:t>
                    </m:r>
                    <m:r>
                      <m:t xml:space="preserve">≈</m:t>
                    </m:r>
                    <m:r>
                      <m:t xml:space="preserve">δ</m:t>
                    </m:r>
                    <m:acc>
                      <m:accPr>
                        <m:chr m:val="˙"/>
                      </m:accPr>
                      <m:e>
                        <m:r>
                          <m:t xml:space="preserve">η</m:t>
                        </m:r>
                      </m:e>
                    </m:acc>
                  </m:oMath>
                </a14:m>
              </a:p>
            </p:txBody>
          </p:sp>
        </mc:Choice>
        <mc:Fallback/>
      </mc:AlternateContent>
      <p:sp>
        <p:nvSpPr>
          <p:cNvPr id="373" name="Rectangle 14"/>
          <p:cNvSpPr/>
          <p:nvPr/>
        </p:nvSpPr>
        <p:spPr>
          <a:xfrm>
            <a:off x="4789800" y="4653000"/>
            <a:ext cx="3888720" cy="9169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The kinematics transformation is</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 </a:t>
            </a:r>
            <a:r>
              <a:rPr b="0" lang="en-AU" sz="1800" spc="-1" strike="noStrike">
                <a:solidFill>
                  <a:srgbClr val="996600"/>
                </a:solidFill>
                <a:latin typeface="Arial"/>
              </a:rPr>
              <a:t>simplified under the assumptions of </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very small angles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A81B8E-D753-4EDE-B468-978568174D4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75"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76"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3FFA99-7ECA-4DD1-BAB7-0AED7D51FD5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7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Summary seakeeping coordinates</a:t>
            </a:r>
            <a:endParaRPr b="0" lang="en-US" sz="4200" spc="-1" strike="noStrike">
              <a:solidFill>
                <a:srgbClr val="006633"/>
              </a:solidFill>
              <a:latin typeface="Tahoma"/>
            </a:endParaRPr>
          </a:p>
        </p:txBody>
      </p:sp>
      <p:pic>
        <p:nvPicPr>
          <p:cNvPr id="378" name="Picture 8" descr=""/>
          <p:cNvPicPr/>
          <p:nvPr/>
        </p:nvPicPr>
        <p:blipFill>
          <a:blip r:embed="rId1"/>
          <a:stretch/>
        </p:blipFill>
        <p:spPr>
          <a:xfrm>
            <a:off x="539640" y="2060640"/>
            <a:ext cx="8093160" cy="2925720"/>
          </a:xfrm>
          <a:prstGeom prst="rect">
            <a:avLst/>
          </a:prstGeom>
          <a:ln w="0">
            <a:noFill/>
          </a:ln>
        </p:spPr>
      </p:pic>
      <p:sp>
        <p:nvSpPr>
          <p:cNvPr id="379" name="Text Box 9"/>
          <p:cNvSpPr/>
          <p:nvPr/>
        </p:nvSpPr>
        <p:spPr>
          <a:xfrm>
            <a:off x="755640" y="1413000"/>
            <a:ext cx="4321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Perez, T. and T.I. Fossen (2007)</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Rectangle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19EF455-EB0D-43BC-8275-38CA77AAE8A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81" name="Rectangle 5"/>
          <p:cNvSpPr/>
          <p:nvPr/>
        </p:nvSpPr>
        <p:spPr>
          <a:xfrm>
            <a:off x="2771640" y="6243480"/>
            <a:ext cx="360072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82" name="Rectangle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E51DE1B-AD84-4C5B-9FC4-3F12EE8CD407}"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83" name="PlaceHolder 1"/>
          <p:cNvSpPr>
            <a:spLocks noGrp="1"/>
          </p:cNvSpPr>
          <p:nvPr>
            <p:ph type="title"/>
          </p:nvPr>
        </p:nvSpPr>
        <p:spPr>
          <a:xfrm>
            <a:off x="914040" y="1523520"/>
            <a:ext cx="7623000" cy="175284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5000" spc="-1" strike="noStrike">
                <a:solidFill>
                  <a:srgbClr val="006633"/>
                </a:solidFill>
                <a:latin typeface="Tahoma"/>
              </a:rPr>
              <a:t>Kinetics</a:t>
            </a:r>
            <a:endParaRPr b="0" lang="en-US" sz="5000" spc="-1" strike="noStrike">
              <a:solidFill>
                <a:srgbClr val="006633"/>
              </a:solidFill>
              <a:latin typeface="Tahoma"/>
            </a:endParaRPr>
          </a:p>
        </p:txBody>
      </p:sp>
      <p:sp>
        <p:nvSpPr>
          <p:cNvPr id="384" name="PlaceHolder 2"/>
          <p:cNvSpPr>
            <a:spLocks noGrp="1"/>
          </p:cNvSpPr>
          <p:nvPr>
            <p:ph type="subTitle"/>
          </p:nvPr>
        </p:nvSpPr>
        <p:spPr>
          <a:xfrm>
            <a:off x="1981080" y="3962520"/>
            <a:ext cx="6553440" cy="1752480"/>
          </a:xfrm>
          <a:prstGeom prst="rect">
            <a:avLst/>
          </a:prstGeom>
          <a:noFill/>
          <a:ln w="0">
            <a:noFill/>
          </a:ln>
        </p:spPr>
        <p:txBody>
          <a:bodyPr lIns="91440" rIns="91440" tIns="45720" bIns="45720" anchor="t">
            <a:noAutofit/>
          </a:bodyPr>
          <a:p>
            <a:pPr indent="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Description of forces and the motion they cause on bodies using postulated laws of physics.</a:t>
            </a:r>
            <a:endParaRPr b="0" lang="en-US" sz="3000" spc="-1" strike="noStrike">
              <a:solidFill>
                <a:srgbClr val="000000"/>
              </a:solidFill>
              <a:latin typeface="Arial"/>
            </a:endParaRPr>
          </a:p>
          <a:p>
            <a:pPr indent="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F888E0-D431-42AE-AE71-6ABF00107073}"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8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8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0FF7117-36C9-4A1D-A601-9B59A6449A3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8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Forces and moments</a:t>
            </a:r>
            <a:endParaRPr b="0" lang="en-US" sz="4200" spc="-1" strike="noStrike">
              <a:solidFill>
                <a:srgbClr val="006633"/>
              </a:solidFill>
              <a:latin typeface="Tahoma"/>
            </a:endParaRPr>
          </a:p>
        </p:txBody>
      </p:sp>
      <p:sp>
        <p:nvSpPr>
          <p:cNvPr id="389" name="PlaceHolder 2"/>
          <p:cNvSpPr>
            <a:spLocks noGrp="1"/>
          </p:cNvSpPr>
          <p:nvPr>
            <p:ph/>
          </p:nvPr>
        </p:nvSpPr>
        <p:spPr>
          <a:xfrm>
            <a:off x="468360" y="1196640"/>
            <a:ext cx="8229600" cy="2663640"/>
          </a:xfrm>
          <a:prstGeom prst="rect">
            <a:avLst/>
          </a:prstGeom>
          <a:noFill/>
          <a:ln w="0">
            <a:noFill/>
          </a:ln>
        </p:spPr>
        <p:txBody>
          <a:bodyPr lIns="91440" rIns="91440" tIns="45720" bIns="45720" anchor="t">
            <a:normAutofit/>
          </a:bodyPr>
          <a:p>
            <a:pPr marL="343080" indent="-343080">
              <a:spcBef>
                <a:spcPts val="60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A force acting on a rigid body has a line of action which passes through the point of application.</a:t>
            </a:r>
            <a:endParaRPr b="0" lang="en-US" sz="2400" spc="-1" strike="noStrike">
              <a:solidFill>
                <a:srgbClr val="000000"/>
              </a:solidFill>
              <a:latin typeface="Arial"/>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Arial"/>
            </a:endParaRPr>
          </a:p>
          <a:p>
            <a:pPr marL="343080" indent="-343080">
              <a:spcBef>
                <a:spcPts val="60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This means that the force produces a moment about a point.</a:t>
            </a:r>
            <a:endParaRPr b="0" lang="en-US" sz="2400" spc="-1" strike="noStrike">
              <a:solidFill>
                <a:srgbClr val="000000"/>
              </a:solidFill>
              <a:latin typeface="Arial"/>
            </a:endParaRPr>
          </a:p>
        </p:txBody>
      </p:sp>
      <p:sp>
        <p:nvSpPr>
          <p:cNvPr id="390" name="Oval 5"/>
          <p:cNvSpPr/>
          <p:nvPr/>
        </p:nvSpPr>
        <p:spPr>
          <a:xfrm rot="20365200">
            <a:off x="3779640" y="4797000"/>
            <a:ext cx="2374560" cy="936720"/>
          </a:xfrm>
          <a:prstGeom prst="ellipse">
            <a:avLst/>
          </a:prstGeom>
          <a:solidFill>
            <a:srgbClr val="cc99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391" name="Line 7"/>
          <p:cNvSpPr/>
          <p:nvPr/>
        </p:nvSpPr>
        <p:spPr>
          <a:xfrm>
            <a:off x="4643280" y="5229360"/>
            <a:ext cx="1800360" cy="14436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92" name="Line 9"/>
          <p:cNvSpPr/>
          <p:nvPr/>
        </p:nvSpPr>
        <p:spPr>
          <a:xfrm>
            <a:off x="4716360" y="4149720"/>
            <a:ext cx="719280" cy="50328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mc:AlternateContent>
        <mc:Choice xmlns:a14="http://schemas.microsoft.com/office/drawing/2010/main" Requires="a14">
          <p:sp>
            <p:nvSpPr>
              <p:cNvPr id="393" name="Object 10"/>
              <p:cNvSpPr txBox="1"/>
              <p:nvPr/>
            </p:nvSpPr>
            <p:spPr>
              <a:xfrm>
                <a:off x="1393920" y="4194000"/>
                <a:ext cx="2251080" cy="642960"/>
              </a:xfrm>
              <a:prstGeom prst="rect">
                <a:avLst/>
              </a:prstGeom>
            </p:spPr>
            <p:txBody>
              <a:bodyPr/>
              <a:p>
                <a14:m>
                  <m:oMath xmlns:m="http://schemas.openxmlformats.org/officeDocument/2006/math">
                    <m:sSub>
                      <m:e>
                        <m:acc>
                          <m:accPr>
                            <m:chr m:val="⃗"/>
                          </m:accPr>
                          <m:e>
                            <m:r>
                              <m:t xml:space="preserve">m</m:t>
                            </m:r>
                          </m:e>
                        </m:acc>
                      </m:e>
                      <m:sub>
                        <m:f>
                          <m:fPr>
                            <m:type m:val="lin"/>
                          </m:fPr>
                          <m:num>
                            <m:r>
                              <m:t xml:space="preserve">b</m:t>
                            </m:r>
                          </m:num>
                          <m:den>
                            <m:r>
                              <m:t xml:space="preserve">P</m:t>
                            </m:r>
                          </m:den>
                        </m:f>
                      </m:sub>
                    </m:sSub>
                    <m:r>
                      <m:t xml:space="preserve">=</m:t>
                    </m:r>
                    <m:sSub>
                      <m:e>
                        <m:r>
                          <m:t xml:space="preserve">r</m:t>
                        </m:r>
                      </m:e>
                      <m:sub>
                        <m:r>
                          <m:rPr>
                            <m:lit/>
                            <m:nor/>
                          </m:rPr>
                          <m:t xml:space="preserve">PP</m:t>
                        </m:r>
                        <m:r>
                          <m:t xml:space="preserve">'</m:t>
                        </m:r>
                      </m:sub>
                    </m:sSub>
                    <m:r>
                      <m:t xml:space="preserve">×</m:t>
                    </m:r>
                    <m:acc>
                      <m:accPr>
                        <m:chr m:val="⃗"/>
                      </m:accPr>
                      <m:e>
                        <m:r>
                          <m:t xml:space="preserve">f</m:t>
                        </m:r>
                      </m:e>
                    </m:acc>
                  </m:oMath>
                </a14:m>
              </a:p>
            </p:txBody>
          </p:sp>
        </mc:Choice>
        <mc:Fallback/>
      </mc:AlternateContent>
      <mc:AlternateContent>
        <mc:Choice xmlns:a14="http://schemas.microsoft.com/office/drawing/2010/main" Requires="a14">
          <p:sp>
            <p:nvSpPr>
              <p:cNvPr id="394" name="Object 11"/>
              <p:cNvSpPr txBox="1"/>
              <p:nvPr/>
            </p:nvSpPr>
            <p:spPr>
              <a:xfrm>
                <a:off x="5105520" y="4811760"/>
                <a:ext cx="515880" cy="485640"/>
              </a:xfrm>
              <a:prstGeom prst="rect">
                <a:avLst/>
              </a:prstGeom>
            </p:spPr>
            <p:txBody>
              <a:bodyPr/>
              <a:p>
                <a14:m>
                  <m:oMath xmlns:m="http://schemas.openxmlformats.org/officeDocument/2006/math">
                    <m:sSub>
                      <m:e>
                        <m:acc>
                          <m:accPr>
                            <m:chr m:val="⃗"/>
                          </m:accPr>
                          <m:e>
                            <m:r>
                              <m:t xml:space="preserve">r</m:t>
                            </m:r>
                          </m:e>
                        </m:acc>
                      </m:e>
                      <m:sub>
                        <m:r>
                          <m:rPr>
                            <m:lit/>
                            <m:nor/>
                          </m:rPr>
                          <m:t xml:space="preserve">PP</m:t>
                        </m:r>
                        <m:r>
                          <m:t xml:space="preserve">'</m:t>
                        </m:r>
                      </m:sub>
                    </m:sSub>
                  </m:oMath>
                </a14:m>
              </a:p>
            </p:txBody>
          </p:sp>
        </mc:Choice>
        <mc:Fallback/>
      </mc:AlternateContent>
      <mc:AlternateContent>
        <mc:Choice xmlns:a14="http://schemas.microsoft.com/office/drawing/2010/main" Requires="a14">
          <p:sp>
            <p:nvSpPr>
              <p:cNvPr id="395" name="Object 12"/>
              <p:cNvSpPr txBox="1"/>
              <p:nvPr/>
            </p:nvSpPr>
            <p:spPr>
              <a:xfrm>
                <a:off x="5018040" y="3746520"/>
                <a:ext cx="343080" cy="544320"/>
              </a:xfrm>
              <a:prstGeom prst="rect">
                <a:avLst/>
              </a:prstGeom>
            </p:spPr>
            <p:txBody>
              <a:bodyPr/>
              <a:p>
                <a14:m>
                  <m:oMath xmlns:m="http://schemas.openxmlformats.org/officeDocument/2006/math">
                    <m:acc>
                      <m:accPr>
                        <m:chr m:val="⃗"/>
                      </m:accPr>
                      <m:e>
                        <m:r>
                          <m:t xml:space="preserve">f</m:t>
                        </m:r>
                      </m:e>
                    </m:acc>
                  </m:oMath>
                </a14:m>
              </a:p>
            </p:txBody>
          </p:sp>
        </mc:Choice>
        <mc:Fallback/>
      </mc:AlternateContent>
      <mc:AlternateContent>
        <mc:Choice xmlns:a14="http://schemas.microsoft.com/office/drawing/2010/main" Requires="a14">
          <p:sp>
            <p:nvSpPr>
              <p:cNvPr id="396" name="Object 13"/>
              <p:cNvSpPr txBox="1"/>
              <p:nvPr/>
            </p:nvSpPr>
            <p:spPr>
              <a:xfrm>
                <a:off x="4211640" y="5229360"/>
                <a:ext cx="344520" cy="374400"/>
              </a:xfrm>
              <a:prstGeom prst="rect">
                <a:avLst/>
              </a:prstGeom>
            </p:spPr>
            <p:txBody>
              <a:bodyPr/>
              <a:p>
                <a14:m>
                  <m:oMath xmlns:m="http://schemas.openxmlformats.org/officeDocument/2006/math">
                    <m:r>
                      <m:t xml:space="preserve">P</m:t>
                    </m:r>
                  </m:oMath>
                </a14:m>
              </a:p>
            </p:txBody>
          </p:sp>
        </mc:Choice>
        <mc:Fallback/>
      </mc:AlternateContent>
      <p:sp>
        <p:nvSpPr>
          <p:cNvPr id="397" name="Line 14"/>
          <p:cNvSpPr/>
          <p:nvPr/>
        </p:nvSpPr>
        <p:spPr>
          <a:xfrm>
            <a:off x="4211640" y="3789360"/>
            <a:ext cx="3313080" cy="230364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98" name="Oval 15"/>
          <p:cNvSpPr/>
          <p:nvPr/>
        </p:nvSpPr>
        <p:spPr>
          <a:xfrm>
            <a:off x="4572000" y="5157720"/>
            <a:ext cx="144360" cy="14436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399" name="Rectangle 16"/>
          <p:cNvSpPr/>
          <p:nvPr/>
        </p:nvSpPr>
        <p:spPr>
          <a:xfrm>
            <a:off x="7380360" y="5805360"/>
            <a:ext cx="1439640" cy="28764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Line of action</a:t>
            </a:r>
            <a:endParaRPr b="0" lang="en-US" sz="1500" spc="-1" strike="noStrike">
              <a:solidFill>
                <a:srgbClr val="000000"/>
              </a:solidFill>
              <a:latin typeface="Arial"/>
            </a:endParaRPr>
          </a:p>
        </p:txBody>
      </p:sp>
      <mc:AlternateContent>
        <mc:Choice xmlns:a14="http://schemas.microsoft.com/office/drawing/2010/main" Requires="a14">
          <p:sp>
            <p:nvSpPr>
              <p:cNvPr id="400" name="Object 17"/>
              <p:cNvSpPr txBox="1"/>
              <p:nvPr/>
            </p:nvSpPr>
            <p:spPr>
              <a:xfrm>
                <a:off x="6443640" y="4941720"/>
                <a:ext cx="401760" cy="374760"/>
              </a:xfrm>
              <a:prstGeom prst="rect">
                <a:avLst/>
              </a:prstGeom>
            </p:spPr>
            <p:txBody>
              <a:bodyPr/>
              <a:p>
                <a14:m>
                  <m:oMath xmlns:m="http://schemas.openxmlformats.org/officeDocument/2006/math">
                    <m:r>
                      <m:t xml:space="preserve">P</m:t>
                    </m:r>
                    <m:r>
                      <m:t xml:space="preserve">'</m:t>
                    </m:r>
                  </m:oMath>
                </a14:m>
              </a:p>
            </p:txBody>
          </p:sp>
        </mc:Choice>
        <mc:Fallback/>
      </mc:AlternateContent>
      <p:sp>
        <p:nvSpPr>
          <p:cNvPr id="401" name="Rectangle 18"/>
          <p:cNvSpPr/>
          <p:nvPr/>
        </p:nvSpPr>
        <p:spPr>
          <a:xfrm>
            <a:off x="6804000" y="4941720"/>
            <a:ext cx="1800360" cy="28764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any point on the line of action</a:t>
            </a:r>
            <a:endParaRPr b="0" lang="en-US" sz="1500" spc="-1" strike="noStrike">
              <a:solidFill>
                <a:srgbClr val="000000"/>
              </a:solidFill>
              <a:latin typeface="Arial"/>
            </a:endParaRPr>
          </a:p>
        </p:txBody>
      </p:sp>
      <p:sp>
        <p:nvSpPr>
          <p:cNvPr id="402" name="Oval 19"/>
          <p:cNvSpPr/>
          <p:nvPr/>
        </p:nvSpPr>
        <p:spPr>
          <a:xfrm>
            <a:off x="6443640" y="5300640"/>
            <a:ext cx="144360" cy="14436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8D6FD1-ED8A-4724-9348-063EB80C441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0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0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A89ED04-BF04-42D0-8293-1843FDA4CE7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0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Forces and moments</a:t>
            </a:r>
            <a:endParaRPr b="0" lang="en-US" sz="4200" spc="-1" strike="noStrike">
              <a:solidFill>
                <a:srgbClr val="006633"/>
              </a:solidFill>
              <a:latin typeface="Tahoma"/>
            </a:endParaRPr>
          </a:p>
        </p:txBody>
      </p:sp>
      <p:sp>
        <p:nvSpPr>
          <p:cNvPr id="407" name="PlaceHolder 2"/>
          <p:cNvSpPr>
            <a:spLocks noGrp="1"/>
          </p:cNvSpPr>
          <p:nvPr>
            <p:ph/>
          </p:nvPr>
        </p:nvSpPr>
        <p:spPr>
          <a:xfrm>
            <a:off x="468360" y="1196640"/>
            <a:ext cx="8229600" cy="1079640"/>
          </a:xfrm>
          <a:prstGeom prst="rect">
            <a:avLst/>
          </a:prstGeom>
          <a:noFill/>
          <a:ln w="0">
            <a:noFill/>
          </a:ln>
        </p:spPr>
        <p:txBody>
          <a:bodyPr lIns="91440" rIns="91440" tIns="45720" bIns="4572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A resultant force due to a set S of forces acting on a rigid body is</a:t>
            </a:r>
            <a:endParaRPr b="0" lang="en-US" sz="3000" spc="-1" strike="noStrike">
              <a:solidFill>
                <a:srgbClr val="000000"/>
              </a:solidFill>
              <a:latin typeface="Arial"/>
            </a:endParaRPr>
          </a:p>
        </p:txBody>
      </p:sp>
      <mc:AlternateContent>
        <mc:Choice xmlns:a14="http://schemas.microsoft.com/office/drawing/2010/main" Requires="a14">
          <p:sp>
            <p:nvSpPr>
              <p:cNvPr id="408" name="Object 7"/>
              <p:cNvSpPr txBox="1"/>
              <p:nvPr/>
            </p:nvSpPr>
            <p:spPr>
              <a:xfrm>
                <a:off x="3203640" y="2565360"/>
                <a:ext cx="1814400" cy="863640"/>
              </a:xfrm>
              <a:prstGeom prst="rect">
                <a:avLst/>
              </a:prstGeom>
            </p:spPr>
            <p:txBody>
              <a:bodyPr/>
              <a:p>
                <a14:m>
                  <m:oMath xmlns:m="http://schemas.openxmlformats.org/officeDocument/2006/math">
                    <m:sSub>
                      <m:e>
                        <m:acc>
                          <m:accPr>
                            <m:chr m:val="⃗"/>
                          </m:accPr>
                          <m:e>
                            <m:r>
                              <m:t xml:space="preserve">f</m:t>
                            </m:r>
                          </m:e>
                        </m:acc>
                      </m:e>
                      <m:sub>
                        <m:r>
                          <m:rPr>
                            <m:lit/>
                            <m:nor/>
                          </m:rPr>
                          <m:t xml:space="preserve">RES</m:t>
                        </m:r>
                      </m:sub>
                    </m:sSub>
                    <m:r>
                      <m:t xml:space="preserve">=</m:t>
                    </m:r>
                    <m:nary>
                      <m:naryPr>
                        <m:chr m:val="∑"/>
                        <m:supHide m:val="1"/>
                      </m:naryPr>
                      <m:sub>
                        <m:r>
                          <m:t xml:space="preserve">j</m:t>
                        </m:r>
                      </m:sub>
                      <m:sup/>
                      <m:e>
                        <m:sSub>
                          <m:e>
                            <m:acc>
                              <m:accPr>
                                <m:chr m:val="⃗"/>
                              </m:accPr>
                              <m:e>
                                <m:r>
                                  <m:t xml:space="preserve">f</m:t>
                                </m:r>
                              </m:e>
                            </m:acc>
                          </m:e>
                          <m:sub>
                            <m:r>
                              <m:t xml:space="preserve">j</m:t>
                            </m:r>
                          </m:sub>
                        </m:sSub>
                      </m:e>
                    </m:nary>
                  </m:oMath>
                </a14:m>
              </a:p>
            </p:txBody>
          </p:sp>
        </mc:Choice>
        <mc:Fallback/>
      </mc:AlternateContent>
      <p:sp>
        <p:nvSpPr>
          <p:cNvPr id="409" name="Rectangle 14"/>
          <p:cNvSpPr/>
          <p:nvPr/>
        </p:nvSpPr>
        <p:spPr>
          <a:xfrm>
            <a:off x="395280" y="4005360"/>
            <a:ext cx="8229600" cy="107928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A resultant moment due to a set S of forces acting on a rigid body is</a:t>
            </a:r>
            <a:endParaRPr b="0" lang="en-US" sz="3000" spc="-1" strike="noStrike">
              <a:solidFill>
                <a:srgbClr val="000000"/>
              </a:solidFill>
              <a:latin typeface="Arial"/>
            </a:endParaRPr>
          </a:p>
        </p:txBody>
      </p:sp>
      <mc:AlternateContent>
        <mc:Choice xmlns:a14="http://schemas.microsoft.com/office/drawing/2010/main" Requires="a14">
          <p:sp>
            <p:nvSpPr>
              <p:cNvPr id="410" name="Object 15"/>
              <p:cNvSpPr txBox="1"/>
              <p:nvPr/>
            </p:nvSpPr>
            <p:spPr>
              <a:xfrm>
                <a:off x="3181320" y="5229360"/>
                <a:ext cx="2125800" cy="733320"/>
              </a:xfrm>
              <a:prstGeom prst="rect">
                <a:avLst/>
              </a:prstGeom>
            </p:spPr>
            <p:txBody>
              <a:bodyPr/>
              <a:p>
                <a14:m>
                  <m:oMath xmlns:m="http://schemas.openxmlformats.org/officeDocument/2006/math">
                    <m:sSub>
                      <m:e>
                        <m:acc>
                          <m:accPr>
                            <m:chr m:val="⃗"/>
                          </m:accPr>
                          <m:e>
                            <m:r>
                              <m:t xml:space="preserve">m</m:t>
                            </m:r>
                          </m:e>
                        </m:acc>
                      </m:e>
                      <m:sub>
                        <m:f>
                          <m:fPr>
                            <m:type m:val="lin"/>
                          </m:fPr>
                          <m:num>
                            <m:r>
                              <m:t xml:space="preserve">S</m:t>
                            </m:r>
                          </m:num>
                          <m:den>
                            <m:r>
                              <m:t xml:space="preserve">P</m:t>
                            </m:r>
                          </m:den>
                        </m:f>
                      </m:sub>
                    </m:sSub>
                    <m:r>
                      <m:t xml:space="preserve">=</m:t>
                    </m:r>
                    <m:nary>
                      <m:naryPr>
                        <m:chr m:val="∑"/>
                        <m:supHide m:val="1"/>
                      </m:naryPr>
                      <m:sub>
                        <m:r>
                          <m:t xml:space="preserve">j</m:t>
                        </m:r>
                      </m:sub>
                      <m:sup/>
                      <m:e>
                        <m:sSub>
                          <m:e>
                            <m:acc>
                              <m:accPr>
                                <m:chr m:val="⃗"/>
                              </m:accPr>
                              <m:e>
                                <m:r>
                                  <m:t xml:space="preserve">r</m:t>
                                </m:r>
                              </m:e>
                            </m:acc>
                          </m:e>
                          <m:sub>
                            <m:r>
                              <m:rPr>
                                <m:lit/>
                                <m:nor/>
                              </m:rPr>
                              <m:t xml:space="preserve">Pj</m:t>
                            </m:r>
                          </m:sub>
                        </m:sSub>
                        <m:r>
                          <m:t xml:space="preserve">×</m:t>
                        </m:r>
                        <m:sSub>
                          <m:e>
                            <m:acc>
                              <m:accPr>
                                <m:chr m:val="⃗"/>
                              </m:accPr>
                              <m:e>
                                <m:r>
                                  <m:t xml:space="preserve">f</m:t>
                                </m:r>
                              </m:e>
                            </m:acc>
                          </m:e>
                          <m:sub>
                            <m:r>
                              <m:t xml:space="preserve">j</m:t>
                            </m:r>
                          </m:sub>
                        </m:sSub>
                      </m:e>
                    </m:nary>
                  </m:oMath>
                </a14:m>
              </a:p>
            </p:txBody>
          </p:sp>
        </mc:Choice>
        <mc:Fallback/>
      </mc:AlternateContent>
      <p:sp>
        <p:nvSpPr>
          <p:cNvPr id="411" name="Rectangle 16"/>
          <p:cNvSpPr/>
          <p:nvPr/>
        </p:nvSpPr>
        <p:spPr>
          <a:xfrm>
            <a:off x="2916360" y="3500280"/>
            <a:ext cx="3960720" cy="28764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The resultant does not have a line of action.</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7ED024-DDAF-4545-9FB9-79544066FCB3}"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1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1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A27FAE9-972E-4652-B091-6CE59796E9D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1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Moment about another point</a:t>
            </a:r>
            <a:endParaRPr b="0" lang="en-US" sz="4200" spc="-1" strike="noStrike">
              <a:solidFill>
                <a:srgbClr val="006633"/>
              </a:solidFill>
              <a:latin typeface="Tahoma"/>
            </a:endParaRPr>
          </a:p>
        </p:txBody>
      </p:sp>
      <p:sp>
        <p:nvSpPr>
          <p:cNvPr id="416" name="PlaceHolder 2"/>
          <p:cNvSpPr>
            <a:spLocks noGrp="1"/>
          </p:cNvSpPr>
          <p:nvPr>
            <p:ph/>
          </p:nvPr>
        </p:nvSpPr>
        <p:spPr>
          <a:xfrm>
            <a:off x="468360" y="1196640"/>
            <a:ext cx="8229600" cy="107964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The moment about a point Q can be found</a:t>
            </a:r>
            <a:endParaRPr b="0" lang="en-US" sz="3000" spc="-1" strike="noStrike">
              <a:solidFill>
                <a:srgbClr val="000000"/>
              </a:solidFill>
              <a:latin typeface="Arial"/>
            </a:endParaRPr>
          </a:p>
        </p:txBody>
      </p:sp>
      <mc:AlternateContent>
        <mc:Choice xmlns:a14="http://schemas.microsoft.com/office/drawing/2010/main" Requires="a14">
          <p:sp>
            <p:nvSpPr>
              <p:cNvPr id="417" name="Object 6"/>
              <p:cNvSpPr txBox="1"/>
              <p:nvPr/>
            </p:nvSpPr>
            <p:spPr>
              <a:xfrm>
                <a:off x="747720" y="2395440"/>
                <a:ext cx="4425840" cy="2098800"/>
              </a:xfrm>
              <a:prstGeom prst="rect">
                <a:avLst/>
              </a:prstGeom>
            </p:spPr>
            <p:txBody>
              <a:bodyPr/>
              <a:p>
                <a14:m>
                  <m:oMath xmlns:m="http://schemas.openxmlformats.org/officeDocument/2006/math">
                    <m:eqArr>
                      <m:e>
                        <m:sSub>
                          <m:e>
                            <m:acc>
                              <m:accPr>
                                <m:chr m:val="⃗"/>
                              </m:accPr>
                              <m:e>
                                <m:r>
                                  <m:t xml:space="preserve">m</m:t>
                                </m:r>
                              </m:e>
                            </m:acc>
                          </m:e>
                          <m:sub>
                            <m:f>
                              <m:fPr>
                                <m:type m:val="lin"/>
                              </m:fPr>
                              <m:num>
                                <m:r>
                                  <m:t xml:space="preserve">S</m:t>
                                </m:r>
                              </m:num>
                              <m:den>
                                <m:r>
                                  <m:t xml:space="preserve">Q</m:t>
                                </m:r>
                              </m:den>
                            </m:f>
                          </m:sub>
                        </m:sSub>
                        <m:r>
                          <m:t xml:space="preserve">=</m:t>
                        </m:r>
                        <m:nary>
                          <m:naryPr>
                            <m:chr m:val="∑"/>
                            <m:supHide m:val="1"/>
                          </m:naryPr>
                          <m:sub>
                            <m:r>
                              <m:t xml:space="preserve">j</m:t>
                            </m:r>
                          </m:sub>
                          <m:sup/>
                          <m:e>
                            <m:sSub>
                              <m:e>
                                <m:acc>
                                  <m:accPr>
                                    <m:chr m:val="⃗"/>
                                  </m:accPr>
                                  <m:e>
                                    <m:r>
                                      <m:t xml:space="preserve">r</m:t>
                                    </m:r>
                                  </m:e>
                                </m:acc>
                              </m:e>
                              <m:sub>
                                <m:r>
                                  <m:rPr>
                                    <m:lit/>
                                    <m:nor/>
                                  </m:rPr>
                                  <m:t xml:space="preserve">Qj</m:t>
                                </m:r>
                              </m:sub>
                            </m:sSub>
                            <m:r>
                              <m:t xml:space="preserve">×</m:t>
                            </m:r>
                            <m:sSub>
                              <m:e>
                                <m:acc>
                                  <m:accPr>
                                    <m:chr m:val="⃗"/>
                                  </m:accPr>
                                  <m:e>
                                    <m:r>
                                      <m:t xml:space="preserve">f</m:t>
                                    </m:r>
                                  </m:e>
                                </m:acc>
                              </m:e>
                              <m:sub>
                                <m:r>
                                  <m:t xml:space="preserve">j</m:t>
                                </m:r>
                              </m:sub>
                            </m:sSub>
                          </m:e>
                        </m:nary>
                        <m:r>
                          <m:t xml:space="preserve">=</m:t>
                        </m:r>
                        <m:nary>
                          <m:naryPr>
                            <m:chr m:val="∑"/>
                            <m:supHide m:val="1"/>
                          </m:naryPr>
                          <m:sub>
                            <m:r>
                              <m:t xml:space="preserve">j</m:t>
                            </m:r>
                          </m:sub>
                          <m:sup/>
                          <m:e>
                            <m:r>
                              <m:t xml:space="preserve">(</m:t>
                            </m:r>
                            <m:sSub>
                              <m:e>
                                <m:acc>
                                  <m:accPr>
                                    <m:chr m:val="⃗"/>
                                  </m:accPr>
                                  <m:e>
                                    <m:r>
                                      <m:t xml:space="preserve">r</m:t>
                                    </m:r>
                                  </m:e>
                                </m:acc>
                              </m:e>
                              <m:sub>
                                <m:r>
                                  <m:rPr>
                                    <m:lit/>
                                    <m:nor/>
                                  </m:rPr>
                                  <m:t xml:space="preserve">Pj</m:t>
                                </m:r>
                              </m:sub>
                            </m:sSub>
                            <m:r>
                              <m:t xml:space="preserve">+</m:t>
                            </m:r>
                            <m:sSub>
                              <m:e>
                                <m:acc>
                                  <m:accPr>
                                    <m:chr m:val="⃗"/>
                                  </m:accPr>
                                  <m:e>
                                    <m:r>
                                      <m:t xml:space="preserve">r</m:t>
                                    </m:r>
                                  </m:e>
                                </m:acc>
                              </m:e>
                              <m:sub>
                                <m:r>
                                  <m:rPr>
                                    <m:lit/>
                                    <m:nor/>
                                  </m:rPr>
                                  <m:t xml:space="preserve">QP</m:t>
                                </m:r>
                              </m:sub>
                            </m:sSub>
                            <m:r>
                              <m:t xml:space="preserve">)</m:t>
                            </m:r>
                            <m:r>
                              <m:t xml:space="preserve">×</m:t>
                            </m:r>
                            <m:sSub>
                              <m:e>
                                <m:acc>
                                  <m:accPr>
                                    <m:chr m:val="⃗"/>
                                  </m:accPr>
                                  <m:e>
                                    <m:r>
                                      <m:t xml:space="preserve">f</m:t>
                                    </m:r>
                                  </m:e>
                                </m:acc>
                              </m:e>
                              <m:sub>
                                <m:r>
                                  <m:t xml:space="preserve">j</m:t>
                                </m:r>
                              </m:sub>
                            </m:sSub>
                          </m:e>
                        </m:nary>
                      </m:e>
                      <m:e>
                        <m:r>
                          <m:t xml:space="preserve"> </m:t>
                        </m:r>
                        <m:r>
                          <m:t xml:space="preserve">=</m:t>
                        </m:r>
                        <m:nary>
                          <m:naryPr>
                            <m:chr m:val="∑"/>
                            <m:supHide m:val="1"/>
                          </m:naryPr>
                          <m:sub>
                            <m:r>
                              <m:t xml:space="preserve">j</m:t>
                            </m:r>
                          </m:sub>
                          <m:sup/>
                          <m:e>
                            <m:sSub>
                              <m:e>
                                <m:acc>
                                  <m:accPr>
                                    <m:chr m:val="⃗"/>
                                  </m:accPr>
                                  <m:e>
                                    <m:r>
                                      <m:t xml:space="preserve">r</m:t>
                                    </m:r>
                                  </m:e>
                                </m:acc>
                              </m:e>
                              <m:sub>
                                <m:r>
                                  <m:rPr>
                                    <m:lit/>
                                    <m:nor/>
                                  </m:rPr>
                                  <m:t xml:space="preserve">Pj</m:t>
                                </m:r>
                              </m:sub>
                            </m:sSub>
                            <m:r>
                              <m:t xml:space="preserve">×</m:t>
                            </m:r>
                            <m:sSub>
                              <m:e>
                                <m:acc>
                                  <m:accPr>
                                    <m:chr m:val="⃗"/>
                                  </m:accPr>
                                  <m:e>
                                    <m:r>
                                      <m:t xml:space="preserve">f</m:t>
                                    </m:r>
                                  </m:e>
                                </m:acc>
                              </m:e>
                              <m:sub>
                                <m:r>
                                  <m:t xml:space="preserve">j</m:t>
                                </m:r>
                              </m:sub>
                            </m:sSub>
                          </m:e>
                        </m:nary>
                        <m:r>
                          <m:t xml:space="preserve">+</m:t>
                        </m:r>
                        <m:sSub>
                          <m:e>
                            <m:acc>
                              <m:accPr>
                                <m:chr m:val="⃗"/>
                              </m:accPr>
                              <m:e>
                                <m:r>
                                  <m:t xml:space="preserve">r</m:t>
                                </m:r>
                              </m:e>
                            </m:acc>
                          </m:e>
                          <m:sub>
                            <m:r>
                              <m:rPr>
                                <m:lit/>
                                <m:nor/>
                              </m:rPr>
                              <m:t xml:space="preserve">QP</m:t>
                            </m:r>
                          </m:sub>
                        </m:sSub>
                        <m:r>
                          <m:t xml:space="preserve">×</m:t>
                        </m:r>
                        <m:nary>
                          <m:naryPr>
                            <m:chr m:val="∑"/>
                            <m:supHide m:val="1"/>
                          </m:naryPr>
                          <m:sub>
                            <m:r>
                              <m:t xml:space="preserve">j</m:t>
                            </m:r>
                          </m:sub>
                          <m:sup/>
                          <m:e>
                            <m:sSub>
                              <m:e>
                                <m:acc>
                                  <m:accPr>
                                    <m:chr m:val="⃗"/>
                                  </m:accPr>
                                  <m:e>
                                    <m:r>
                                      <m:t xml:space="preserve">f</m:t>
                                    </m:r>
                                  </m:e>
                                </m:acc>
                              </m:e>
                              <m:sub>
                                <m:r>
                                  <m:t xml:space="preserve">j</m:t>
                                </m:r>
                              </m:sub>
                            </m:sSub>
                          </m:e>
                        </m:nary>
                      </m:e>
                      <m:e>
                        <m:r>
                          <m:t xml:space="preserve"> </m:t>
                        </m:r>
                        <m:r>
                          <m:t xml:space="preserve">=</m:t>
                        </m:r>
                        <m:sSub>
                          <m:e>
                            <m:acc>
                              <m:accPr>
                                <m:chr m:val="⃗"/>
                              </m:accPr>
                              <m:e>
                                <m:r>
                                  <m:t xml:space="preserve">m</m:t>
                                </m:r>
                              </m:e>
                            </m:acc>
                          </m:e>
                          <m:sub>
                            <m:f>
                              <m:fPr>
                                <m:type m:val="lin"/>
                              </m:fPr>
                              <m:num>
                                <m:r>
                                  <m:t xml:space="preserve">S</m:t>
                                </m:r>
                              </m:num>
                              <m:den>
                                <m:r>
                                  <m:t xml:space="preserve">P</m:t>
                                </m:r>
                              </m:den>
                            </m:f>
                          </m:sub>
                        </m:sSub>
                        <m:r>
                          <m:t xml:space="preserve">+</m:t>
                        </m:r>
                        <m:sSub>
                          <m:e>
                            <m:acc>
                              <m:accPr>
                                <m:chr m:val="⃗"/>
                              </m:accPr>
                              <m:e>
                                <m:r>
                                  <m:t xml:space="preserve">r</m:t>
                                </m:r>
                              </m:e>
                            </m:acc>
                          </m:e>
                          <m:sub>
                            <m:r>
                              <m:rPr>
                                <m:lit/>
                                <m:nor/>
                              </m:rPr>
                              <m:t xml:space="preserve">QP</m:t>
                            </m:r>
                          </m:sub>
                        </m:sSub>
                        <m:r>
                          <m:t xml:space="preserve">×</m:t>
                        </m:r>
                        <m:sSub>
                          <m:e>
                            <m:acc>
                              <m:accPr>
                                <m:chr m:val="⃗"/>
                              </m:accPr>
                              <m:e>
                                <m:r>
                                  <m:t xml:space="preserve">f</m:t>
                                </m:r>
                              </m:e>
                            </m:acc>
                          </m:e>
                          <m:sub>
                            <m:r>
                              <m:rPr>
                                <m:lit/>
                                <m:nor/>
                              </m:rPr>
                              <m:t xml:space="preserve">RES</m:t>
                            </m:r>
                          </m:sub>
                        </m:sSub>
                      </m:e>
                    </m:eqArr>
                  </m:oMath>
                </a14:m>
              </a:p>
            </p:txBody>
          </p:sp>
        </mc:Choice>
        <mc:Fallback/>
      </mc:AlternateContent>
      <p:grpSp>
        <p:nvGrpSpPr>
          <p:cNvPr id="418" name="Group 22"/>
          <p:cNvGrpSpPr/>
          <p:nvPr/>
        </p:nvGrpSpPr>
        <p:grpSpPr>
          <a:xfrm>
            <a:off x="4826160" y="2852640"/>
            <a:ext cx="3835080" cy="2748960"/>
            <a:chOff x="4826160" y="2852640"/>
            <a:chExt cx="3835080" cy="2748960"/>
          </a:xfrm>
        </p:grpSpPr>
        <p:sp>
          <p:nvSpPr>
            <p:cNvPr id="419" name="Oval 7"/>
            <p:cNvSpPr/>
            <p:nvPr/>
          </p:nvSpPr>
          <p:spPr>
            <a:xfrm rot="20365200">
              <a:off x="5003640" y="3788640"/>
              <a:ext cx="2374920" cy="1441440"/>
            </a:xfrm>
            <a:prstGeom prst="ellipse">
              <a:avLst/>
            </a:prstGeom>
            <a:solidFill>
              <a:srgbClr val="cc99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420" name="Line 8"/>
            <p:cNvSpPr/>
            <p:nvPr/>
          </p:nvSpPr>
          <p:spPr>
            <a:xfrm>
              <a:off x="5780160" y="4292280"/>
              <a:ext cx="1800000" cy="14472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21" name="Line 9"/>
            <p:cNvSpPr/>
            <p:nvPr/>
          </p:nvSpPr>
          <p:spPr>
            <a:xfrm>
              <a:off x="5853240" y="3213000"/>
              <a:ext cx="718920" cy="50328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mc:AlternateContent>
          <mc:Choice xmlns:a14="http://schemas.microsoft.com/office/drawing/2010/main" Requires="a14">
            <p:sp>
              <p:nvSpPr>
                <p:cNvPr id="422" name="Object 10"/>
                <p:cNvSpPr txBox="1"/>
                <p:nvPr/>
              </p:nvSpPr>
              <p:spPr>
                <a:xfrm>
                  <a:off x="6299280" y="3848040"/>
                  <a:ext cx="403200" cy="542880"/>
                </a:xfrm>
                <a:prstGeom prst="rect">
                  <a:avLst/>
                </a:prstGeom>
              </p:spPr>
              <p:txBody>
                <a:bodyPr/>
                <a:p>
                  <a14:m>
                    <m:oMath xmlns:m="http://schemas.openxmlformats.org/officeDocument/2006/math">
                      <m:sSub>
                        <m:e>
                          <m:acc>
                            <m:accPr>
                              <m:chr m:val="⃗"/>
                            </m:accPr>
                            <m:e>
                              <m:r>
                                <m:t xml:space="preserve">r</m:t>
                              </m:r>
                            </m:e>
                          </m:acc>
                        </m:e>
                        <m:sub>
                          <m:r>
                            <m:rPr>
                              <m:lit/>
                              <m:nor/>
                            </m:rPr>
                            <m:t xml:space="preserve">Pj</m:t>
                          </m:r>
                        </m:sub>
                      </m:sSub>
                    </m:oMath>
                  </a14:m>
                </a:p>
              </p:txBody>
            </p:sp>
          </mc:Choice>
          <mc:Fallback/>
        </mc:AlternateContent>
        <mc:AlternateContent>
          <mc:Choice xmlns:a14="http://schemas.microsoft.com/office/drawing/2010/main" Requires="a14">
            <p:sp>
              <p:nvSpPr>
                <p:cNvPr id="423" name="Object 11"/>
                <p:cNvSpPr txBox="1"/>
                <p:nvPr/>
              </p:nvSpPr>
              <p:spPr>
                <a:xfrm>
                  <a:off x="5348160" y="4149360"/>
                  <a:ext cx="344520" cy="374760"/>
                </a:xfrm>
                <a:prstGeom prst="rect">
                  <a:avLst/>
                </a:prstGeom>
              </p:spPr>
              <p:txBody>
                <a:bodyPr/>
                <a:p>
                  <a14:m>
                    <m:oMath xmlns:m="http://schemas.openxmlformats.org/officeDocument/2006/math">
                      <m:r>
                        <m:t xml:space="preserve">P</m:t>
                      </m:r>
                    </m:oMath>
                  </a14:m>
                </a:p>
              </p:txBody>
            </p:sp>
          </mc:Choice>
          <mc:Fallback/>
        </mc:AlternateContent>
        <p:sp>
          <p:nvSpPr>
            <p:cNvPr id="424" name="Line 12"/>
            <p:cNvSpPr/>
            <p:nvPr/>
          </p:nvSpPr>
          <p:spPr>
            <a:xfrm>
              <a:off x="5924520" y="3284280"/>
              <a:ext cx="2736720" cy="187164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25" name="Oval 13"/>
            <p:cNvSpPr/>
            <p:nvPr/>
          </p:nvSpPr>
          <p:spPr>
            <a:xfrm>
              <a:off x="5708520" y="4221000"/>
              <a:ext cx="144720" cy="14436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426" name="Oval 15"/>
            <p:cNvSpPr/>
            <p:nvPr/>
          </p:nvSpPr>
          <p:spPr>
            <a:xfrm>
              <a:off x="7580160" y="4363920"/>
              <a:ext cx="144720" cy="14436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427" name="Oval 16"/>
            <p:cNvSpPr/>
            <p:nvPr/>
          </p:nvSpPr>
          <p:spPr>
            <a:xfrm>
              <a:off x="6572160" y="4797360"/>
              <a:ext cx="144720" cy="14436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mc:AlternateContent>
          <mc:Choice xmlns:a14="http://schemas.microsoft.com/office/drawing/2010/main" Requires="a14">
            <p:sp>
              <p:nvSpPr>
                <p:cNvPr id="428" name="Object 17"/>
                <p:cNvSpPr txBox="1"/>
                <p:nvPr/>
              </p:nvSpPr>
              <p:spPr>
                <a:xfrm>
                  <a:off x="6140520" y="4725720"/>
                  <a:ext cx="344520" cy="460440"/>
                </a:xfrm>
                <a:prstGeom prst="rect">
                  <a:avLst/>
                </a:prstGeom>
              </p:spPr>
              <p:txBody>
                <a:bodyPr/>
                <a:p>
                  <a14:m>
                    <m:oMath xmlns:m="http://schemas.openxmlformats.org/officeDocument/2006/math">
                      <m:r>
                        <m:t xml:space="preserve">Q</m:t>
                      </m:r>
                    </m:oMath>
                  </a14:m>
                </a:p>
              </p:txBody>
            </p:sp>
          </mc:Choice>
          <mc:Fallback/>
        </mc:AlternateContent>
        <p:sp>
          <p:nvSpPr>
            <p:cNvPr id="429" name="Line 18"/>
            <p:cNvSpPr/>
            <p:nvPr/>
          </p:nvSpPr>
          <p:spPr>
            <a:xfrm flipV="1">
              <a:off x="6716880" y="4509360"/>
              <a:ext cx="863280" cy="35892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30" name="Line 19"/>
            <p:cNvSpPr/>
            <p:nvPr/>
          </p:nvSpPr>
          <p:spPr>
            <a:xfrm flipH="1" flipV="1">
              <a:off x="5779800" y="4291920"/>
              <a:ext cx="863640" cy="57636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mc:AlternateContent>
          <mc:Choice xmlns:a14="http://schemas.microsoft.com/office/drawing/2010/main" Requires="a14">
            <p:sp>
              <p:nvSpPr>
                <p:cNvPr id="431" name="Object 20"/>
                <p:cNvSpPr txBox="1"/>
                <p:nvPr/>
              </p:nvSpPr>
              <p:spPr>
                <a:xfrm>
                  <a:off x="7134120" y="4725720"/>
                  <a:ext cx="432000" cy="542880"/>
                </a:xfrm>
                <a:prstGeom prst="rect">
                  <a:avLst/>
                </a:prstGeom>
              </p:spPr>
              <p:txBody>
                <a:bodyPr/>
                <a:p>
                  <a14:m>
                    <m:oMath xmlns:m="http://schemas.openxmlformats.org/officeDocument/2006/math">
                      <m:sSub>
                        <m:e>
                          <m:acc>
                            <m:accPr>
                              <m:chr m:val="⃗"/>
                            </m:accPr>
                            <m:e>
                              <m:r>
                                <m:t xml:space="preserve">r</m:t>
                              </m:r>
                            </m:e>
                          </m:acc>
                        </m:e>
                        <m:sub>
                          <m:r>
                            <m:rPr>
                              <m:lit/>
                              <m:nor/>
                            </m:rPr>
                            <m:t xml:space="preserve">Qj</m:t>
                          </m:r>
                        </m:sub>
                      </m:sSub>
                    </m:oMath>
                  </a14:m>
                </a:p>
              </p:txBody>
            </p:sp>
          </mc:Choice>
          <mc:Fallback/>
        </mc:AlternateContent>
        <mc:AlternateContent>
          <mc:Choice xmlns:a14="http://schemas.microsoft.com/office/drawing/2010/main" Requires="a14">
            <p:sp>
              <p:nvSpPr>
                <p:cNvPr id="432" name="Object 21"/>
                <p:cNvSpPr txBox="1"/>
                <p:nvPr/>
              </p:nvSpPr>
              <p:spPr>
                <a:xfrm>
                  <a:off x="6211800" y="2852640"/>
                  <a:ext cx="401760" cy="600120"/>
                </a:xfrm>
                <a:prstGeom prst="rect">
                  <a:avLst/>
                </a:prstGeom>
              </p:spPr>
              <p:txBody>
                <a:bodyPr/>
                <a:p>
                  <a14:m>
                    <m:oMath xmlns:m="http://schemas.openxmlformats.org/officeDocument/2006/math">
                      <m:sSub>
                        <m:e>
                          <m:acc>
                            <m:accPr>
                              <m:chr m:val="⃗"/>
                            </m:accPr>
                            <m:e>
                              <m:r>
                                <m:t xml:space="preserve">f</m:t>
                              </m:r>
                            </m:e>
                          </m:acc>
                        </m:e>
                        <m:sub>
                          <m:r>
                            <m:t xml:space="preserve">j</m:t>
                          </m:r>
                        </m:sub>
                      </m:sSub>
                    </m:oMath>
                  </a14:m>
                </a:p>
              </p:txBody>
            </p:sp>
          </mc:Choice>
          <mc:Fallback/>
        </mc:AlternateContent>
      </p:grpSp>
      <p:sp>
        <p:nvSpPr>
          <p:cNvPr id="433" name="Rectangle 23"/>
          <p:cNvSpPr/>
          <p:nvPr/>
        </p:nvSpPr>
        <p:spPr>
          <a:xfrm>
            <a:off x="2124000" y="4869000"/>
            <a:ext cx="2017800" cy="72072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The resultant can be regarded as a force with line of action through P</a:t>
            </a:r>
            <a:endParaRPr b="0" lang="en-US" sz="1500" spc="-1" strike="noStrike">
              <a:solidFill>
                <a:srgbClr val="000000"/>
              </a:solidFill>
              <a:latin typeface="Arial"/>
            </a:endParaRPr>
          </a:p>
        </p:txBody>
      </p:sp>
      <p:sp>
        <p:nvSpPr>
          <p:cNvPr id="434" name="AutoShape 25"/>
          <p:cNvSpPr/>
          <p:nvPr/>
        </p:nvSpPr>
        <p:spPr>
          <a:xfrm rot="5400000">
            <a:off x="2951640" y="4256640"/>
            <a:ext cx="142920" cy="792360"/>
          </a:xfrm>
          <a:custGeom>
            <a:avLst/>
            <a:gdLst>
              <a:gd name="textAreaLeft" fmla="*/ 0 w 142920"/>
              <a:gd name="textAreaRight" fmla="*/ 51480 w 142920"/>
              <a:gd name="textAreaTop" fmla="*/ 20520 h 792360"/>
              <a:gd name="textAreaBottom" fmla="*/ 771840 h 792360"/>
            </a:gdLst>
            <a:ah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5B7ADE1-6F28-4437-B752-143FAD39D98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3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3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C2FE12F-4DC4-40A2-9707-050AF8B58E3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3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Transformation </a:t>
            </a:r>
            <a:endParaRPr b="0" lang="en-US" sz="4200" spc="-1" strike="noStrike">
              <a:solidFill>
                <a:srgbClr val="006633"/>
              </a:solidFill>
              <a:latin typeface="Tahoma"/>
            </a:endParaRPr>
          </a:p>
        </p:txBody>
      </p:sp>
      <p:sp>
        <p:nvSpPr>
          <p:cNvPr id="439" name="PlaceHolder 2"/>
          <p:cNvSpPr>
            <a:spLocks noGrp="1"/>
          </p:cNvSpPr>
          <p:nvPr>
            <p:ph/>
          </p:nvPr>
        </p:nvSpPr>
        <p:spPr>
          <a:xfrm>
            <a:off x="468360" y="1196640"/>
            <a:ext cx="8229600" cy="1079640"/>
          </a:xfrm>
          <a:prstGeom prst="rect">
            <a:avLst/>
          </a:prstGeom>
          <a:noFill/>
          <a:ln w="0">
            <a:noFill/>
          </a:ln>
        </p:spPr>
        <p:txBody>
          <a:bodyPr lIns="91440" rIns="91440" tIns="45720" bIns="4572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Using the previous results we have that in body-fixed coordinates</a:t>
            </a:r>
            <a:endParaRPr b="0" lang="en-US" sz="3000" spc="-1" strike="noStrike">
              <a:solidFill>
                <a:srgbClr val="000000"/>
              </a:solidFill>
              <a:latin typeface="Arial"/>
            </a:endParaRPr>
          </a:p>
        </p:txBody>
      </p:sp>
      <mc:AlternateContent>
        <mc:Choice xmlns:a14="http://schemas.microsoft.com/office/drawing/2010/main" Requires="a14">
          <p:sp>
            <p:nvSpPr>
              <p:cNvPr id="440" name="Object 4"/>
              <p:cNvSpPr txBox="1"/>
              <p:nvPr/>
            </p:nvSpPr>
            <p:spPr>
              <a:xfrm>
                <a:off x="1619280" y="2492280"/>
                <a:ext cx="5840280" cy="1414440"/>
              </a:xfrm>
              <a:prstGeom prst="rect">
                <a:avLst/>
              </a:prstGeom>
            </p:spPr>
            <p:txBody>
              <a:bodyPr/>
              <a:p>
                <a14:m>
                  <m:oMath xmlns:m="http://schemas.openxmlformats.org/officeDocument/2006/math">
                    <m:d>
                      <m:dPr>
                        <m:begChr m:val="["/>
                        <m:endChr m:val="]"/>
                      </m:dPr>
                      <m:e>
                        <m:m>
                          <m:mr>
                            <m:e>
                              <m:sSubSup>
                                <m:e>
                                  <m:r>
                                    <m:t xml:space="preserve">f</m:t>
                                  </m:r>
                                </m:e>
                                <m:sub>
                                  <m:r>
                                    <m:t xml:space="preserve">Q</m:t>
                                  </m:r>
                                </m:sub>
                                <m:sup>
                                  <m:r>
                                    <m:t xml:space="preserve">b</m:t>
                                  </m:r>
                                </m:sup>
                              </m:sSubSup>
                            </m:e>
                          </m:mr>
                          <m:mr>
                            <m:e>
                              <m:sSubSup>
                                <m:e>
                                  <m:r>
                                    <m:t xml:space="preserve">m</m:t>
                                  </m:r>
                                </m:e>
                                <m:sub>
                                  <m:r>
                                    <m:t xml:space="preserve">Q</m:t>
                                  </m:r>
                                </m:sub>
                                <m:sup>
                                  <m:r>
                                    <m:t xml:space="preserve">b</m:t>
                                  </m:r>
                                </m:sup>
                              </m:sSubSup>
                            </m:e>
                          </m:mr>
                        </m:m>
                      </m:e>
                    </m:d>
                    <m:r>
                      <m:t xml:space="preserve">=</m:t>
                    </m:r>
                    <m:d>
                      <m:dPr>
                        <m:begChr m:val="["/>
                        <m:endChr m:val="]"/>
                      </m:dPr>
                      <m:e>
                        <m:m>
                          <m:mr>
                            <m:e>
                              <m:sSubSup>
                                <m:e>
                                  <m:r>
                                    <m:t xml:space="preserve">f</m:t>
                                  </m:r>
                                </m:e>
                                <m:sub>
                                  <m:r>
                                    <m:t xml:space="preserve">P</m:t>
                                  </m:r>
                                </m:sub>
                                <m:sup>
                                  <m:r>
                                    <m:t xml:space="preserve">b</m:t>
                                  </m:r>
                                </m:sup>
                              </m:sSubSup>
                            </m:e>
                          </m:mr>
                          <m:mr>
                            <m:e>
                              <m:r>
                                <m:t xml:space="preserve">S</m:t>
                              </m:r>
                              <m:r>
                                <m:t xml:space="preserve">(</m:t>
                              </m:r>
                              <m:sSubSup>
                                <m:e>
                                  <m:r>
                                    <m:t xml:space="preserve">r</m:t>
                                  </m:r>
                                </m:e>
                                <m:sub>
                                  <m:r>
                                    <m:rPr>
                                      <m:lit/>
                                      <m:nor/>
                                    </m:rPr>
                                    <m:t xml:space="preserve">QP</m:t>
                                  </m:r>
                                </m:sub>
                                <m:sup>
                                  <m:r>
                                    <m:t xml:space="preserve">b</m:t>
                                  </m:r>
                                </m:sup>
                              </m:sSubSup>
                              <m:r>
                                <m:t xml:space="preserve">)</m:t>
                              </m:r>
                              <m:r>
                                <m:t xml:space="preserve"> </m:t>
                              </m:r>
                              <m:sSubSup>
                                <m:e>
                                  <m:r>
                                    <m:t xml:space="preserve">f</m:t>
                                  </m:r>
                                </m:e>
                                <m:sub>
                                  <m:r>
                                    <m:t xml:space="preserve">P</m:t>
                                  </m:r>
                                </m:sub>
                                <m:sup>
                                  <m:r>
                                    <m:t xml:space="preserve">b</m:t>
                                  </m:r>
                                </m:sup>
                              </m:sSubSup>
                              <m:r>
                                <m:t xml:space="preserve">+</m:t>
                              </m:r>
                              <m:sSubSup>
                                <m:e>
                                  <m:r>
                                    <m:t xml:space="preserve">m</m:t>
                                  </m:r>
                                </m:e>
                                <m:sub>
                                  <m:r>
                                    <m:t xml:space="preserve">P</m:t>
                                  </m:r>
                                </m:sub>
                                <m:sup>
                                  <m:r>
                                    <m:t xml:space="preserve">b</m:t>
                                  </m:r>
                                </m:sup>
                              </m:sSubSup>
                            </m:e>
                          </m:mr>
                        </m:m>
                      </m:e>
                    </m:d>
                    <m:r>
                      <m:t xml:space="preserve">=</m:t>
                    </m:r>
                    <m:limLow>
                      <m:e>
                        <m:groupChr>
                          <m:groupChrPr>
                            <m:chr m:val="⏟"/>
                            <m:pos m:val="bot"/>
                            <m:vertJc m:val="top"/>
                          </m:groupChrPr>
                          <m:e>
                            <m:d>
                              <m:dPr>
                                <m:begChr m:val="["/>
                                <m:endChr m:val="]"/>
                              </m:dPr>
                              <m:e>
                                <m:m>
                                  <m:mr>
                                    <m:e>
                                      <m:sSub>
                                        <m:e>
                                          <m:r>
                                            <m:t xml:space="preserve">I</m:t>
                                          </m:r>
                                        </m:e>
                                        <m:sub>
                                          <m:r>
                                            <m:t xml:space="preserve">3</m:t>
                                          </m:r>
                                          <m:r>
                                            <m:t xml:space="preserve">×</m:t>
                                          </m:r>
                                          <m:r>
                                            <m:t xml:space="preserve">3</m:t>
                                          </m:r>
                                        </m:sub>
                                      </m:sSub>
                                    </m:e>
                                    <m:e>
                                      <m:sSub>
                                        <m:e>
                                          <m:r>
                                            <m:t xml:space="preserve">0</m:t>
                                          </m:r>
                                        </m:e>
                                        <m:sub>
                                          <m:r>
                                            <m:t xml:space="preserve">3</m:t>
                                          </m:r>
                                          <m:r>
                                            <m:t xml:space="preserve">×</m:t>
                                          </m:r>
                                          <m:r>
                                            <m:t xml:space="preserve">3</m:t>
                                          </m:r>
                                        </m:sub>
                                      </m:sSub>
                                    </m:e>
                                  </m:mr>
                                  <m:mr>
                                    <m:e>
                                      <m:r>
                                        <m:t xml:space="preserve">S</m:t>
                                      </m:r>
                                      <m:r>
                                        <m:t xml:space="preserve">(</m:t>
                                      </m:r>
                                      <m:sSubSup>
                                        <m:e>
                                          <m:r>
                                            <m:t xml:space="preserve">r</m:t>
                                          </m:r>
                                        </m:e>
                                        <m:sub>
                                          <m:r>
                                            <m:rPr>
                                              <m:lit/>
                                              <m:nor/>
                                            </m:rPr>
                                            <m:t xml:space="preserve">QP</m:t>
                                          </m:r>
                                        </m:sub>
                                        <m:sup>
                                          <m:r>
                                            <m:t xml:space="preserve">b</m:t>
                                          </m:r>
                                        </m:sup>
                                      </m:sSubSup>
                                      <m:r>
                                        <m:t xml:space="preserve">)</m:t>
                                      </m:r>
                                    </m:e>
                                    <m:e>
                                      <m:sSub>
                                        <m:e>
                                          <m:r>
                                            <m:t xml:space="preserve">I</m:t>
                                          </m:r>
                                        </m:e>
                                        <m:sub>
                                          <m:r>
                                            <m:t xml:space="preserve">3</m:t>
                                          </m:r>
                                          <m:r>
                                            <m:t xml:space="preserve">×</m:t>
                                          </m:r>
                                          <m:r>
                                            <m:t xml:space="preserve">3</m:t>
                                          </m:r>
                                        </m:sub>
                                      </m:sSub>
                                    </m:e>
                                  </m:mr>
                                </m:m>
                              </m:e>
                            </m:d>
                          </m:e>
                        </m:groupChr>
                      </m:e>
                      <m:lim>
                        <m:sSup>
                          <m:e>
                            <m:r>
                              <m:t xml:space="preserve">H</m:t>
                            </m:r>
                          </m:e>
                          <m:sup>
                            <m:r>
                              <m:t xml:space="preserve">T</m:t>
                            </m:r>
                          </m:sup>
                        </m:sSup>
                        <m:r>
                          <m:t xml:space="preserve">(</m:t>
                        </m:r>
                        <m:sSubSup>
                          <m:e>
                            <m:r>
                              <m:t xml:space="preserve">r</m:t>
                            </m:r>
                          </m:e>
                          <m:sub>
                            <m:r>
                              <m:rPr>
                                <m:lit/>
                                <m:nor/>
                              </m:rPr>
                              <m:t xml:space="preserve">QP</m:t>
                            </m:r>
                          </m:sub>
                          <m:sup>
                            <m:r>
                              <m:t xml:space="preserve">b</m:t>
                            </m:r>
                          </m:sup>
                        </m:sSubSup>
                        <m:r>
                          <m:t xml:space="preserve">)</m:t>
                        </m:r>
                      </m:lim>
                    </m:limLow>
                    <m:r>
                      <m:t xml:space="preserve"> </m:t>
                    </m:r>
                    <m:d>
                      <m:dPr>
                        <m:begChr m:val="["/>
                        <m:endChr m:val="]"/>
                      </m:dPr>
                      <m:e>
                        <m:m>
                          <m:mr>
                            <m:e>
                              <m:sSubSup>
                                <m:e>
                                  <m:r>
                                    <m:t xml:space="preserve">f</m:t>
                                  </m:r>
                                </m:e>
                                <m:sub>
                                  <m:r>
                                    <m:t xml:space="preserve">P</m:t>
                                  </m:r>
                                </m:sub>
                                <m:sup>
                                  <m:r>
                                    <m:t xml:space="preserve">b</m:t>
                                  </m:r>
                                </m:sup>
                              </m:sSubSup>
                            </m:e>
                          </m:mr>
                          <m:mr>
                            <m:e>
                              <m:sSubSup>
                                <m:e>
                                  <m:r>
                                    <m:t xml:space="preserve">m</m:t>
                                  </m:r>
                                </m:e>
                                <m:sub>
                                  <m:r>
                                    <m:t xml:space="preserve">P</m:t>
                                  </m:r>
                                </m:sub>
                                <m:sup>
                                  <m:r>
                                    <m:t xml:space="preserve">b</m:t>
                                  </m:r>
                                </m:sup>
                              </m:sSubSup>
                            </m:e>
                          </m:mr>
                        </m:m>
                      </m:e>
                    </m:d>
                  </m:oMath>
                </a14:m>
              </a:p>
            </p:txBody>
          </p:sp>
        </mc:Choice>
        <mc:Fallback/>
      </mc:AlternateContent>
      <p:sp>
        <p:nvSpPr>
          <p:cNvPr id="441" name="Rectangle 29"/>
          <p:cNvSpPr/>
          <p:nvPr/>
        </p:nvSpPr>
        <p:spPr>
          <a:xfrm>
            <a:off x="684360" y="3860640"/>
            <a:ext cx="2303280" cy="50328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600" spc="-1" strike="noStrike">
                <a:solidFill>
                  <a:srgbClr val="996600"/>
                </a:solidFill>
                <a:latin typeface="Arial"/>
              </a:rPr>
              <a:t>If we choose Q = Ob, then</a:t>
            </a:r>
            <a:endParaRPr b="0" lang="en-US" sz="1600" spc="-1" strike="noStrike">
              <a:solidFill>
                <a:srgbClr val="000000"/>
              </a:solidFill>
              <a:latin typeface="Arial"/>
            </a:endParaRPr>
          </a:p>
        </p:txBody>
      </p:sp>
      <mc:AlternateContent>
        <mc:Choice xmlns:a14="http://schemas.microsoft.com/office/drawing/2010/main" Requires="a14">
          <p:sp>
            <p:nvSpPr>
              <p:cNvPr id="442" name="Object 33"/>
              <p:cNvSpPr txBox="1"/>
              <p:nvPr/>
            </p:nvSpPr>
            <p:spPr>
              <a:xfrm>
                <a:off x="1763640" y="4581360"/>
                <a:ext cx="5713560" cy="1363680"/>
              </a:xfrm>
              <a:prstGeom prst="rect">
                <a:avLst/>
              </a:prstGeom>
            </p:spPr>
            <p:txBody>
              <a:bodyPr/>
              <a:p>
                <a14:m>
                  <m:oMath xmlns:m="http://schemas.openxmlformats.org/officeDocument/2006/math">
                    <m:d>
                      <m:dPr>
                        <m:begChr m:val="["/>
                        <m:endChr m:val="]"/>
                      </m:dPr>
                      <m:e>
                        <m:m>
                          <m:mr>
                            <m:e>
                              <m:sSubSup>
                                <m:e>
                                  <m:r>
                                    <m:t xml:space="preserve">f</m:t>
                                  </m:r>
                                </m:e>
                                <m:sub>
                                  <m:r>
                                    <m:t xml:space="preserve">b</m:t>
                                  </m:r>
                                </m:sub>
                                <m:sup>
                                  <m:r>
                                    <m:t xml:space="preserve">b</m:t>
                                  </m:r>
                                </m:sup>
                              </m:sSubSup>
                            </m:e>
                          </m:mr>
                          <m:mr>
                            <m:e>
                              <m:sSubSup>
                                <m:e>
                                  <m:r>
                                    <m:t xml:space="preserve">m</m:t>
                                  </m:r>
                                </m:e>
                                <m:sub>
                                  <m:r>
                                    <m:t xml:space="preserve">b</m:t>
                                  </m:r>
                                </m:sub>
                                <m:sup>
                                  <m:r>
                                    <m:t xml:space="preserve">b</m:t>
                                  </m:r>
                                </m:sup>
                              </m:sSubSup>
                            </m:e>
                          </m:mr>
                        </m:m>
                      </m:e>
                    </m:d>
                    <m:r>
                      <m:t xml:space="preserve">=</m:t>
                    </m:r>
                    <m:d>
                      <m:dPr>
                        <m:begChr m:val="["/>
                        <m:endChr m:val="]"/>
                      </m:dPr>
                      <m:e>
                        <m:m>
                          <m:mr>
                            <m:e>
                              <m:sSubSup>
                                <m:e>
                                  <m:r>
                                    <m:t xml:space="preserve">f</m:t>
                                  </m:r>
                                </m:e>
                                <m:sub>
                                  <m:r>
                                    <m:t xml:space="preserve">P</m:t>
                                  </m:r>
                                </m:sub>
                                <m:sup>
                                  <m:r>
                                    <m:t xml:space="preserve">b</m:t>
                                  </m:r>
                                </m:sup>
                              </m:sSubSup>
                            </m:e>
                          </m:mr>
                          <m:mr>
                            <m:e>
                              <m:r>
                                <m:t xml:space="preserve">S</m:t>
                              </m:r>
                              <m:r>
                                <m:t xml:space="preserve">(</m:t>
                              </m:r>
                              <m:sSubSup>
                                <m:e>
                                  <m:r>
                                    <m:t xml:space="preserve">r</m:t>
                                  </m:r>
                                </m:e>
                                <m:sub>
                                  <m:r>
                                    <m:rPr>
                                      <m:lit/>
                                      <m:nor/>
                                    </m:rPr>
                                    <m:t xml:space="preserve">bP</m:t>
                                  </m:r>
                                </m:sub>
                                <m:sup>
                                  <m:r>
                                    <m:t xml:space="preserve">b</m:t>
                                  </m:r>
                                </m:sup>
                              </m:sSubSup>
                              <m:r>
                                <m:t xml:space="preserve">)</m:t>
                              </m:r>
                              <m:r>
                                <m:t xml:space="preserve"> </m:t>
                              </m:r>
                              <m:sSubSup>
                                <m:e>
                                  <m:r>
                                    <m:t xml:space="preserve">f</m:t>
                                  </m:r>
                                </m:e>
                                <m:sub>
                                  <m:r>
                                    <m:t xml:space="preserve">P</m:t>
                                  </m:r>
                                </m:sub>
                                <m:sup>
                                  <m:r>
                                    <m:t xml:space="preserve">b</m:t>
                                  </m:r>
                                </m:sup>
                              </m:sSubSup>
                              <m:r>
                                <m:t xml:space="preserve">+</m:t>
                              </m:r>
                              <m:sSubSup>
                                <m:e>
                                  <m:r>
                                    <m:t xml:space="preserve">m</m:t>
                                  </m:r>
                                </m:e>
                                <m:sub>
                                  <m:r>
                                    <m:t xml:space="preserve">P</m:t>
                                  </m:r>
                                </m:sub>
                                <m:sup>
                                  <m:r>
                                    <m:t xml:space="preserve">b</m:t>
                                  </m:r>
                                </m:sup>
                              </m:sSubSup>
                            </m:e>
                          </m:mr>
                        </m:m>
                      </m:e>
                    </m:d>
                    <m:r>
                      <m:t xml:space="preserve">=</m:t>
                    </m:r>
                    <m:limLow>
                      <m:e>
                        <m:groupChr>
                          <m:groupChrPr>
                            <m:chr m:val="⏟"/>
                            <m:pos m:val="bot"/>
                            <m:vertJc m:val="top"/>
                          </m:groupChrPr>
                          <m:e>
                            <m:d>
                              <m:dPr>
                                <m:begChr m:val="["/>
                                <m:endChr m:val="]"/>
                              </m:dPr>
                              <m:e>
                                <m:m>
                                  <m:mr>
                                    <m:e>
                                      <m:sSub>
                                        <m:e>
                                          <m:r>
                                            <m:t xml:space="preserve">I</m:t>
                                          </m:r>
                                        </m:e>
                                        <m:sub>
                                          <m:r>
                                            <m:t xml:space="preserve">3</m:t>
                                          </m:r>
                                          <m:r>
                                            <m:t xml:space="preserve">×</m:t>
                                          </m:r>
                                          <m:r>
                                            <m:t xml:space="preserve">3</m:t>
                                          </m:r>
                                        </m:sub>
                                      </m:sSub>
                                    </m:e>
                                    <m:e>
                                      <m:sSub>
                                        <m:e>
                                          <m:r>
                                            <m:t xml:space="preserve">0</m:t>
                                          </m:r>
                                        </m:e>
                                        <m:sub>
                                          <m:r>
                                            <m:t xml:space="preserve">3</m:t>
                                          </m:r>
                                          <m:r>
                                            <m:t xml:space="preserve">×</m:t>
                                          </m:r>
                                          <m:r>
                                            <m:t xml:space="preserve">3</m:t>
                                          </m:r>
                                        </m:sub>
                                      </m:sSub>
                                    </m:e>
                                  </m:mr>
                                  <m:mr>
                                    <m:e>
                                      <m:r>
                                        <m:t xml:space="preserve">S</m:t>
                                      </m:r>
                                      <m:r>
                                        <m:t xml:space="preserve">(</m:t>
                                      </m:r>
                                      <m:sSubSup>
                                        <m:e>
                                          <m:r>
                                            <m:t xml:space="preserve">r</m:t>
                                          </m:r>
                                        </m:e>
                                        <m:sub>
                                          <m:r>
                                            <m:rPr>
                                              <m:lit/>
                                              <m:nor/>
                                            </m:rPr>
                                            <m:t xml:space="preserve">bP</m:t>
                                          </m:r>
                                        </m:sub>
                                        <m:sup>
                                          <m:r>
                                            <m:t xml:space="preserve">b</m:t>
                                          </m:r>
                                        </m:sup>
                                      </m:sSubSup>
                                      <m:r>
                                        <m:t xml:space="preserve">)</m:t>
                                      </m:r>
                                    </m:e>
                                    <m:e>
                                      <m:sSub>
                                        <m:e>
                                          <m:r>
                                            <m:t xml:space="preserve">I</m:t>
                                          </m:r>
                                        </m:e>
                                        <m:sub>
                                          <m:r>
                                            <m:t xml:space="preserve">3</m:t>
                                          </m:r>
                                          <m:r>
                                            <m:t xml:space="preserve">×</m:t>
                                          </m:r>
                                          <m:r>
                                            <m:t xml:space="preserve">3</m:t>
                                          </m:r>
                                        </m:sub>
                                      </m:sSub>
                                    </m:e>
                                  </m:mr>
                                </m:m>
                              </m:e>
                            </m:d>
                          </m:e>
                        </m:groupChr>
                      </m:e>
                      <m:lim>
                        <m:sSup>
                          <m:e>
                            <m:r>
                              <m:t xml:space="preserve">H</m:t>
                            </m:r>
                          </m:e>
                          <m:sup>
                            <m:r>
                              <m:t xml:space="preserve">T</m:t>
                            </m:r>
                          </m:sup>
                        </m:sSup>
                        <m:r>
                          <m:t xml:space="preserve">(</m:t>
                        </m:r>
                        <m:sSubSup>
                          <m:e>
                            <m:r>
                              <m:t xml:space="preserve">r</m:t>
                            </m:r>
                          </m:e>
                          <m:sub>
                            <m:r>
                              <m:rPr>
                                <m:lit/>
                                <m:nor/>
                              </m:rPr>
                              <m:t xml:space="preserve">bP</m:t>
                            </m:r>
                          </m:sub>
                          <m:sup>
                            <m:r>
                              <m:t xml:space="preserve">b</m:t>
                            </m:r>
                          </m:sup>
                        </m:sSubSup>
                        <m:r>
                          <m:t xml:space="preserve">)</m:t>
                        </m:r>
                      </m:lim>
                    </m:limLow>
                    <m:r>
                      <m:t xml:space="preserve"> </m:t>
                    </m:r>
                    <m:d>
                      <m:dPr>
                        <m:begChr m:val="["/>
                        <m:endChr m:val="]"/>
                      </m:dPr>
                      <m:e>
                        <m:m>
                          <m:mr>
                            <m:e>
                              <m:sSubSup>
                                <m:e>
                                  <m:r>
                                    <m:t xml:space="preserve">f</m:t>
                                  </m:r>
                                </m:e>
                                <m:sub>
                                  <m:r>
                                    <m:t xml:space="preserve">P</m:t>
                                  </m:r>
                                </m:sub>
                                <m:sup>
                                  <m:r>
                                    <m:t xml:space="preserve">b</m:t>
                                  </m:r>
                                </m:sup>
                              </m:sSubSup>
                            </m:e>
                          </m:mr>
                          <m:mr>
                            <m:e>
                              <m:sSubSup>
                                <m:e>
                                  <m:r>
                                    <m:t xml:space="preserve">m</m:t>
                                  </m:r>
                                </m:e>
                                <m:sub>
                                  <m:r>
                                    <m:t xml:space="preserve">P</m:t>
                                  </m:r>
                                </m:sub>
                                <m:sup>
                                  <m:r>
                                    <m:t xml:space="preserve">b</m:t>
                                  </m:r>
                                </m:sup>
                              </m:sSubSup>
                            </m:e>
                          </m:mr>
                        </m:m>
                      </m:e>
                    </m:d>
                  </m:oMath>
                </a14:m>
              </a:p>
            </p:txBody>
          </p:sp>
        </mc:Choice>
        <mc:Fallback/>
      </mc:AlternateContent>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9E02C32-B2F9-4F20-9D07-50604F51C30C}"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4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4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2F03FDB-4F3C-43D0-9403-6DF82A75FDA5}"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4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Rigid-body mass and inertia matrix</a:t>
            </a:r>
            <a:endParaRPr b="0" lang="en-US" sz="3800" spc="-1" strike="noStrike">
              <a:solidFill>
                <a:srgbClr val="006633"/>
              </a:solidFill>
              <a:latin typeface="Tahoma"/>
            </a:endParaRPr>
          </a:p>
        </p:txBody>
      </p:sp>
      <p:sp>
        <p:nvSpPr>
          <p:cNvPr id="447" name="PlaceHolder 2"/>
          <p:cNvSpPr>
            <a:spLocks noGrp="1"/>
          </p:cNvSpPr>
          <p:nvPr>
            <p:ph/>
          </p:nvPr>
        </p:nvSpPr>
        <p:spPr>
          <a:xfrm>
            <a:off x="395280" y="1125000"/>
            <a:ext cx="8229600" cy="605160"/>
          </a:xfrm>
          <a:prstGeom prst="rect">
            <a:avLst/>
          </a:prstGeom>
          <a:noFill/>
          <a:ln w="0">
            <a:noFill/>
          </a:ln>
        </p:spPr>
        <p:txBody>
          <a:bodyPr lIns="91440" rIns="91440" tIns="45720" bIns="45720" anchor="t">
            <a:normAutofit/>
          </a:bodyPr>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a:t>
            </a:r>
            <a:r>
              <a:rPr b="0" lang="en-AU" sz="2100" spc="-1" strike="noStrike">
                <a:solidFill>
                  <a:srgbClr val="996600"/>
                </a:solidFill>
                <a:latin typeface="Arial"/>
              </a:rPr>
              <a:t>generalised mass matrix with inertia moments and products taken about the origin of {b} is</a:t>
            </a:r>
            <a:endParaRPr b="0" lang="en-US" sz="2100" spc="-1" strike="noStrike">
              <a:solidFill>
                <a:srgbClr val="000000"/>
              </a:solidFill>
              <a:latin typeface="Arial"/>
            </a:endParaRPr>
          </a:p>
        </p:txBody>
      </p:sp>
      <p:pic>
        <p:nvPicPr>
          <p:cNvPr id="448" name="Picture 4" descr=""/>
          <p:cNvPicPr/>
          <p:nvPr/>
        </p:nvPicPr>
        <p:blipFill>
          <a:blip r:embed="rId1"/>
          <a:stretch/>
        </p:blipFill>
        <p:spPr>
          <a:xfrm>
            <a:off x="1835280" y="1700280"/>
            <a:ext cx="5043240" cy="1314360"/>
          </a:xfrm>
          <a:prstGeom prst="rect">
            <a:avLst/>
          </a:prstGeom>
          <a:ln w="0">
            <a:noFill/>
          </a:ln>
        </p:spPr>
      </p:pic>
      <p:pic>
        <p:nvPicPr>
          <p:cNvPr id="449" name="Picture 5" descr=""/>
          <p:cNvPicPr/>
          <p:nvPr/>
        </p:nvPicPr>
        <p:blipFill>
          <a:blip r:embed="rId2"/>
          <a:stretch/>
        </p:blipFill>
        <p:spPr>
          <a:xfrm>
            <a:off x="2627280" y="3860640"/>
            <a:ext cx="3038400" cy="655920"/>
          </a:xfrm>
          <a:prstGeom prst="rect">
            <a:avLst/>
          </a:prstGeom>
          <a:ln w="0">
            <a:noFill/>
          </a:ln>
        </p:spPr>
      </p:pic>
      <p:pic>
        <p:nvPicPr>
          <p:cNvPr id="450" name="Picture 6" descr=""/>
          <p:cNvPicPr/>
          <p:nvPr/>
        </p:nvPicPr>
        <p:blipFill>
          <a:blip r:embed="rId3"/>
          <a:stretch/>
        </p:blipFill>
        <p:spPr>
          <a:xfrm>
            <a:off x="1692360" y="4508640"/>
            <a:ext cx="4695840" cy="1242720"/>
          </a:xfrm>
          <a:prstGeom prst="rect">
            <a:avLst/>
          </a:prstGeom>
          <a:ln w="0">
            <a:noFill/>
          </a:ln>
        </p:spPr>
      </p:pic>
      <p:sp>
        <p:nvSpPr>
          <p:cNvPr id="451" name="Rectangle 7"/>
          <p:cNvSpPr/>
          <p:nvPr/>
        </p:nvSpPr>
        <p:spPr>
          <a:xfrm>
            <a:off x="395280" y="3213000"/>
            <a:ext cx="8229600" cy="60480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5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Inertia matrix taken about the origin {b} can be expressed by the one taken about CG</a:t>
            </a:r>
            <a:r>
              <a:rPr b="0" lang="en-AU" sz="2100" spc="-1" strike="noStrike">
                <a:solidFill>
                  <a:srgbClr val="996600"/>
                </a:solidFill>
                <a:latin typeface="Arial"/>
              </a:rPr>
              <a:t> (Parallel axis theorem): </a:t>
            </a:r>
            <a:endParaRPr b="0" lang="en-US" sz="2100" spc="-1" strike="noStrike">
              <a:solidFill>
                <a:srgbClr val="000000"/>
              </a:solidFill>
              <a:latin typeface="Arial"/>
            </a:endParaRPr>
          </a:p>
        </p:txBody>
      </p:sp>
      <p:sp>
        <p:nvSpPr>
          <p:cNvPr id="452" name="Rectangle 8"/>
          <p:cNvSpPr/>
          <p:nvPr/>
        </p:nvSpPr>
        <p:spPr>
          <a:xfrm>
            <a:off x="6227640" y="4149720"/>
            <a:ext cx="2446560" cy="100800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The notation “b/” means about; e.g. b/g means about CG</a:t>
            </a:r>
            <a:endParaRPr b="0" lang="en-US" sz="1500" spc="-1" strike="noStrike">
              <a:solidFill>
                <a:srgbClr val="000000"/>
              </a:solidFill>
              <a:latin typeface="Arial"/>
            </a:endParaRPr>
          </a:p>
        </p:txBody>
      </p:sp>
      <p:sp>
        <p:nvSpPr>
          <p:cNvPr id="453" name="Rectangle 9"/>
          <p:cNvSpPr/>
          <p:nvPr/>
        </p:nvSpPr>
        <p:spPr>
          <a:xfrm>
            <a:off x="684360" y="5734080"/>
            <a:ext cx="7775280" cy="43164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The parallel axis theorem can only be use between CG and another point. So if we want to convert between two arbitrary points we have to do it in two steps.</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AB608DC-E010-4CF3-A059-6F9C4DC3F62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55"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56"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5F385B2-3561-41DC-9BB1-C2360D6A485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5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Angular momentum </a:t>
            </a:r>
            <a:endParaRPr b="0" lang="en-US" sz="4200" spc="-1" strike="noStrike">
              <a:solidFill>
                <a:srgbClr val="006633"/>
              </a:solidFill>
              <a:latin typeface="Tahoma"/>
            </a:endParaRPr>
          </a:p>
        </p:txBody>
      </p:sp>
      <p:sp>
        <p:nvSpPr>
          <p:cNvPr id="458" name="PlaceHolder 2"/>
          <p:cNvSpPr>
            <a:spLocks noGrp="1"/>
          </p:cNvSpPr>
          <p:nvPr>
            <p:ph/>
          </p:nvPr>
        </p:nvSpPr>
        <p:spPr>
          <a:xfrm>
            <a:off x="468360" y="1268280"/>
            <a:ext cx="8229600" cy="103680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angular momentum about CG in B is given by</a:t>
            </a:r>
            <a:endParaRPr b="0" lang="en-US" sz="2600" spc="-1" strike="noStrike">
              <a:solidFill>
                <a:srgbClr val="000000"/>
              </a:solidFill>
              <a:latin typeface="Arial"/>
            </a:endParaRPr>
          </a:p>
        </p:txBody>
      </p:sp>
      <p:pic>
        <p:nvPicPr>
          <p:cNvPr id="459" name="Picture 4" descr=""/>
          <p:cNvPicPr/>
          <p:nvPr/>
        </p:nvPicPr>
        <p:blipFill>
          <a:blip r:embed="rId1"/>
          <a:stretch/>
        </p:blipFill>
        <p:spPr>
          <a:xfrm>
            <a:off x="3348000" y="1700280"/>
            <a:ext cx="2227320" cy="801720"/>
          </a:xfrm>
          <a:prstGeom prst="rect">
            <a:avLst/>
          </a:prstGeom>
          <a:ln w="0">
            <a:noFill/>
          </a:ln>
        </p:spPr>
      </p:pic>
      <p:sp>
        <p:nvSpPr>
          <p:cNvPr id="460" name="Rectangle 5"/>
          <p:cNvSpPr/>
          <p:nvPr/>
        </p:nvSpPr>
        <p:spPr>
          <a:xfrm>
            <a:off x="468360" y="2565360"/>
            <a:ext cx="8229600" cy="10368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If this is expressed in the inertial coordinate system {i},</a:t>
            </a:r>
            <a:endParaRPr b="0" lang="en-US" sz="2600" spc="-1" strike="noStrike">
              <a:solidFill>
                <a:srgbClr val="000000"/>
              </a:solidFill>
              <a:latin typeface="Arial"/>
            </a:endParaRPr>
          </a:p>
        </p:txBody>
      </p:sp>
      <p:pic>
        <p:nvPicPr>
          <p:cNvPr id="461" name="Picture 6" descr=""/>
          <p:cNvPicPr/>
          <p:nvPr/>
        </p:nvPicPr>
        <p:blipFill>
          <a:blip r:embed="rId2"/>
          <a:stretch/>
        </p:blipFill>
        <p:spPr>
          <a:xfrm>
            <a:off x="1619280" y="3284640"/>
            <a:ext cx="3298680" cy="768240"/>
          </a:xfrm>
          <a:prstGeom prst="rect">
            <a:avLst/>
          </a:prstGeom>
          <a:ln w="0">
            <a:noFill/>
          </a:ln>
        </p:spPr>
      </p:pic>
      <p:pic>
        <p:nvPicPr>
          <p:cNvPr id="462" name="Picture 7" descr=""/>
          <p:cNvPicPr/>
          <p:nvPr/>
        </p:nvPicPr>
        <p:blipFill>
          <a:blip r:embed="rId3"/>
          <a:stretch/>
        </p:blipFill>
        <p:spPr>
          <a:xfrm>
            <a:off x="5435640" y="3284640"/>
            <a:ext cx="2670120" cy="812520"/>
          </a:xfrm>
          <a:prstGeom prst="rect">
            <a:avLst/>
          </a:prstGeom>
          <a:ln w="0">
            <a:noFill/>
          </a:ln>
        </p:spPr>
      </p:pic>
      <p:sp>
        <p:nvSpPr>
          <p:cNvPr id="463" name="Rectangle 8"/>
          <p:cNvSpPr/>
          <p:nvPr/>
        </p:nvSpPr>
        <p:spPr>
          <a:xfrm>
            <a:off x="611280" y="4292640"/>
            <a:ext cx="8229600" cy="165564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996600"/>
                </a:solidFill>
                <a:latin typeface="Arial"/>
              </a:rPr>
              <a:t>This shows that inertia matrix is not constant in an inertial frame {i} if {b} rotates wrt {i}. Hence, it is convenient to express the equations of motion in a body-fixed coordinate system.</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Date Placeholder 5"/>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0D57597-5379-4D78-AB0F-2E6DBF14EAA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65" name="Footer Placeholder 6"/>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66" name="Slide Number Placeholder 7"/>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20A557-4A31-46AF-99EF-9BBC9CED4577}"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6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Euler’s Axioms</a:t>
            </a:r>
            <a:endParaRPr b="0" lang="en-US" sz="4200" spc="-1" strike="noStrike">
              <a:solidFill>
                <a:srgbClr val="006633"/>
              </a:solidFill>
              <a:latin typeface="Tahoma"/>
            </a:endParaRPr>
          </a:p>
        </p:txBody>
      </p:sp>
      <p:sp>
        <p:nvSpPr>
          <p:cNvPr id="468" name="PlaceHolder 2"/>
          <p:cNvSpPr>
            <a:spLocks noGrp="1"/>
          </p:cNvSpPr>
          <p:nvPr>
            <p:ph/>
          </p:nvPr>
        </p:nvSpPr>
        <p:spPr>
          <a:xfrm>
            <a:off x="394920" y="1341000"/>
            <a:ext cx="7056360" cy="792360"/>
          </a:xfrm>
          <a:prstGeom prst="rect">
            <a:avLst/>
          </a:prstGeom>
          <a:noFill/>
          <a:ln w="0">
            <a:noFill/>
          </a:ln>
        </p:spPr>
        <p:txBody>
          <a:bodyPr lIns="91440" rIns="91440" tIns="45720" bIns="45720" anchor="t">
            <a:norm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Euler’s 1</a:t>
            </a:r>
            <a:r>
              <a:rPr b="0" lang="en-AU" sz="2600" spc="-1" strike="noStrike" baseline="30000">
                <a:solidFill>
                  <a:srgbClr val="000000"/>
                </a:solidFill>
                <a:latin typeface="Arial"/>
              </a:rPr>
              <a:t>st</a:t>
            </a:r>
            <a:r>
              <a:rPr b="0" lang="en-AU" sz="2600" spc="-1" strike="noStrike">
                <a:solidFill>
                  <a:srgbClr val="000000"/>
                </a:solidFill>
                <a:latin typeface="Arial"/>
              </a:rPr>
              <a:t> axiom states that:</a:t>
            </a:r>
            <a:endParaRPr b="0" lang="en-US" sz="2600" spc="-1" strike="noStrike">
              <a:solidFill>
                <a:srgbClr val="000000"/>
              </a:solidFill>
              <a:latin typeface="Arial"/>
            </a:endParaRPr>
          </a:p>
        </p:txBody>
      </p:sp>
      <p:sp>
        <p:nvSpPr>
          <p:cNvPr id="469" name="Rectangle 6"/>
          <p:cNvSpPr/>
          <p:nvPr/>
        </p:nvSpPr>
        <p:spPr>
          <a:xfrm>
            <a:off x="1547640" y="2781360"/>
            <a:ext cx="6840720" cy="6048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996600"/>
                </a:solidFill>
                <a:latin typeface="Arial"/>
              </a:rPr>
              <a:t>-is the velocity of CG relative to {i} and expressed in {i}</a:t>
            </a:r>
            <a:endParaRPr b="0" lang="en-US" sz="2000" spc="-1" strike="noStrike">
              <a:solidFill>
                <a:srgbClr val="000000"/>
              </a:solidFill>
              <a:latin typeface="Arial"/>
            </a:endParaRPr>
          </a:p>
        </p:txBody>
      </p:sp>
      <p:pic>
        <p:nvPicPr>
          <p:cNvPr id="470" name="Picture 7" descr=""/>
          <p:cNvPicPr/>
          <p:nvPr/>
        </p:nvPicPr>
        <p:blipFill>
          <a:blip r:embed="rId1"/>
          <a:stretch/>
        </p:blipFill>
        <p:spPr>
          <a:xfrm>
            <a:off x="1042920" y="2637000"/>
            <a:ext cx="424080" cy="517320"/>
          </a:xfrm>
          <a:prstGeom prst="rect">
            <a:avLst/>
          </a:prstGeom>
          <a:ln w="0">
            <a:noFill/>
          </a:ln>
        </p:spPr>
      </p:pic>
      <p:pic>
        <p:nvPicPr>
          <p:cNvPr id="471" name="Picture 17" descr=""/>
          <p:cNvPicPr/>
          <p:nvPr/>
        </p:nvPicPr>
        <p:blipFill>
          <a:blip r:embed="rId2"/>
          <a:stretch/>
        </p:blipFill>
        <p:spPr>
          <a:xfrm>
            <a:off x="3708360" y="1916280"/>
            <a:ext cx="1727280" cy="674640"/>
          </a:xfrm>
          <a:prstGeom prst="rect">
            <a:avLst/>
          </a:prstGeom>
          <a:ln w="0">
            <a:noFill/>
          </a:ln>
        </p:spPr>
      </p:pic>
      <p:pic>
        <p:nvPicPr>
          <p:cNvPr id="472" name="Picture 18" descr=""/>
          <p:cNvPicPr/>
          <p:nvPr/>
        </p:nvPicPr>
        <p:blipFill>
          <a:blip r:embed="rId3"/>
          <a:stretch/>
        </p:blipFill>
        <p:spPr>
          <a:xfrm>
            <a:off x="1116000" y="3284640"/>
            <a:ext cx="241200" cy="322200"/>
          </a:xfrm>
          <a:prstGeom prst="rect">
            <a:avLst/>
          </a:prstGeom>
          <a:ln w="0">
            <a:noFill/>
          </a:ln>
        </p:spPr>
      </p:pic>
      <p:sp>
        <p:nvSpPr>
          <p:cNvPr id="473" name="Rectangle 19"/>
          <p:cNvSpPr/>
          <p:nvPr/>
        </p:nvSpPr>
        <p:spPr>
          <a:xfrm>
            <a:off x="1476360" y="3213000"/>
            <a:ext cx="6840720" cy="6048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996600"/>
                </a:solidFill>
                <a:latin typeface="Arial"/>
              </a:rPr>
              <a:t>-is the vector of resultant forces.</a:t>
            </a:r>
            <a:endParaRPr b="0" lang="en-US" sz="2000" spc="-1" strike="noStrike">
              <a:solidFill>
                <a:srgbClr val="000000"/>
              </a:solidFill>
              <a:latin typeface="Arial"/>
            </a:endParaRPr>
          </a:p>
        </p:txBody>
      </p:sp>
      <p:sp>
        <p:nvSpPr>
          <p:cNvPr id="474" name="Rectangle 21"/>
          <p:cNvSpPr/>
          <p:nvPr/>
        </p:nvSpPr>
        <p:spPr>
          <a:xfrm>
            <a:off x="5148360" y="5734080"/>
            <a:ext cx="3529080" cy="6048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Resultant moment about CG</a:t>
            </a:r>
            <a:endParaRPr b="0" lang="en-US" sz="1800" spc="-1" strike="noStrike">
              <a:solidFill>
                <a:srgbClr val="000000"/>
              </a:solidFill>
              <a:latin typeface="Arial"/>
            </a:endParaRPr>
          </a:p>
        </p:txBody>
      </p:sp>
      <p:pic>
        <p:nvPicPr>
          <p:cNvPr id="475" name="Picture 22" descr=""/>
          <p:cNvPicPr/>
          <p:nvPr/>
        </p:nvPicPr>
        <p:blipFill>
          <a:blip r:embed="rId4"/>
          <a:stretch/>
        </p:blipFill>
        <p:spPr>
          <a:xfrm>
            <a:off x="3492360" y="4581360"/>
            <a:ext cx="1441440" cy="717840"/>
          </a:xfrm>
          <a:prstGeom prst="rect">
            <a:avLst/>
          </a:prstGeom>
          <a:ln w="0">
            <a:noFill/>
          </a:ln>
        </p:spPr>
      </p:pic>
      <p:sp>
        <p:nvSpPr>
          <p:cNvPr id="476" name="Rectangle 23"/>
          <p:cNvSpPr/>
          <p:nvPr/>
        </p:nvSpPr>
        <p:spPr>
          <a:xfrm>
            <a:off x="468360" y="3933720"/>
            <a:ext cx="7056360" cy="79236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Euler’s 2</a:t>
            </a:r>
            <a:r>
              <a:rPr b="0" lang="en-AU" sz="2600" spc="-1" strike="noStrike" baseline="30000">
                <a:solidFill>
                  <a:srgbClr val="000000"/>
                </a:solidFill>
                <a:latin typeface="Arial"/>
              </a:rPr>
              <a:t>nd</a:t>
            </a:r>
            <a:r>
              <a:rPr b="0" lang="en-AU" sz="2600" spc="-1" strike="noStrike">
                <a:solidFill>
                  <a:srgbClr val="000000"/>
                </a:solidFill>
                <a:latin typeface="Arial"/>
              </a:rPr>
              <a:t> axiom states that:</a:t>
            </a:r>
            <a:endParaRPr b="0" lang="en-US" sz="2600" spc="-1" strike="noStrike">
              <a:solidFill>
                <a:srgbClr val="000000"/>
              </a:solidFill>
              <a:latin typeface="Arial"/>
            </a:endParaRPr>
          </a:p>
        </p:txBody>
      </p:sp>
      <p:sp>
        <p:nvSpPr>
          <p:cNvPr id="477" name="Rectangle 24"/>
          <p:cNvSpPr/>
          <p:nvPr/>
        </p:nvSpPr>
        <p:spPr>
          <a:xfrm>
            <a:off x="395280" y="5734080"/>
            <a:ext cx="3672000" cy="6048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Angular momentum about CG</a:t>
            </a:r>
            <a:endParaRPr b="0" lang="en-US" sz="1800" spc="-1" strike="noStrike">
              <a:solidFill>
                <a:srgbClr val="000000"/>
              </a:solidFill>
              <a:latin typeface="Arial"/>
            </a:endParaRPr>
          </a:p>
        </p:txBody>
      </p:sp>
      <p:sp>
        <p:nvSpPr>
          <p:cNvPr id="478" name="Line 25"/>
          <p:cNvSpPr/>
          <p:nvPr/>
        </p:nvSpPr>
        <p:spPr>
          <a:xfrm flipV="1">
            <a:off x="2916360" y="5157720"/>
            <a:ext cx="504720" cy="4320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9" name="Line 26"/>
          <p:cNvSpPr/>
          <p:nvPr/>
        </p:nvSpPr>
        <p:spPr>
          <a:xfrm flipH="1" flipV="1">
            <a:off x="5148000" y="5300280"/>
            <a:ext cx="360360" cy="3589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85BCD1-4031-449A-A33C-47C82BC7957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8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8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EAAAB61-A2F1-4D35-8DC6-F74C1923FB73}"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8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Rigid-body Equations of motion</a:t>
            </a:r>
            <a:endParaRPr b="0" lang="en-US" sz="4200" spc="-1" strike="noStrike">
              <a:solidFill>
                <a:srgbClr val="006633"/>
              </a:solidFill>
              <a:latin typeface="Tahoma"/>
            </a:endParaRPr>
          </a:p>
        </p:txBody>
      </p:sp>
      <p:sp>
        <p:nvSpPr>
          <p:cNvPr id="484" name="PlaceHolder 2"/>
          <p:cNvSpPr>
            <a:spLocks noGrp="1"/>
          </p:cNvSpPr>
          <p:nvPr>
            <p:ph/>
          </p:nvPr>
        </p:nvSpPr>
        <p:spPr>
          <a:xfrm>
            <a:off x="468360" y="1413000"/>
            <a:ext cx="8229600" cy="1511280"/>
          </a:xfrm>
          <a:prstGeom prst="rect">
            <a:avLst/>
          </a:prstGeom>
          <a:noFill/>
          <a:ln w="0">
            <a:noFill/>
          </a:ln>
        </p:spPr>
        <p:txBody>
          <a:bodyPr lIns="91440" rIns="91440" tIns="45720" bIns="45720" anchor="t">
            <a:normAutofit/>
          </a:bodyPr>
          <a:p>
            <a:pPr marL="343080" indent="-343080">
              <a:lnSpc>
                <a:spcPct val="90000"/>
              </a:lnSpc>
              <a:spcBef>
                <a:spcPts val="6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500" spc="-1" strike="noStrike">
                <a:solidFill>
                  <a:srgbClr val="000000"/>
                </a:solidFill>
                <a:latin typeface="Arial"/>
              </a:rPr>
              <a:t>Expressing the velocities in the body-fixed coordinate system—located at an arbitrary point in the body, the Euler axioms become</a:t>
            </a:r>
            <a:endParaRPr b="0" lang="en-US" sz="2500" spc="-1" strike="noStrike">
              <a:solidFill>
                <a:srgbClr val="000000"/>
              </a:solidFill>
              <a:latin typeface="Arial"/>
            </a:endParaRPr>
          </a:p>
        </p:txBody>
      </p:sp>
      <p:pic>
        <p:nvPicPr>
          <p:cNvPr id="485" name="Picture 4" descr=""/>
          <p:cNvPicPr/>
          <p:nvPr/>
        </p:nvPicPr>
        <p:blipFill>
          <a:blip r:embed="rId1"/>
          <a:stretch/>
        </p:blipFill>
        <p:spPr>
          <a:xfrm>
            <a:off x="971640" y="4292640"/>
            <a:ext cx="4224240" cy="465120"/>
          </a:xfrm>
          <a:prstGeom prst="rect">
            <a:avLst/>
          </a:prstGeom>
          <a:ln w="0">
            <a:noFill/>
          </a:ln>
        </p:spPr>
      </p:pic>
      <p:pic>
        <p:nvPicPr>
          <p:cNvPr id="486" name="Picture 5" descr=""/>
          <p:cNvPicPr/>
          <p:nvPr/>
        </p:nvPicPr>
        <p:blipFill>
          <a:blip r:embed="rId2"/>
          <a:stretch/>
        </p:blipFill>
        <p:spPr>
          <a:xfrm>
            <a:off x="5173560" y="4394160"/>
            <a:ext cx="3011760" cy="338040"/>
          </a:xfrm>
          <a:prstGeom prst="rect">
            <a:avLst/>
          </a:prstGeom>
          <a:ln w="0">
            <a:noFill/>
          </a:ln>
        </p:spPr>
      </p:pic>
      <p:pic>
        <p:nvPicPr>
          <p:cNvPr id="487" name="Picture 6" descr=""/>
          <p:cNvPicPr/>
          <p:nvPr/>
        </p:nvPicPr>
        <p:blipFill>
          <a:blip r:embed="rId3"/>
          <a:stretch/>
        </p:blipFill>
        <p:spPr>
          <a:xfrm>
            <a:off x="1116000" y="3284640"/>
            <a:ext cx="6348600" cy="52236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3E1C4E2-0BE1-4B8D-B0BA-16BBF577EEB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89"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90"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D51AE8B-4DB7-40FF-8F1C-EE395E7CFC46}"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9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Ship RB eq of motion</a:t>
            </a:r>
            <a:endParaRPr b="0" lang="en-US" sz="4200" spc="-1" strike="noStrike">
              <a:solidFill>
                <a:srgbClr val="006633"/>
              </a:solidFill>
              <a:latin typeface="Tahoma"/>
            </a:endParaRPr>
          </a:p>
        </p:txBody>
      </p:sp>
      <p:sp>
        <p:nvSpPr>
          <p:cNvPr id="492" name="PlaceHolder 2"/>
          <p:cNvSpPr>
            <a:spLocks noGrp="1"/>
          </p:cNvSpPr>
          <p:nvPr>
            <p:ph/>
          </p:nvPr>
        </p:nvSpPr>
        <p:spPr>
          <a:xfrm>
            <a:off x="324000" y="1125000"/>
            <a:ext cx="6696000" cy="57492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Following the notation of Fossen (2002):</a:t>
            </a:r>
            <a:endParaRPr b="0" lang="en-US" sz="2600" spc="-1" strike="noStrike">
              <a:solidFill>
                <a:srgbClr val="000000"/>
              </a:solidFill>
              <a:latin typeface="Arial"/>
            </a:endParaRPr>
          </a:p>
        </p:txBody>
      </p:sp>
      <p:pic>
        <p:nvPicPr>
          <p:cNvPr id="493" name="Picture 4" descr=""/>
          <p:cNvPicPr/>
          <p:nvPr/>
        </p:nvPicPr>
        <p:blipFill>
          <a:blip r:embed="rId1"/>
          <a:stretch/>
        </p:blipFill>
        <p:spPr>
          <a:xfrm>
            <a:off x="2124000" y="1916280"/>
            <a:ext cx="4662720" cy="888840"/>
          </a:xfrm>
          <a:prstGeom prst="rect">
            <a:avLst/>
          </a:prstGeom>
          <a:ln w="0">
            <a:noFill/>
          </a:ln>
        </p:spPr>
      </p:pic>
      <p:pic>
        <p:nvPicPr>
          <p:cNvPr id="494" name="Picture 5" descr=""/>
          <p:cNvPicPr/>
          <p:nvPr/>
        </p:nvPicPr>
        <p:blipFill>
          <a:blip r:embed="rId2"/>
          <a:stretch/>
        </p:blipFill>
        <p:spPr>
          <a:xfrm>
            <a:off x="755640" y="3068640"/>
            <a:ext cx="3940200" cy="915840"/>
          </a:xfrm>
          <a:prstGeom prst="rect">
            <a:avLst/>
          </a:prstGeom>
          <a:ln w="0">
            <a:noFill/>
          </a:ln>
        </p:spPr>
      </p:pic>
      <p:pic>
        <p:nvPicPr>
          <p:cNvPr id="495" name="Picture 6" descr=""/>
          <p:cNvPicPr/>
          <p:nvPr/>
        </p:nvPicPr>
        <p:blipFill>
          <a:blip r:embed="rId3"/>
          <a:stretch/>
        </p:blipFill>
        <p:spPr>
          <a:xfrm>
            <a:off x="755640" y="3933720"/>
            <a:ext cx="3333600" cy="920880"/>
          </a:xfrm>
          <a:prstGeom prst="rect">
            <a:avLst/>
          </a:prstGeom>
          <a:ln w="0">
            <a:noFill/>
          </a:ln>
        </p:spPr>
      </p:pic>
      <mc:AlternateContent>
        <mc:Choice xmlns:a14="http://schemas.microsoft.com/office/drawing/2010/main" Requires="a14">
          <p:sp>
            <p:nvSpPr>
              <p:cNvPr id="496" name="Object 9"/>
              <p:cNvSpPr txBox="1"/>
              <p:nvPr/>
            </p:nvSpPr>
            <p:spPr>
              <a:xfrm>
                <a:off x="684360" y="4869000"/>
                <a:ext cx="3925800" cy="961920"/>
              </a:xfrm>
              <a:prstGeom prst="rect">
                <a:avLst/>
              </a:prstGeom>
            </p:spPr>
            <p:txBody>
              <a:bodyPr/>
              <a:p>
                <a14:m>
                  <m:oMath xmlns:m="http://schemas.openxmlformats.org/officeDocument/2006/math">
                    <m:sSup>
                      <m:e>
                        <m:r>
                          <m:t xml:space="preserve">τ</m:t>
                        </m:r>
                      </m:e>
                      <m:sup>
                        <m:r>
                          <m:t xml:space="preserve">b</m:t>
                        </m:r>
                      </m:sup>
                    </m:sSup>
                    <m:r>
                      <m:t xml:space="preserve">:</m:t>
                    </m:r>
                    <m:r>
                      <m:t xml:space="preserve">=</m:t>
                    </m:r>
                    <m:d>
                      <m:dPr>
                        <m:begChr m:val="["/>
                        <m:endChr m:val="]"/>
                      </m:dPr>
                      <m:e>
                        <m:m>
                          <m:mr>
                            <m:e>
                              <m:sSup>
                                <m:e>
                                  <m:r>
                                    <m:t xml:space="preserve">f</m:t>
                                  </m:r>
                                </m:e>
                                <m:sup>
                                  <m:r>
                                    <m:t xml:space="preserve">b</m:t>
                                  </m:r>
                                </m:sup>
                              </m:sSup>
                            </m:e>
                          </m:mr>
                          <m:mr>
                            <m:e>
                              <m:sSubSup>
                                <m:e>
                                  <m:r>
                                    <m:t xml:space="preserve">m</m:t>
                                  </m:r>
                                </m:e>
                                <m:sub>
                                  <m:r>
                                    <m:t xml:space="preserve">b</m:t>
                                  </m:r>
                                </m:sub>
                                <m:sup>
                                  <m:r>
                                    <m:t xml:space="preserve">b</m:t>
                                  </m:r>
                                </m:sup>
                              </m:sSubSup>
                            </m:e>
                          </m:mr>
                        </m:m>
                      </m:e>
                    </m:d>
                    <m:r>
                      <m:t xml:space="preserve">=</m:t>
                    </m:r>
                    <m:sSup>
                      <m:e>
                        <m:d>
                          <m:dPr>
                            <m:begChr m:val="["/>
                            <m:endChr m:val="]"/>
                          </m:dPr>
                          <m:e>
                            <m:r>
                              <m:t xml:space="preserve">X</m:t>
                            </m:r>
                            <m:r>
                              <m:t xml:space="preserve">,</m:t>
                            </m:r>
                            <m:r>
                              <m:t xml:space="preserve">Y</m:t>
                            </m:r>
                            <m:r>
                              <m:t xml:space="preserve">,</m:t>
                            </m:r>
                            <m:r>
                              <m:t xml:space="preserve">Z</m:t>
                            </m:r>
                            <m:r>
                              <m:t xml:space="preserve">,</m:t>
                            </m:r>
                            <m:r>
                              <m:t xml:space="preserve">K</m:t>
                            </m:r>
                            <m:r>
                              <m:t xml:space="preserve">,</m:t>
                            </m:r>
                            <m:r>
                              <m:t xml:space="preserve">M</m:t>
                            </m:r>
                            <m:r>
                              <m:t xml:space="preserve">,</m:t>
                            </m:r>
                            <m:r>
                              <m:t xml:space="preserve">N</m:t>
                            </m:r>
                          </m:e>
                        </m:d>
                      </m:e>
                      <m:sup>
                        <m:r>
                          <m:t xml:space="preserve">T</m:t>
                        </m:r>
                      </m:sup>
                    </m:sSup>
                  </m:oMath>
                </a14:m>
              </a:p>
            </p:txBody>
          </p:sp>
        </mc:Choice>
        <mc:Fallback/>
      </mc:AlternateContent>
      <p:sp>
        <p:nvSpPr>
          <p:cNvPr id="497" name="Rectangle 11"/>
          <p:cNvSpPr/>
          <p:nvPr/>
        </p:nvSpPr>
        <p:spPr>
          <a:xfrm>
            <a:off x="5437080" y="3284640"/>
            <a:ext cx="23781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Generalised positions</a:t>
            </a:r>
            <a:endParaRPr b="0" lang="en-US" sz="1800" spc="-1" strike="noStrike">
              <a:solidFill>
                <a:srgbClr val="000000"/>
              </a:solidFill>
              <a:latin typeface="Arial"/>
            </a:endParaRPr>
          </a:p>
        </p:txBody>
      </p:sp>
      <p:sp>
        <p:nvSpPr>
          <p:cNvPr id="498" name="Rectangle 12"/>
          <p:cNvSpPr/>
          <p:nvPr/>
        </p:nvSpPr>
        <p:spPr>
          <a:xfrm>
            <a:off x="5294160" y="4149720"/>
            <a:ext cx="241632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Generalised velocities</a:t>
            </a:r>
            <a:endParaRPr b="0" lang="en-US" sz="1800" spc="-1" strike="noStrike">
              <a:solidFill>
                <a:srgbClr val="000000"/>
              </a:solidFill>
              <a:latin typeface="Arial"/>
            </a:endParaRPr>
          </a:p>
        </p:txBody>
      </p:sp>
      <p:sp>
        <p:nvSpPr>
          <p:cNvPr id="499" name="Rectangle 13"/>
          <p:cNvSpPr/>
          <p:nvPr/>
        </p:nvSpPr>
        <p:spPr>
          <a:xfrm>
            <a:off x="5294520" y="5157720"/>
            <a:ext cx="20980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Generalised forces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1E3C0D3-158D-464D-B15F-B1B26CDB216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0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0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1CC283C-14F7-4707-BA95-20E3DF744CF4}"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0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Coriolis and Centripetal terms</a:t>
            </a:r>
            <a:endParaRPr b="0" lang="en-US" sz="4200" spc="-1" strike="noStrike">
              <a:solidFill>
                <a:srgbClr val="006633"/>
              </a:solidFill>
              <a:latin typeface="Tahoma"/>
            </a:endParaRPr>
          </a:p>
        </p:txBody>
      </p:sp>
      <p:pic>
        <p:nvPicPr>
          <p:cNvPr id="504" name="Picture 4" descr=""/>
          <p:cNvPicPr/>
          <p:nvPr/>
        </p:nvPicPr>
        <p:blipFill>
          <a:blip r:embed="rId1"/>
          <a:stretch/>
        </p:blipFill>
        <p:spPr>
          <a:xfrm>
            <a:off x="2340000" y="2133720"/>
            <a:ext cx="3533760" cy="846000"/>
          </a:xfrm>
          <a:prstGeom prst="rect">
            <a:avLst/>
          </a:prstGeom>
          <a:ln w="0">
            <a:noFill/>
          </a:ln>
        </p:spPr>
      </p:pic>
      <p:pic>
        <p:nvPicPr>
          <p:cNvPr id="505" name="Picture 5" descr=""/>
          <p:cNvPicPr/>
          <p:nvPr/>
        </p:nvPicPr>
        <p:blipFill>
          <a:blip r:embed="rId2"/>
          <a:stretch/>
        </p:blipFill>
        <p:spPr>
          <a:xfrm>
            <a:off x="1979640" y="3573360"/>
            <a:ext cx="1751040" cy="352440"/>
          </a:xfrm>
          <a:prstGeom prst="rect">
            <a:avLst/>
          </a:prstGeom>
          <a:ln w="0">
            <a:noFill/>
          </a:ln>
        </p:spPr>
      </p:pic>
      <p:pic>
        <p:nvPicPr>
          <p:cNvPr id="506" name="Picture 6" descr=""/>
          <p:cNvPicPr/>
          <p:nvPr/>
        </p:nvPicPr>
        <p:blipFill>
          <a:blip r:embed="rId3"/>
          <a:stretch/>
        </p:blipFill>
        <p:spPr>
          <a:xfrm>
            <a:off x="1979640" y="4076640"/>
            <a:ext cx="4226040" cy="1704960"/>
          </a:xfrm>
          <a:prstGeom prst="rect">
            <a:avLst/>
          </a:prstGeom>
          <a:ln w="0">
            <a:noFill/>
          </a:ln>
        </p:spPr>
      </p:pic>
      <p:sp>
        <p:nvSpPr>
          <p:cNvPr id="507" name="PlaceHolder 2"/>
          <p:cNvSpPr>
            <a:spLocks noGrp="1"/>
          </p:cNvSpPr>
          <p:nvPr>
            <p:ph/>
          </p:nvPr>
        </p:nvSpPr>
        <p:spPr>
          <a:xfrm>
            <a:off x="324000" y="1413000"/>
            <a:ext cx="6696000" cy="574560"/>
          </a:xfrm>
          <a:prstGeom prst="rect">
            <a:avLst/>
          </a:prstGeom>
          <a:noFill/>
          <a:ln w="0">
            <a:noFill/>
          </a:ln>
        </p:spPr>
        <p:txBody>
          <a:bodyPr lIns="91440" rIns="91440" tIns="45720" bIns="45720" anchor="t">
            <a:normAutofit/>
          </a:bodyPr>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The Coriolis-centripetal terms can be expressed as</a:t>
            </a:r>
            <a:endParaRPr b="0" lang="en-US" sz="2000" spc="-1" strike="noStrike">
              <a:solidFill>
                <a:srgbClr val="000000"/>
              </a:solidFill>
              <a:latin typeface="Arial"/>
            </a:endParaRPr>
          </a:p>
        </p:txBody>
      </p:sp>
      <p:sp>
        <p:nvSpPr>
          <p:cNvPr id="508" name="Rectangle 8"/>
          <p:cNvSpPr/>
          <p:nvPr/>
        </p:nvSpPr>
        <p:spPr>
          <a:xfrm>
            <a:off x="611280" y="3213000"/>
            <a:ext cx="1081080" cy="57492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9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where</a:t>
            </a:r>
            <a:endParaRPr b="0" lang="en-US" sz="2000" spc="-1" strike="noStrike">
              <a:solidFill>
                <a:srgbClr val="000000"/>
              </a:solidFill>
              <a:latin typeface="Arial"/>
            </a:endParaRPr>
          </a:p>
        </p:txBody>
      </p:sp>
      <p:sp>
        <p:nvSpPr>
          <p:cNvPr id="509" name="Rectangle 9"/>
          <p:cNvSpPr/>
          <p:nvPr/>
        </p:nvSpPr>
        <p:spPr>
          <a:xfrm>
            <a:off x="3994920" y="3573360"/>
            <a:ext cx="3902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Wingdings"/>
                <a:ea typeface="Wingdings"/>
              </a:rPr>
              <a:t></a:t>
            </a:r>
            <a:r>
              <a:rPr b="0" lang="en-AU" sz="1800" spc="-1" strike="noStrike">
                <a:solidFill>
                  <a:srgbClr val="996600"/>
                </a:solidFill>
                <a:latin typeface="Arial"/>
              </a:rPr>
              <a:t> </a:t>
            </a:r>
            <a:r>
              <a:rPr b="0" lang="en-AU" sz="1800" spc="-1" strike="noStrike">
                <a:solidFill>
                  <a:srgbClr val="996600"/>
                </a:solidFill>
                <a:latin typeface="Arial"/>
              </a:rPr>
              <a:t>Separated into linear and anglular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2A9D232-FCE4-413C-9150-73F20C71A44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1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1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C55C69D-B389-4910-9E6E-6BC27A1C3F5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1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RB Equations of  motion in 6DOF</a:t>
            </a:r>
            <a:endParaRPr b="0" lang="en-US" sz="4200" spc="-1" strike="noStrike">
              <a:solidFill>
                <a:srgbClr val="006633"/>
              </a:solidFill>
              <a:latin typeface="Tahoma"/>
            </a:endParaRPr>
          </a:p>
        </p:txBody>
      </p:sp>
      <p:sp>
        <p:nvSpPr>
          <p:cNvPr id="514" name="PlaceHolder 2"/>
          <p:cNvSpPr>
            <a:spLocks noGrp="1"/>
          </p:cNvSpPr>
          <p:nvPr>
            <p:ph/>
          </p:nvPr>
        </p:nvSpPr>
        <p:spPr>
          <a:xfrm>
            <a:off x="395280" y="1196640"/>
            <a:ext cx="8229600" cy="57636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In coordinate form:</a:t>
            </a:r>
            <a:endParaRPr b="0" lang="en-US" sz="3000" spc="-1" strike="noStrike">
              <a:solidFill>
                <a:srgbClr val="000000"/>
              </a:solidFill>
              <a:latin typeface="Arial"/>
            </a:endParaRPr>
          </a:p>
        </p:txBody>
      </p:sp>
      <p:pic>
        <p:nvPicPr>
          <p:cNvPr id="515" name="Picture 4" descr=""/>
          <p:cNvPicPr/>
          <p:nvPr/>
        </p:nvPicPr>
        <p:blipFill>
          <a:blip r:embed="rId1"/>
          <a:stretch/>
        </p:blipFill>
        <p:spPr>
          <a:xfrm>
            <a:off x="971640" y="1916280"/>
            <a:ext cx="7294320" cy="330660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B18FCC-7D8B-4E18-B43D-4E49025B7AA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17"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18"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A9E941-00C8-47DE-A81A-5763BBCF769B}"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1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Changing the body-fixed system</a:t>
            </a:r>
            <a:endParaRPr b="0" lang="en-US" sz="4200" spc="-1" strike="noStrike">
              <a:solidFill>
                <a:srgbClr val="006633"/>
              </a:solidFill>
              <a:latin typeface="Tahoma"/>
            </a:endParaRPr>
          </a:p>
        </p:txBody>
      </p:sp>
      <p:sp>
        <p:nvSpPr>
          <p:cNvPr id="520" name="PlaceHolder 2"/>
          <p:cNvSpPr>
            <a:spLocks noGrp="1"/>
          </p:cNvSpPr>
          <p:nvPr>
            <p:ph/>
          </p:nvPr>
        </p:nvSpPr>
        <p:spPr>
          <a:xfrm>
            <a:off x="395280" y="1125360"/>
            <a:ext cx="8229600" cy="1973520"/>
          </a:xfrm>
          <a:prstGeom prst="rect">
            <a:avLst/>
          </a:prstGeom>
          <a:noFill/>
          <a:ln w="0">
            <a:noFill/>
          </a:ln>
        </p:spPr>
        <p:txBody>
          <a:bodyPr lIns="91440" rIns="91440" tIns="45720" bIns="45720" anchor="t">
            <a:normAutofit/>
          </a:bodyPr>
          <a:p>
            <a:pPr marL="343080" indent="-343080">
              <a:lnSpc>
                <a:spcPct val="9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In different applications it is necessary to consider different locations for a body-fixed coordinate system.</a:t>
            </a:r>
            <a:endParaRPr b="0" lang="en-US" sz="2100" spc="-1" strike="noStrike">
              <a:solidFill>
                <a:srgbClr val="000000"/>
              </a:solidFill>
              <a:latin typeface="Arial"/>
            </a:endParaRPr>
          </a:p>
          <a:p>
            <a:pPr marL="343080" indent="-343080">
              <a:lnSpc>
                <a:spcPct val="9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9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Hence we may want to transform the equations of motion from {b} to {p}</a:t>
            </a:r>
            <a:endParaRPr b="0" lang="en-US" sz="2100" spc="-1" strike="noStrike">
              <a:solidFill>
                <a:srgbClr val="000000"/>
              </a:solidFill>
              <a:latin typeface="Arial"/>
            </a:endParaRPr>
          </a:p>
        </p:txBody>
      </p:sp>
      <p:pic>
        <p:nvPicPr>
          <p:cNvPr id="521" name="Picture 4" descr=""/>
          <p:cNvPicPr/>
          <p:nvPr/>
        </p:nvPicPr>
        <p:blipFill>
          <a:blip r:embed="rId1"/>
          <a:stretch/>
        </p:blipFill>
        <p:spPr>
          <a:xfrm>
            <a:off x="1908000" y="4941720"/>
            <a:ext cx="5202360" cy="949320"/>
          </a:xfrm>
          <a:prstGeom prst="rect">
            <a:avLst/>
          </a:prstGeom>
          <a:ln w="0">
            <a:noFill/>
          </a:ln>
        </p:spPr>
      </p:pic>
      <p:pic>
        <p:nvPicPr>
          <p:cNvPr id="522" name="Picture 7" descr=""/>
          <p:cNvPicPr/>
          <p:nvPr/>
        </p:nvPicPr>
        <p:blipFill>
          <a:blip r:embed="rId2"/>
          <a:stretch/>
        </p:blipFill>
        <p:spPr>
          <a:xfrm>
            <a:off x="2124000" y="2997360"/>
            <a:ext cx="4662720" cy="888840"/>
          </a:xfrm>
          <a:prstGeom prst="rect">
            <a:avLst/>
          </a:prstGeom>
          <a:ln w="0">
            <a:noFill/>
          </a:ln>
        </p:spPr>
      </p:pic>
      <p:sp>
        <p:nvSpPr>
          <p:cNvPr id="523" name="AutoShape 8"/>
          <p:cNvSpPr/>
          <p:nvPr/>
        </p:nvSpPr>
        <p:spPr>
          <a:xfrm>
            <a:off x="4140360" y="4005360"/>
            <a:ext cx="431640" cy="792000"/>
          </a:xfrm>
          <a:prstGeom prst="downArrow">
            <a:avLst>
              <a:gd name="adj1" fmla="val 50000"/>
              <a:gd name="adj2" fmla="val 45872"/>
            </a:avLst>
          </a:prstGeom>
          <a:solidFill>
            <a:srgbClr val="cc9900"/>
          </a:solidFill>
          <a:ln w="9360">
            <a:solidFill>
              <a:srgbClr val="000000"/>
            </a:solidFill>
            <a:miter/>
          </a:ln>
        </p:spPr>
        <p:style>
          <a:lnRef idx="0"/>
          <a:fillRef idx="0"/>
          <a:effectRef idx="0"/>
          <a:fontRef idx="minor"/>
        </p:style>
        <p:txBody>
          <a:bodyPr wrap="none" lIns="46800" rIns="46800" tIns="90000" bIns="90000" anchor="ctr" anchorCtr="1" vert="eaVe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Date Placeholder 5"/>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C16DAC6-BF15-4BE6-88BF-5201925AD35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25" name="Footer Placeholder 6"/>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26" name="Slide Number Placeholder 7"/>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793EE9B-D946-4F44-83AE-9E9CBDB361E5}"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2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Changing the body-fixed coordinates</a:t>
            </a:r>
            <a:endParaRPr b="0" lang="en-US" sz="3800" spc="-1" strike="noStrike">
              <a:solidFill>
                <a:srgbClr val="006633"/>
              </a:solidFill>
              <a:latin typeface="Tahoma"/>
            </a:endParaRPr>
          </a:p>
        </p:txBody>
      </p:sp>
      <p:sp>
        <p:nvSpPr>
          <p:cNvPr id="528" name="PlaceHolder 2"/>
          <p:cNvSpPr>
            <a:spLocks noGrp="1"/>
          </p:cNvSpPr>
          <p:nvPr>
            <p:ph/>
          </p:nvPr>
        </p:nvSpPr>
        <p:spPr>
          <a:xfrm>
            <a:off x="468360" y="1197000"/>
            <a:ext cx="6983280" cy="676080"/>
          </a:xfrm>
          <a:prstGeom prst="rect">
            <a:avLst/>
          </a:prstGeom>
          <a:noFill/>
          <a:ln w="0">
            <a:noFill/>
          </a:ln>
        </p:spPr>
        <p:txBody>
          <a:bodyPr lIns="91440" rIns="91440" tIns="45720" bIns="45720" anchor="t">
            <a:normAutofit/>
          </a:bodyPr>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This can be done by direct application of the transformations we have already derived:</a:t>
            </a:r>
            <a:endParaRPr b="0" lang="en-US" sz="1900" spc="-1" strike="noStrike">
              <a:solidFill>
                <a:srgbClr val="000000"/>
              </a:solidFill>
              <a:latin typeface="Arial"/>
            </a:endParaRPr>
          </a:p>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p:txBody>
      </p:sp>
      <mc:AlternateContent>
        <mc:Choice xmlns:a14="http://schemas.microsoft.com/office/drawing/2010/main" Requires="a14">
          <p:sp>
            <p:nvSpPr>
              <p:cNvPr id="529" name="Object 6"/>
              <p:cNvSpPr txBox="1"/>
              <p:nvPr/>
            </p:nvSpPr>
            <p:spPr>
              <a:xfrm>
                <a:off x="5148360" y="2060640"/>
                <a:ext cx="3298680" cy="1309680"/>
              </a:xfrm>
              <a:prstGeom prst="rect">
                <a:avLst/>
              </a:prstGeom>
            </p:spPr>
            <p:txBody>
              <a:bodyPr/>
              <a:p>
                <a14:m>
                  <m:oMath xmlns:m="http://schemas.openxmlformats.org/officeDocument/2006/math">
                    <m:d>
                      <m:dPr>
                        <m:begChr m:val="["/>
                        <m:endChr m:val="]"/>
                      </m:dPr>
                      <m:e>
                        <m:m>
                          <m:mr>
                            <m:e>
                              <m:sSubSup>
                                <m:e>
                                  <m:r>
                                    <m:t xml:space="preserve">f</m:t>
                                  </m:r>
                                </m:e>
                                <m:sub>
                                  <m:r>
                                    <m:t xml:space="preserve">b</m:t>
                                  </m:r>
                                </m:sub>
                                <m:sup>
                                  <m:r>
                                    <m:t xml:space="preserve">b</m:t>
                                  </m:r>
                                </m:sup>
                              </m:sSubSup>
                            </m:e>
                          </m:mr>
                          <m:mr>
                            <m:e>
                              <m:sSubSup>
                                <m:e>
                                  <m:r>
                                    <m:t xml:space="preserve">m</m:t>
                                  </m:r>
                                </m:e>
                                <m:sub>
                                  <m:r>
                                    <m:t xml:space="preserve">b</m:t>
                                  </m:r>
                                </m:sub>
                                <m:sup>
                                  <m:r>
                                    <m:t xml:space="preserve">b</m:t>
                                  </m:r>
                                </m:sup>
                              </m:sSubSup>
                            </m:e>
                          </m:mr>
                        </m:m>
                      </m:e>
                    </m:d>
                    <m:r>
                      <m:t xml:space="preserve">=</m:t>
                    </m:r>
                    <m:limLow>
                      <m:e>
                        <m:groupChr>
                          <m:groupChrPr>
                            <m:chr m:val="⏟"/>
                            <m:pos m:val="bot"/>
                            <m:vertJc m:val="top"/>
                          </m:groupChrPr>
                          <m:e>
                            <m:d>
                              <m:dPr>
                                <m:begChr m:val="["/>
                                <m:endChr m:val="]"/>
                              </m:dPr>
                              <m:e>
                                <m:m>
                                  <m:mr>
                                    <m:e>
                                      <m:sSub>
                                        <m:e>
                                          <m:r>
                                            <m:t xml:space="preserve">I</m:t>
                                          </m:r>
                                        </m:e>
                                        <m:sub>
                                          <m:r>
                                            <m:t xml:space="preserve">3</m:t>
                                          </m:r>
                                          <m:r>
                                            <m:t xml:space="preserve">×</m:t>
                                          </m:r>
                                          <m:r>
                                            <m:t xml:space="preserve">3</m:t>
                                          </m:r>
                                        </m:sub>
                                      </m:sSub>
                                    </m:e>
                                    <m:e>
                                      <m:sSub>
                                        <m:e>
                                          <m:r>
                                            <m:t xml:space="preserve">0</m:t>
                                          </m:r>
                                        </m:e>
                                        <m:sub>
                                          <m:r>
                                            <m:t xml:space="preserve">3</m:t>
                                          </m:r>
                                          <m:r>
                                            <m:t xml:space="preserve">×</m:t>
                                          </m:r>
                                          <m:r>
                                            <m:t xml:space="preserve">3</m:t>
                                          </m:r>
                                        </m:sub>
                                      </m:sSub>
                                    </m:e>
                                  </m:mr>
                                  <m:mr>
                                    <m:e>
                                      <m:r>
                                        <m:t xml:space="preserve">S</m:t>
                                      </m:r>
                                      <m:r>
                                        <m:t xml:space="preserve">(</m:t>
                                      </m:r>
                                      <m:sSubSup>
                                        <m:e>
                                          <m:r>
                                            <m:t xml:space="preserve">r</m:t>
                                          </m:r>
                                        </m:e>
                                        <m:sub>
                                          <m:r>
                                            <m:rPr>
                                              <m:lit/>
                                              <m:nor/>
                                            </m:rPr>
                                            <m:t xml:space="preserve">bP</m:t>
                                          </m:r>
                                        </m:sub>
                                        <m:sup>
                                          <m:r>
                                            <m:t xml:space="preserve">b</m:t>
                                          </m:r>
                                        </m:sup>
                                      </m:sSubSup>
                                      <m:r>
                                        <m:t xml:space="preserve">)</m:t>
                                      </m:r>
                                    </m:e>
                                    <m:e>
                                      <m:sSub>
                                        <m:e>
                                          <m:r>
                                            <m:t xml:space="preserve">I</m:t>
                                          </m:r>
                                        </m:e>
                                        <m:sub>
                                          <m:r>
                                            <m:t xml:space="preserve">3</m:t>
                                          </m:r>
                                          <m:r>
                                            <m:t xml:space="preserve">×</m:t>
                                          </m:r>
                                          <m:r>
                                            <m:t xml:space="preserve">3</m:t>
                                          </m:r>
                                        </m:sub>
                                      </m:sSub>
                                    </m:e>
                                  </m:mr>
                                </m:m>
                              </m:e>
                            </m:d>
                          </m:e>
                        </m:groupChr>
                      </m:e>
                      <m:lim>
                        <m:sSup>
                          <m:e>
                            <m:r>
                              <m:t xml:space="preserve">H</m:t>
                            </m:r>
                          </m:e>
                          <m:sup>
                            <m:r>
                              <m:t xml:space="preserve">T</m:t>
                            </m:r>
                          </m:sup>
                        </m:sSup>
                        <m:r>
                          <m:t xml:space="preserve">(</m:t>
                        </m:r>
                        <m:sSubSup>
                          <m:e>
                            <m:r>
                              <m:t xml:space="preserve">r</m:t>
                            </m:r>
                          </m:e>
                          <m:sub>
                            <m:r>
                              <m:rPr>
                                <m:lit/>
                                <m:nor/>
                              </m:rPr>
                              <m:t xml:space="preserve">bP</m:t>
                            </m:r>
                          </m:sub>
                          <m:sup>
                            <m:r>
                              <m:t xml:space="preserve">b</m:t>
                            </m:r>
                          </m:sup>
                        </m:sSubSup>
                        <m:r>
                          <m:t xml:space="preserve">)</m:t>
                        </m:r>
                      </m:lim>
                    </m:limLow>
                    <m:r>
                      <m:t xml:space="preserve"> </m:t>
                    </m:r>
                    <m:d>
                      <m:dPr>
                        <m:begChr m:val="["/>
                        <m:endChr m:val="]"/>
                      </m:dPr>
                      <m:e>
                        <m:m>
                          <m:mr>
                            <m:e>
                              <m:sSubSup>
                                <m:e>
                                  <m:r>
                                    <m:t xml:space="preserve">f</m:t>
                                  </m:r>
                                </m:e>
                                <m:sub>
                                  <m:r>
                                    <m:t xml:space="preserve">P</m:t>
                                  </m:r>
                                </m:sub>
                                <m:sup>
                                  <m:r>
                                    <m:t xml:space="preserve">b</m:t>
                                  </m:r>
                                </m:sup>
                              </m:sSubSup>
                            </m:e>
                          </m:mr>
                          <m:mr>
                            <m:e>
                              <m:sSubSup>
                                <m:e>
                                  <m:r>
                                    <m:t xml:space="preserve">m</m:t>
                                  </m:r>
                                </m:e>
                                <m:sub>
                                  <m:r>
                                    <m:t xml:space="preserve">P</m:t>
                                  </m:r>
                                </m:sub>
                                <m:sup>
                                  <m:r>
                                    <m:t xml:space="preserve">b</m:t>
                                  </m:r>
                                </m:sup>
                              </m:sSubSup>
                            </m:e>
                          </m:mr>
                        </m:m>
                      </m:e>
                    </m:d>
                  </m:oMath>
                </a14:m>
              </a:p>
            </p:txBody>
          </p:sp>
        </mc:Choice>
        <mc:Fallback/>
      </mc:AlternateContent>
      <mc:AlternateContent>
        <mc:Choice xmlns:a14="http://schemas.microsoft.com/office/drawing/2010/main" Requires="a14">
          <p:sp>
            <p:nvSpPr>
              <p:cNvPr id="530" name="Object 8"/>
              <p:cNvSpPr txBox="1"/>
              <p:nvPr/>
            </p:nvSpPr>
            <p:spPr>
              <a:xfrm>
                <a:off x="971640" y="2060640"/>
                <a:ext cx="3384360" cy="1363680"/>
              </a:xfrm>
              <a:prstGeom prst="rect">
                <a:avLst/>
              </a:prstGeom>
            </p:spPr>
            <p:txBody>
              <a:bodyPr/>
              <a:p>
                <a14:m>
                  <m:oMath xmlns:m="http://schemas.openxmlformats.org/officeDocument/2006/math">
                    <m:d>
                      <m:dPr>
                        <m:begChr m:val="["/>
                        <m:endChr m:val="]"/>
                      </m:dPr>
                      <m:e>
                        <m:m>
                          <m:mr>
                            <m:e>
                              <m:sSubSup>
                                <m:e>
                                  <m:r>
                                    <m:t xml:space="preserve">v</m:t>
                                  </m:r>
                                </m:e>
                                <m:sub>
                                  <m:r>
                                    <m:rPr>
                                      <m:lit/>
                                      <m:nor/>
                                    </m:rPr>
                                    <m:t xml:space="preserve">ip</m:t>
                                  </m:r>
                                </m:sub>
                                <m:sup>
                                  <m:r>
                                    <m:t xml:space="preserve">p</m:t>
                                  </m:r>
                                </m:sup>
                              </m:sSubSup>
                            </m:e>
                          </m:mr>
                          <m:mr>
                            <m:e>
                              <m:sSubSup>
                                <m:e>
                                  <m:r>
                                    <m:t xml:space="preserve">ω</m:t>
                                  </m:r>
                                </m:e>
                                <m:sub>
                                  <m:r>
                                    <m:rPr>
                                      <m:lit/>
                                      <m:nor/>
                                    </m:rPr>
                                    <m:t xml:space="preserve">ip</m:t>
                                  </m:r>
                                </m:sub>
                                <m:sup>
                                  <m:r>
                                    <m:t xml:space="preserve">p</m:t>
                                  </m:r>
                                </m:sup>
                              </m:sSubSup>
                            </m:e>
                          </m:mr>
                        </m:m>
                      </m:e>
                    </m:d>
                    <m:r>
                      <m:t xml:space="preserve">=</m:t>
                    </m:r>
                    <m:limLow>
                      <m:e>
                        <m:groupChr>
                          <m:groupChrPr>
                            <m:chr m:val="⏟"/>
                            <m:pos m:val="bot"/>
                            <m:vertJc m:val="top"/>
                          </m:groupChrPr>
                          <m:e>
                            <m:d>
                              <m:dPr>
                                <m:begChr m:val="["/>
                                <m:endChr m:val="]"/>
                              </m:dPr>
                              <m:e>
                                <m:m>
                                  <m:mr>
                                    <m:e>
                                      <m:sSub>
                                        <m:e>
                                          <m:r>
                                            <m:t xml:space="preserve">I</m:t>
                                          </m:r>
                                        </m:e>
                                        <m:sub>
                                          <m:r>
                                            <m:t xml:space="preserve">3</m:t>
                                          </m:r>
                                          <m:r>
                                            <m:t xml:space="preserve">×</m:t>
                                          </m:r>
                                          <m:r>
                                            <m:t xml:space="preserve">3</m:t>
                                          </m:r>
                                        </m:sub>
                                      </m:sSub>
                                    </m:e>
                                    <m:e>
                                      <m:sSup>
                                        <m:e>
                                          <m:r>
                                            <m:t xml:space="preserve">S</m:t>
                                          </m:r>
                                        </m:e>
                                        <m:sup>
                                          <m:r>
                                            <m:t xml:space="preserve">T</m:t>
                                          </m:r>
                                        </m:sup>
                                      </m:sSup>
                                      <m:r>
                                        <m:t xml:space="preserve">(</m:t>
                                      </m:r>
                                      <m:sSubSup>
                                        <m:e>
                                          <m:r>
                                            <m:t xml:space="preserve">r</m:t>
                                          </m:r>
                                        </m:e>
                                        <m:sub>
                                          <m:r>
                                            <m:rPr>
                                              <m:lit/>
                                              <m:nor/>
                                            </m:rPr>
                                            <m:t xml:space="preserve">bp</m:t>
                                          </m:r>
                                        </m:sub>
                                        <m:sup>
                                          <m:r>
                                            <m:t xml:space="preserve">b</m:t>
                                          </m:r>
                                        </m:sup>
                                      </m:sSubSup>
                                      <m:r>
                                        <m:t xml:space="preserve">)</m:t>
                                      </m:r>
                                    </m:e>
                                  </m:mr>
                                  <m:mr>
                                    <m:e>
                                      <m:sSub>
                                        <m:e>
                                          <m:r>
                                            <m:t xml:space="preserve">0</m:t>
                                          </m:r>
                                        </m:e>
                                        <m:sub>
                                          <m:r>
                                            <m:t xml:space="preserve">3</m:t>
                                          </m:r>
                                          <m:r>
                                            <m:t xml:space="preserve">×</m:t>
                                          </m:r>
                                          <m:r>
                                            <m:t xml:space="preserve">3</m:t>
                                          </m:r>
                                        </m:sub>
                                      </m:sSub>
                                    </m:e>
                                    <m:e>
                                      <m:sSub>
                                        <m:e>
                                          <m:r>
                                            <m:t xml:space="preserve">I</m:t>
                                          </m:r>
                                        </m:e>
                                        <m:sub>
                                          <m:r>
                                            <m:t xml:space="preserve">3</m:t>
                                          </m:r>
                                          <m:r>
                                            <m:t xml:space="preserve">×</m:t>
                                          </m:r>
                                          <m:r>
                                            <m:t xml:space="preserve">3</m:t>
                                          </m:r>
                                        </m:sub>
                                      </m:sSub>
                                    </m:e>
                                  </m:mr>
                                </m:m>
                              </m:e>
                            </m:d>
                          </m:e>
                        </m:groupChr>
                      </m:e>
                      <m:lim>
                        <m:r>
                          <m:t xml:space="preserve">H</m:t>
                        </m:r>
                        <m:r>
                          <m:t xml:space="preserve">(</m:t>
                        </m:r>
                        <m:sSubSup>
                          <m:e>
                            <m:r>
                              <m:t xml:space="preserve">r</m:t>
                            </m:r>
                          </m:e>
                          <m:sub>
                            <m:r>
                              <m:rPr>
                                <m:lit/>
                                <m:nor/>
                              </m:rPr>
                              <m:t xml:space="preserve">bp</m:t>
                            </m:r>
                          </m:sub>
                          <m:sup>
                            <m:r>
                              <m:t xml:space="preserve">b</m:t>
                            </m:r>
                          </m:sup>
                        </m:sSubSup>
                        <m:r>
                          <m:t xml:space="preserve">)</m:t>
                        </m:r>
                      </m:lim>
                    </m:limLow>
                    <m:d>
                      <m:dPr>
                        <m:begChr m:val="["/>
                        <m:endChr m:val="]"/>
                      </m:dPr>
                      <m:e>
                        <m:m>
                          <m:mr>
                            <m:e>
                              <m:sSubSup>
                                <m:e>
                                  <m:r>
                                    <m:t xml:space="preserve">v</m:t>
                                  </m:r>
                                </m:e>
                                <m:sub>
                                  <m:r>
                                    <m:rPr>
                                      <m:lit/>
                                      <m:nor/>
                                    </m:rPr>
                                    <m:t xml:space="preserve">ib</m:t>
                                  </m:r>
                                </m:sub>
                                <m:sup>
                                  <m:r>
                                    <m:t xml:space="preserve">b</m:t>
                                  </m:r>
                                </m:sup>
                              </m:sSubSup>
                            </m:e>
                          </m:mr>
                          <m:mr>
                            <m:e>
                              <m:sSubSup>
                                <m:e>
                                  <m:r>
                                    <m:t xml:space="preserve">ω</m:t>
                                  </m:r>
                                </m:e>
                                <m:sub>
                                  <m:r>
                                    <m:rPr>
                                      <m:lit/>
                                      <m:nor/>
                                    </m:rPr>
                                    <m:t xml:space="preserve">ib</m:t>
                                  </m:r>
                                </m:sub>
                                <m:sup>
                                  <m:r>
                                    <m:t xml:space="preserve">b</m:t>
                                  </m:r>
                                </m:sup>
                              </m:sSubSup>
                            </m:e>
                          </m:mr>
                        </m:m>
                      </m:e>
                    </m:d>
                  </m:oMath>
                </a14:m>
              </a:p>
            </p:txBody>
          </p:sp>
        </mc:Choice>
        <mc:Fallback/>
      </mc:AlternateContent>
      <p:sp>
        <p:nvSpPr>
          <p:cNvPr id="531" name="Rectangle 10"/>
          <p:cNvSpPr/>
          <p:nvPr/>
        </p:nvSpPr>
        <p:spPr>
          <a:xfrm>
            <a:off x="539640" y="3284640"/>
            <a:ext cx="4038840" cy="67608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90000"/>
              </a:lnSpc>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Hence,</a:t>
            </a:r>
            <a:endParaRPr b="0" lang="en-US" sz="1900" spc="-1" strike="noStrike">
              <a:solidFill>
                <a:srgbClr val="000000"/>
              </a:solidFill>
              <a:latin typeface="Arial"/>
            </a:endParaRPr>
          </a:p>
          <a:p>
            <a:pPr marL="343080" indent="-343080">
              <a:lnSpc>
                <a:spcPct val="90000"/>
              </a:lnSpc>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p:txBody>
      </p:sp>
      <p:pic>
        <p:nvPicPr>
          <p:cNvPr id="532" name="Picture 12" descr=""/>
          <p:cNvPicPr/>
          <p:nvPr/>
        </p:nvPicPr>
        <p:blipFill>
          <a:blip r:embed="rId1"/>
          <a:stretch/>
        </p:blipFill>
        <p:spPr>
          <a:xfrm>
            <a:off x="2124000" y="3933720"/>
            <a:ext cx="4849920" cy="1722600"/>
          </a:xfrm>
          <a:prstGeom prst="rect">
            <a:avLst/>
          </a:prstGeom>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14026A8-C742-450F-B1A5-E4E5E24920B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3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3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2316F62-F6E6-4E35-991B-58BE09287FA2}"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3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Seakeeping RB equations of motion</a:t>
            </a:r>
            <a:endParaRPr b="0" lang="en-US" sz="3800" spc="-1" strike="noStrike">
              <a:solidFill>
                <a:srgbClr val="006633"/>
              </a:solidFill>
              <a:latin typeface="Tahoma"/>
            </a:endParaRPr>
          </a:p>
        </p:txBody>
      </p:sp>
      <p:sp>
        <p:nvSpPr>
          <p:cNvPr id="537" name="PlaceHolder 2"/>
          <p:cNvSpPr>
            <a:spLocks noGrp="1"/>
          </p:cNvSpPr>
          <p:nvPr>
            <p:ph/>
          </p:nvPr>
        </p:nvSpPr>
        <p:spPr>
          <a:xfrm>
            <a:off x="468360" y="1341000"/>
            <a:ext cx="8300880" cy="4537080"/>
          </a:xfrm>
          <a:prstGeom prst="rect">
            <a:avLst/>
          </a:prstGeom>
          <a:noFill/>
          <a:ln w="0">
            <a:noFill/>
          </a:ln>
        </p:spPr>
        <p:txBody>
          <a:bodyPr lIns="91440" rIns="91440" tIns="45720" bIns="45720" anchor="t">
            <a:normAutofit/>
          </a:bodyPr>
          <a:p>
            <a:pPr marL="343080" indent="-343080">
              <a:lnSpc>
                <a:spcPct val="8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900" spc="-1" strike="noStrike">
                <a:solidFill>
                  <a:srgbClr val="000000"/>
                </a:solidFill>
                <a:latin typeface="Arial"/>
              </a:rPr>
              <a:t>In Seakeeping, the equations of motion are considered within an linear framework.</a:t>
            </a:r>
            <a:endParaRPr b="0" lang="en-US" sz="2900" spc="-1" strike="noStrike">
              <a:solidFill>
                <a:srgbClr val="000000"/>
              </a:solidFill>
              <a:latin typeface="Arial"/>
            </a:endParaRPr>
          </a:p>
          <a:p>
            <a:pPr marL="343080" indent="-343080">
              <a:lnSpc>
                <a:spcPct val="8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900" spc="-1" strike="noStrike">
              <a:solidFill>
                <a:srgbClr val="000000"/>
              </a:solidFill>
              <a:latin typeface="Arial"/>
            </a:endParaRPr>
          </a:p>
          <a:p>
            <a:pPr marL="343080" indent="-343080">
              <a:lnSpc>
                <a:spcPct val="8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900" spc="-1" strike="noStrike">
                <a:solidFill>
                  <a:srgbClr val="000000"/>
                </a:solidFill>
                <a:latin typeface="Arial"/>
              </a:rPr>
              <a:t>In the literature, it is said that the motion is described from the equilibrium reference frame and formulated at the origin of {s}—seakeeping coordinate system. </a:t>
            </a:r>
            <a:endParaRPr b="0" lang="en-US" sz="2900" spc="-1" strike="noStrike">
              <a:solidFill>
                <a:srgbClr val="000000"/>
              </a:solidFill>
              <a:latin typeface="Arial"/>
            </a:endParaRPr>
          </a:p>
          <a:p>
            <a:pPr marL="343080" indent="-343080">
              <a:lnSpc>
                <a:spcPct val="8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900" spc="-1" strike="noStrike">
              <a:solidFill>
                <a:srgbClr val="000000"/>
              </a:solidFill>
              <a:latin typeface="Arial"/>
            </a:endParaRPr>
          </a:p>
          <a:p>
            <a:pPr marL="343080" indent="-343080">
              <a:lnSpc>
                <a:spcPct val="8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900" spc="-1" strike="noStrike">
                <a:solidFill>
                  <a:srgbClr val="996600"/>
                </a:solidFill>
                <a:latin typeface="Arial"/>
              </a:rPr>
              <a:t>This would imply that the inertia matrix is time varying as we have seen in the previous slide, but this is not the case.</a:t>
            </a:r>
            <a:endParaRPr b="0" lang="en-US" sz="2900" spc="-1" strike="noStrike">
              <a:solidFill>
                <a:srgbClr val="000000"/>
              </a:solidFill>
              <a:latin typeface="Arial"/>
            </a:endParaRPr>
          </a:p>
          <a:p>
            <a:pPr marL="343080" indent="-343080">
              <a:lnSpc>
                <a:spcPct val="8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6A74F3B-B7C1-495D-800E-A6099839B0A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39"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40"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7FF2018-F7BF-4D82-8322-F98EC4C193C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4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Seakeeping RB equations of motion</a:t>
            </a:r>
            <a:endParaRPr b="0" lang="en-US" sz="3800" spc="-1" strike="noStrike">
              <a:solidFill>
                <a:srgbClr val="006633"/>
              </a:solidFill>
              <a:latin typeface="Tahoma"/>
            </a:endParaRPr>
          </a:p>
        </p:txBody>
      </p:sp>
      <p:sp>
        <p:nvSpPr>
          <p:cNvPr id="542" name="PlaceHolder 2"/>
          <p:cNvSpPr>
            <a:spLocks noGrp="1"/>
          </p:cNvSpPr>
          <p:nvPr>
            <p:ph/>
          </p:nvPr>
        </p:nvSpPr>
        <p:spPr>
          <a:xfrm>
            <a:off x="395280" y="1268280"/>
            <a:ext cx="8362800" cy="1036800"/>
          </a:xfrm>
          <a:prstGeom prst="rect">
            <a:avLst/>
          </a:prstGeom>
          <a:noFill/>
          <a:ln w="0">
            <a:noFill/>
          </a:ln>
        </p:spPr>
        <p:txBody>
          <a:bodyPr lIns="91440" rIns="91440" tIns="45720" bIns="45720" anchor="t">
            <a:normAutofit/>
          </a:bodyPr>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seakeeping RB eq. can be obtained by considering the equations of motion in body-fixed coordinates and considering only linear terms:</a:t>
            </a:r>
            <a:endParaRPr b="0" lang="en-US" sz="2100" spc="-1" strike="noStrike">
              <a:solidFill>
                <a:srgbClr val="000000"/>
              </a:solidFill>
              <a:latin typeface="Arial"/>
            </a:endParaRPr>
          </a:p>
        </p:txBody>
      </p:sp>
      <p:pic>
        <p:nvPicPr>
          <p:cNvPr id="543" name="Picture 4" descr=""/>
          <p:cNvPicPr/>
          <p:nvPr/>
        </p:nvPicPr>
        <p:blipFill>
          <a:blip r:embed="rId1"/>
          <a:stretch/>
        </p:blipFill>
        <p:spPr>
          <a:xfrm>
            <a:off x="755640" y="2708280"/>
            <a:ext cx="3672000" cy="960480"/>
          </a:xfrm>
          <a:prstGeom prst="rect">
            <a:avLst/>
          </a:prstGeom>
          <a:ln w="0">
            <a:noFill/>
          </a:ln>
        </p:spPr>
      </p:pic>
      <p:pic>
        <p:nvPicPr>
          <p:cNvPr id="544" name="Picture 5" descr=""/>
          <p:cNvPicPr/>
          <p:nvPr/>
        </p:nvPicPr>
        <p:blipFill>
          <a:blip r:embed="rId2"/>
          <a:stretch/>
        </p:blipFill>
        <p:spPr>
          <a:xfrm>
            <a:off x="6372360" y="2852640"/>
            <a:ext cx="1944720" cy="839880"/>
          </a:xfrm>
          <a:prstGeom prst="rect">
            <a:avLst/>
          </a:prstGeom>
          <a:ln w="0">
            <a:noFill/>
          </a:ln>
        </p:spPr>
      </p:pic>
      <p:pic>
        <p:nvPicPr>
          <p:cNvPr id="545" name="Picture 6" descr=""/>
          <p:cNvPicPr/>
          <p:nvPr/>
        </p:nvPicPr>
        <p:blipFill>
          <a:blip r:embed="rId3"/>
          <a:stretch/>
        </p:blipFill>
        <p:spPr>
          <a:xfrm>
            <a:off x="4211640" y="5229360"/>
            <a:ext cx="2232000" cy="707760"/>
          </a:xfrm>
          <a:prstGeom prst="rect">
            <a:avLst/>
          </a:prstGeom>
          <a:ln w="0">
            <a:noFill/>
          </a:ln>
        </p:spPr>
      </p:pic>
      <p:sp>
        <p:nvSpPr>
          <p:cNvPr id="546" name="Rectangle 7"/>
          <p:cNvSpPr/>
          <p:nvPr/>
        </p:nvSpPr>
        <p:spPr>
          <a:xfrm>
            <a:off x="849240" y="3724200"/>
            <a:ext cx="2073600" cy="642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Perturbation Eq in </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body-fixed coord.</a:t>
            </a:r>
            <a:endParaRPr b="0" lang="en-US" sz="1800" spc="-1" strike="noStrike">
              <a:solidFill>
                <a:srgbClr val="000000"/>
              </a:solidFill>
              <a:latin typeface="Arial"/>
            </a:endParaRPr>
          </a:p>
        </p:txBody>
      </p:sp>
      <p:sp>
        <p:nvSpPr>
          <p:cNvPr id="547" name="Rectangle 8"/>
          <p:cNvSpPr/>
          <p:nvPr/>
        </p:nvSpPr>
        <p:spPr>
          <a:xfrm>
            <a:off x="6373440" y="3789360"/>
            <a:ext cx="2137680" cy="642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Perturbation within </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Linear framework</a:t>
            </a:r>
            <a:endParaRPr b="0" lang="en-US" sz="1800" spc="-1" strike="noStrike">
              <a:solidFill>
                <a:srgbClr val="000000"/>
              </a:solidFill>
              <a:latin typeface="Arial"/>
            </a:endParaRPr>
          </a:p>
        </p:txBody>
      </p:sp>
      <p:sp>
        <p:nvSpPr>
          <p:cNvPr id="548" name="Rectangle 9"/>
          <p:cNvSpPr/>
          <p:nvPr/>
        </p:nvSpPr>
        <p:spPr>
          <a:xfrm>
            <a:off x="1044720" y="5229360"/>
            <a:ext cx="2238120" cy="642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Seakeeping RB Eq. </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of motion:</a:t>
            </a:r>
            <a:endParaRPr b="0" lang="en-US" sz="1800" spc="-1" strike="noStrike">
              <a:solidFill>
                <a:srgbClr val="000000"/>
              </a:solidFill>
              <a:latin typeface="Arial"/>
            </a:endParaRPr>
          </a:p>
        </p:txBody>
      </p:sp>
      <mc:AlternateContent>
        <mc:Choice xmlns:a14="http://schemas.microsoft.com/office/drawing/2010/main" Requires="a14">
          <p:sp>
            <p:nvSpPr>
              <p:cNvPr id="549" name="Object 10"/>
              <p:cNvSpPr txBox="1"/>
              <p:nvPr/>
            </p:nvSpPr>
            <p:spPr>
              <a:xfrm>
                <a:off x="4859280" y="3213000"/>
                <a:ext cx="898560" cy="719280"/>
              </a:xfrm>
              <a:prstGeom prst="rect">
                <a:avLst/>
              </a:prstGeom>
            </p:spPr>
            <p:txBody>
              <a:bodyPr/>
              <a:p>
                <a14:m>
                  <m:oMath xmlns:m="http://schemas.openxmlformats.org/officeDocument/2006/math">
                    <m:r>
                      <m:t xml:space="preserve">⇒</m:t>
                    </m:r>
                  </m:oMath>
                </a14:m>
              </a:p>
            </p:txBody>
          </p:sp>
        </mc:Choice>
        <mc:Fallback/>
      </mc:AlternateContent>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1DA018F-17B7-4D81-A642-CC088BD6FAF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5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5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83E13B3-51A4-4C66-ACD1-849A3776F048}"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5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References</a:t>
            </a:r>
            <a:endParaRPr b="0" lang="en-US" sz="4200" spc="-1" strike="noStrike">
              <a:solidFill>
                <a:srgbClr val="006633"/>
              </a:solidFill>
              <a:latin typeface="Tahoma"/>
            </a:endParaRPr>
          </a:p>
        </p:txBody>
      </p:sp>
      <p:sp>
        <p:nvSpPr>
          <p:cNvPr id="554" name="PlaceHolder 2"/>
          <p:cNvSpPr>
            <a:spLocks noGrp="1"/>
          </p:cNvSpPr>
          <p:nvPr>
            <p:ph/>
          </p:nvPr>
        </p:nvSpPr>
        <p:spPr>
          <a:xfrm>
            <a:off x="468360" y="1268280"/>
            <a:ext cx="8229600" cy="4530960"/>
          </a:xfrm>
          <a:prstGeom prst="rect">
            <a:avLst/>
          </a:prstGeom>
          <a:noFill/>
          <a:ln w="0">
            <a:noFill/>
          </a:ln>
        </p:spPr>
        <p:txBody>
          <a:bodyPr lIns="91440" rIns="91440" tIns="45720" bIns="45720" anchor="t">
            <a:normAutofit/>
          </a:bodyPr>
          <a:p>
            <a:pPr marL="343080" indent="-343080">
              <a:lnSpc>
                <a:spcPct val="80000"/>
              </a:lnSpc>
              <a:spcBef>
                <a:spcPts val="425"/>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700" spc="-1" strike="noStrike">
                <a:solidFill>
                  <a:srgbClr val="000000"/>
                </a:solidFill>
                <a:latin typeface="Arial"/>
              </a:rPr>
              <a:t>Egeland, O. and J.T. Gravdahl (2002) </a:t>
            </a:r>
            <a:r>
              <a:rPr b="1" lang="en-AU" sz="1700" spc="-1" strike="noStrike">
                <a:solidFill>
                  <a:srgbClr val="000000"/>
                </a:solidFill>
                <a:latin typeface="Arial"/>
              </a:rPr>
              <a:t>Modelling and Simulation for Automatic Control</a:t>
            </a:r>
            <a:r>
              <a:rPr b="0" lang="en-AU" sz="1700" spc="-1" strike="noStrike">
                <a:solidFill>
                  <a:srgbClr val="000000"/>
                </a:solidFill>
                <a:latin typeface="Arial"/>
              </a:rPr>
              <a:t>. Marine Cybernetics.</a:t>
            </a:r>
            <a:endParaRPr b="0" lang="en-US" sz="1700" spc="-1" strike="noStrike">
              <a:solidFill>
                <a:srgbClr val="000000"/>
              </a:solidFill>
              <a:latin typeface="Arial"/>
            </a:endParaRPr>
          </a:p>
          <a:p>
            <a:pPr marL="343080" indent="-343080">
              <a:lnSpc>
                <a:spcPct val="80000"/>
              </a:lnSpc>
              <a:spcBef>
                <a:spcPts val="42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700" spc="-1" strike="noStrike">
              <a:solidFill>
                <a:srgbClr val="000000"/>
              </a:solidFill>
              <a:latin typeface="Arial"/>
            </a:endParaRPr>
          </a:p>
          <a:p>
            <a:pPr marL="343080" indent="-343080">
              <a:lnSpc>
                <a:spcPct val="80000"/>
              </a:lnSpc>
              <a:spcBef>
                <a:spcPts val="425"/>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700" spc="-1" strike="noStrike">
                <a:solidFill>
                  <a:srgbClr val="000000"/>
                </a:solidFill>
                <a:latin typeface="Arial"/>
              </a:rPr>
              <a:t>Kane, T.R., and D.A., Levinson (1985) </a:t>
            </a:r>
            <a:r>
              <a:rPr b="1" lang="en-AU" sz="1700" spc="-1" strike="noStrike">
                <a:solidFill>
                  <a:srgbClr val="000000"/>
                </a:solidFill>
                <a:latin typeface="Arial"/>
              </a:rPr>
              <a:t>Dynamics: Theory and Applications</a:t>
            </a:r>
            <a:r>
              <a:rPr b="0" lang="en-AU" sz="1700" spc="-1" strike="noStrike">
                <a:solidFill>
                  <a:srgbClr val="000000"/>
                </a:solidFill>
                <a:latin typeface="Arial"/>
              </a:rPr>
              <a:t>. McGraw Hill series in Mech Eng. </a:t>
            </a:r>
            <a:endParaRPr b="0" lang="en-US" sz="1700" spc="-1" strike="noStrike">
              <a:solidFill>
                <a:srgbClr val="000000"/>
              </a:solidFill>
              <a:latin typeface="Arial"/>
            </a:endParaRPr>
          </a:p>
          <a:p>
            <a:pPr marL="343080" indent="-343080">
              <a:lnSpc>
                <a:spcPct val="80000"/>
              </a:lnSpc>
              <a:spcBef>
                <a:spcPts val="42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700" spc="-1" strike="noStrike">
              <a:solidFill>
                <a:srgbClr val="000000"/>
              </a:solidFill>
              <a:latin typeface="Arial"/>
            </a:endParaRPr>
          </a:p>
          <a:p>
            <a:pPr marL="343080" indent="-343080">
              <a:lnSpc>
                <a:spcPct val="80000"/>
              </a:lnSpc>
              <a:spcBef>
                <a:spcPts val="425"/>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700" spc="-1" strike="noStrike">
                <a:solidFill>
                  <a:srgbClr val="000000"/>
                </a:solidFill>
                <a:latin typeface="Arial"/>
              </a:rPr>
              <a:t>Fossen, T.I. (2002) </a:t>
            </a:r>
            <a:r>
              <a:rPr b="1" lang="en-AU" sz="1700" spc="-1" strike="noStrike">
                <a:solidFill>
                  <a:srgbClr val="000000"/>
                </a:solidFill>
                <a:latin typeface="Arial"/>
              </a:rPr>
              <a:t>Marine Control Systems</a:t>
            </a:r>
            <a:r>
              <a:rPr b="0" lang="en-AU" sz="1700" spc="-1" strike="noStrike">
                <a:solidFill>
                  <a:srgbClr val="000000"/>
                </a:solidFill>
                <a:latin typeface="Arial"/>
              </a:rPr>
              <a:t>. Marine Cybernetics.</a:t>
            </a:r>
            <a:endParaRPr b="0" lang="en-US" sz="1700" spc="-1" strike="noStrike">
              <a:solidFill>
                <a:srgbClr val="000000"/>
              </a:solidFill>
              <a:latin typeface="Arial"/>
            </a:endParaRPr>
          </a:p>
          <a:p>
            <a:pPr marL="343080" indent="-343080">
              <a:lnSpc>
                <a:spcPct val="80000"/>
              </a:lnSpc>
              <a:spcBef>
                <a:spcPts val="42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700" spc="-1" strike="noStrike">
              <a:solidFill>
                <a:srgbClr val="000000"/>
              </a:solidFill>
              <a:latin typeface="Arial"/>
            </a:endParaRPr>
          </a:p>
          <a:p>
            <a:pPr marL="343080" indent="-343080">
              <a:lnSpc>
                <a:spcPct val="80000"/>
              </a:lnSpc>
              <a:spcBef>
                <a:spcPts val="425"/>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700" spc="-1" strike="noStrike">
                <a:solidFill>
                  <a:srgbClr val="000000"/>
                </a:solidFill>
                <a:latin typeface="Arial"/>
              </a:rPr>
              <a:t>Perez, T. (2005) </a:t>
            </a:r>
            <a:r>
              <a:rPr b="1" lang="en-AU" sz="1700" spc="-1" strike="noStrike">
                <a:solidFill>
                  <a:srgbClr val="000000"/>
                </a:solidFill>
                <a:latin typeface="Arial"/>
              </a:rPr>
              <a:t>Ship Motion Control</a:t>
            </a:r>
            <a:r>
              <a:rPr b="0" lang="en-AU" sz="1700" spc="-1" strike="noStrike">
                <a:solidFill>
                  <a:srgbClr val="000000"/>
                </a:solidFill>
                <a:latin typeface="Arial"/>
              </a:rPr>
              <a:t>. Springer.</a:t>
            </a:r>
            <a:endParaRPr b="0" lang="en-US" sz="1700" spc="-1" strike="noStrike">
              <a:solidFill>
                <a:srgbClr val="000000"/>
              </a:solidFill>
              <a:latin typeface="Arial"/>
            </a:endParaRPr>
          </a:p>
          <a:p>
            <a:pPr marL="343080" indent="-343080">
              <a:lnSpc>
                <a:spcPct val="80000"/>
              </a:lnSpc>
              <a:spcBef>
                <a:spcPts val="42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700" spc="-1" strike="noStrike">
              <a:solidFill>
                <a:srgbClr val="000000"/>
              </a:solidFill>
              <a:latin typeface="Arial"/>
            </a:endParaRPr>
          </a:p>
          <a:p>
            <a:pPr marL="343080" indent="-343080">
              <a:lnSpc>
                <a:spcPct val="80000"/>
              </a:lnSpc>
              <a:spcBef>
                <a:spcPts val="425"/>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700" spc="-1" strike="noStrike">
                <a:solidFill>
                  <a:srgbClr val="000000"/>
                </a:solidFill>
                <a:latin typeface="Arial"/>
              </a:rPr>
              <a:t>Perez, T. and T.I. Fossen (2007) </a:t>
            </a:r>
            <a:r>
              <a:rPr b="0" i="1" lang="en-AU" sz="1700" spc="-1" strike="noStrike">
                <a:solidFill>
                  <a:srgbClr val="000000"/>
                </a:solidFill>
                <a:latin typeface="Arial"/>
              </a:rPr>
              <a:t>Kinematic Models for Seakeeping and Manoeuvring of Marine Vessels. Modeling</a:t>
            </a:r>
            <a:r>
              <a:rPr b="0" lang="en-AU" sz="1700" spc="-1" strike="noStrike">
                <a:solidFill>
                  <a:srgbClr val="000000"/>
                </a:solidFill>
                <a:latin typeface="Arial"/>
              </a:rPr>
              <a:t>, Identification and Control, </a:t>
            </a:r>
            <a:r>
              <a:rPr b="1" lang="en-AU" sz="1700" spc="-1" strike="noStrike">
                <a:solidFill>
                  <a:srgbClr val="000000"/>
                </a:solidFill>
                <a:latin typeface="Arial"/>
              </a:rPr>
              <a:t>MIC-28</a:t>
            </a:r>
            <a:r>
              <a:rPr b="0" lang="en-AU" sz="1700" spc="-1" strike="noStrike">
                <a:solidFill>
                  <a:srgbClr val="000000"/>
                </a:solidFill>
                <a:latin typeface="Arial"/>
              </a:rPr>
              <a:t>(1):1-12, 2007.</a:t>
            </a:r>
            <a:endParaRPr b="0" lang="en-US" sz="1700" spc="-1" strike="noStrike">
              <a:solidFill>
                <a:srgbClr val="000000"/>
              </a:solidFill>
              <a:latin typeface="Arial"/>
            </a:endParaRPr>
          </a:p>
          <a:p>
            <a:pPr marL="343080" indent="-343080">
              <a:lnSpc>
                <a:spcPct val="80000"/>
              </a:lnSpc>
              <a:spcBef>
                <a:spcPts val="42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700" spc="-1" strike="noStrike">
                <a:solidFill>
                  <a:srgbClr val="000000"/>
                </a:solidFill>
                <a:latin typeface="Arial"/>
              </a:rPr>
              <a:t> </a:t>
            </a:r>
            <a:endParaRPr b="0" lang="en-US" sz="1700" spc="-1" strike="noStrike">
              <a:solidFill>
                <a:srgbClr val="000000"/>
              </a:solidFill>
              <a:latin typeface="Arial"/>
            </a:endParaRPr>
          </a:p>
          <a:p>
            <a:pPr marL="343080" indent="-343080">
              <a:lnSpc>
                <a:spcPct val="80000"/>
              </a:lnSpc>
              <a:spcBef>
                <a:spcPts val="425"/>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700" spc="-1" strike="noStrike">
                <a:solidFill>
                  <a:srgbClr val="000000"/>
                </a:solidFill>
                <a:latin typeface="Arial"/>
              </a:rPr>
              <a:t>Sciavicco, L. and B. Siciliano (2001) </a:t>
            </a:r>
            <a:r>
              <a:rPr b="1" lang="en-AU" sz="1700" spc="-1" strike="noStrike">
                <a:solidFill>
                  <a:srgbClr val="000000"/>
                </a:solidFill>
                <a:latin typeface="Arial"/>
              </a:rPr>
              <a:t>Modelling and Control of Robot Manipulators. </a:t>
            </a:r>
            <a:r>
              <a:rPr b="0" lang="en-AU" sz="1700" spc="-1" strike="noStrike">
                <a:solidFill>
                  <a:srgbClr val="000000"/>
                </a:solidFill>
                <a:latin typeface="Arial"/>
              </a:rPr>
              <a:t>Springer Advanced Textbooks in Control and Signal Processing.</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2898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2007-05-14T14:42:38Z</dcterms:created>
  <dc:creator> </dc:creator>
  <dc:description/>
  <dc:language>en-US</dc:language>
  <cp:lastModifiedBy>Thor I. Fossen</cp:lastModifiedBy>
  <dcterms:modified xsi:type="dcterms:W3CDTF">2007-08-08T18:05:08Z</dcterms:modified>
  <cp:revision>31</cp:revision>
  <dc:subject/>
  <dc:title>CXVXCv</dc:title>
</cp:coreProperties>
</file>